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notesMasterIdLst>
    <p:notesMasterId r:id="rId1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uverture" id="{8bf5de70-5b06-dc5a-35d9-4dd6cc947065}">
          <p14:sldIdLst>
            <p14:sldId id="256"/>
            <p14:sldId id="257"/>
          </p14:sldIdLst>
        </p14:section>
        <p14:section name="01 · Contexte et objectifs" id="{029930c3-1b43-4fcd-47e7-39a2dd66ecdd}">
          <p14:sldIdLst>
            <p14:sldId id="258"/>
            <p14:sldId id="259"/>
          </p14:sldIdLst>
        </p14:section>
        <p14:section name="02 · Matériel et architecture" id="{bdbe0d9d-c635-e039-3bfb-f1976464317d}">
          <p14:sldIdLst>
            <p14:sldId id="260"/>
            <p14:sldId id="261"/>
            <p14:sldId id="262"/>
          </p14:sldIdLst>
        </p14:section>
        <p14:section name="03 · Fonctionnement logiciel" id="{b45db220-89a0-b39d-6a48-dadc69f44e97}">
          <p14:sldIdLst>
            <p14:sldId id="263"/>
            <p14:sldId id="264"/>
            <p14:sldId id="265"/>
            <p14:sldId id="266"/>
          </p14:sldIdLst>
        </p14:section>
        <p14:section name="04 · Automatisation et validation" id="{9f061ce8-479c-266b-6972-6f91a5f5b463}">
          <p14:sldIdLst>
            <p14:sldId id="267"/>
            <p14:sldId id="268"/>
            <p14:sldId id="269"/>
          </p14:sldIdLst>
        </p14:section>
        <p14:section name="05 · Démonstration et conclusion" id="{35c0f217-43ca-3878-cd1f-c571f8527d6b}">
          <p14:sldIdLst>
            <p14:sldId id="270"/>
            <p14:sldId id="271"/>
          </p14:sldIdLst>
        </p14:section>
        <p14:section name="Annexe" id="{374c918c-d229-bd5d-9276-ec45f4d37237}">
          <p14:sldIdLst>
            <p14:sldId id="272"/>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Intervenant : Membre 1  ·  Durée indicative : 0 min 30
IDÉE ESSENTIELLE — Présenter l'équipe et le sujet en une phrase.
À DIRE (oral) —
« Bonjour à toutes et à tous. Nous sommes [prénoms]. Nous allons vous présenter AURA, notre prototype de station météorologique embarquée, réalisé sur une carte STM32 Nucleo dans le cadre du projet Worldwide Weather Watcher. C'est un prototype de laboratoire, pas encore un équipement installé sur un navire. »
TRANSITION — « Voici comment nous allons dérouler ces vingt minutes.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Intervenant : Membre 1  ·  Durée indicative : 0 min 30
IDÉE ESSENTIELLE — Annoncer les cinq parties et la logique du déroulé.
À DIRE (oral) —
« Nous commencerons par le contexte et le cahier des charges, puis le matériel et l'architecture. Nous détaillerons ensuite le fonctionnement logiciel : acquisition, modes, interruptions et erreurs. Nous terminerons par l'automatisation et la validation, puis par le scénario de la démonstration qui suivra cette présentation. »
COMPLÉMENTS TECHNIQUES (si questions) —
• Répartition : Membre 1 → p. 1 à 5 (contexte, cahier des charges, matériel) ; Membre 2 → p. 6 à 8 (architectures, acquisition) ; Membre 3 → p. 9 à 11 (modes, interruptions, erreurs) ; Membre 4 → p. 12 à 16 (script, conformité, validation, démo, conclusion).
• Environ 5 min par intervenant, 20 min au total.
TRANSITION — « Commençons par le besoin.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Intervenant : Membre 1  ·  Durée indicative : 1 min 15
IDÉE ESSENTIELLE — Le besoin vient du client fictif du sujet (AIVM) ; notre rôle est de réaliser le prototype.
À DIRE (oral) —
« Le sujet nous place dans le rôle d'une start-up mandatée par l'AIVM, l'Agence internationale pour la vigilance météorologique. L'agence veut équiper des navires de stations météo embarquées, pour mesurer les paramètres qui influencent la formation des cyclones. Les compagnies maritimes sont d'accord, à une condition : la station doit rester simple, et pilotable par un membre d'équipage qui n'est pas spécialiste. Notre mission : réaliser le prototype de cette station sur une carte STM32 Nucleo, et prouver qu'il fonctionne. »
COMPLÉMENTS TECHNIQUES (si questions) —
• Ne pas affirmer que la station améliore la sécurité maritime ou remplace des instruments certifiés : c'est un prototype qui n'a pas été testé en mer.
TRANSITION — « Ce besoin se traduit en une problématique et un cahier des charges précis.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Intervenant : Membre 1  ·  Durée indicative : 1 min 30
IDÉE ESSENTIELLE — Les exigences du cahier des charges structurent tout le projet.
À DIRE (oral) —
« Notre problématique : comment concevoir sur STM32 une station qui mesure, horodate et enregistre de façon fiable, tout en restant simple à piloter ? Le cahier des charges impose une mesure périodique, toutes les dix minutes par défaut, et une ligne horodatée par mesure sur carte SD. Il définit quatre modes, un code couleur sur une LED RGB, et une configuration par la liaison série. Côté contraintes : les capteurs utilisent des bus différents ; un capteur qui ne répond pas doit donner NA après un délai TIMEOUT ; et la carte SD doit pouvoir être retirée sans corrompre les données. Les livrables évalués aujourd'hui sont le programme, le script de compilation, le montage et le scénario de démonstration. »
COMPLÉMENTS TECHNIQUES (si questions) —
• TIMEOUT = 30 s par défaut ; après 2 mesures en timeout, le capteur est signalé en erreur.
• Fichiers nommés AAMMJJ_n.LOG ; FILE_MAX_SIZE fixe la taille au-delà de laquelle le fichier est archivé.
TRANSITION — « Voyons le matériel retenu pour répondre à ces exigences.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Intervenant : Membre 1  ·  Durée indicative : 1 min 15
IDÉE ESSENTIELLE — Présenter uniquement le matériel réellement utilisé et le rôle de chaque élément.
À DIRE (oral) —
« D'abord, la carte NUCLEO-L476RG : un microcontrôleur STM32L476RG, cœur Cortex‑M4 cadencé à 80 MHz, avec 1 Mo de Flash et 128 Ko de RAM, et une sonde ST-LINK intégrée qui sert à la programmation et à la console série. Le DHT11 mesure la température de l'air et l'humidité, le BH1750 la luminosité, et le module GPS donne la position et l'heure UTC. Les mesures sont stockées sur une carte SD et horodatées par la RTC interne du microcontrôleur. Pour l'interaction : deux boutons, une LED RGB d'état, et un écran LCD que nous avons ajouté pour lire les mesures sans PC. »
COMPLÉMENTS TECHNIQUES (si questions) —
• Le capteur de pression prévu au cahier des charges n'était pas dans le kit : il n'est pas implémenté (la commande PRESSURE répond qu'il n'est pas disponible).
• Écarts assumés avec le CDC : luminosité mesurée par un capteur numérique I2C (BH1750) et non analogique ; RTC interne au STM32 au lieu d'un module RTC I2C externe.
• Couleurs des pastilles : turquoise = capteurs, bleu marine = stockage et temps, gris = interface utilisateur.
• LED RGB à anode commune (constaté le 18/10/2026) : logique de commande inversée dans rgb_led.h.
TRANSITION — « Je laisse la parole à Membre 2, qui va vous montrer comment ces éléments sont reliés.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Intervenant : Membre 2  ·  Durée indicative : 1 min 30
IDÉE ESSENTIELLE — Chaque périphérique, son bus de communication et ses broches.
À DIRE (oral) —
« Tout est centré sur le STM32. À gauche, les entrées : le DHT11 sur une seule broche, PB0, avec un protocole propriétaire chronométré à la microseconde ; le BH1750 sur le bus I2C1 ; le GPS sur l'USART3 à 9600 bauds ; et les deux boutons, qui déclenchent des interruptions EXTI. À droite, les sorties : la carte SD en SPI1 avec la bibliothèque FatFS, l'écran LCD qui partage le bus I2C avec le BH1750, la LED RGB sur trois sorties GPIO, et le PC, relié par l'USART2 du ST-LINK à 115 200 bauds, pour la configuration et la maintenance. »
COMPLÉMENTS TECHNIQUES (si questions) —
• Bus I2C1 à 100 kHz avec deux esclaves : BH1750 à l'adresse 0x23 et écran LCD (PCF8574) détecté automatiquement entre 0x20–0x27 et 0x38–0x3F.
• PA5 est à la fois le SCK du SPI1 et la LED verte LD2 de la carte : LD2 n'est pas utilisée.
• La RTC tourne sur l'oscillateur interne LSI (le quartz LSE n'est pas exploité dans le code) : elle dérive, d'où le recalage sur l'heure GPS.
• Les paramètres sont stockés dans la dernière page de la Flash (0x080FF800) avec un mot magique et une somme de contrôle : le STM32L476 n'a pas d'EEPROM.
• Côté GPS, seule la ligne TX du GPS → RX du STM32 (PC11) est exploitée par le programme.
TRANSITION — « Côté logiciel, voici comment le firmware est organisé.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Intervenant : Membre 2  ·  Durée indicative : 1 min 45
IDÉE ESSENTIELLE — Un firmware en couches, et une boucle principale qui délègue au mode courant.
À DIRE (oral) —
« Le code est organisé en couches. En bas, la HAL et CMSIS générées par STM32CubeMX. Au-dessus, FatFS pour le système de fichiers de la carte SD, puis les pilotes de nos composants : DHT11, BH1750, écran LCD et LED RGB. main.c initialise le matériel, et station.c contient toute la logique applicative. Au démarrage, on configure l'horloge à 80 MHz et les périphériques. Si le bouton bleu B1 est maintenu, on lance un diagnostic du matériel. Sinon, Station_Init charge les paramètres depuis la Flash, configure les boutons et les liaisons série en interruption, puis choisit le mode initial : configuration si le bouton rouge est maintenu, standard sinon. Ensuite, la boucle infinie appelle Station_Loop : elle traite les événements des boutons, rafraîchit l'écran chaque seconde, puis exécute le traitement propre au mode courant. »
COMPLÉMENTS TECHNIQUES (si questions) —
• USART2 (console du ST-LINK) est initialisé à la main (USART2_Init_Manuel) car CubeMX ne l'avait pas généré.
• Le diagnostic matériel n'est pas un cinquième mode : c'est un outil de test au démarrage (9 tests : LED, 2 boutons, DHT11, scan I2C + BH1750, RTC, carte SD, GPS, LCD).
• Horloge système : HSI 16 MHz → PLL ×10 ÷2 = 80 MHz.
TRANSITION — « Zoom maintenant sur le traitement central : l'acquisition des données.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Intervenant : Membre 2  ·  Durée indicative : 1 min 45
IDÉE ESSENTIELLE — Une acquisition séquentielle, tolérante aux pannes, qui produit une seule ligne horodatée.
À DIRE (oral) —
« Une acquisition se déroule en quatre étapes. D'abord l'horodatage par la RTC. Puis le DHT11 : le microcontrôleur envoie un signal de départ, chronomètre les 40 bits de la réponse avec le compteur de cycles DWT du Cortex‑M4 et vérifie la somme de contrôle ; en cas d'échec, on réessaie toutes les deux secondes jusqu'au TIMEOUT. Ensuite le BH1750, en mode continu haute résolution : la valeur brute divisée par 1,2 donne des lux. Enfin le GPS : les trames arrivent en continu par interruption ; nous gardons la dernière trame RMC, nous exigeons le statut A, position valide, et nous convertissons la position en degrés décimaux. Tout est assemblé en une seule ligne horodatée, avec NA pour chaque valeur manquante, puis écrit sur la carte SD, affiché sur la console et sur l'écran. »
COMPLÉMENTS TECHNIQUES (si questions) —
• La conversion GPS est faite en entiers car le printf de newlib-nano ne gère pas %f.
• L'heure GPS (UTC) recale la RTC au premier fix puis dès que l'écart dépasse 2 s ; décalage fixe UTC+1, sans gestion de l'heure d'été.
• Une acquisition est interruptible : un appui long pendant l'attente d'un capteur l'annule proprement (ACQ_INTERROMPUE).
• Quand le fichier _0 dépasse FILE_MAX_SIZE, il est copié dans la première révision libre (_1 à _9) puis vidé ; une ligne d'en-tête est écrite dans chaque nouveau fichier.
• La classification de la luminosité (LUMIN_LOW / LUMIN_HIGH) est affichée sur la console ; le fichier SD garde la valeur en lux.
TRANSITION — « Membre 3 va maintenant vous présenter les modes qui pilotent ces acquisitions.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Intervenant : Membre 3  ·  Durée indicative : 2 min
IDÉE ESSENTIELLE — Quatre modes, des transitions par boutons conformes au CDC, et un choix assumé sur une ambiguïté.
À DIRE (oral) —
« À la mise sous tension, sans bouton, la station démarre en mode standard, LED verte : une mesure toutes les LOG_INTERVAL, dix minutes par défaut, écrite sur la carte SD. Si l'on démarre en maintenant le bouton rouge, on entre en configuration, LED jaune : l'acquisition est arrêtée et l'on règle les paramètres par la console série ; après 30 minutes sans commande, retour automatique en standard. Depuis le standard, un appui de 5 secondes sur le rouge mène en maintenance, LED orange : la carte SD est démontée, on peut la retirer, et les mesures s'affichent en direct. Un nouvel appui de 5 secondes sur le rouge ramène au mode précédent. Enfin, 5 secondes sur le vert mènent au mode économique, LED bleue : l'intervalle est doublé et le GPS n'est lu qu'une mesure sur deux. »
COMPLÉMENTS TECHNIQUES (si questions) —
• Ambiguïté du CDC : la maintenance serait accessible depuis le mode économique par le bouton rouge, mais le rouge doit aussi ramener du mode économique au standard. Même geste, deux destinations : nous avons choisi le standard (descriptif détaillé). La constante ECO_ROUGE_VERS_MAINTENANCE permet l'autre choix. Conséquence : avec ce choix, on n'entre en maintenance que depuis le standard.
• Le bouton « rouge » est le bouton externe PC3 ; le « vert » est le bouton bleu B1 de la carte.
• En configuration, la commande EXIT (ajout de l'équipe) permet de sortir sans attendre 30 min.
• L'orange est obtenu par rouge + vert à 30 % (modulation logicielle dans le SysTick).
TRANSITION — « Ces changements de mode reposent sur des interruptions : voyons comment.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Intervenant : Membre 3  ·  Durée indicative : 1 min 30
IDÉE ESSENTIELLE — Les interruptions captent les événements ; la boucle principale décide.
À DIRE (oral) —
« Nous utilisons quatre sources d'interruption. Le SysTick, toutes les millisecondes, mesure la durée d'appui des boutons et anime la LED : la LED n'est donc jamais bloquée par une mesure lente. Les interruptions EXTI des deux boutons se déclenchent sur les deux fronts, avec un anti-rebond de 20 ms. Les deux UART reçoivent octet par octet : la console assemble une commande, le GPS assemble une trame NMEA. Prenons un appui long sur le rouge : l'EXTI mémorise l'instant de l'appui ; le SysTick constate que 5 secondes se sont écoulées et dépose un événement dans une file ; c'est la boucle principale qui lit cette file et change de mode. »
COMPLÉMENTS TECHNIQUES (si questions) —
• Une interruption n'est pas un changement de mode : les routines restent courtes, tout ce qui est long (carte SD, I2C, changement de mode) se fait dans la boucle principale.
• Variables partagées déclarées volatile ; file circulaire de 8 événements ; copie des tampons de commande et de trame GPS sous __disable_irq() / __enable_irq().
• Priorités NVIC : boutons 5, UART 6. En cas de débordement UART, HAL_UART_ErrorCallback relance la réception.
• La périodicité des acquisitions n'utilise pas de timer matériel : la boucle compare HAL_GetTick() à l'instant prévu de la prochaine mesure.
TRANSITION — « Que se passe-t-il quand quelque chose tourne mal ?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Intervenant : Membre 3  ·  Durée indicative : 1 min 30
IDÉE ESSENTIELLE — Six erreurs détectées, signalées et, quand c'est possible, récupérées automatiquement.
À DIRE (oral) —
« Le cahier des charges définit six erreurs : elles sont toutes implémentées. Chacune a une condition de détection précise : par exemple, un capteur n'est déclaré en erreur qu'après deux acquisitions consécutives en timeout, pour éviter les fausses alertes. Le signal est un clignotement à 1 Hz entre le rouge et une seconde couleur, avec des durées égales ou dans un rapport un pour deux. Si plusieurs erreurs coexistent, la plus prioritaire s'affiche, et l'écran LCD donne le libellé en clair. Surtout, les erreurs sont réévaluées à chaque acquisition : dès que la cause disparaît, la station reprend seule. Pour la carte SD, en cas d'échec, on démonte la carte et on retente le montage à l'écriture suivante. »
COMPLÉMENTS TECHNIQUES (si questions) —
• À dire honnêtement : un échec à l'initialisation des périphériques mène à Error_Handler, une boucle infinie ; il n'y a pas de chien de garde (watchdog) ; les erreurs ne sont pas journalisées sur la carte.
• « Horloge non réglée » n'est pas une erreur RTC : la date est écrite NA jusqu'au premier fix GPS ou à une commande CLOCK / DATE.
• Carte pleine : espace libre inférieur à la longueur de la ligne + FILE_MAX_SIZE (marge nécessaire pour copier une archive).
• Durées du signal : 500 ms / 500 ms pour 1:1 ; 333 ms rouge / 667 ms pour 1:2.
TRANSITION — « Membre 4 va maintenant vous présenter l'outillage et la validation.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Intervenant : Membre 4  ·  Durée indicative : 1 min 30
IDÉE ESSENTIELLE — Une seule commande, et jamais de téléversement après une compilation ratée.
À DIRE (oral) —
« Pour compiler et téléverser, nous utilisons un script Bash. Ligne 2, il se place à la racine du projet. Ligne 3, il configure le projet avec CMake, puis compile avec la chaîne arm-none-eabi-gcc ; le if teste le code de retour de ces deux commandes. Ligne 4, seulement si tout a réussi, STM32_Programmer_CLI écrit Aura.elf dans la Flash via le ST-LINK en SWD, vérifie l'écriture puis redémarre la carte. Ligne 5, sinon, on affiche un message et on sort avec le code 1 : la carte n'est jamais flashée avec un binaire périmé. »
COMPLÉMENTS TECHNIQUES (si questions) —
• Ces cinq lignes sont le cœur de notre script complet scripts/compiler_televerser.sh, qui ajoute un numéro de build (affiché par la commande VERSION), un mode release, la recherche automatique de STM32_Programmer_CLI et l'ouverture du moniteur série.
• La version courte suppose que STM32_Programmer_CLI est dans le PATH.
• Options du programmateur : -c port=SWD mode=UR reset=HWrst (connexion SWD sous reset matériel), -w (écriture), -v (vérification), -rst (redémarrage).
• Sous Windows, l'équivalent PowerShell compiler_televerser.ps1 et des tâches VS Code font la même chose.
• Le code est affiché dans un bloc mis en forme, ce n'est pas une capture d'écran.
TRANSITION — « Voyons maintenant ce qui est conforme au cahier des charges.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Intervenant : Membre 4  ·  Durée indicative : 1 min
IDÉE ESSENTIELLE — Distinguer ce qui est exigé, implémenté, adapté et non réalisé.
À DIRE (oral) —
« Ce tableau compare le cahier des charges à notre code. L'essentiel est implémenté : acquisition, fichiers et archivage, quatre modes, code LED, configuration, timeouts et GPS. Deux points sont adaptés : la luminosité, mesurée par un capteur numérique I2C car c'est celui du kit ; et la taille des fichiers, 10 Ko par défaut au lieu de 2 Ko, toujours configurable par FILE_MAX_SIZE. Le capteur de pression n'est pas implémenté faute de capteur dans le kit, et les modules complémentaires sont hors du périmètre de cette première version. »
COMPLÉMENTS TECHNIQUES (si questions) —
• « Implémenté » ne veut pas dire « testé » : les essais sur carte sont montrés en démonstration.
• Paramètres sauvegardés en Flash (le STM32L476 n'a pas d'EEPROM), protégés par un mot magique et une somme de contrôle.
• 17 commandes du CDC (toutes sauf PRESSURE, PRESSURE_MIN, PRESSURE_MAX) + 3 ajouts : GPS (activer / désactiver), PARAMS (afficher les paramètres), EXIT (quitter la configuration). LOG_INTERVAL accepte aussi des secondes (ex. 20S) pour les tests.
• Noms de fichiers au format 8.3 : au-delà de 9 archives le même jour, l'archivage échoue et l'erreur d'écriture SD est signalée.
TRANSITION — « Comment avons-nous vérifié tout cela ?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Intervenant : Membre 4  ·  Durée indicative : 1 min
IDÉE ESSENTIELLE — Une démarche de test progressive, et des corrections réelles issues de ces tests.
À DIRE (oral) —
« Nous avons d'abord testé chaque composant séparément, puis intégré un diagnostic au démarrage : en maintenant B1 au reset, la carte teste la LED, les deux boutons, le DHT11, le bus I2C, la RTC, la carte SD, le GPS et l'écran, puis affiche un bilan. Pour l'intégration, nous réduisons l'intervalle à 20 secondes avec LOG_INTERVAL=20S. Ces tests nous ont fait corriger plusieurs problèmes : le DHT11 lisait tous ses bits à zéro en mode Debug, d'où la mesure des durées par le compteur DWT ; la LED était à anode commune ; la broche PA5 était partagée entre la LED de la carte et la carte SD ; et l'écran perdait des octets I2C, d'où la resynchronisation automatique. Le firmware compile sans erreur et n'occupe que 7 % de la Flash et 5 % de la RAM. »
COMPLÉMENTS TECHNIQUES (si questions) —
• À COMPLÉTER PAR L'ÉQUIPE avant la soutenance : vos propres résultats d'essais sur carte (bilan du diagnostic, durée de fonctionnement continu, nombre de lignes enregistrées…). Ils ne figurent pas sur la diapositive car ils n'étaient pas documentés dans les fichiers du projet.
• Chiffres mémoire : résultat de l'édition de liens du build Debug compilé le 23/10/2026 (Flash 73 336 o sur 1 Mo ; RAM 4 936 o sur la zone RAM de 96 Ko, pile et tas minimaux compris).
• Le diagnostic classe chaque test en OK, ÉCHEC ou « à vérifier à l'œil » (LED, écran).
TRANSITION — « Place maintenant au scénario de la démonstration.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Intervenant : Membre 4  ·  Durée indicative : 0 min 45
IDÉE ESSENTIELLE — Annoncer ce que les enseignants vont vérifier, et dans quel ordre.
À DIRE (oral) —
« La démonstration suit ce scénario en sept étapes, environ vingt minutes. Nous compilerons et téléverserons avec le script, puis lancerons le diagnostic. Nous démarrerons en configuration pour régler un intervalle court, puis nous passerons par les modes standard, économique et maintenance, en retirant la carte SD. Nous provoquerons ensuite des erreurs, puis nous ouvrirons le fichier enregistré sur le PC. »
COMPLÉMENTS TECHNIQUES (si questions) —
• Préparer : carte SD formatée en FAT32, terminal série à 115 200 bauds sur le port du ST-LINK, script testé la veille.
• En intérieur, le GPS envoie des trames sans position (statut V) : la position vaut NA, ce n'est pas une erreur. Pour montrer l'erreur GPS, débrancher le fil TX du GPS ; pour l'ignorer, GPS=0.
• Erreur capteur : débrancher le DHT11 ; l'erreur n'apparaît qu'après deux acquisitions, d'où l'intérêt de LOG_INTERVAL=20S.
• Sans fix GPS, régler l'horloge avec CLOCK et DATE, sinon la date et l'heure valent NA.
• Le passage en maintenance démonte la carte SD : on peut la retirer, puis la remettre avant de revenir au mode précédent.
TRANSITION — « Avant de passer à la démonstration, concluons.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Intervenant : Membre 4  ·  Durée indicative : 0 min 45
IDÉE ESSENTIELLE — Un bilan honnête et des perspectives crédibles, puis passage à la démonstration.
À DIRE (oral) —
« En résumé, AURA est un firmware complet sur STM32 qui mesure, horodate, enregistre et signale son état, avec quatre modes pilotables par deux boutons et un script qui automatise la mise à jour de la carte. Ses limites sont connues : pas de capteur de pression, un DHT11 de précision limitée, une RTC interne recalée par le GPS, et un prototype alimenté en USB dont la consommation n'a pas été mesurée. Les prochaines étapes seraient d'ajouter les capteurs manquants, d'exploiter les modes basse consommation du STM32L4 avec une batterie, d'ajouter un chien de garde, puis de passer à un boîtier étanche. Merci de votre attention ; place à la démonstration. »
COMPLÉMENTS TECHNIQUES (si questions) —
• Le mode économique réduit le nombre d'acquisitions, mais le microcontrôleur ne passe pas en veille (modes Stop / Standby non utilisés) : c'est la première piste d'amélioration énergétique.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Intervenant : Toute l'équipe  ·  Durée indicative : non présentée
IDÉE ESSENTIELLE — Diapositive de réserve pour répondre aux questions sur le brochage et les paramètres.
À DIRE (oral) —
Ne pas présenter pendant les 20 minutes ; l'afficher seulement si une question porte sur une broche, une valeur par défaut ou une plage de paramètre.
COMPLÉMENTS TECHNIQUES (si questions) —
• LOG_INTERVAL=10 signifie 10 minutes (cahier des charges) ; LOG_INTERVAL=20S signifie 20 secondes (ajout pour les tests).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UVERTURE">
    <p:bg>
      <p:bgPr>
        <a:solidFill>
          <a:schemeClr val="tx2"/>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777240"/>
            <a:ext cx="5669280" cy="320040"/>
          </a:xfrm>
          <a:prstGeom prst="rect">
            <a:avLst/>
          </a:prstGeom>
          <a:noFill/>
          <a:ln/>
        </p:spPr>
        <p:txBody>
          <a:bodyPr wrap="square" rtlCol="0"/>
          <a:lstStyle>
            <a:lvl1pPr indent="0" marL="0">
              <a:buNone/>
              <a:defRPr lang="en-US" sz="1200" b="1" dirty="0">
                <a:solidFill>
                  <a:schemeClr val="accent5"/>
                </a:solidFill>
              </a:defRPr>
            </a:lvl1pPr>
          </a:lstStyle>
          <a:p>
            <a:pPr indent="0" marL="0">
              <a:buNone/>
            </a:pPr>
            <a:endParaRPr lang="en-US" sz="1200" dirty="0"/>
          </a:p>
        </p:txBody>
      </p:sp>
      <p:sp>
        <p:nvSpPr>
          <p:cNvPr id="3" name="Text 0"/>
          <p:cNvSpPr/>
          <p:nvPr>
            <p:ph idx="101" type="title" hasCustomPrompt="1"/>
          </p:nvPr>
        </p:nvSpPr>
        <p:spPr>
          <a:xfrm>
            <a:off x="548640" y="1234440"/>
            <a:ext cx="5669280" cy="1600200"/>
          </a:xfrm>
          <a:prstGeom prst="rect">
            <a:avLst/>
          </a:prstGeom>
          <a:noFill/>
          <a:ln/>
        </p:spPr>
        <p:txBody>
          <a:bodyPr wrap="square" rtlCol="0"/>
          <a:lstStyle>
            <a:lvl1pPr algn="l" indent="0" marL="0">
              <a:buNone/>
              <a:defRPr lang="en-US" sz="4000" b="1" dirty="0">
                <a:solidFill>
                  <a:schemeClr val="bg1"/>
                </a:solidFill>
              </a:defRPr>
            </a:lvl1pPr>
          </a:lstStyle>
          <a:p>
            <a:pPr algn="l" indent="0" marL="0">
              <a:buNone/>
            </a:pPr>
            <a:endParaRPr lang="en-US" sz="4000" dirty="0"/>
          </a:p>
        </p:txBody>
      </p:sp>
      <p:sp>
        <p:nvSpPr>
          <p:cNvPr id="4" name="Text 0"/>
          <p:cNvSpPr/>
          <p:nvPr>
            <p:ph idx="102" type="body" hasCustomPrompt="1"/>
          </p:nvPr>
        </p:nvSpPr>
        <p:spPr>
          <a:xfrm>
            <a:off x="548640" y="2926080"/>
            <a:ext cx="5486400" cy="1051560"/>
          </a:xfrm>
          <a:prstGeom prst="rect">
            <a:avLst/>
          </a:prstGeom>
          <a:noFill/>
          <a:ln/>
        </p:spPr>
        <p:txBody>
          <a:bodyPr wrap="square" rtlCol="0"/>
          <a:lstStyle>
            <a:lvl1pPr indent="0" marL="0">
              <a:buNone/>
              <a:defRPr lang="en-US" sz="1800" dirty="0">
                <a:solidFill>
                  <a:schemeClr val="bg2"/>
                </a:solidFill>
              </a:defRPr>
            </a:lvl1pPr>
          </a:lstStyle>
          <a:p>
            <a:pPr indent="0" marL="0">
              <a:buNone/>
            </a:pPr>
            <a:endParaRPr lang="en-US" sz="1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U">
    <p:bg>
      <p:bgPr>
        <a:solidFill>
          <a:schemeClr val="bg1"/>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9144000" cy="274320"/>
          </a:xfrm>
          <a:prstGeom prst="rect">
            <a:avLst/>
          </a:prstGeom>
          <a:noFill/>
          <a:ln/>
        </p:spPr>
        <p:txBody>
          <a:bodyPr wrap="square" rtlCol="0"/>
          <a:lstStyle>
            <a:lvl1pPr indent="0" marL="0">
              <a:buNone/>
              <a:defRPr lang="en-US" sz="1200" b="1" dirty="0">
                <a:solidFill>
                  <a:schemeClr val="accent1"/>
                </a:solidFill>
              </a:defRPr>
            </a:lvl1pPr>
          </a:lstStyle>
          <a:p>
            <a:pPr indent="0" marL="0">
              <a:buNone/>
            </a:pPr>
            <a:endParaRPr lang="en-US" sz="1200" dirty="0"/>
          </a:p>
        </p:txBody>
      </p:sp>
      <p:sp>
        <p:nvSpPr>
          <p:cNvPr id="3" name="Text 0"/>
          <p:cNvSpPr/>
          <p:nvPr>
            <p:ph idx="101" type="title" hasCustomPrompt="1"/>
          </p:nvPr>
        </p:nvSpPr>
        <p:spPr>
          <a:xfrm>
            <a:off x="548640" y="621792"/>
            <a:ext cx="11091672" cy="640080"/>
          </a:xfrm>
          <a:prstGeom prst="rect">
            <a:avLst/>
          </a:prstGeom>
          <a:noFill/>
          <a:ln/>
        </p:spPr>
        <p:txBody>
          <a:bodyPr wrap="square" rtlCol="0"/>
          <a:lstStyle>
            <a:lvl1pPr algn="l" indent="0" marL="0">
              <a:buNone/>
              <a:defRPr lang="en-US" sz="3000" b="1" dirty="0">
                <a:solidFill>
                  <a:schemeClr val="tx2"/>
                </a:solidFill>
              </a:defRPr>
            </a:lvl1pPr>
          </a:lstStyle>
          <a:p>
            <a:pPr algn="l" indent="0" marL="0">
              <a:buNone/>
            </a:pPr>
            <a:endParaRPr lang="en-US" sz="3000" dirty="0"/>
          </a:p>
        </p:txBody>
      </p:sp>
      <p:sp>
        <p:nvSpPr>
          <p:cNvPr id="4" name="Text 0"/>
          <p:cNvSpPr/>
          <p:nvPr/>
        </p:nvSpPr>
        <p:spPr>
          <a:xfrm>
            <a:off x="548640" y="6455664"/>
            <a:ext cx="7315200" cy="237744"/>
          </a:xfrm>
          <a:prstGeom prst="rect">
            <a:avLst/>
          </a:prstGeom>
          <a:noFill/>
          <a:ln/>
        </p:spPr>
        <p:txBody>
          <a:bodyPr wrap="square" lIns="0" tIns="0" rIns="0" bIns="0" rtlCol="0" anchor="ctr"/>
          <a:lstStyle/>
          <a:p>
            <a:pPr indent="0" marL="0">
              <a:buNone/>
            </a:pPr>
            <a:r>
              <a:rPr lang="en-US" sz="1000" dirty="0">
                <a:solidFill>
                  <a:schemeClr val="accent6"/>
                </a:solidFill>
              </a:rPr>
              <a:t>Station météo embarquée AURA  ·  Projet Système embarqué</a:t>
            </a:r>
            <a:endParaRPr lang="en-US" sz="1000" dirty="0"/>
          </a:p>
        </p:txBody>
      </p:sp>
      <p:sp>
        <p:nvSpPr>
          <p:cNvPr id="25" name="Slide Number Placeholder 0"/>
          <p:cNvSpPr>
            <a:spLocks noGrp="1"/>
          </p:cNvSpPr>
          <p:nvPr>
            <p:ph type="sldNum" sz="quarter" idx="4294967295"/>
          </p:nvPr>
        </p:nvSpPr>
        <p:spPr>
          <a:xfrm>
            <a:off x="11091672" y="6455664"/>
            <a:ext cx="548640" cy="237744"/>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6"/>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OMBRE">
    <p:bg>
      <p:bgPr>
        <a:solidFill>
          <a:schemeClr val="tx2"/>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9144000" cy="274320"/>
          </a:xfrm>
          <a:prstGeom prst="rect">
            <a:avLst/>
          </a:prstGeom>
          <a:noFill/>
          <a:ln/>
        </p:spPr>
        <p:txBody>
          <a:bodyPr wrap="square" rtlCol="0"/>
          <a:lstStyle>
            <a:lvl1pPr indent="0" marL="0">
              <a:buNone/>
              <a:defRPr lang="en-US" sz="1200" b="1" dirty="0">
                <a:solidFill>
                  <a:schemeClr val="accent5"/>
                </a:solidFill>
              </a:defRPr>
            </a:lvl1pPr>
          </a:lstStyle>
          <a:p>
            <a:pPr indent="0" marL="0">
              <a:buNone/>
            </a:pPr>
            <a:endParaRPr lang="en-US" sz="1200" dirty="0"/>
          </a:p>
        </p:txBody>
      </p:sp>
      <p:sp>
        <p:nvSpPr>
          <p:cNvPr id="3" name="Text 0"/>
          <p:cNvSpPr/>
          <p:nvPr>
            <p:ph idx="101" type="title" hasCustomPrompt="1"/>
          </p:nvPr>
        </p:nvSpPr>
        <p:spPr>
          <a:xfrm>
            <a:off x="548640" y="621792"/>
            <a:ext cx="11091672" cy="640080"/>
          </a:xfrm>
          <a:prstGeom prst="rect">
            <a:avLst/>
          </a:prstGeom>
          <a:noFill/>
          <a:ln/>
        </p:spPr>
        <p:txBody>
          <a:bodyPr wrap="square" rtlCol="0"/>
          <a:lstStyle>
            <a:lvl1pPr algn="l" indent="0" marL="0">
              <a:buNone/>
              <a:defRPr lang="en-US" sz="3000" b="1" dirty="0">
                <a:solidFill>
                  <a:schemeClr val="bg1"/>
                </a:solidFill>
              </a:defRPr>
            </a:lvl1pPr>
          </a:lstStyle>
          <a:p>
            <a:pPr algn="l" indent="0" marL="0">
              <a:buNone/>
            </a:pPr>
            <a:endParaRPr lang="en-US" sz="3000" dirty="0"/>
          </a:p>
        </p:txBody>
      </p:sp>
      <p:sp>
        <p:nvSpPr>
          <p:cNvPr id="4" name="Text 0"/>
          <p:cNvSpPr/>
          <p:nvPr/>
        </p:nvSpPr>
        <p:spPr>
          <a:xfrm>
            <a:off x="548640" y="6455664"/>
            <a:ext cx="7315200" cy="237744"/>
          </a:xfrm>
          <a:prstGeom prst="rect">
            <a:avLst/>
          </a:prstGeom>
          <a:noFill/>
          <a:ln/>
        </p:spPr>
        <p:txBody>
          <a:bodyPr wrap="square" lIns="0" tIns="0" rIns="0" bIns="0" rtlCol="0" anchor="ctr"/>
          <a:lstStyle/>
          <a:p>
            <a:pPr indent="0" marL="0">
              <a:buNone/>
            </a:pPr>
            <a:r>
              <a:rPr lang="en-US" sz="1000" dirty="0">
                <a:solidFill>
                  <a:schemeClr val="accent5"/>
                </a:solidFill>
              </a:rPr>
              <a:t>Station météo embarquée AURA  ·  Projet Système embarqué</a:t>
            </a:r>
            <a:endParaRPr lang="en-US" sz="1000" dirty="0"/>
          </a:p>
        </p:txBody>
      </p:sp>
      <p:sp>
        <p:nvSpPr>
          <p:cNvPr id="25" name="Slide Number Placeholder 0"/>
          <p:cNvSpPr>
            <a:spLocks noGrp="1"/>
          </p:cNvSpPr>
          <p:nvPr>
            <p:ph type="sldNum" sz="quarter" idx="4294967295"/>
          </p:nvPr>
        </p:nvSpPr>
        <p:spPr>
          <a:xfrm>
            <a:off x="11091672" y="6455664"/>
            <a:ext cx="548640" cy="237744"/>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5"/>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1672" y="6455664"/>
            <a:ext cx="548640" cy="237744"/>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6"/>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body" hasCustomPrompt="1"/>
          </p:nvPr>
        </p:nvSpPr>
        <p:spPr>
          <a:xfrm>
            <a:off x="548640" y="777240"/>
            <a:ext cx="5669280" cy="320040"/>
          </a:xfrm>
          <a:prstGeom prst="rect">
            <a:avLst/>
          </a:prstGeom>
          <a:noFill/>
          <a:ln/>
        </p:spPr>
        <p:txBody>
          <a:bodyPr wrap="square" lIns="0" tIns="0" rIns="0" bIns="0" rtlCol="0" anchor="t"/>
          <a:lstStyle/>
          <a:p>
            <a:pPr indent="0" marL="0">
              <a:buNone/>
            </a:pPr>
            <a:r>
              <a:rPr lang="en-US" sz="1200" b="1" spc="150" kern="0" dirty="0">
                <a:solidFill>
                  <a:schemeClr val="accent5"/>
                </a:solidFill>
              </a:rPr>
              <a:t>CESI ÉCOLE D'INGÉNIEURS  ·  BLOC SYSTÈMES EMBARQUÉS (A2)</a:t>
            </a:r>
            <a:endParaRPr lang="en-US" sz="1200" dirty="0"/>
          </a:p>
        </p:txBody>
      </p:sp>
      <p:sp>
        <p:nvSpPr>
          <p:cNvPr id="3" name="Text 0"/>
          <p:cNvSpPr/>
          <p:nvPr>
            <p:ph idx="101" type="title" hasCustomPrompt="1"/>
          </p:nvPr>
        </p:nvSpPr>
        <p:spPr>
          <a:xfrm>
            <a:off x="548640" y="1234440"/>
            <a:ext cx="5669280" cy="1600200"/>
          </a:xfrm>
          <a:prstGeom prst="rect">
            <a:avLst/>
          </a:prstGeom>
          <a:noFill/>
          <a:ln/>
        </p:spPr>
        <p:txBody>
          <a:bodyPr wrap="square" lIns="0" tIns="0" rIns="0" bIns="0" rtlCol="0" anchor="t"/>
          <a:lstStyle/>
          <a:p>
            <a:pPr algn="l" indent="0" marL="0">
              <a:buNone/>
            </a:pPr>
            <a:r>
              <a:rPr lang="en-US" sz="4000" b="1" dirty="0">
                <a:solidFill>
                  <a:schemeClr val="bg1"/>
                </a:solidFill>
              </a:rPr>
              <a:t>Station météorologique embarquée sur STM32</a:t>
            </a:r>
            <a:endParaRPr lang="en-US" sz="4000" dirty="0"/>
          </a:p>
        </p:txBody>
      </p:sp>
      <p:sp>
        <p:nvSpPr>
          <p:cNvPr id="4" name="Text 0"/>
          <p:cNvSpPr/>
          <p:nvPr>
            <p:ph idx="102" type="body" hasCustomPrompt="1"/>
          </p:nvPr>
        </p:nvSpPr>
        <p:spPr>
          <a:xfrm>
            <a:off x="548640" y="2926080"/>
            <a:ext cx="5486400" cy="1051560"/>
          </a:xfrm>
          <a:prstGeom prst="rect">
            <a:avLst/>
          </a:prstGeom>
          <a:noFill/>
          <a:ln/>
        </p:spPr>
        <p:txBody>
          <a:bodyPr wrap="square" lIns="0" tIns="0" rIns="0" bIns="0" rtlCol="0" anchor="t"/>
          <a:lstStyle/>
          <a:p>
            <a:pPr indent="0" marL="0">
              <a:buNone/>
            </a:pPr>
            <a:r>
              <a:rPr lang="en-US" sz="1800" dirty="0">
                <a:solidFill>
                  <a:schemeClr val="bg2"/>
                </a:solidFill>
              </a:rPr>
              <a:t>Conception, développement et validation d'un système météorologique destiné à une application maritime</a:t>
            </a:r>
            <a:endParaRPr lang="en-US" sz="1800" dirty="0"/>
          </a:p>
        </p:txBody>
      </p:sp>
      <p:sp>
        <p:nvSpPr>
          <p:cNvPr id="5" name="Text 3"/>
          <p:cNvSpPr txBox="1"/>
          <p:nvPr/>
        </p:nvSpPr>
        <p:spPr>
          <a:xfrm>
            <a:off x="548640" y="4069080"/>
            <a:ext cx="5669280" cy="594360"/>
          </a:xfrm>
          <a:prstGeom prst="rect">
            <a:avLst/>
          </a:prstGeom>
          <a:noFill/>
          <a:ln/>
        </p:spPr>
        <p:txBody>
          <a:bodyPr wrap="square" lIns="0" tIns="0" rIns="0" bIns="0" rtlCol="0" anchor="t"/>
          <a:lstStyle/>
          <a:p>
            <a:pPr indent="0" marL="0">
              <a:buNone/>
            </a:pPr>
            <a:r>
              <a:rPr lang="en-US" sz="1500" b="1" dirty="0">
                <a:solidFill>
                  <a:schemeClr val="accent5"/>
                </a:solidFill>
              </a:rPr>
              <a:t>Projet Worldwide Weather Watcher</a:t>
            </a:r>
            <a:endParaRPr lang="en-US" sz="1500" dirty="0"/>
          </a:p>
          <a:p>
            <a:pPr indent="0" marL="0">
              <a:buNone/>
            </a:pPr>
            <a:r>
              <a:rPr lang="en-US" sz="1500" b="1" dirty="0">
                <a:solidFill>
                  <a:schemeClr val="accent5"/>
                </a:solidFill>
              </a:rPr>
              <a:t>Prototype « AURA » sur carte NUCLEO-L476RG</a:t>
            </a:r>
            <a:endParaRPr lang="en-US" sz="1500" dirty="0"/>
          </a:p>
        </p:txBody>
      </p:sp>
      <p:sp>
        <p:nvSpPr>
          <p:cNvPr id="6" name="Text 4"/>
          <p:cNvSpPr txBox="1"/>
          <p:nvPr/>
        </p:nvSpPr>
        <p:spPr>
          <a:xfrm>
            <a:off x="548640" y="4983480"/>
            <a:ext cx="2743200" cy="274320"/>
          </a:xfrm>
          <a:prstGeom prst="rect">
            <a:avLst/>
          </a:prstGeom>
          <a:noFill/>
          <a:ln/>
        </p:spPr>
        <p:txBody>
          <a:bodyPr wrap="square" lIns="0" tIns="0" rIns="0" bIns="0" rtlCol="0" anchor="t"/>
          <a:lstStyle/>
          <a:p>
            <a:pPr indent="0" marL="0">
              <a:buNone/>
            </a:pPr>
            <a:r>
              <a:rPr lang="en-US" sz="1100" b="1" spc="150" kern="0" dirty="0">
                <a:solidFill>
                  <a:schemeClr val="accent5"/>
                </a:solidFill>
              </a:rPr>
              <a:t>ÉQUIPE</a:t>
            </a:r>
            <a:endParaRPr lang="en-US" sz="1100" dirty="0"/>
          </a:p>
        </p:txBody>
      </p:sp>
      <p:sp>
        <p:nvSpPr>
          <p:cNvPr id="7" name="Text 5"/>
          <p:cNvSpPr txBox="1"/>
          <p:nvPr/>
        </p:nvSpPr>
        <p:spPr>
          <a:xfrm>
            <a:off x="548640" y="5257800"/>
            <a:ext cx="5669280" cy="365760"/>
          </a:xfrm>
          <a:prstGeom prst="rect">
            <a:avLst/>
          </a:prstGeom>
          <a:noFill/>
          <a:ln/>
        </p:spPr>
        <p:txBody>
          <a:bodyPr wrap="square" lIns="0" tIns="0" rIns="0" bIns="0" rtlCol="0" anchor="t"/>
          <a:lstStyle/>
          <a:p>
            <a:pPr indent="0" marL="0">
              <a:buNone/>
            </a:pPr>
            <a:r>
              <a:rPr lang="en-US" sz="1800" dirty="0">
                <a:solidFill>
                  <a:schemeClr val="bg1"/>
                </a:solidFill>
              </a:rPr>
              <a:t>Membre 1  ·  Membre 2  ·  Membre 3  ·  Membre 4</a:t>
            </a:r>
            <a:endParaRPr lang="en-US" sz="1800" dirty="0"/>
          </a:p>
        </p:txBody>
      </p:sp>
      <p:sp>
        <p:nvSpPr>
          <p:cNvPr id="8" name="Text 6"/>
          <p:cNvSpPr txBox="1"/>
          <p:nvPr/>
        </p:nvSpPr>
        <p:spPr>
          <a:xfrm>
            <a:off x="548640" y="5806440"/>
            <a:ext cx="5669280" cy="274320"/>
          </a:xfrm>
          <a:prstGeom prst="rect">
            <a:avLst/>
          </a:prstGeom>
          <a:noFill/>
          <a:ln/>
        </p:spPr>
        <p:txBody>
          <a:bodyPr wrap="square" lIns="0" tIns="0" rIns="0" bIns="0" rtlCol="0" anchor="t"/>
          <a:lstStyle/>
          <a:p>
            <a:pPr indent="0" marL="0">
              <a:buNone/>
            </a:pPr>
            <a:r>
              <a:rPr lang="en-US" sz="1200" dirty="0">
                <a:solidFill>
                  <a:schemeClr val="bg2"/>
                </a:solidFill>
              </a:rPr>
              <a:t>Présentation 20 min  ·  Démonstration 20 min  ·  Questions</a:t>
            </a:r>
            <a:endParaRPr lang="en-US" sz="1200" dirty="0"/>
          </a:p>
        </p:txBody>
      </p:sp>
      <p:sp>
        <p:nvSpPr>
          <p:cNvPr id="9" name="Shape 7"/>
          <p:cNvSpPr/>
          <p:nvPr/>
        </p:nvSpPr>
        <p:spPr>
          <a:xfrm flipV="1">
            <a:off x="9006840" y="1417320"/>
            <a:ext cx="0" cy="1645920"/>
          </a:xfrm>
          <a:prstGeom prst="line">
            <a:avLst/>
          </a:prstGeom>
          <a:noFill/>
          <a:ln w="15875">
            <a:solidFill>
              <a:schemeClr val="accent5"/>
            </a:solidFill>
            <a:prstDash val="dash"/>
          </a:ln>
        </p:spPr>
      </p:sp>
      <p:sp>
        <p:nvSpPr>
          <p:cNvPr id="10" name="Shape 8"/>
          <p:cNvSpPr/>
          <p:nvPr/>
        </p:nvSpPr>
        <p:spPr>
          <a:xfrm flipV="1">
            <a:off x="9006840" y="2148840"/>
            <a:ext cx="2011680" cy="914400"/>
          </a:xfrm>
          <a:prstGeom prst="line">
            <a:avLst/>
          </a:prstGeom>
          <a:noFill/>
          <a:ln w="15875">
            <a:solidFill>
              <a:schemeClr val="accent5"/>
            </a:solidFill>
            <a:prstDash val="dash"/>
          </a:ln>
        </p:spPr>
      </p:sp>
      <p:sp>
        <p:nvSpPr>
          <p:cNvPr id="11" name="Shape 9"/>
          <p:cNvSpPr/>
          <p:nvPr/>
        </p:nvSpPr>
        <p:spPr>
          <a:xfrm>
            <a:off x="9006840" y="3063240"/>
            <a:ext cx="2011680" cy="914400"/>
          </a:xfrm>
          <a:prstGeom prst="line">
            <a:avLst/>
          </a:prstGeom>
          <a:noFill/>
          <a:ln w="15875">
            <a:solidFill>
              <a:schemeClr val="accent5"/>
            </a:solidFill>
            <a:prstDash val="dash"/>
          </a:ln>
        </p:spPr>
      </p:sp>
      <p:sp>
        <p:nvSpPr>
          <p:cNvPr id="12" name="Shape 10"/>
          <p:cNvSpPr/>
          <p:nvPr/>
        </p:nvSpPr>
        <p:spPr>
          <a:xfrm>
            <a:off x="9006840" y="3063240"/>
            <a:ext cx="0" cy="1645920"/>
          </a:xfrm>
          <a:prstGeom prst="line">
            <a:avLst/>
          </a:prstGeom>
          <a:noFill/>
          <a:ln w="15875">
            <a:solidFill>
              <a:schemeClr val="accent5"/>
            </a:solidFill>
            <a:prstDash val="dash"/>
          </a:ln>
        </p:spPr>
      </p:sp>
      <p:sp>
        <p:nvSpPr>
          <p:cNvPr id="13" name="Shape 11"/>
          <p:cNvSpPr/>
          <p:nvPr/>
        </p:nvSpPr>
        <p:spPr>
          <a:xfrm flipH="1">
            <a:off x="6995160" y="3063240"/>
            <a:ext cx="2011680" cy="914400"/>
          </a:xfrm>
          <a:prstGeom prst="line">
            <a:avLst/>
          </a:prstGeom>
          <a:noFill/>
          <a:ln w="15875">
            <a:solidFill>
              <a:schemeClr val="accent5"/>
            </a:solidFill>
            <a:prstDash val="dash"/>
          </a:ln>
        </p:spPr>
      </p:sp>
      <p:sp>
        <p:nvSpPr>
          <p:cNvPr id="14" name="Shape 12"/>
          <p:cNvSpPr/>
          <p:nvPr/>
        </p:nvSpPr>
        <p:spPr>
          <a:xfrm flipH="1" flipV="1">
            <a:off x="6995160" y="2148840"/>
            <a:ext cx="2011680" cy="914400"/>
          </a:xfrm>
          <a:prstGeom prst="line">
            <a:avLst/>
          </a:prstGeom>
          <a:noFill/>
          <a:ln w="15875">
            <a:solidFill>
              <a:schemeClr val="accent5"/>
            </a:solidFill>
            <a:prstDash val="dash"/>
          </a:ln>
        </p:spPr>
      </p:sp>
      <p:sp>
        <p:nvSpPr>
          <p:cNvPr id="15" name="Shape 13"/>
          <p:cNvSpPr/>
          <p:nvPr/>
        </p:nvSpPr>
        <p:spPr>
          <a:xfrm>
            <a:off x="8220456" y="1856232"/>
            <a:ext cx="109728" cy="201168"/>
          </a:xfrm>
          <a:prstGeom prst="rect">
            <a:avLst/>
          </a:prstGeom>
          <a:solidFill>
            <a:schemeClr val="accent5"/>
          </a:solidFill>
          <a:ln/>
        </p:spPr>
      </p:sp>
      <p:sp>
        <p:nvSpPr>
          <p:cNvPr id="16" name="Shape 14"/>
          <p:cNvSpPr/>
          <p:nvPr/>
        </p:nvSpPr>
        <p:spPr>
          <a:xfrm>
            <a:off x="8220456" y="4069080"/>
            <a:ext cx="109728" cy="201168"/>
          </a:xfrm>
          <a:prstGeom prst="rect">
            <a:avLst/>
          </a:prstGeom>
          <a:solidFill>
            <a:schemeClr val="accent5"/>
          </a:solidFill>
          <a:ln/>
        </p:spPr>
      </p:sp>
      <p:sp>
        <p:nvSpPr>
          <p:cNvPr id="17" name="Shape 15"/>
          <p:cNvSpPr/>
          <p:nvPr/>
        </p:nvSpPr>
        <p:spPr>
          <a:xfrm>
            <a:off x="7799832" y="2276856"/>
            <a:ext cx="201168" cy="109728"/>
          </a:xfrm>
          <a:prstGeom prst="rect">
            <a:avLst/>
          </a:prstGeom>
          <a:solidFill>
            <a:schemeClr val="accent5"/>
          </a:solidFill>
          <a:ln/>
        </p:spPr>
      </p:sp>
      <p:sp>
        <p:nvSpPr>
          <p:cNvPr id="18" name="Shape 16"/>
          <p:cNvSpPr/>
          <p:nvPr/>
        </p:nvSpPr>
        <p:spPr>
          <a:xfrm>
            <a:off x="10012680" y="2276856"/>
            <a:ext cx="201168" cy="109728"/>
          </a:xfrm>
          <a:prstGeom prst="rect">
            <a:avLst/>
          </a:prstGeom>
          <a:solidFill>
            <a:schemeClr val="accent5"/>
          </a:solidFill>
          <a:ln/>
        </p:spPr>
      </p:sp>
      <p:sp>
        <p:nvSpPr>
          <p:cNvPr id="19" name="Shape 17"/>
          <p:cNvSpPr/>
          <p:nvPr/>
        </p:nvSpPr>
        <p:spPr>
          <a:xfrm>
            <a:off x="8586216" y="1856232"/>
            <a:ext cx="109728" cy="201168"/>
          </a:xfrm>
          <a:prstGeom prst="rect">
            <a:avLst/>
          </a:prstGeom>
          <a:solidFill>
            <a:schemeClr val="accent5"/>
          </a:solidFill>
          <a:ln/>
        </p:spPr>
      </p:sp>
      <p:sp>
        <p:nvSpPr>
          <p:cNvPr id="20" name="Shape 18"/>
          <p:cNvSpPr/>
          <p:nvPr/>
        </p:nvSpPr>
        <p:spPr>
          <a:xfrm>
            <a:off x="8586216" y="4069080"/>
            <a:ext cx="109728" cy="201168"/>
          </a:xfrm>
          <a:prstGeom prst="rect">
            <a:avLst/>
          </a:prstGeom>
          <a:solidFill>
            <a:schemeClr val="accent5"/>
          </a:solidFill>
          <a:ln/>
        </p:spPr>
      </p:sp>
      <p:sp>
        <p:nvSpPr>
          <p:cNvPr id="21" name="Shape 19"/>
          <p:cNvSpPr/>
          <p:nvPr/>
        </p:nvSpPr>
        <p:spPr>
          <a:xfrm>
            <a:off x="7799832" y="2642616"/>
            <a:ext cx="201168" cy="109728"/>
          </a:xfrm>
          <a:prstGeom prst="rect">
            <a:avLst/>
          </a:prstGeom>
          <a:solidFill>
            <a:schemeClr val="accent5"/>
          </a:solidFill>
          <a:ln/>
        </p:spPr>
      </p:sp>
      <p:sp>
        <p:nvSpPr>
          <p:cNvPr id="22" name="Shape 20"/>
          <p:cNvSpPr/>
          <p:nvPr/>
        </p:nvSpPr>
        <p:spPr>
          <a:xfrm>
            <a:off x="10012680" y="2642616"/>
            <a:ext cx="201168" cy="109728"/>
          </a:xfrm>
          <a:prstGeom prst="rect">
            <a:avLst/>
          </a:prstGeom>
          <a:solidFill>
            <a:schemeClr val="accent5"/>
          </a:solidFill>
          <a:ln/>
        </p:spPr>
      </p:sp>
      <p:sp>
        <p:nvSpPr>
          <p:cNvPr id="23" name="Shape 21"/>
          <p:cNvSpPr/>
          <p:nvPr/>
        </p:nvSpPr>
        <p:spPr>
          <a:xfrm>
            <a:off x="8951976" y="1856232"/>
            <a:ext cx="109728" cy="201168"/>
          </a:xfrm>
          <a:prstGeom prst="rect">
            <a:avLst/>
          </a:prstGeom>
          <a:solidFill>
            <a:schemeClr val="accent5"/>
          </a:solidFill>
          <a:ln/>
        </p:spPr>
      </p:sp>
      <p:sp>
        <p:nvSpPr>
          <p:cNvPr id="24" name="Shape 22"/>
          <p:cNvSpPr/>
          <p:nvPr/>
        </p:nvSpPr>
        <p:spPr>
          <a:xfrm>
            <a:off x="8951976" y="4069080"/>
            <a:ext cx="109728" cy="201168"/>
          </a:xfrm>
          <a:prstGeom prst="rect">
            <a:avLst/>
          </a:prstGeom>
          <a:solidFill>
            <a:schemeClr val="accent5"/>
          </a:solidFill>
          <a:ln/>
        </p:spPr>
      </p:sp>
      <p:sp>
        <p:nvSpPr>
          <p:cNvPr id="25" name="Shape 23"/>
          <p:cNvSpPr/>
          <p:nvPr/>
        </p:nvSpPr>
        <p:spPr>
          <a:xfrm>
            <a:off x="7799832" y="3008376"/>
            <a:ext cx="201168" cy="109728"/>
          </a:xfrm>
          <a:prstGeom prst="rect">
            <a:avLst/>
          </a:prstGeom>
          <a:solidFill>
            <a:schemeClr val="accent5"/>
          </a:solidFill>
          <a:ln/>
        </p:spPr>
      </p:sp>
      <p:sp>
        <p:nvSpPr>
          <p:cNvPr id="26" name="Shape 24"/>
          <p:cNvSpPr/>
          <p:nvPr/>
        </p:nvSpPr>
        <p:spPr>
          <a:xfrm>
            <a:off x="10012680" y="3008376"/>
            <a:ext cx="201168" cy="109728"/>
          </a:xfrm>
          <a:prstGeom prst="rect">
            <a:avLst/>
          </a:prstGeom>
          <a:solidFill>
            <a:schemeClr val="accent5"/>
          </a:solidFill>
          <a:ln/>
        </p:spPr>
      </p:sp>
      <p:sp>
        <p:nvSpPr>
          <p:cNvPr id="27" name="Shape 25"/>
          <p:cNvSpPr/>
          <p:nvPr/>
        </p:nvSpPr>
        <p:spPr>
          <a:xfrm>
            <a:off x="9317736" y="1856232"/>
            <a:ext cx="109728" cy="201168"/>
          </a:xfrm>
          <a:prstGeom prst="rect">
            <a:avLst/>
          </a:prstGeom>
          <a:solidFill>
            <a:schemeClr val="accent5"/>
          </a:solidFill>
          <a:ln/>
        </p:spPr>
      </p:sp>
      <p:sp>
        <p:nvSpPr>
          <p:cNvPr id="28" name="Shape 26"/>
          <p:cNvSpPr/>
          <p:nvPr/>
        </p:nvSpPr>
        <p:spPr>
          <a:xfrm>
            <a:off x="9317736" y="4069080"/>
            <a:ext cx="109728" cy="201168"/>
          </a:xfrm>
          <a:prstGeom prst="rect">
            <a:avLst/>
          </a:prstGeom>
          <a:solidFill>
            <a:schemeClr val="accent5"/>
          </a:solidFill>
          <a:ln/>
        </p:spPr>
      </p:sp>
      <p:sp>
        <p:nvSpPr>
          <p:cNvPr id="29" name="Shape 27"/>
          <p:cNvSpPr/>
          <p:nvPr/>
        </p:nvSpPr>
        <p:spPr>
          <a:xfrm>
            <a:off x="7799832" y="3374136"/>
            <a:ext cx="201168" cy="109728"/>
          </a:xfrm>
          <a:prstGeom prst="rect">
            <a:avLst/>
          </a:prstGeom>
          <a:solidFill>
            <a:schemeClr val="accent5"/>
          </a:solidFill>
          <a:ln/>
        </p:spPr>
      </p:sp>
      <p:sp>
        <p:nvSpPr>
          <p:cNvPr id="30" name="Shape 28"/>
          <p:cNvSpPr/>
          <p:nvPr/>
        </p:nvSpPr>
        <p:spPr>
          <a:xfrm>
            <a:off x="10012680" y="3374136"/>
            <a:ext cx="201168" cy="109728"/>
          </a:xfrm>
          <a:prstGeom prst="rect">
            <a:avLst/>
          </a:prstGeom>
          <a:solidFill>
            <a:schemeClr val="accent5"/>
          </a:solidFill>
          <a:ln/>
        </p:spPr>
      </p:sp>
      <p:sp>
        <p:nvSpPr>
          <p:cNvPr id="31" name="Shape 29"/>
          <p:cNvSpPr/>
          <p:nvPr/>
        </p:nvSpPr>
        <p:spPr>
          <a:xfrm>
            <a:off x="9683496" y="1856232"/>
            <a:ext cx="109728" cy="201168"/>
          </a:xfrm>
          <a:prstGeom prst="rect">
            <a:avLst/>
          </a:prstGeom>
          <a:solidFill>
            <a:schemeClr val="accent5"/>
          </a:solidFill>
          <a:ln/>
        </p:spPr>
      </p:sp>
      <p:sp>
        <p:nvSpPr>
          <p:cNvPr id="32" name="Shape 30"/>
          <p:cNvSpPr/>
          <p:nvPr/>
        </p:nvSpPr>
        <p:spPr>
          <a:xfrm>
            <a:off x="9683496" y="4069080"/>
            <a:ext cx="109728" cy="201168"/>
          </a:xfrm>
          <a:prstGeom prst="rect">
            <a:avLst/>
          </a:prstGeom>
          <a:solidFill>
            <a:schemeClr val="accent5"/>
          </a:solidFill>
          <a:ln/>
        </p:spPr>
      </p:sp>
      <p:sp>
        <p:nvSpPr>
          <p:cNvPr id="33" name="Shape 31"/>
          <p:cNvSpPr/>
          <p:nvPr/>
        </p:nvSpPr>
        <p:spPr>
          <a:xfrm>
            <a:off x="7799832" y="3739896"/>
            <a:ext cx="201168" cy="109728"/>
          </a:xfrm>
          <a:prstGeom prst="rect">
            <a:avLst/>
          </a:prstGeom>
          <a:solidFill>
            <a:schemeClr val="accent5"/>
          </a:solidFill>
          <a:ln/>
        </p:spPr>
      </p:sp>
      <p:sp>
        <p:nvSpPr>
          <p:cNvPr id="34" name="Shape 32"/>
          <p:cNvSpPr/>
          <p:nvPr/>
        </p:nvSpPr>
        <p:spPr>
          <a:xfrm>
            <a:off x="10012680" y="3739896"/>
            <a:ext cx="201168" cy="109728"/>
          </a:xfrm>
          <a:prstGeom prst="rect">
            <a:avLst/>
          </a:prstGeom>
          <a:solidFill>
            <a:schemeClr val="accent5"/>
          </a:solidFill>
          <a:ln/>
        </p:spPr>
      </p:sp>
      <p:sp>
        <p:nvSpPr>
          <p:cNvPr id="35" name="Text 33"/>
          <p:cNvSpPr/>
          <p:nvPr/>
        </p:nvSpPr>
        <p:spPr>
          <a:xfrm>
            <a:off x="8001000" y="2057400"/>
            <a:ext cx="2011680" cy="2011680"/>
          </a:xfrm>
          <a:prstGeom prst="roundRect">
            <a:avLst>
              <a:gd name="adj" fmla="val 4545"/>
            </a:avLst>
          </a:prstGeom>
          <a:solidFill>
            <a:schemeClr val="accent3"/>
          </a:solidFill>
          <a:ln w="19050">
            <a:solidFill>
              <a:schemeClr val="accent5"/>
            </a:solidFill>
          </a:ln>
        </p:spPr>
        <p:txBody>
          <a:bodyPr wrap="square" lIns="0" tIns="0" rIns="0" bIns="0" rtlCol="0" anchor="ctr"/>
          <a:lstStyle/>
          <a:p>
            <a:pPr algn="ctr" indent="0" marL="0">
              <a:buNone/>
            </a:pPr>
            <a:r>
              <a:rPr lang="en-US" sz="2400" b="1" dirty="0">
                <a:solidFill>
                  <a:schemeClr val="bg1"/>
                </a:solidFill>
              </a:rPr>
              <a:t>STM32</a:t>
            </a:r>
            <a:endParaRPr lang="en-US" sz="2400" dirty="0"/>
          </a:p>
          <a:p>
            <a:pPr algn="ctr" indent="0" marL="0">
              <a:buNone/>
            </a:pPr>
            <a:r>
              <a:rPr lang="en-US" sz="1500" dirty="0">
                <a:solidFill>
                  <a:schemeClr val="accent5"/>
                </a:solidFill>
              </a:rPr>
              <a:t>L476RG</a:t>
            </a:r>
            <a:endParaRPr lang="en-US" sz="2400" dirty="0"/>
          </a:p>
        </p:txBody>
      </p:sp>
      <p:sp>
        <p:nvSpPr>
          <p:cNvPr id="36" name="Text 34"/>
          <p:cNvSpPr/>
          <p:nvPr/>
        </p:nvSpPr>
        <p:spPr>
          <a:xfrm>
            <a:off x="8622792" y="1033272"/>
            <a:ext cx="768096" cy="768096"/>
          </a:xfrm>
          <a:prstGeom prst="ellipse">
            <a:avLst/>
          </a:prstGeom>
          <a:solidFill>
            <a:schemeClr val="accent1"/>
          </a:solidFill>
          <a:ln/>
        </p:spPr>
        <p:txBody>
          <a:bodyPr wrap="square" lIns="0" tIns="0" rIns="0" bIns="0" rtlCol="0" anchor="ctr"/>
          <a:lstStyle/>
          <a:p>
            <a:pPr algn="ctr" indent="0" marL="0">
              <a:buNone/>
            </a:pPr>
            <a:r>
              <a:rPr lang="en-US" sz="1800" b="1" dirty="0">
                <a:solidFill>
                  <a:schemeClr val="bg1"/>
                </a:solidFill>
              </a:rPr>
              <a:t>°C</a:t>
            </a:r>
            <a:endParaRPr lang="en-US" sz="1800" dirty="0"/>
          </a:p>
        </p:txBody>
      </p:sp>
      <p:sp>
        <p:nvSpPr>
          <p:cNvPr id="37" name="Text 35"/>
          <p:cNvSpPr/>
          <p:nvPr/>
        </p:nvSpPr>
        <p:spPr>
          <a:xfrm>
            <a:off x="10634472" y="1764792"/>
            <a:ext cx="768096" cy="768096"/>
          </a:xfrm>
          <a:prstGeom prst="ellipse">
            <a:avLst/>
          </a:prstGeom>
          <a:solidFill>
            <a:schemeClr val="accent1"/>
          </a:solidFill>
          <a:ln/>
        </p:spPr>
        <p:txBody>
          <a:bodyPr wrap="square" lIns="0" tIns="0" rIns="0" bIns="0" rtlCol="0" anchor="ctr"/>
          <a:lstStyle/>
          <a:p>
            <a:pPr algn="ctr" indent="0" marL="0">
              <a:buNone/>
            </a:pPr>
            <a:r>
              <a:rPr lang="en-US" sz="1800" b="1" dirty="0">
                <a:solidFill>
                  <a:schemeClr val="bg1"/>
                </a:solidFill>
              </a:rPr>
              <a:t>lx</a:t>
            </a:r>
            <a:endParaRPr lang="en-US" sz="1800" dirty="0"/>
          </a:p>
        </p:txBody>
      </p:sp>
      <p:sp>
        <p:nvSpPr>
          <p:cNvPr id="38" name="Text 36"/>
          <p:cNvSpPr/>
          <p:nvPr/>
        </p:nvSpPr>
        <p:spPr>
          <a:xfrm>
            <a:off x="10634472" y="3593592"/>
            <a:ext cx="768096" cy="768096"/>
          </a:xfrm>
          <a:prstGeom prst="ellipse">
            <a:avLst/>
          </a:prstGeom>
          <a:solidFill>
            <a:schemeClr val="accent1"/>
          </a:solidFill>
          <a:ln/>
        </p:spPr>
        <p:txBody>
          <a:bodyPr wrap="square" lIns="0" tIns="0" rIns="0" bIns="0" rtlCol="0" anchor="ctr"/>
          <a:lstStyle/>
          <a:p>
            <a:pPr algn="ctr" indent="0" marL="0">
              <a:buNone/>
            </a:pPr>
            <a:r>
              <a:rPr lang="en-US" sz="1400" b="1" dirty="0">
                <a:solidFill>
                  <a:schemeClr val="bg1"/>
                </a:solidFill>
              </a:rPr>
              <a:t>GPS</a:t>
            </a:r>
            <a:endParaRPr lang="en-US" sz="1400" dirty="0"/>
          </a:p>
        </p:txBody>
      </p:sp>
      <p:sp>
        <p:nvSpPr>
          <p:cNvPr id="39" name="Text 37"/>
          <p:cNvSpPr/>
          <p:nvPr/>
        </p:nvSpPr>
        <p:spPr>
          <a:xfrm>
            <a:off x="8622792" y="4325112"/>
            <a:ext cx="768096" cy="768096"/>
          </a:xfrm>
          <a:prstGeom prst="ellipse">
            <a:avLst/>
          </a:prstGeom>
          <a:solidFill>
            <a:schemeClr val="accent1"/>
          </a:solidFill>
          <a:ln/>
        </p:spPr>
        <p:txBody>
          <a:bodyPr wrap="square" lIns="0" tIns="0" rIns="0" bIns="0" rtlCol="0" anchor="ctr"/>
          <a:lstStyle/>
          <a:p>
            <a:pPr algn="ctr" indent="0" marL="0">
              <a:buNone/>
            </a:pPr>
            <a:r>
              <a:rPr lang="en-US" sz="1800" b="1" dirty="0">
                <a:solidFill>
                  <a:schemeClr val="bg1"/>
                </a:solidFill>
              </a:rPr>
              <a:t>SD</a:t>
            </a:r>
            <a:endParaRPr lang="en-US" sz="1800" dirty="0"/>
          </a:p>
        </p:txBody>
      </p:sp>
      <p:sp>
        <p:nvSpPr>
          <p:cNvPr id="40" name="Text 38"/>
          <p:cNvSpPr/>
          <p:nvPr/>
        </p:nvSpPr>
        <p:spPr>
          <a:xfrm>
            <a:off x="6611112" y="3593592"/>
            <a:ext cx="768096" cy="768096"/>
          </a:xfrm>
          <a:prstGeom prst="ellipse">
            <a:avLst/>
          </a:prstGeom>
          <a:solidFill>
            <a:schemeClr val="accent1"/>
          </a:solidFill>
          <a:ln/>
        </p:spPr>
        <p:txBody>
          <a:bodyPr wrap="square" lIns="0" tIns="0" rIns="0" bIns="0" rtlCol="0" anchor="ctr"/>
          <a:lstStyle/>
          <a:p>
            <a:pPr algn="ctr" indent="0" marL="0">
              <a:buNone/>
            </a:pPr>
            <a:r>
              <a:rPr lang="en-US" sz="1400" b="1" dirty="0">
                <a:solidFill>
                  <a:schemeClr val="bg1"/>
                </a:solidFill>
              </a:rPr>
              <a:t>LED</a:t>
            </a:r>
            <a:endParaRPr lang="en-US" sz="1400" dirty="0"/>
          </a:p>
        </p:txBody>
      </p:sp>
      <p:sp>
        <p:nvSpPr>
          <p:cNvPr id="41" name="Text 39"/>
          <p:cNvSpPr/>
          <p:nvPr/>
        </p:nvSpPr>
        <p:spPr>
          <a:xfrm>
            <a:off x="6611112" y="1764792"/>
            <a:ext cx="768096" cy="768096"/>
          </a:xfrm>
          <a:prstGeom prst="ellipse">
            <a:avLst/>
          </a:prstGeom>
          <a:solidFill>
            <a:schemeClr val="accent1"/>
          </a:solidFill>
          <a:ln/>
        </p:spPr>
        <p:txBody>
          <a:bodyPr wrap="square" lIns="0" tIns="0" rIns="0" bIns="0" rtlCol="0" anchor="ctr"/>
          <a:lstStyle/>
          <a:p>
            <a:pPr algn="ctr" indent="0" marL="0">
              <a:buNone/>
            </a:pPr>
            <a:r>
              <a:rPr lang="en-US" sz="1400" b="1" dirty="0">
                <a:solidFill>
                  <a:schemeClr val="bg1"/>
                </a:solidFill>
              </a:rPr>
              <a:t>RTC</a:t>
            </a:r>
            <a:endParaRPr lang="en-US" sz="1400" dirty="0"/>
          </a:p>
        </p:txBody>
      </p:sp>
      <p:sp>
        <p:nvSpPr>
          <p:cNvPr id="42" name="Text 40"/>
          <p:cNvSpPr txBox="1"/>
          <p:nvPr/>
        </p:nvSpPr>
        <p:spPr>
          <a:xfrm>
            <a:off x="6583680" y="5349240"/>
            <a:ext cx="4846320" cy="274320"/>
          </a:xfrm>
          <a:prstGeom prst="rect">
            <a:avLst/>
          </a:prstGeom>
          <a:noFill/>
          <a:ln/>
        </p:spPr>
        <p:txBody>
          <a:bodyPr wrap="square" lIns="0" tIns="0" rIns="0" bIns="0" rtlCol="0" anchor="t"/>
          <a:lstStyle/>
          <a:p>
            <a:pPr algn="ctr" indent="0" marL="0">
              <a:buNone/>
            </a:pPr>
            <a:r>
              <a:rPr lang="en-US" sz="1100" i="1" dirty="0">
                <a:solidFill>
                  <a:schemeClr val="bg2"/>
                </a:solidFill>
              </a:rPr>
              <a:t>Schéma de principe : le microcontrôleur et ses périphériques</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9144000" cy="274320"/>
          </a:xfrm>
          <a:prstGeom prst="rect">
            <a:avLst/>
          </a:prstGeom>
          <a:noFill/>
          <a:ln/>
        </p:spPr>
        <p:txBody>
          <a:bodyPr wrap="square" lIns="0" tIns="0" rIns="0" bIns="0" rtlCol="0" anchor="t"/>
          <a:lstStyle/>
          <a:p>
            <a:pPr indent="0" marL="0">
              <a:buNone/>
            </a:pPr>
            <a:r>
              <a:rPr lang="en-US" sz="1200" b="1" spc="150" kern="0" dirty="0">
                <a:solidFill>
                  <a:schemeClr val="accent1"/>
                </a:solidFill>
              </a:rPr>
              <a:t>PLAN DE LA PRÉSENTATION</a:t>
            </a:r>
            <a:endParaRPr lang="en-US" sz="1200" dirty="0"/>
          </a:p>
        </p:txBody>
      </p:sp>
      <p:sp>
        <p:nvSpPr>
          <p:cNvPr id="3" name="Text 0"/>
          <p:cNvSpPr/>
          <p:nvPr>
            <p:ph idx="101" type="title" hasCustomPrompt="1"/>
          </p:nvPr>
        </p:nvSpPr>
        <p:spPr>
          <a:xfrm>
            <a:off x="548640" y="621792"/>
            <a:ext cx="11091672" cy="640080"/>
          </a:xfrm>
          <a:prstGeom prst="rect">
            <a:avLst/>
          </a:prstGeom>
          <a:noFill/>
          <a:ln/>
        </p:spPr>
        <p:txBody>
          <a:bodyPr wrap="square" lIns="0" tIns="0" rIns="0" bIns="0" rtlCol="0" anchor="t"/>
          <a:lstStyle/>
          <a:p>
            <a:pPr algn="l" indent="0" marL="0">
              <a:buNone/>
            </a:pPr>
            <a:r>
              <a:rPr lang="en-US" sz="3000" b="1" dirty="0">
                <a:solidFill>
                  <a:schemeClr val="tx2"/>
                </a:solidFill>
              </a:rPr>
              <a:t>Sommaire</a:t>
            </a:r>
            <a:endParaRPr lang="en-US" sz="3000" dirty="0"/>
          </a:p>
        </p:txBody>
      </p:sp>
      <p:sp>
        <p:nvSpPr>
          <p:cNvPr id="4" name="Partie 01"/>
          <p:cNvSpPr/>
          <p:nvPr/>
        </p:nvSpPr>
        <p:spPr>
          <a:xfrm>
            <a:off x="548640" y="1600200"/>
            <a:ext cx="2093976" cy="4343400"/>
          </a:xfrm>
          <a:prstGeom prst="roundRect">
            <a:avLst>
              <a:gd name="adj" fmla="val 3493"/>
            </a:avLst>
          </a:prstGeom>
          <a:solidFill>
            <a:schemeClr val="bg2"/>
          </a:solidFill>
          <a:ln/>
        </p:spPr>
      </p:sp>
      <p:sp>
        <p:nvSpPr>
          <p:cNvPr id="5" name="Text 3"/>
          <p:cNvSpPr txBox="1"/>
          <p:nvPr/>
        </p:nvSpPr>
        <p:spPr>
          <a:xfrm>
            <a:off x="777240" y="1828800"/>
            <a:ext cx="1371600" cy="685800"/>
          </a:xfrm>
          <a:prstGeom prst="rect">
            <a:avLst/>
          </a:prstGeom>
          <a:noFill/>
          <a:ln/>
        </p:spPr>
        <p:txBody>
          <a:bodyPr wrap="square" lIns="0" tIns="0" rIns="0" bIns="0" rtlCol="0" anchor="t"/>
          <a:lstStyle/>
          <a:p>
            <a:pPr indent="0" marL="0">
              <a:buNone/>
            </a:pPr>
            <a:r>
              <a:rPr lang="en-US" sz="4000" b="1" dirty="0">
                <a:solidFill>
                  <a:schemeClr val="accent1"/>
                </a:solidFill>
              </a:rPr>
              <a:t>01</a:t>
            </a:r>
            <a:endParaRPr lang="en-US" sz="4000" dirty="0"/>
          </a:p>
        </p:txBody>
      </p:sp>
      <p:sp>
        <p:nvSpPr>
          <p:cNvPr id="6" name="Text 4"/>
          <p:cNvSpPr txBox="1"/>
          <p:nvPr/>
        </p:nvSpPr>
        <p:spPr>
          <a:xfrm>
            <a:off x="777240" y="2606040"/>
            <a:ext cx="1682496" cy="777240"/>
          </a:xfrm>
          <a:prstGeom prst="rect">
            <a:avLst/>
          </a:prstGeom>
          <a:noFill/>
          <a:ln/>
        </p:spPr>
        <p:txBody>
          <a:bodyPr wrap="square" lIns="0" tIns="0" rIns="0" bIns="0" rtlCol="0" anchor="t"/>
          <a:lstStyle/>
          <a:p>
            <a:pPr indent="0" marL="0">
              <a:buNone/>
            </a:pPr>
            <a:r>
              <a:rPr lang="en-US" sz="1800" b="1" dirty="0">
                <a:solidFill>
                  <a:schemeClr val="tx2"/>
                </a:solidFill>
              </a:rPr>
              <a:t>Contexte et objectifs</a:t>
            </a:r>
            <a:endParaRPr lang="en-US" sz="1800" dirty="0"/>
          </a:p>
        </p:txBody>
      </p:sp>
      <p:sp>
        <p:nvSpPr>
          <p:cNvPr id="7" name="Text 5"/>
          <p:cNvSpPr txBox="1"/>
          <p:nvPr/>
        </p:nvSpPr>
        <p:spPr>
          <a:xfrm>
            <a:off x="777240" y="3520440"/>
            <a:ext cx="1728216" cy="1737360"/>
          </a:xfrm>
          <a:prstGeom prst="rect">
            <a:avLst/>
          </a:prstGeom>
          <a:noFill/>
          <a:ln/>
        </p:spPr>
        <p:txBody>
          <a:bodyPr wrap="square" lIns="0" tIns="0" rIns="0" bIns="0" rtlCol="0" anchor="t"/>
          <a:lstStyle/>
          <a:p>
            <a:pPr marL="177800" indent="-177800">
              <a:spcAft>
                <a:spcPts val="600"/>
              </a:spcAft>
              <a:buSzPct val="100000"/>
              <a:buChar char="•"/>
            </a:pPr>
            <a:r>
              <a:rPr lang="en-US" sz="1400" dirty="0">
                <a:solidFill>
                  <a:schemeClr val="tx1"/>
                </a:solidFill>
              </a:rPr>
              <a:t>Besoin de l'AIVM</a:t>
            </a:r>
            <a:endParaRPr lang="en-US" sz="1400" dirty="0"/>
          </a:p>
          <a:p>
            <a:pPr marL="177800" indent="-177800">
              <a:spcAft>
                <a:spcPts val="600"/>
              </a:spcAft>
              <a:buSzPct val="100000"/>
              <a:buChar char="•"/>
            </a:pPr>
            <a:r>
              <a:rPr lang="en-US" sz="1400" dirty="0">
                <a:solidFill>
                  <a:schemeClr val="tx1"/>
                </a:solidFill>
              </a:rPr>
              <a:t>Problématique</a:t>
            </a:r>
            <a:endParaRPr lang="en-US" sz="1400" dirty="0"/>
          </a:p>
          <a:p>
            <a:pPr marL="177800" indent="-177800">
              <a:spcAft>
                <a:spcPts val="600"/>
              </a:spcAft>
              <a:buSzPct val="100000"/>
              <a:buChar char="•"/>
            </a:pPr>
            <a:r>
              <a:rPr lang="en-US" sz="1400" dirty="0">
                <a:solidFill>
                  <a:schemeClr val="tx1"/>
                </a:solidFill>
              </a:rPr>
              <a:t>Cahier des charges</a:t>
            </a:r>
            <a:endParaRPr lang="en-US" sz="1400" dirty="0"/>
          </a:p>
        </p:txBody>
      </p:sp>
      <p:sp>
        <p:nvSpPr>
          <p:cNvPr id="8" name="Text 6"/>
          <p:cNvSpPr txBox="1"/>
          <p:nvPr/>
        </p:nvSpPr>
        <p:spPr>
          <a:xfrm>
            <a:off x="777240" y="5440680"/>
            <a:ext cx="1636776" cy="274320"/>
          </a:xfrm>
          <a:prstGeom prst="rect">
            <a:avLst/>
          </a:prstGeom>
          <a:noFill/>
          <a:ln/>
        </p:spPr>
        <p:txBody>
          <a:bodyPr wrap="square" lIns="0" tIns="0" rIns="0" bIns="0" rtlCol="0" anchor="t"/>
          <a:lstStyle/>
          <a:p>
            <a:pPr indent="0" marL="0">
              <a:buNone/>
            </a:pPr>
            <a:r>
              <a:rPr lang="en-US" sz="1200" b="1" dirty="0">
                <a:solidFill>
                  <a:schemeClr val="accent6"/>
                </a:solidFill>
              </a:rPr>
              <a:t>p. 3–4</a:t>
            </a:r>
            <a:endParaRPr lang="en-US" sz="1200" dirty="0"/>
          </a:p>
        </p:txBody>
      </p:sp>
      <p:sp>
        <p:nvSpPr>
          <p:cNvPr id="9" name="Partie 02"/>
          <p:cNvSpPr/>
          <p:nvPr/>
        </p:nvSpPr>
        <p:spPr>
          <a:xfrm>
            <a:off x="2798064" y="1600200"/>
            <a:ext cx="2093976" cy="4343400"/>
          </a:xfrm>
          <a:prstGeom prst="roundRect">
            <a:avLst>
              <a:gd name="adj" fmla="val 3493"/>
            </a:avLst>
          </a:prstGeom>
          <a:solidFill>
            <a:schemeClr val="bg2"/>
          </a:solidFill>
          <a:ln/>
        </p:spPr>
      </p:sp>
      <p:sp>
        <p:nvSpPr>
          <p:cNvPr id="10" name="Text 8"/>
          <p:cNvSpPr txBox="1"/>
          <p:nvPr/>
        </p:nvSpPr>
        <p:spPr>
          <a:xfrm>
            <a:off x="3026664" y="1828800"/>
            <a:ext cx="1371600" cy="685800"/>
          </a:xfrm>
          <a:prstGeom prst="rect">
            <a:avLst/>
          </a:prstGeom>
          <a:noFill/>
          <a:ln/>
        </p:spPr>
        <p:txBody>
          <a:bodyPr wrap="square" lIns="0" tIns="0" rIns="0" bIns="0" rtlCol="0" anchor="t"/>
          <a:lstStyle/>
          <a:p>
            <a:pPr indent="0" marL="0">
              <a:buNone/>
            </a:pPr>
            <a:r>
              <a:rPr lang="en-US" sz="4000" b="1" dirty="0">
                <a:solidFill>
                  <a:schemeClr val="accent1"/>
                </a:solidFill>
              </a:rPr>
              <a:t>02</a:t>
            </a:r>
            <a:endParaRPr lang="en-US" sz="4000" dirty="0"/>
          </a:p>
        </p:txBody>
      </p:sp>
      <p:sp>
        <p:nvSpPr>
          <p:cNvPr id="11" name="Text 9"/>
          <p:cNvSpPr txBox="1"/>
          <p:nvPr/>
        </p:nvSpPr>
        <p:spPr>
          <a:xfrm>
            <a:off x="3026664" y="2606040"/>
            <a:ext cx="1682496" cy="777240"/>
          </a:xfrm>
          <a:prstGeom prst="rect">
            <a:avLst/>
          </a:prstGeom>
          <a:noFill/>
          <a:ln/>
        </p:spPr>
        <p:txBody>
          <a:bodyPr wrap="square" lIns="0" tIns="0" rIns="0" bIns="0" rtlCol="0" anchor="t"/>
          <a:lstStyle/>
          <a:p>
            <a:pPr indent="0" marL="0">
              <a:buNone/>
            </a:pPr>
            <a:r>
              <a:rPr lang="en-US" sz="1800" b="1" dirty="0">
                <a:solidFill>
                  <a:schemeClr val="tx2"/>
                </a:solidFill>
              </a:rPr>
              <a:t>Matériel et architecture</a:t>
            </a:r>
            <a:endParaRPr lang="en-US" sz="1800" dirty="0"/>
          </a:p>
        </p:txBody>
      </p:sp>
      <p:sp>
        <p:nvSpPr>
          <p:cNvPr id="12" name="Text 10"/>
          <p:cNvSpPr txBox="1"/>
          <p:nvPr/>
        </p:nvSpPr>
        <p:spPr>
          <a:xfrm>
            <a:off x="3026664" y="3520440"/>
            <a:ext cx="1728216" cy="1737360"/>
          </a:xfrm>
          <a:prstGeom prst="rect">
            <a:avLst/>
          </a:prstGeom>
          <a:noFill/>
          <a:ln/>
        </p:spPr>
        <p:txBody>
          <a:bodyPr wrap="square" lIns="0" tIns="0" rIns="0" bIns="0" rtlCol="0" anchor="t"/>
          <a:lstStyle/>
          <a:p>
            <a:pPr marL="177800" indent="-177800">
              <a:spcAft>
                <a:spcPts val="600"/>
              </a:spcAft>
              <a:buSzPct val="100000"/>
              <a:buChar char="•"/>
            </a:pPr>
            <a:r>
              <a:rPr lang="en-US" sz="1400" dirty="0">
                <a:solidFill>
                  <a:schemeClr val="tx1"/>
                </a:solidFill>
              </a:rPr>
              <a:t>Composants</a:t>
            </a:r>
            <a:endParaRPr lang="en-US" sz="1400" dirty="0"/>
          </a:p>
          <a:p>
            <a:pPr marL="177800" indent="-177800">
              <a:spcAft>
                <a:spcPts val="600"/>
              </a:spcAft>
              <a:buSzPct val="100000"/>
              <a:buChar char="•"/>
            </a:pPr>
            <a:r>
              <a:rPr lang="en-US" sz="1400" dirty="0">
                <a:solidFill>
                  <a:schemeClr val="tx1"/>
                </a:solidFill>
              </a:rPr>
              <a:t>Schéma fonctionnel</a:t>
            </a:r>
            <a:endParaRPr lang="en-US" sz="1400" dirty="0"/>
          </a:p>
          <a:p>
            <a:pPr marL="177800" indent="-177800">
              <a:spcAft>
                <a:spcPts val="600"/>
              </a:spcAft>
              <a:buSzPct val="100000"/>
              <a:buChar char="•"/>
            </a:pPr>
            <a:r>
              <a:rPr lang="en-US" sz="1400" dirty="0">
                <a:solidFill>
                  <a:schemeClr val="tx1"/>
                </a:solidFill>
              </a:rPr>
              <a:t>Organisation du firmware</a:t>
            </a:r>
            <a:endParaRPr lang="en-US" sz="1400" dirty="0"/>
          </a:p>
        </p:txBody>
      </p:sp>
      <p:sp>
        <p:nvSpPr>
          <p:cNvPr id="13" name="Text 11"/>
          <p:cNvSpPr txBox="1"/>
          <p:nvPr/>
        </p:nvSpPr>
        <p:spPr>
          <a:xfrm>
            <a:off x="3026664" y="5440680"/>
            <a:ext cx="1636776" cy="274320"/>
          </a:xfrm>
          <a:prstGeom prst="rect">
            <a:avLst/>
          </a:prstGeom>
          <a:noFill/>
          <a:ln/>
        </p:spPr>
        <p:txBody>
          <a:bodyPr wrap="square" lIns="0" tIns="0" rIns="0" bIns="0" rtlCol="0" anchor="t"/>
          <a:lstStyle/>
          <a:p>
            <a:pPr indent="0" marL="0">
              <a:buNone/>
            </a:pPr>
            <a:r>
              <a:rPr lang="en-US" sz="1200" b="1" dirty="0">
                <a:solidFill>
                  <a:schemeClr val="accent6"/>
                </a:solidFill>
              </a:rPr>
              <a:t>p. 5–7</a:t>
            </a:r>
            <a:endParaRPr lang="en-US" sz="1200" dirty="0"/>
          </a:p>
        </p:txBody>
      </p:sp>
      <p:sp>
        <p:nvSpPr>
          <p:cNvPr id="14" name="Partie 03"/>
          <p:cNvSpPr/>
          <p:nvPr/>
        </p:nvSpPr>
        <p:spPr>
          <a:xfrm>
            <a:off x="5047488" y="1600200"/>
            <a:ext cx="2093976" cy="4343400"/>
          </a:xfrm>
          <a:prstGeom prst="roundRect">
            <a:avLst>
              <a:gd name="adj" fmla="val 3493"/>
            </a:avLst>
          </a:prstGeom>
          <a:solidFill>
            <a:schemeClr val="bg2"/>
          </a:solidFill>
          <a:ln/>
        </p:spPr>
      </p:sp>
      <p:sp>
        <p:nvSpPr>
          <p:cNvPr id="15" name="Text 13"/>
          <p:cNvSpPr txBox="1"/>
          <p:nvPr/>
        </p:nvSpPr>
        <p:spPr>
          <a:xfrm>
            <a:off x="5276088" y="1828800"/>
            <a:ext cx="1371600" cy="685800"/>
          </a:xfrm>
          <a:prstGeom prst="rect">
            <a:avLst/>
          </a:prstGeom>
          <a:noFill/>
          <a:ln/>
        </p:spPr>
        <p:txBody>
          <a:bodyPr wrap="square" lIns="0" tIns="0" rIns="0" bIns="0" rtlCol="0" anchor="t"/>
          <a:lstStyle/>
          <a:p>
            <a:pPr indent="0" marL="0">
              <a:buNone/>
            </a:pPr>
            <a:r>
              <a:rPr lang="en-US" sz="4000" b="1" dirty="0">
                <a:solidFill>
                  <a:schemeClr val="accent1"/>
                </a:solidFill>
              </a:rPr>
              <a:t>03</a:t>
            </a:r>
            <a:endParaRPr lang="en-US" sz="4000" dirty="0"/>
          </a:p>
        </p:txBody>
      </p:sp>
      <p:sp>
        <p:nvSpPr>
          <p:cNvPr id="16" name="Text 14"/>
          <p:cNvSpPr txBox="1"/>
          <p:nvPr/>
        </p:nvSpPr>
        <p:spPr>
          <a:xfrm>
            <a:off x="5276088" y="2606040"/>
            <a:ext cx="1682496" cy="777240"/>
          </a:xfrm>
          <a:prstGeom prst="rect">
            <a:avLst/>
          </a:prstGeom>
          <a:noFill/>
          <a:ln/>
        </p:spPr>
        <p:txBody>
          <a:bodyPr wrap="square" lIns="0" tIns="0" rIns="0" bIns="0" rtlCol="0" anchor="t"/>
          <a:lstStyle/>
          <a:p>
            <a:pPr indent="0" marL="0">
              <a:buNone/>
            </a:pPr>
            <a:r>
              <a:rPr lang="en-US" sz="1800" b="1" dirty="0">
                <a:solidFill>
                  <a:schemeClr val="tx2"/>
                </a:solidFill>
              </a:rPr>
              <a:t>Fonctionnement logiciel</a:t>
            </a:r>
            <a:endParaRPr lang="en-US" sz="1800" dirty="0"/>
          </a:p>
        </p:txBody>
      </p:sp>
      <p:sp>
        <p:nvSpPr>
          <p:cNvPr id="17" name="Text 15"/>
          <p:cNvSpPr txBox="1"/>
          <p:nvPr/>
        </p:nvSpPr>
        <p:spPr>
          <a:xfrm>
            <a:off x="5276088" y="3520440"/>
            <a:ext cx="1728216" cy="1737360"/>
          </a:xfrm>
          <a:prstGeom prst="rect">
            <a:avLst/>
          </a:prstGeom>
          <a:noFill/>
          <a:ln/>
        </p:spPr>
        <p:txBody>
          <a:bodyPr wrap="square" lIns="0" tIns="0" rIns="0" bIns="0" rtlCol="0" anchor="t"/>
          <a:lstStyle/>
          <a:p>
            <a:pPr marL="177800" indent="-177800">
              <a:spcAft>
                <a:spcPts val="600"/>
              </a:spcAft>
              <a:buSzPct val="100000"/>
              <a:buChar char="•"/>
            </a:pPr>
            <a:r>
              <a:rPr lang="en-US" sz="1400" dirty="0">
                <a:solidFill>
                  <a:schemeClr val="tx1"/>
                </a:solidFill>
              </a:rPr>
              <a:t>Acquisition des données</a:t>
            </a:r>
            <a:endParaRPr lang="en-US" sz="1400" dirty="0"/>
          </a:p>
          <a:p>
            <a:pPr marL="177800" indent="-177800">
              <a:spcAft>
                <a:spcPts val="600"/>
              </a:spcAft>
              <a:buSzPct val="100000"/>
              <a:buChar char="•"/>
            </a:pPr>
            <a:r>
              <a:rPr lang="en-US" sz="1400" dirty="0">
                <a:solidFill>
                  <a:schemeClr val="tx1"/>
                </a:solidFill>
              </a:rPr>
              <a:t>Modes de fonctionnement</a:t>
            </a:r>
            <a:endParaRPr lang="en-US" sz="1400" dirty="0"/>
          </a:p>
          <a:p>
            <a:pPr marL="177800" indent="-177800">
              <a:spcAft>
                <a:spcPts val="600"/>
              </a:spcAft>
              <a:buSzPct val="100000"/>
              <a:buChar char="•"/>
            </a:pPr>
            <a:r>
              <a:rPr lang="en-US" sz="1400" dirty="0">
                <a:solidFill>
                  <a:schemeClr val="tx1"/>
                </a:solidFill>
              </a:rPr>
              <a:t>Interruptions et erreurs</a:t>
            </a:r>
            <a:endParaRPr lang="en-US" sz="1400" dirty="0"/>
          </a:p>
        </p:txBody>
      </p:sp>
      <p:sp>
        <p:nvSpPr>
          <p:cNvPr id="18" name="Text 16"/>
          <p:cNvSpPr txBox="1"/>
          <p:nvPr/>
        </p:nvSpPr>
        <p:spPr>
          <a:xfrm>
            <a:off x="5276088" y="5440680"/>
            <a:ext cx="1636776" cy="274320"/>
          </a:xfrm>
          <a:prstGeom prst="rect">
            <a:avLst/>
          </a:prstGeom>
          <a:noFill/>
          <a:ln/>
        </p:spPr>
        <p:txBody>
          <a:bodyPr wrap="square" lIns="0" tIns="0" rIns="0" bIns="0" rtlCol="0" anchor="t"/>
          <a:lstStyle/>
          <a:p>
            <a:pPr indent="0" marL="0">
              <a:buNone/>
            </a:pPr>
            <a:r>
              <a:rPr lang="en-US" sz="1200" b="1" dirty="0">
                <a:solidFill>
                  <a:schemeClr val="accent6"/>
                </a:solidFill>
              </a:rPr>
              <a:t>p. 8–11</a:t>
            </a:r>
            <a:endParaRPr lang="en-US" sz="1200" dirty="0"/>
          </a:p>
        </p:txBody>
      </p:sp>
      <p:sp>
        <p:nvSpPr>
          <p:cNvPr id="19" name="Partie 04"/>
          <p:cNvSpPr/>
          <p:nvPr/>
        </p:nvSpPr>
        <p:spPr>
          <a:xfrm>
            <a:off x="7296912" y="1600200"/>
            <a:ext cx="2093976" cy="4343400"/>
          </a:xfrm>
          <a:prstGeom prst="roundRect">
            <a:avLst>
              <a:gd name="adj" fmla="val 3493"/>
            </a:avLst>
          </a:prstGeom>
          <a:solidFill>
            <a:schemeClr val="bg2"/>
          </a:solidFill>
          <a:ln/>
        </p:spPr>
      </p:sp>
      <p:sp>
        <p:nvSpPr>
          <p:cNvPr id="20" name="Text 18"/>
          <p:cNvSpPr txBox="1"/>
          <p:nvPr/>
        </p:nvSpPr>
        <p:spPr>
          <a:xfrm>
            <a:off x="7525512" y="1828800"/>
            <a:ext cx="1371600" cy="685800"/>
          </a:xfrm>
          <a:prstGeom prst="rect">
            <a:avLst/>
          </a:prstGeom>
          <a:noFill/>
          <a:ln/>
        </p:spPr>
        <p:txBody>
          <a:bodyPr wrap="square" lIns="0" tIns="0" rIns="0" bIns="0" rtlCol="0" anchor="t"/>
          <a:lstStyle/>
          <a:p>
            <a:pPr indent="0" marL="0">
              <a:buNone/>
            </a:pPr>
            <a:r>
              <a:rPr lang="en-US" sz="4000" b="1" dirty="0">
                <a:solidFill>
                  <a:schemeClr val="accent1"/>
                </a:solidFill>
              </a:rPr>
              <a:t>04</a:t>
            </a:r>
            <a:endParaRPr lang="en-US" sz="4000" dirty="0"/>
          </a:p>
        </p:txBody>
      </p:sp>
      <p:sp>
        <p:nvSpPr>
          <p:cNvPr id="21" name="Text 19"/>
          <p:cNvSpPr txBox="1"/>
          <p:nvPr/>
        </p:nvSpPr>
        <p:spPr>
          <a:xfrm>
            <a:off x="7525512" y="2606040"/>
            <a:ext cx="1682496" cy="777240"/>
          </a:xfrm>
          <a:prstGeom prst="rect">
            <a:avLst/>
          </a:prstGeom>
          <a:noFill/>
          <a:ln/>
        </p:spPr>
        <p:txBody>
          <a:bodyPr wrap="square" lIns="0" tIns="0" rIns="0" bIns="0" rtlCol="0" anchor="t"/>
          <a:lstStyle/>
          <a:p>
            <a:pPr indent="0" marL="0">
              <a:buNone/>
            </a:pPr>
            <a:r>
              <a:rPr lang="en-US" sz="1800" b="1" dirty="0">
                <a:solidFill>
                  <a:schemeClr val="tx2"/>
                </a:solidFill>
              </a:rPr>
              <a:t>Automatisation et validation</a:t>
            </a:r>
            <a:endParaRPr lang="en-US" sz="1800" dirty="0"/>
          </a:p>
        </p:txBody>
      </p:sp>
      <p:sp>
        <p:nvSpPr>
          <p:cNvPr id="22" name="Text 20"/>
          <p:cNvSpPr txBox="1"/>
          <p:nvPr/>
        </p:nvSpPr>
        <p:spPr>
          <a:xfrm>
            <a:off x="7525512" y="3520440"/>
            <a:ext cx="1728216" cy="1737360"/>
          </a:xfrm>
          <a:prstGeom prst="rect">
            <a:avLst/>
          </a:prstGeom>
          <a:noFill/>
          <a:ln/>
        </p:spPr>
        <p:txBody>
          <a:bodyPr wrap="square" lIns="0" tIns="0" rIns="0" bIns="0" rtlCol="0" anchor="t"/>
          <a:lstStyle/>
          <a:p>
            <a:pPr marL="177800" indent="-177800">
              <a:spcAft>
                <a:spcPts val="600"/>
              </a:spcAft>
              <a:buSzPct val="100000"/>
              <a:buChar char="•"/>
            </a:pPr>
            <a:r>
              <a:rPr lang="en-US" sz="1400" dirty="0">
                <a:solidFill>
                  <a:schemeClr val="tx1"/>
                </a:solidFill>
              </a:rPr>
              <a:t>Script Bash</a:t>
            </a:r>
            <a:endParaRPr lang="en-US" sz="1400" dirty="0"/>
          </a:p>
          <a:p>
            <a:pPr marL="177800" indent="-177800">
              <a:spcAft>
                <a:spcPts val="600"/>
              </a:spcAft>
              <a:buSzPct val="100000"/>
              <a:buChar char="•"/>
            </a:pPr>
            <a:r>
              <a:rPr lang="en-US" sz="1400" dirty="0">
                <a:solidFill>
                  <a:schemeClr val="tx1"/>
                </a:solidFill>
              </a:rPr>
              <a:t>Conformité au CDC</a:t>
            </a:r>
            <a:endParaRPr lang="en-US" sz="1400" dirty="0"/>
          </a:p>
          <a:p>
            <a:pPr marL="177800" indent="-177800">
              <a:spcAft>
                <a:spcPts val="600"/>
              </a:spcAft>
              <a:buSzPct val="100000"/>
              <a:buChar char="•"/>
            </a:pPr>
            <a:r>
              <a:rPr lang="en-US" sz="1400" dirty="0">
                <a:solidFill>
                  <a:schemeClr val="tx1"/>
                </a:solidFill>
              </a:rPr>
              <a:t>Tests et corrections</a:t>
            </a:r>
            <a:endParaRPr lang="en-US" sz="1400" dirty="0"/>
          </a:p>
        </p:txBody>
      </p:sp>
      <p:sp>
        <p:nvSpPr>
          <p:cNvPr id="23" name="Text 21"/>
          <p:cNvSpPr txBox="1"/>
          <p:nvPr/>
        </p:nvSpPr>
        <p:spPr>
          <a:xfrm>
            <a:off x="7525512" y="5440680"/>
            <a:ext cx="1636776" cy="274320"/>
          </a:xfrm>
          <a:prstGeom prst="rect">
            <a:avLst/>
          </a:prstGeom>
          <a:noFill/>
          <a:ln/>
        </p:spPr>
        <p:txBody>
          <a:bodyPr wrap="square" lIns="0" tIns="0" rIns="0" bIns="0" rtlCol="0" anchor="t"/>
          <a:lstStyle/>
          <a:p>
            <a:pPr indent="0" marL="0">
              <a:buNone/>
            </a:pPr>
            <a:r>
              <a:rPr lang="en-US" sz="1200" b="1" dirty="0">
                <a:solidFill>
                  <a:schemeClr val="accent6"/>
                </a:solidFill>
              </a:rPr>
              <a:t>p. 12–14</a:t>
            </a:r>
            <a:endParaRPr lang="en-US" sz="1200" dirty="0"/>
          </a:p>
        </p:txBody>
      </p:sp>
      <p:sp>
        <p:nvSpPr>
          <p:cNvPr id="24" name="Partie 05"/>
          <p:cNvSpPr/>
          <p:nvPr/>
        </p:nvSpPr>
        <p:spPr>
          <a:xfrm>
            <a:off x="9546336" y="1600200"/>
            <a:ext cx="2093976" cy="4343400"/>
          </a:xfrm>
          <a:prstGeom prst="roundRect">
            <a:avLst>
              <a:gd name="adj" fmla="val 3493"/>
            </a:avLst>
          </a:prstGeom>
          <a:solidFill>
            <a:schemeClr val="bg2"/>
          </a:solidFill>
          <a:ln/>
        </p:spPr>
      </p:sp>
      <p:sp>
        <p:nvSpPr>
          <p:cNvPr id="25" name="Text 23"/>
          <p:cNvSpPr txBox="1"/>
          <p:nvPr/>
        </p:nvSpPr>
        <p:spPr>
          <a:xfrm>
            <a:off x="9774936" y="1828800"/>
            <a:ext cx="1371600" cy="685800"/>
          </a:xfrm>
          <a:prstGeom prst="rect">
            <a:avLst/>
          </a:prstGeom>
          <a:noFill/>
          <a:ln/>
        </p:spPr>
        <p:txBody>
          <a:bodyPr wrap="square" lIns="0" tIns="0" rIns="0" bIns="0" rtlCol="0" anchor="t"/>
          <a:lstStyle/>
          <a:p>
            <a:pPr indent="0" marL="0">
              <a:buNone/>
            </a:pPr>
            <a:r>
              <a:rPr lang="en-US" sz="4000" b="1" dirty="0">
                <a:solidFill>
                  <a:schemeClr val="accent1"/>
                </a:solidFill>
              </a:rPr>
              <a:t>05</a:t>
            </a:r>
            <a:endParaRPr lang="en-US" sz="4000" dirty="0"/>
          </a:p>
        </p:txBody>
      </p:sp>
      <p:sp>
        <p:nvSpPr>
          <p:cNvPr id="26" name="Text 24"/>
          <p:cNvSpPr txBox="1"/>
          <p:nvPr/>
        </p:nvSpPr>
        <p:spPr>
          <a:xfrm>
            <a:off x="9774936" y="2606040"/>
            <a:ext cx="1682496" cy="777240"/>
          </a:xfrm>
          <a:prstGeom prst="rect">
            <a:avLst/>
          </a:prstGeom>
          <a:noFill/>
          <a:ln/>
        </p:spPr>
        <p:txBody>
          <a:bodyPr wrap="square" lIns="0" tIns="0" rIns="0" bIns="0" rtlCol="0" anchor="t"/>
          <a:lstStyle/>
          <a:p>
            <a:pPr indent="0" marL="0">
              <a:buNone/>
            </a:pPr>
            <a:r>
              <a:rPr lang="en-US" sz="1800" b="1" dirty="0">
                <a:solidFill>
                  <a:schemeClr val="tx2"/>
                </a:solidFill>
              </a:rPr>
              <a:t>Démonstration et conclusion</a:t>
            </a:r>
            <a:endParaRPr lang="en-US" sz="1800" dirty="0"/>
          </a:p>
        </p:txBody>
      </p:sp>
      <p:sp>
        <p:nvSpPr>
          <p:cNvPr id="27" name="Text 25"/>
          <p:cNvSpPr txBox="1"/>
          <p:nvPr/>
        </p:nvSpPr>
        <p:spPr>
          <a:xfrm>
            <a:off x="9774936" y="3520440"/>
            <a:ext cx="1728216" cy="1737360"/>
          </a:xfrm>
          <a:prstGeom prst="rect">
            <a:avLst/>
          </a:prstGeom>
          <a:noFill/>
          <a:ln/>
        </p:spPr>
        <p:txBody>
          <a:bodyPr wrap="square" lIns="0" tIns="0" rIns="0" bIns="0" rtlCol="0" anchor="t"/>
          <a:lstStyle/>
          <a:p>
            <a:pPr marL="177800" indent="-177800">
              <a:spcAft>
                <a:spcPts val="600"/>
              </a:spcAft>
              <a:buSzPct val="100000"/>
              <a:buChar char="•"/>
            </a:pPr>
            <a:r>
              <a:rPr lang="en-US" sz="1400" dirty="0">
                <a:solidFill>
                  <a:schemeClr val="tx1"/>
                </a:solidFill>
              </a:rPr>
              <a:t>Scénario de démonstration</a:t>
            </a:r>
            <a:endParaRPr lang="en-US" sz="1400" dirty="0"/>
          </a:p>
          <a:p>
            <a:pPr marL="177800" indent="-177800">
              <a:spcAft>
                <a:spcPts val="600"/>
              </a:spcAft>
              <a:buSzPct val="100000"/>
              <a:buChar char="•"/>
            </a:pPr>
            <a:r>
              <a:rPr lang="en-US" sz="1400" dirty="0">
                <a:solidFill>
                  <a:schemeClr val="tx1"/>
                </a:solidFill>
              </a:rPr>
              <a:t>Bilan et perspectives</a:t>
            </a:r>
            <a:endParaRPr lang="en-US" sz="1400" dirty="0"/>
          </a:p>
        </p:txBody>
      </p:sp>
      <p:sp>
        <p:nvSpPr>
          <p:cNvPr id="28" name="Text 26"/>
          <p:cNvSpPr txBox="1"/>
          <p:nvPr/>
        </p:nvSpPr>
        <p:spPr>
          <a:xfrm>
            <a:off x="9774936" y="5440680"/>
            <a:ext cx="1636776" cy="274320"/>
          </a:xfrm>
          <a:prstGeom prst="rect">
            <a:avLst/>
          </a:prstGeom>
          <a:noFill/>
          <a:ln/>
        </p:spPr>
        <p:txBody>
          <a:bodyPr wrap="square" lIns="0" tIns="0" rIns="0" bIns="0" rtlCol="0" anchor="t"/>
          <a:lstStyle/>
          <a:p>
            <a:pPr indent="0" marL="0">
              <a:buNone/>
            </a:pPr>
            <a:r>
              <a:rPr lang="en-US" sz="1200" b="1" dirty="0">
                <a:solidFill>
                  <a:schemeClr val="accent6"/>
                </a:solidFill>
              </a:rPr>
              <a:t>p. 15–16</a:t>
            </a:r>
            <a:endParaRPr lang="en-US" sz="1200" dirty="0"/>
          </a:p>
        </p:txBody>
      </p:sp>
      <p:sp>
        <p:nvSpPr>
          <p:cNvPr id="25" name="Slide Number Placeholder 0"/>
          <p:cNvSpPr>
            <a:spLocks noGrp="1"/>
          </p:cNvSpPr>
          <p:nvPr>
            <p:ph type="sldNum" sz="quarter" idx="4294967295"/>
          </p:nvPr>
        </p:nvSpPr>
        <p:spPr>
          <a:xfrm>
            <a:off x="11091672" y="6455664"/>
            <a:ext cx="548640" cy="237744"/>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6"/>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9144000" cy="274320"/>
          </a:xfrm>
          <a:prstGeom prst="rect">
            <a:avLst/>
          </a:prstGeom>
          <a:noFill/>
          <a:ln/>
        </p:spPr>
        <p:txBody>
          <a:bodyPr wrap="square" lIns="0" tIns="0" rIns="0" bIns="0" rtlCol="0" anchor="t"/>
          <a:lstStyle/>
          <a:p>
            <a:pPr indent="0" marL="0">
              <a:buNone/>
            </a:pPr>
            <a:r>
              <a:rPr lang="en-US" sz="1200" b="1" spc="150" kern="0" dirty="0">
                <a:solidFill>
                  <a:schemeClr val="accent1"/>
                </a:solidFill>
              </a:rPr>
              <a:t>01 · CONTEXTE ET OBJECTIFS</a:t>
            </a:r>
            <a:endParaRPr lang="en-US" sz="1200" dirty="0"/>
          </a:p>
        </p:txBody>
      </p:sp>
      <p:sp>
        <p:nvSpPr>
          <p:cNvPr id="3" name="Text 0"/>
          <p:cNvSpPr/>
          <p:nvPr>
            <p:ph idx="101" type="title" hasCustomPrompt="1"/>
          </p:nvPr>
        </p:nvSpPr>
        <p:spPr>
          <a:xfrm>
            <a:off x="548640" y="621792"/>
            <a:ext cx="11091672" cy="640080"/>
          </a:xfrm>
          <a:prstGeom prst="rect">
            <a:avLst/>
          </a:prstGeom>
          <a:noFill/>
          <a:ln/>
        </p:spPr>
        <p:txBody>
          <a:bodyPr wrap="square" lIns="0" tIns="0" rIns="0" bIns="0" rtlCol="0" anchor="t"/>
          <a:lstStyle/>
          <a:p>
            <a:pPr algn="l" indent="0" marL="0">
              <a:buNone/>
            </a:pPr>
            <a:r>
              <a:rPr lang="en-US" sz="3000" b="1" dirty="0">
                <a:solidFill>
                  <a:schemeClr val="tx2"/>
                </a:solidFill>
              </a:rPr>
              <a:t>Contexte : des navires qui mesurent la météo</a:t>
            </a:r>
            <a:endParaRPr lang="en-US" sz="3000" dirty="0"/>
          </a:p>
        </p:txBody>
      </p:sp>
      <p:sp>
        <p:nvSpPr>
          <p:cNvPr id="4" name="Text 2"/>
          <p:cNvSpPr txBox="1"/>
          <p:nvPr/>
        </p:nvSpPr>
        <p:spPr>
          <a:xfrm>
            <a:off x="548640" y="1554480"/>
            <a:ext cx="5760720" cy="3017520"/>
          </a:xfrm>
          <a:prstGeom prst="rect">
            <a:avLst/>
          </a:prstGeom>
          <a:noFill/>
          <a:ln/>
        </p:spPr>
        <p:txBody>
          <a:bodyPr wrap="square" lIns="0" tIns="0" rIns="0" bIns="0" rtlCol="0" anchor="t"/>
          <a:lstStyle/>
          <a:p>
            <a:pPr indent="0" marL="0">
              <a:spcAft>
                <a:spcPts val="1200"/>
              </a:spcAft>
              <a:buNone/>
            </a:pPr>
            <a:r>
              <a:rPr lang="en-US" sz="1700" dirty="0">
                <a:solidFill>
                  <a:schemeClr val="tx1"/>
                </a:solidFill>
              </a:rPr>
              <a:t>L'Agence Internationale pour la Vigilance Météorologique (AIVM) veut déployer sur les océans des navires équipés de stations météo embarquées.</a:t>
            </a:r>
            <a:endParaRPr lang="en-US" sz="1700" dirty="0"/>
          </a:p>
          <a:p>
            <a:pPr indent="0" marL="0">
              <a:spcAft>
                <a:spcPts val="1200"/>
              </a:spcAft>
              <a:buNone/>
            </a:pPr>
            <a:r>
              <a:rPr lang="en-US" sz="1700" dirty="0">
                <a:solidFill>
                  <a:schemeClr val="tx1"/>
                </a:solidFill>
              </a:rPr>
              <a:t>Ces stations mesurent des paramètres liés à la formation des cyclones et d'autres catastrophes naturelles. À long terme, les navires pourraient échanger leurs données.</a:t>
            </a:r>
            <a:endParaRPr lang="en-US" sz="1700" dirty="0"/>
          </a:p>
          <a:p>
            <a:pPr indent="0" marL="0">
              <a:buNone/>
            </a:pPr>
            <a:r>
              <a:rPr lang="en-US" sz="1700" dirty="0">
                <a:solidFill>
                  <a:schemeClr val="tx1"/>
                </a:solidFill>
              </a:rPr>
              <a:t>Des compagnies maritimes acceptent d'en équiper leurs bateaux, à condition que la station reste simple, efficace et pilotable par un membre d'équipage.</a:t>
            </a:r>
            <a:endParaRPr lang="en-US" sz="1700" dirty="0"/>
          </a:p>
        </p:txBody>
      </p:sp>
      <p:sp>
        <p:nvSpPr>
          <p:cNvPr id="5" name="Text 3"/>
          <p:cNvSpPr/>
          <p:nvPr/>
        </p:nvSpPr>
        <p:spPr>
          <a:xfrm>
            <a:off x="548640" y="4800600"/>
            <a:ext cx="5760720" cy="1234440"/>
          </a:xfrm>
          <a:prstGeom prst="roundRect">
            <a:avLst>
              <a:gd name="adj" fmla="val 5926"/>
            </a:avLst>
          </a:prstGeom>
          <a:solidFill>
            <a:schemeClr val="tx2"/>
          </a:solidFill>
          <a:ln/>
        </p:spPr>
        <p:txBody>
          <a:bodyPr wrap="square" lIns="127000" tIns="203200" rIns="203200" bIns="127000" rtlCol="0" anchor="ctr"/>
          <a:lstStyle/>
          <a:p>
            <a:pPr indent="0" marL="0">
              <a:buNone/>
            </a:pPr>
            <a:r>
              <a:rPr lang="en-US" sz="1700" b="1" dirty="0">
                <a:solidFill>
                  <a:schemeClr val="accent5"/>
                </a:solidFill>
              </a:rPr>
              <a:t>Notre mission</a:t>
            </a:r>
            <a:endParaRPr lang="en-US" sz="1700" dirty="0"/>
          </a:p>
          <a:p>
            <a:pPr indent="0" marL="0">
              <a:buNone/>
            </a:pPr>
            <a:r>
              <a:rPr lang="en-US" sz="1700" dirty="0">
                <a:solidFill>
                  <a:schemeClr val="bg1"/>
                </a:solidFill>
              </a:rPr>
              <a:t>Réaliser le prototype de cette station sur une carte STM32 Nucleo, puis en démontrer le fonctionnement.</a:t>
            </a:r>
            <a:endParaRPr lang="en-US" sz="1700" dirty="0"/>
          </a:p>
        </p:txBody>
      </p:sp>
      <p:sp>
        <p:nvSpPr>
          <p:cNvPr id="6" name="Shape 4"/>
          <p:cNvSpPr/>
          <p:nvPr/>
        </p:nvSpPr>
        <p:spPr>
          <a:xfrm>
            <a:off x="6766560" y="1554480"/>
            <a:ext cx="4873752" cy="1325880"/>
          </a:xfrm>
          <a:prstGeom prst="roundRect">
            <a:avLst>
              <a:gd name="adj" fmla="val 5517"/>
            </a:avLst>
          </a:prstGeom>
          <a:solidFill>
            <a:schemeClr val="bg2"/>
          </a:solidFill>
          <a:ln/>
        </p:spPr>
      </p:sp>
      <p:sp>
        <p:nvSpPr>
          <p:cNvPr id="7" name="Text 5"/>
          <p:cNvSpPr/>
          <p:nvPr/>
        </p:nvSpPr>
        <p:spPr>
          <a:xfrm>
            <a:off x="6995160" y="1856232"/>
            <a:ext cx="731520" cy="731520"/>
          </a:xfrm>
          <a:prstGeom prst="ellipse">
            <a:avLst/>
          </a:prstGeom>
          <a:solidFill>
            <a:schemeClr val="accent1"/>
          </a:solidFill>
          <a:ln/>
        </p:spPr>
        <p:txBody>
          <a:bodyPr wrap="square" lIns="0" tIns="0" rIns="0" bIns="0" rtlCol="0" anchor="ctr"/>
          <a:lstStyle/>
          <a:p>
            <a:pPr algn="ctr" indent="0" marL="0">
              <a:buNone/>
            </a:pPr>
            <a:r>
              <a:rPr lang="en-US" sz="1800" b="1" dirty="0">
                <a:solidFill>
                  <a:schemeClr val="bg1"/>
                </a:solidFill>
              </a:rPr>
              <a:t>°C</a:t>
            </a:r>
            <a:endParaRPr lang="en-US" sz="1800" dirty="0"/>
          </a:p>
        </p:txBody>
      </p:sp>
      <p:sp>
        <p:nvSpPr>
          <p:cNvPr id="8" name="Text 6"/>
          <p:cNvSpPr txBox="1"/>
          <p:nvPr/>
        </p:nvSpPr>
        <p:spPr>
          <a:xfrm>
            <a:off x="7955280" y="1755648"/>
            <a:ext cx="3474720" cy="365760"/>
          </a:xfrm>
          <a:prstGeom prst="rect">
            <a:avLst/>
          </a:prstGeom>
          <a:noFill/>
          <a:ln/>
        </p:spPr>
        <p:txBody>
          <a:bodyPr wrap="square" lIns="0" tIns="0" rIns="0" bIns="0" rtlCol="0" anchor="t"/>
          <a:lstStyle/>
          <a:p>
            <a:pPr indent="0" marL="0">
              <a:buNone/>
            </a:pPr>
            <a:r>
              <a:rPr lang="en-US" sz="1800" b="1" dirty="0">
                <a:solidFill>
                  <a:schemeClr val="tx2"/>
                </a:solidFill>
              </a:rPr>
              <a:t>Mesurer</a:t>
            </a:r>
            <a:endParaRPr lang="en-US" sz="1800" dirty="0"/>
          </a:p>
        </p:txBody>
      </p:sp>
      <p:sp>
        <p:nvSpPr>
          <p:cNvPr id="9" name="Text 7"/>
          <p:cNvSpPr txBox="1"/>
          <p:nvPr/>
        </p:nvSpPr>
        <p:spPr>
          <a:xfrm>
            <a:off x="7955280" y="2121408"/>
            <a:ext cx="3474720" cy="640080"/>
          </a:xfrm>
          <a:prstGeom prst="rect">
            <a:avLst/>
          </a:prstGeom>
          <a:noFill/>
          <a:ln/>
        </p:spPr>
        <p:txBody>
          <a:bodyPr wrap="square" lIns="0" tIns="0" rIns="0" bIns="0" rtlCol="0" anchor="t"/>
          <a:lstStyle/>
          <a:p>
            <a:pPr indent="0" marL="0">
              <a:buNone/>
            </a:pPr>
            <a:r>
              <a:rPr lang="en-US" sz="1400" dirty="0">
                <a:solidFill>
                  <a:schemeClr val="tx1"/>
                </a:solidFill>
              </a:rPr>
              <a:t>Température de l'air, hygrométrie, luminosité et position GPS</a:t>
            </a:r>
            <a:endParaRPr lang="en-US" sz="1400" dirty="0"/>
          </a:p>
        </p:txBody>
      </p:sp>
      <p:sp>
        <p:nvSpPr>
          <p:cNvPr id="10" name="Shape 8"/>
          <p:cNvSpPr/>
          <p:nvPr/>
        </p:nvSpPr>
        <p:spPr>
          <a:xfrm>
            <a:off x="6766560" y="3063240"/>
            <a:ext cx="4873752" cy="1325880"/>
          </a:xfrm>
          <a:prstGeom prst="roundRect">
            <a:avLst>
              <a:gd name="adj" fmla="val 5517"/>
            </a:avLst>
          </a:prstGeom>
          <a:solidFill>
            <a:schemeClr val="bg2"/>
          </a:solidFill>
          <a:ln/>
        </p:spPr>
      </p:sp>
      <p:sp>
        <p:nvSpPr>
          <p:cNvPr id="11" name="Text 9"/>
          <p:cNvSpPr/>
          <p:nvPr/>
        </p:nvSpPr>
        <p:spPr>
          <a:xfrm>
            <a:off x="6995160" y="3364992"/>
            <a:ext cx="731520" cy="731520"/>
          </a:xfrm>
          <a:prstGeom prst="ellipse">
            <a:avLst/>
          </a:prstGeom>
          <a:solidFill>
            <a:schemeClr val="accent1"/>
          </a:solidFill>
          <a:ln/>
        </p:spPr>
        <p:txBody>
          <a:bodyPr wrap="square" lIns="0" tIns="0" rIns="0" bIns="0" rtlCol="0" anchor="ctr"/>
          <a:lstStyle/>
          <a:p>
            <a:pPr algn="ctr" indent="0" marL="0">
              <a:buNone/>
            </a:pPr>
            <a:r>
              <a:rPr lang="en-US" sz="1800" b="1" dirty="0">
                <a:solidFill>
                  <a:schemeClr val="bg1"/>
                </a:solidFill>
              </a:rPr>
              <a:t>SD</a:t>
            </a:r>
            <a:endParaRPr lang="en-US" sz="1800" dirty="0"/>
          </a:p>
        </p:txBody>
      </p:sp>
      <p:sp>
        <p:nvSpPr>
          <p:cNvPr id="12" name="Text 10"/>
          <p:cNvSpPr txBox="1"/>
          <p:nvPr/>
        </p:nvSpPr>
        <p:spPr>
          <a:xfrm>
            <a:off x="7955280" y="3264408"/>
            <a:ext cx="3474720" cy="365760"/>
          </a:xfrm>
          <a:prstGeom prst="rect">
            <a:avLst/>
          </a:prstGeom>
          <a:noFill/>
          <a:ln/>
        </p:spPr>
        <p:txBody>
          <a:bodyPr wrap="square" lIns="0" tIns="0" rIns="0" bIns="0" rtlCol="0" anchor="t"/>
          <a:lstStyle/>
          <a:p>
            <a:pPr indent="0" marL="0">
              <a:buNone/>
            </a:pPr>
            <a:r>
              <a:rPr lang="en-US" sz="1800" b="1" dirty="0">
                <a:solidFill>
                  <a:schemeClr val="tx2"/>
                </a:solidFill>
              </a:rPr>
              <a:t>Enregistrer</a:t>
            </a:r>
            <a:endParaRPr lang="en-US" sz="1800" dirty="0"/>
          </a:p>
        </p:txBody>
      </p:sp>
      <p:sp>
        <p:nvSpPr>
          <p:cNvPr id="13" name="Text 11"/>
          <p:cNvSpPr txBox="1"/>
          <p:nvPr/>
        </p:nvSpPr>
        <p:spPr>
          <a:xfrm>
            <a:off x="7955280" y="3630168"/>
            <a:ext cx="3474720" cy="640080"/>
          </a:xfrm>
          <a:prstGeom prst="rect">
            <a:avLst/>
          </a:prstGeom>
          <a:noFill/>
          <a:ln/>
        </p:spPr>
        <p:txBody>
          <a:bodyPr wrap="square" lIns="0" tIns="0" rIns="0" bIns="0" rtlCol="0" anchor="t"/>
          <a:lstStyle/>
          <a:p>
            <a:pPr indent="0" marL="0">
              <a:buNone/>
            </a:pPr>
            <a:r>
              <a:rPr lang="en-US" sz="1400" dirty="0">
                <a:solidFill>
                  <a:schemeClr val="tx1"/>
                </a:solidFill>
              </a:rPr>
              <a:t>Une ligne horodatée par mesure, sur carte SD</a:t>
            </a:r>
            <a:endParaRPr lang="en-US" sz="1400" dirty="0"/>
          </a:p>
        </p:txBody>
      </p:sp>
      <p:sp>
        <p:nvSpPr>
          <p:cNvPr id="14" name="Shape 12"/>
          <p:cNvSpPr/>
          <p:nvPr/>
        </p:nvSpPr>
        <p:spPr>
          <a:xfrm>
            <a:off x="6766560" y="4572000"/>
            <a:ext cx="4873752" cy="1325880"/>
          </a:xfrm>
          <a:prstGeom prst="roundRect">
            <a:avLst>
              <a:gd name="adj" fmla="val 5517"/>
            </a:avLst>
          </a:prstGeom>
          <a:solidFill>
            <a:schemeClr val="bg2"/>
          </a:solidFill>
          <a:ln/>
        </p:spPr>
      </p:sp>
      <p:sp>
        <p:nvSpPr>
          <p:cNvPr id="15" name="Text 13"/>
          <p:cNvSpPr/>
          <p:nvPr/>
        </p:nvSpPr>
        <p:spPr>
          <a:xfrm>
            <a:off x="6995160" y="4873752"/>
            <a:ext cx="731520" cy="731520"/>
          </a:xfrm>
          <a:prstGeom prst="ellipse">
            <a:avLst/>
          </a:prstGeom>
          <a:solidFill>
            <a:schemeClr val="accent1"/>
          </a:solidFill>
          <a:ln/>
        </p:spPr>
        <p:txBody>
          <a:bodyPr wrap="square" lIns="0" tIns="0" rIns="0" bIns="0" rtlCol="0" anchor="ctr"/>
          <a:lstStyle/>
          <a:p>
            <a:pPr algn="ctr" indent="0" marL="0">
              <a:buNone/>
            </a:pPr>
            <a:r>
              <a:rPr lang="en-US" sz="1500" b="1" dirty="0">
                <a:solidFill>
                  <a:schemeClr val="bg1"/>
                </a:solidFill>
              </a:rPr>
              <a:t>LED</a:t>
            </a:r>
            <a:endParaRPr lang="en-US" sz="1500" dirty="0"/>
          </a:p>
        </p:txBody>
      </p:sp>
      <p:sp>
        <p:nvSpPr>
          <p:cNvPr id="16" name="Text 14"/>
          <p:cNvSpPr txBox="1"/>
          <p:nvPr/>
        </p:nvSpPr>
        <p:spPr>
          <a:xfrm>
            <a:off x="7955280" y="4773168"/>
            <a:ext cx="3474720" cy="365760"/>
          </a:xfrm>
          <a:prstGeom prst="rect">
            <a:avLst/>
          </a:prstGeom>
          <a:noFill/>
          <a:ln/>
        </p:spPr>
        <p:txBody>
          <a:bodyPr wrap="square" lIns="0" tIns="0" rIns="0" bIns="0" rtlCol="0" anchor="t"/>
          <a:lstStyle/>
          <a:p>
            <a:pPr indent="0" marL="0">
              <a:buNone/>
            </a:pPr>
            <a:r>
              <a:rPr lang="en-US" sz="1800" b="1" dirty="0">
                <a:solidFill>
                  <a:schemeClr val="tx2"/>
                </a:solidFill>
              </a:rPr>
              <a:t>Piloter simplement</a:t>
            </a:r>
            <a:endParaRPr lang="en-US" sz="1800" dirty="0"/>
          </a:p>
        </p:txBody>
      </p:sp>
      <p:sp>
        <p:nvSpPr>
          <p:cNvPr id="17" name="Text 15"/>
          <p:cNvSpPr txBox="1"/>
          <p:nvPr/>
        </p:nvSpPr>
        <p:spPr>
          <a:xfrm>
            <a:off x="7955280" y="5138928"/>
            <a:ext cx="3474720" cy="640080"/>
          </a:xfrm>
          <a:prstGeom prst="rect">
            <a:avLst/>
          </a:prstGeom>
          <a:noFill/>
          <a:ln/>
        </p:spPr>
        <p:txBody>
          <a:bodyPr wrap="square" lIns="0" tIns="0" rIns="0" bIns="0" rtlCol="0" anchor="t"/>
          <a:lstStyle/>
          <a:p>
            <a:pPr indent="0" marL="0">
              <a:buNone/>
            </a:pPr>
            <a:r>
              <a:rPr lang="en-US" sz="1400" dirty="0">
                <a:solidFill>
                  <a:schemeClr val="tx1"/>
                </a:solidFill>
              </a:rPr>
              <a:t>Deux boutons, une LED d'état et une console série</a:t>
            </a:r>
            <a:endParaRPr lang="en-US" sz="1400" dirty="0"/>
          </a:p>
        </p:txBody>
      </p:sp>
      <p:sp>
        <p:nvSpPr>
          <p:cNvPr id="18" name="Text 16"/>
          <p:cNvSpPr txBox="1"/>
          <p:nvPr/>
        </p:nvSpPr>
        <p:spPr>
          <a:xfrm>
            <a:off x="6766560" y="6035040"/>
            <a:ext cx="4873752" cy="228600"/>
          </a:xfrm>
          <a:prstGeom prst="rect">
            <a:avLst/>
          </a:prstGeom>
          <a:noFill/>
          <a:ln/>
        </p:spPr>
        <p:txBody>
          <a:bodyPr wrap="square" lIns="0" tIns="0" rIns="0" bIns="0" rtlCol="0" anchor="t"/>
          <a:lstStyle/>
          <a:p>
            <a:pPr indent="0" marL="0">
              <a:buNone/>
            </a:pPr>
            <a:r>
              <a:rPr lang="en-US" sz="1000" i="1" dirty="0">
                <a:solidFill>
                  <a:schemeClr val="accent6"/>
                </a:solidFill>
              </a:rPr>
              <a:t>Source : sujet du projet Worldwide Weather Watcher (CESI)</a:t>
            </a:r>
            <a:endParaRPr lang="en-US" sz="1000" dirty="0"/>
          </a:p>
        </p:txBody>
      </p:sp>
      <p:sp>
        <p:nvSpPr>
          <p:cNvPr id="25" name="Slide Number Placeholder 0"/>
          <p:cNvSpPr>
            <a:spLocks noGrp="1"/>
          </p:cNvSpPr>
          <p:nvPr>
            <p:ph type="sldNum" sz="quarter" idx="4294967295"/>
          </p:nvPr>
        </p:nvSpPr>
        <p:spPr>
          <a:xfrm>
            <a:off x="11091672" y="6455664"/>
            <a:ext cx="548640" cy="237744"/>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6"/>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9144000" cy="274320"/>
          </a:xfrm>
          <a:prstGeom prst="rect">
            <a:avLst/>
          </a:prstGeom>
          <a:noFill/>
          <a:ln/>
        </p:spPr>
        <p:txBody>
          <a:bodyPr wrap="square" lIns="0" tIns="0" rIns="0" bIns="0" rtlCol="0" anchor="t"/>
          <a:lstStyle/>
          <a:p>
            <a:pPr indent="0" marL="0">
              <a:buNone/>
            </a:pPr>
            <a:r>
              <a:rPr lang="en-US" sz="1200" b="1" spc="150" kern="0" dirty="0">
                <a:solidFill>
                  <a:schemeClr val="accent1"/>
                </a:solidFill>
              </a:rPr>
              <a:t>01 · CONTEXTE ET OBJECTIFS</a:t>
            </a:r>
            <a:endParaRPr lang="en-US" sz="1200" dirty="0"/>
          </a:p>
        </p:txBody>
      </p:sp>
      <p:sp>
        <p:nvSpPr>
          <p:cNvPr id="3" name="Text 0"/>
          <p:cNvSpPr/>
          <p:nvPr>
            <p:ph idx="101" type="title" hasCustomPrompt="1"/>
          </p:nvPr>
        </p:nvSpPr>
        <p:spPr>
          <a:xfrm>
            <a:off x="548640" y="621792"/>
            <a:ext cx="11091672" cy="640080"/>
          </a:xfrm>
          <a:prstGeom prst="rect">
            <a:avLst/>
          </a:prstGeom>
          <a:noFill/>
          <a:ln/>
        </p:spPr>
        <p:txBody>
          <a:bodyPr wrap="square" lIns="0" tIns="0" rIns="0" bIns="0" rtlCol="0" anchor="t"/>
          <a:lstStyle/>
          <a:p>
            <a:pPr algn="l" indent="0" marL="0">
              <a:buNone/>
            </a:pPr>
            <a:r>
              <a:rPr lang="en-US" sz="3000" b="1" dirty="0">
                <a:solidFill>
                  <a:schemeClr val="tx2"/>
                </a:solidFill>
              </a:rPr>
              <a:t>Problématique et cahier des charges</a:t>
            </a:r>
            <a:endParaRPr lang="en-US" sz="3000" dirty="0"/>
          </a:p>
        </p:txBody>
      </p:sp>
      <p:sp>
        <p:nvSpPr>
          <p:cNvPr id="4" name="Text 2"/>
          <p:cNvSpPr/>
          <p:nvPr/>
        </p:nvSpPr>
        <p:spPr>
          <a:xfrm>
            <a:off x="548640" y="1463040"/>
            <a:ext cx="11091672" cy="960120"/>
          </a:xfrm>
          <a:prstGeom prst="roundRect">
            <a:avLst>
              <a:gd name="adj" fmla="val 7619"/>
            </a:avLst>
          </a:prstGeom>
          <a:solidFill>
            <a:schemeClr val="tx2"/>
          </a:solidFill>
          <a:ln/>
        </p:spPr>
        <p:txBody>
          <a:bodyPr wrap="square" lIns="101600" tIns="228600" rIns="228600" bIns="101600" rtlCol="0" anchor="ctr"/>
          <a:lstStyle/>
          <a:p>
            <a:pPr indent="0" marL="0">
              <a:buNone/>
            </a:pPr>
            <a:r>
              <a:rPr lang="en-US" sz="1800" b="1" dirty="0">
                <a:solidFill>
                  <a:schemeClr val="accent5"/>
                </a:solidFill>
              </a:rPr>
              <a:t>Problématique — </a:t>
            </a:r>
            <a:pPr indent="0" marL="0">
              <a:buNone/>
            </a:pPr>
            <a:r>
              <a:rPr lang="en-US" sz="1800" i="1" dirty="0">
                <a:solidFill>
                  <a:schemeClr val="bg1"/>
                </a:solidFill>
              </a:rPr>
              <a:t>comment concevoir sur STM32 une station autonome qui mesure, horodate et enregistre des données météo de façon fiable, tout en restant simple à piloter par l'équipage ?</a:t>
            </a:r>
            <a:endParaRPr lang="en-US" sz="1800" dirty="0"/>
          </a:p>
        </p:txBody>
      </p:sp>
      <p:sp>
        <p:nvSpPr>
          <p:cNvPr id="5" name="Shape 3"/>
          <p:cNvSpPr/>
          <p:nvPr/>
        </p:nvSpPr>
        <p:spPr>
          <a:xfrm>
            <a:off x="548640" y="2651760"/>
            <a:ext cx="3575304" cy="3566160"/>
          </a:xfrm>
          <a:prstGeom prst="roundRect">
            <a:avLst>
              <a:gd name="adj" fmla="val 2051"/>
            </a:avLst>
          </a:prstGeom>
          <a:solidFill>
            <a:schemeClr val="bg2"/>
          </a:solidFill>
          <a:ln/>
        </p:spPr>
      </p:sp>
      <p:sp>
        <p:nvSpPr>
          <p:cNvPr id="6" name="Text 4"/>
          <p:cNvSpPr/>
          <p:nvPr/>
        </p:nvSpPr>
        <p:spPr>
          <a:xfrm>
            <a:off x="777240" y="2852928"/>
            <a:ext cx="384048" cy="384048"/>
          </a:xfrm>
          <a:prstGeom prst="ellipse">
            <a:avLst/>
          </a:prstGeom>
          <a:solidFill>
            <a:schemeClr val="accent1"/>
          </a:solidFill>
          <a:ln/>
        </p:spPr>
        <p:txBody>
          <a:bodyPr wrap="square" lIns="0" tIns="0" rIns="0" bIns="0" rtlCol="0" anchor="ctr"/>
          <a:lstStyle/>
          <a:p>
            <a:pPr algn="ctr" indent="0" marL="0">
              <a:buNone/>
            </a:pPr>
            <a:r>
              <a:rPr lang="en-US" sz="1500" b="1" dirty="0">
                <a:solidFill>
                  <a:schemeClr val="bg1"/>
                </a:solidFill>
              </a:rPr>
              <a:t>1</a:t>
            </a:r>
            <a:endParaRPr lang="en-US" sz="1500" dirty="0"/>
          </a:p>
        </p:txBody>
      </p:sp>
      <p:sp>
        <p:nvSpPr>
          <p:cNvPr id="7" name="Text 5"/>
          <p:cNvSpPr txBox="1"/>
          <p:nvPr/>
        </p:nvSpPr>
        <p:spPr>
          <a:xfrm>
            <a:off x="1280160" y="2880360"/>
            <a:ext cx="2651760" cy="365760"/>
          </a:xfrm>
          <a:prstGeom prst="rect">
            <a:avLst/>
          </a:prstGeom>
          <a:noFill/>
          <a:ln/>
        </p:spPr>
        <p:txBody>
          <a:bodyPr wrap="square" lIns="0" tIns="0" rIns="0" bIns="0" rtlCol="0" anchor="t"/>
          <a:lstStyle/>
          <a:p>
            <a:pPr indent="0" marL="0">
              <a:buNone/>
            </a:pPr>
            <a:r>
              <a:rPr lang="en-US" sz="1800" b="1" dirty="0">
                <a:solidFill>
                  <a:schemeClr val="tx2"/>
                </a:solidFill>
              </a:rPr>
              <a:t>Fonctions attendues</a:t>
            </a:r>
            <a:endParaRPr lang="en-US" sz="1800" dirty="0"/>
          </a:p>
        </p:txBody>
      </p:sp>
      <p:sp>
        <p:nvSpPr>
          <p:cNvPr id="8" name="Text 6"/>
          <p:cNvSpPr txBox="1"/>
          <p:nvPr/>
        </p:nvSpPr>
        <p:spPr>
          <a:xfrm>
            <a:off x="777240" y="3429000"/>
            <a:ext cx="3154680" cy="2697480"/>
          </a:xfrm>
          <a:prstGeom prst="rect">
            <a:avLst/>
          </a:prstGeom>
          <a:noFill/>
          <a:ln/>
        </p:spPr>
        <p:txBody>
          <a:bodyPr wrap="square" lIns="0" tIns="0" rIns="0" bIns="0" rtlCol="0" anchor="t"/>
          <a:lstStyle/>
          <a:p>
            <a:pPr marL="177800" indent="-177800">
              <a:spcAft>
                <a:spcPts val="700"/>
              </a:spcAft>
              <a:buSzPct val="100000"/>
              <a:buChar char="•"/>
            </a:pPr>
            <a:r>
              <a:rPr lang="en-US" sz="1400" dirty="0">
                <a:solidFill>
                  <a:schemeClr val="tx1"/>
                </a:solidFill>
              </a:rPr>
              <a:t>Mesure périodique (LOG_INTERVAL, 10 min par défaut)</a:t>
            </a:r>
            <a:endParaRPr lang="en-US" sz="1400" dirty="0"/>
          </a:p>
          <a:p>
            <a:pPr marL="177800" indent="-177800">
              <a:spcAft>
                <a:spcPts val="700"/>
              </a:spcAft>
              <a:buSzPct val="100000"/>
              <a:buChar char="•"/>
            </a:pPr>
            <a:r>
              <a:rPr lang="en-US" sz="1400" dirty="0">
                <a:solidFill>
                  <a:schemeClr val="tx1"/>
                </a:solidFill>
              </a:rPr>
              <a:t>Une ligne horodatée par mesure sur carte SD</a:t>
            </a:r>
            <a:endParaRPr lang="en-US" sz="1400" dirty="0"/>
          </a:p>
          <a:p>
            <a:pPr marL="177800" indent="-177800">
              <a:spcAft>
                <a:spcPts val="700"/>
              </a:spcAft>
              <a:buSzPct val="100000"/>
              <a:buChar char="•"/>
            </a:pPr>
            <a:r>
              <a:rPr lang="en-US" sz="1400" dirty="0">
                <a:solidFill>
                  <a:schemeClr val="tx1"/>
                </a:solidFill>
              </a:rPr>
              <a:t>4 modes : standard, configuration, maintenance, économique</a:t>
            </a:r>
            <a:endParaRPr lang="en-US" sz="1400" dirty="0"/>
          </a:p>
          <a:p>
            <a:pPr marL="177800" indent="-177800">
              <a:spcAft>
                <a:spcPts val="700"/>
              </a:spcAft>
              <a:buSzPct val="100000"/>
              <a:buChar char="•"/>
            </a:pPr>
            <a:r>
              <a:rPr lang="en-US" sz="1400" dirty="0">
                <a:solidFill>
                  <a:schemeClr val="tx1"/>
                </a:solidFill>
              </a:rPr>
              <a:t>État et erreurs signalés par une LED RGB</a:t>
            </a:r>
            <a:endParaRPr lang="en-US" sz="1400" dirty="0"/>
          </a:p>
          <a:p>
            <a:pPr marL="177800" indent="-177800">
              <a:spcAft>
                <a:spcPts val="700"/>
              </a:spcAft>
              <a:buSzPct val="100000"/>
              <a:buChar char="•"/>
            </a:pPr>
            <a:r>
              <a:rPr lang="en-US" sz="1400" dirty="0">
                <a:solidFill>
                  <a:schemeClr val="tx1"/>
                </a:solidFill>
              </a:rPr>
              <a:t>Paramètres réglables par liaison série</a:t>
            </a:r>
            <a:endParaRPr lang="en-US" sz="1400" dirty="0"/>
          </a:p>
        </p:txBody>
      </p:sp>
      <p:sp>
        <p:nvSpPr>
          <p:cNvPr id="9" name="Shape 7"/>
          <p:cNvSpPr/>
          <p:nvPr/>
        </p:nvSpPr>
        <p:spPr>
          <a:xfrm>
            <a:off x="4306824" y="2651760"/>
            <a:ext cx="3575304" cy="3566160"/>
          </a:xfrm>
          <a:prstGeom prst="roundRect">
            <a:avLst>
              <a:gd name="adj" fmla="val 2051"/>
            </a:avLst>
          </a:prstGeom>
          <a:solidFill>
            <a:schemeClr val="bg2"/>
          </a:solidFill>
          <a:ln/>
        </p:spPr>
      </p:sp>
      <p:sp>
        <p:nvSpPr>
          <p:cNvPr id="10" name="Text 8"/>
          <p:cNvSpPr/>
          <p:nvPr/>
        </p:nvSpPr>
        <p:spPr>
          <a:xfrm>
            <a:off x="4535424" y="2852928"/>
            <a:ext cx="384048" cy="384048"/>
          </a:xfrm>
          <a:prstGeom prst="ellipse">
            <a:avLst/>
          </a:prstGeom>
          <a:solidFill>
            <a:schemeClr val="accent2"/>
          </a:solidFill>
          <a:ln/>
        </p:spPr>
        <p:txBody>
          <a:bodyPr wrap="square" lIns="0" tIns="0" rIns="0" bIns="0" rtlCol="0" anchor="ctr"/>
          <a:lstStyle/>
          <a:p>
            <a:pPr algn="ctr" indent="0" marL="0">
              <a:buNone/>
            </a:pPr>
            <a:r>
              <a:rPr lang="en-US" sz="1500" b="1" dirty="0">
                <a:solidFill>
                  <a:schemeClr val="bg1"/>
                </a:solidFill>
              </a:rPr>
              <a:t>2</a:t>
            </a:r>
            <a:endParaRPr lang="en-US" sz="1500" dirty="0"/>
          </a:p>
        </p:txBody>
      </p:sp>
      <p:sp>
        <p:nvSpPr>
          <p:cNvPr id="11" name="Text 9"/>
          <p:cNvSpPr txBox="1"/>
          <p:nvPr/>
        </p:nvSpPr>
        <p:spPr>
          <a:xfrm>
            <a:off x="5038344" y="2880360"/>
            <a:ext cx="2651760" cy="365760"/>
          </a:xfrm>
          <a:prstGeom prst="rect">
            <a:avLst/>
          </a:prstGeom>
          <a:noFill/>
          <a:ln/>
        </p:spPr>
        <p:txBody>
          <a:bodyPr wrap="square" lIns="0" tIns="0" rIns="0" bIns="0" rtlCol="0" anchor="t"/>
          <a:lstStyle/>
          <a:p>
            <a:pPr indent="0" marL="0">
              <a:buNone/>
            </a:pPr>
            <a:r>
              <a:rPr lang="en-US" sz="1800" b="1" dirty="0">
                <a:solidFill>
                  <a:schemeClr val="tx2"/>
                </a:solidFill>
              </a:rPr>
              <a:t>Contraintes</a:t>
            </a:r>
            <a:endParaRPr lang="en-US" sz="1800" dirty="0"/>
          </a:p>
        </p:txBody>
      </p:sp>
      <p:sp>
        <p:nvSpPr>
          <p:cNvPr id="12" name="Text 10"/>
          <p:cNvSpPr txBox="1"/>
          <p:nvPr/>
        </p:nvSpPr>
        <p:spPr>
          <a:xfrm>
            <a:off x="4535424" y="3429000"/>
            <a:ext cx="3154680" cy="2697480"/>
          </a:xfrm>
          <a:prstGeom prst="rect">
            <a:avLst/>
          </a:prstGeom>
          <a:noFill/>
          <a:ln/>
        </p:spPr>
        <p:txBody>
          <a:bodyPr wrap="square" lIns="0" tIns="0" rIns="0" bIns="0" rtlCol="0" anchor="t"/>
          <a:lstStyle/>
          <a:p>
            <a:pPr marL="177800" indent="-177800">
              <a:spcAft>
                <a:spcPts val="700"/>
              </a:spcAft>
              <a:buSzPct val="100000"/>
              <a:buChar char="•"/>
            </a:pPr>
            <a:r>
              <a:rPr lang="en-US" sz="1400" dirty="0">
                <a:solidFill>
                  <a:schemeClr val="tx1"/>
                </a:solidFill>
              </a:rPr>
              <a:t>Carte imposée : STM32 Nucleo (Cortex‑M4)</a:t>
            </a:r>
            <a:endParaRPr lang="en-US" sz="1400" dirty="0"/>
          </a:p>
          <a:p>
            <a:pPr marL="177800" indent="-177800">
              <a:spcAft>
                <a:spcPts val="700"/>
              </a:spcAft>
              <a:buSzPct val="100000"/>
              <a:buChar char="•"/>
            </a:pPr>
            <a:r>
              <a:rPr lang="en-US" sz="1400" dirty="0">
                <a:solidFill>
                  <a:schemeClr val="tx1"/>
                </a:solidFill>
              </a:rPr>
              <a:t>Capteurs sur des bus variés : I2C, SPI, UART, 1 fil</a:t>
            </a:r>
            <a:endParaRPr lang="en-US" sz="1400" dirty="0"/>
          </a:p>
          <a:p>
            <a:pPr marL="177800" indent="-177800">
              <a:spcAft>
                <a:spcPts val="700"/>
              </a:spcAft>
              <a:buSzPct val="100000"/>
              <a:buChar char="•"/>
            </a:pPr>
            <a:r>
              <a:rPr lang="en-US" sz="1400" dirty="0">
                <a:solidFill>
                  <a:schemeClr val="tx1"/>
                </a:solidFill>
              </a:rPr>
              <a:t>Capteur muet → « NA » après TIMEOUT (30 s)</a:t>
            </a:r>
            <a:endParaRPr lang="en-US" sz="1400" dirty="0"/>
          </a:p>
          <a:p>
            <a:pPr marL="177800" indent="-177800">
              <a:spcAft>
                <a:spcPts val="700"/>
              </a:spcAft>
              <a:buSzPct val="100000"/>
              <a:buChar char="•"/>
            </a:pPr>
            <a:r>
              <a:rPr lang="en-US" sz="1400" dirty="0">
                <a:solidFill>
                  <a:schemeClr val="tx1"/>
                </a:solidFill>
              </a:rPr>
              <a:t>Carte SD retirable sans corrompre les données</a:t>
            </a:r>
            <a:endParaRPr lang="en-US" sz="1400" dirty="0"/>
          </a:p>
          <a:p>
            <a:pPr marL="177800" indent="-177800">
              <a:spcAft>
                <a:spcPts val="700"/>
              </a:spcAft>
              <a:buSzPct val="100000"/>
              <a:buChar char="•"/>
            </a:pPr>
            <a:r>
              <a:rPr lang="en-US" sz="1400" dirty="0">
                <a:solidFill>
                  <a:schemeClr val="tx1"/>
                </a:solidFill>
              </a:rPr>
              <a:t>Économie de batterie (mode économique)</a:t>
            </a:r>
            <a:endParaRPr lang="en-US" sz="1400" dirty="0"/>
          </a:p>
        </p:txBody>
      </p:sp>
      <p:sp>
        <p:nvSpPr>
          <p:cNvPr id="13" name="Shape 11"/>
          <p:cNvSpPr/>
          <p:nvPr/>
        </p:nvSpPr>
        <p:spPr>
          <a:xfrm>
            <a:off x="8065008" y="2651760"/>
            <a:ext cx="3575304" cy="3566160"/>
          </a:xfrm>
          <a:prstGeom prst="roundRect">
            <a:avLst>
              <a:gd name="adj" fmla="val 2051"/>
            </a:avLst>
          </a:prstGeom>
          <a:solidFill>
            <a:schemeClr val="bg2"/>
          </a:solidFill>
          <a:ln/>
        </p:spPr>
      </p:sp>
      <p:sp>
        <p:nvSpPr>
          <p:cNvPr id="14" name="Text 12"/>
          <p:cNvSpPr/>
          <p:nvPr/>
        </p:nvSpPr>
        <p:spPr>
          <a:xfrm>
            <a:off x="8293608" y="2852928"/>
            <a:ext cx="384048" cy="384048"/>
          </a:xfrm>
          <a:prstGeom prst="ellipse">
            <a:avLst/>
          </a:prstGeom>
          <a:solidFill>
            <a:schemeClr val="accent3"/>
          </a:solidFill>
          <a:ln/>
        </p:spPr>
        <p:txBody>
          <a:bodyPr wrap="square" lIns="0" tIns="0" rIns="0" bIns="0" rtlCol="0" anchor="ctr"/>
          <a:lstStyle/>
          <a:p>
            <a:pPr algn="ctr" indent="0" marL="0">
              <a:buNone/>
            </a:pPr>
            <a:r>
              <a:rPr lang="en-US" sz="1500" b="1" dirty="0">
                <a:solidFill>
                  <a:schemeClr val="bg1"/>
                </a:solidFill>
              </a:rPr>
              <a:t>3</a:t>
            </a:r>
            <a:endParaRPr lang="en-US" sz="1500" dirty="0"/>
          </a:p>
        </p:txBody>
      </p:sp>
      <p:sp>
        <p:nvSpPr>
          <p:cNvPr id="15" name="Text 13"/>
          <p:cNvSpPr txBox="1"/>
          <p:nvPr/>
        </p:nvSpPr>
        <p:spPr>
          <a:xfrm>
            <a:off x="8796528" y="2880360"/>
            <a:ext cx="2651760" cy="365760"/>
          </a:xfrm>
          <a:prstGeom prst="rect">
            <a:avLst/>
          </a:prstGeom>
          <a:noFill/>
          <a:ln/>
        </p:spPr>
        <p:txBody>
          <a:bodyPr wrap="square" lIns="0" tIns="0" rIns="0" bIns="0" rtlCol="0" anchor="t"/>
          <a:lstStyle/>
          <a:p>
            <a:pPr indent="0" marL="0">
              <a:buNone/>
            </a:pPr>
            <a:r>
              <a:rPr lang="en-US" sz="1800" b="1" dirty="0">
                <a:solidFill>
                  <a:schemeClr val="tx2"/>
                </a:solidFill>
              </a:rPr>
              <a:t>Livrables évalués</a:t>
            </a:r>
            <a:endParaRPr lang="en-US" sz="1800" dirty="0"/>
          </a:p>
        </p:txBody>
      </p:sp>
      <p:sp>
        <p:nvSpPr>
          <p:cNvPr id="16" name="Text 14"/>
          <p:cNvSpPr txBox="1"/>
          <p:nvPr/>
        </p:nvSpPr>
        <p:spPr>
          <a:xfrm>
            <a:off x="8293608" y="3429000"/>
            <a:ext cx="3154680" cy="2697480"/>
          </a:xfrm>
          <a:prstGeom prst="rect">
            <a:avLst/>
          </a:prstGeom>
          <a:noFill/>
          <a:ln/>
        </p:spPr>
        <p:txBody>
          <a:bodyPr wrap="square" lIns="0" tIns="0" rIns="0" bIns="0" rtlCol="0" anchor="t"/>
          <a:lstStyle/>
          <a:p>
            <a:pPr marL="177800" indent="-177800">
              <a:spcAft>
                <a:spcPts val="700"/>
              </a:spcAft>
              <a:buSzPct val="100000"/>
              <a:buChar char="•"/>
            </a:pPr>
            <a:r>
              <a:rPr lang="en-US" sz="1400" dirty="0">
                <a:solidFill>
                  <a:schemeClr val="tx1"/>
                </a:solidFill>
              </a:rPr>
              <a:t>Programme complet de la carte</a:t>
            </a:r>
            <a:endParaRPr lang="en-US" sz="1400" dirty="0"/>
          </a:p>
          <a:p>
            <a:pPr marL="177800" indent="-177800">
              <a:spcAft>
                <a:spcPts val="700"/>
              </a:spcAft>
              <a:buSzPct val="100000"/>
              <a:buChar char="•"/>
            </a:pPr>
            <a:r>
              <a:rPr lang="en-US" sz="1400" dirty="0">
                <a:solidFill>
                  <a:schemeClr val="tx1"/>
                </a:solidFill>
              </a:rPr>
              <a:t>Script de compilation et de téléversement</a:t>
            </a:r>
            <a:endParaRPr lang="en-US" sz="1400" dirty="0"/>
          </a:p>
          <a:p>
            <a:pPr marL="177800" indent="-177800">
              <a:spcAft>
                <a:spcPts val="700"/>
              </a:spcAft>
              <a:buSzPct val="100000"/>
              <a:buChar char="•"/>
            </a:pPr>
            <a:r>
              <a:rPr lang="en-US" sz="1400" dirty="0">
                <a:solidFill>
                  <a:schemeClr val="tx1"/>
                </a:solidFill>
              </a:rPr>
              <a:t>Montage minimal autour de la Nucleo</a:t>
            </a:r>
            <a:endParaRPr lang="en-US" sz="1400" dirty="0"/>
          </a:p>
          <a:p>
            <a:pPr marL="177800" indent="-177800">
              <a:spcAft>
                <a:spcPts val="700"/>
              </a:spcAft>
              <a:buSzPct val="100000"/>
              <a:buChar char="•"/>
            </a:pPr>
            <a:r>
              <a:rPr lang="en-US" sz="1400" dirty="0">
                <a:solidFill>
                  <a:schemeClr val="tx1"/>
                </a:solidFill>
              </a:rPr>
              <a:t>Scénario de démonstration</a:t>
            </a:r>
            <a:endParaRPr lang="en-US" sz="1400" dirty="0"/>
          </a:p>
        </p:txBody>
      </p:sp>
      <p:sp>
        <p:nvSpPr>
          <p:cNvPr id="25" name="Slide Number Placeholder 0"/>
          <p:cNvSpPr>
            <a:spLocks noGrp="1"/>
          </p:cNvSpPr>
          <p:nvPr>
            <p:ph type="sldNum" sz="quarter" idx="4294967295"/>
          </p:nvPr>
        </p:nvSpPr>
        <p:spPr>
          <a:xfrm>
            <a:off x="11091672" y="6455664"/>
            <a:ext cx="548640" cy="237744"/>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6"/>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9144000" cy="274320"/>
          </a:xfrm>
          <a:prstGeom prst="rect">
            <a:avLst/>
          </a:prstGeom>
          <a:noFill/>
          <a:ln/>
        </p:spPr>
        <p:txBody>
          <a:bodyPr wrap="square" lIns="0" tIns="0" rIns="0" bIns="0" rtlCol="0" anchor="t"/>
          <a:lstStyle/>
          <a:p>
            <a:pPr indent="0" marL="0">
              <a:buNone/>
            </a:pPr>
            <a:r>
              <a:rPr lang="en-US" sz="1200" b="1" spc="150" kern="0" dirty="0">
                <a:solidFill>
                  <a:schemeClr val="accent1"/>
                </a:solidFill>
              </a:rPr>
              <a:t>02 · MATÉRIEL ET ARCHITECTURE</a:t>
            </a:r>
            <a:endParaRPr lang="en-US" sz="1200" dirty="0"/>
          </a:p>
        </p:txBody>
      </p:sp>
      <p:sp>
        <p:nvSpPr>
          <p:cNvPr id="3" name="Text 0"/>
          <p:cNvSpPr/>
          <p:nvPr>
            <p:ph idx="101" type="title" hasCustomPrompt="1"/>
          </p:nvPr>
        </p:nvSpPr>
        <p:spPr>
          <a:xfrm>
            <a:off x="548640" y="621792"/>
            <a:ext cx="11091672" cy="640080"/>
          </a:xfrm>
          <a:prstGeom prst="rect">
            <a:avLst/>
          </a:prstGeom>
          <a:noFill/>
          <a:ln/>
        </p:spPr>
        <p:txBody>
          <a:bodyPr wrap="square" lIns="0" tIns="0" rIns="0" bIns="0" rtlCol="0" anchor="t"/>
          <a:lstStyle/>
          <a:p>
            <a:pPr algn="l" indent="0" marL="0">
              <a:buNone/>
            </a:pPr>
            <a:r>
              <a:rPr lang="en-US" sz="3000" b="1" dirty="0">
                <a:solidFill>
                  <a:schemeClr val="tx2"/>
                </a:solidFill>
              </a:rPr>
              <a:t>Matériel utilisé</a:t>
            </a:r>
            <a:endParaRPr lang="en-US" sz="3000" dirty="0"/>
          </a:p>
        </p:txBody>
      </p:sp>
      <p:sp>
        <p:nvSpPr>
          <p:cNvPr id="4" name="NUCLEO-L476RG"/>
          <p:cNvSpPr/>
          <p:nvPr/>
        </p:nvSpPr>
        <p:spPr>
          <a:xfrm>
            <a:off x="548640" y="1463040"/>
            <a:ext cx="3575304" cy="1280160"/>
          </a:xfrm>
          <a:prstGeom prst="roundRect">
            <a:avLst>
              <a:gd name="adj" fmla="val 5714"/>
            </a:avLst>
          </a:prstGeom>
          <a:solidFill>
            <a:schemeClr val="bg2"/>
          </a:solidFill>
          <a:ln/>
        </p:spPr>
      </p:sp>
      <p:sp>
        <p:nvSpPr>
          <p:cNvPr id="5" name="Text 3"/>
          <p:cNvSpPr/>
          <p:nvPr/>
        </p:nvSpPr>
        <p:spPr>
          <a:xfrm>
            <a:off x="731520" y="1737360"/>
            <a:ext cx="713232" cy="713232"/>
          </a:xfrm>
          <a:prstGeom prst="ellipse">
            <a:avLst/>
          </a:prstGeom>
          <a:solidFill>
            <a:schemeClr val="tx2"/>
          </a:solidFill>
          <a:ln/>
        </p:spPr>
        <p:txBody>
          <a:bodyPr wrap="square" lIns="0" tIns="0" rIns="0" bIns="0" rtlCol="0" anchor="ctr"/>
          <a:lstStyle/>
          <a:p>
            <a:pPr algn="ctr" indent="0" marL="0">
              <a:buNone/>
            </a:pPr>
            <a:r>
              <a:rPr lang="en-US" sz="1300" b="1" dirty="0">
                <a:solidFill>
                  <a:schemeClr val="bg1"/>
                </a:solidFill>
              </a:rPr>
              <a:t>MCU</a:t>
            </a:r>
            <a:endParaRPr lang="en-US" sz="1300" dirty="0"/>
          </a:p>
        </p:txBody>
      </p:sp>
      <p:sp>
        <p:nvSpPr>
          <p:cNvPr id="6" name="Text 4"/>
          <p:cNvSpPr txBox="1"/>
          <p:nvPr/>
        </p:nvSpPr>
        <p:spPr>
          <a:xfrm>
            <a:off x="1600200" y="1591056"/>
            <a:ext cx="2423160" cy="310896"/>
          </a:xfrm>
          <a:prstGeom prst="rect">
            <a:avLst/>
          </a:prstGeom>
          <a:noFill/>
          <a:ln/>
        </p:spPr>
        <p:txBody>
          <a:bodyPr wrap="square" lIns="0" tIns="0" rIns="0" bIns="0" rtlCol="0" anchor="t"/>
          <a:lstStyle/>
          <a:p>
            <a:pPr indent="0" marL="0">
              <a:buNone/>
            </a:pPr>
            <a:r>
              <a:rPr lang="en-US" sz="1500" b="1" dirty="0">
                <a:solidFill>
                  <a:schemeClr val="tx2"/>
                </a:solidFill>
              </a:rPr>
              <a:t>NUCLEO-L476RG</a:t>
            </a:r>
            <a:endParaRPr lang="en-US" sz="1500" dirty="0"/>
          </a:p>
        </p:txBody>
      </p:sp>
      <p:sp>
        <p:nvSpPr>
          <p:cNvPr id="7" name="Text 5"/>
          <p:cNvSpPr txBox="1"/>
          <p:nvPr/>
        </p:nvSpPr>
        <p:spPr>
          <a:xfrm>
            <a:off x="1600200" y="1901952"/>
            <a:ext cx="2423160" cy="502920"/>
          </a:xfrm>
          <a:prstGeom prst="rect">
            <a:avLst/>
          </a:prstGeom>
          <a:noFill/>
          <a:ln/>
        </p:spPr>
        <p:txBody>
          <a:bodyPr wrap="square" lIns="0" tIns="0" rIns="0" bIns="0" rtlCol="0" anchor="t"/>
          <a:lstStyle/>
          <a:p>
            <a:pPr indent="0" marL="0">
              <a:buNone/>
            </a:pPr>
            <a:r>
              <a:rPr lang="en-US" sz="1250" dirty="0">
                <a:solidFill>
                  <a:schemeClr val="tx1"/>
                </a:solidFill>
              </a:rPr>
              <a:t>STM32L476RG, Cortex‑M4 à 80 MHz, ST-LINK intégré</a:t>
            </a:r>
            <a:endParaRPr lang="en-US" sz="1250" dirty="0"/>
          </a:p>
        </p:txBody>
      </p:sp>
      <p:sp>
        <p:nvSpPr>
          <p:cNvPr id="8" name="Text 6"/>
          <p:cNvSpPr txBox="1"/>
          <p:nvPr/>
        </p:nvSpPr>
        <p:spPr>
          <a:xfrm>
            <a:off x="1600200" y="2404872"/>
            <a:ext cx="2423160" cy="256032"/>
          </a:xfrm>
          <a:prstGeom prst="rect">
            <a:avLst/>
          </a:prstGeom>
          <a:noFill/>
          <a:ln/>
        </p:spPr>
        <p:txBody>
          <a:bodyPr wrap="square" lIns="0" tIns="0" rIns="0" bIns="0" rtlCol="0" anchor="t"/>
          <a:lstStyle/>
          <a:p>
            <a:pPr indent="0" marL="0">
              <a:buNone/>
            </a:pPr>
            <a:r>
              <a:rPr lang="en-US" sz="1200" b="1" dirty="0">
                <a:solidFill>
                  <a:schemeClr val="accent1"/>
                </a:solidFill>
              </a:rPr>
              <a:t>USB · ST-LINK</a:t>
            </a:r>
            <a:endParaRPr lang="en-US" sz="1200" dirty="0"/>
          </a:p>
        </p:txBody>
      </p:sp>
      <p:sp>
        <p:nvSpPr>
          <p:cNvPr id="9" name="DHT11"/>
          <p:cNvSpPr/>
          <p:nvPr/>
        </p:nvSpPr>
        <p:spPr>
          <a:xfrm>
            <a:off x="4306824" y="1463040"/>
            <a:ext cx="3575304" cy="1280160"/>
          </a:xfrm>
          <a:prstGeom prst="roundRect">
            <a:avLst>
              <a:gd name="adj" fmla="val 5714"/>
            </a:avLst>
          </a:prstGeom>
          <a:solidFill>
            <a:schemeClr val="bg2"/>
          </a:solidFill>
          <a:ln/>
        </p:spPr>
      </p:sp>
      <p:sp>
        <p:nvSpPr>
          <p:cNvPr id="10" name="Text 8"/>
          <p:cNvSpPr/>
          <p:nvPr/>
        </p:nvSpPr>
        <p:spPr>
          <a:xfrm>
            <a:off x="4489704" y="1737360"/>
            <a:ext cx="713232" cy="713232"/>
          </a:xfrm>
          <a:prstGeom prst="ellipse">
            <a:avLst/>
          </a:prstGeom>
          <a:solidFill>
            <a:schemeClr val="accent1"/>
          </a:solidFill>
          <a:ln/>
        </p:spPr>
        <p:txBody>
          <a:bodyPr wrap="square" lIns="0" tIns="0" rIns="0" bIns="0" rtlCol="0" anchor="ctr"/>
          <a:lstStyle/>
          <a:p>
            <a:pPr algn="ctr" indent="0" marL="0">
              <a:buNone/>
            </a:pPr>
            <a:r>
              <a:rPr lang="en-US" sz="1700" b="1" dirty="0">
                <a:solidFill>
                  <a:schemeClr val="bg1"/>
                </a:solidFill>
              </a:rPr>
              <a:t>°C</a:t>
            </a:r>
            <a:endParaRPr lang="en-US" sz="1700" dirty="0"/>
          </a:p>
        </p:txBody>
      </p:sp>
      <p:sp>
        <p:nvSpPr>
          <p:cNvPr id="11" name="Text 9"/>
          <p:cNvSpPr txBox="1"/>
          <p:nvPr/>
        </p:nvSpPr>
        <p:spPr>
          <a:xfrm>
            <a:off x="5358384" y="1591056"/>
            <a:ext cx="2423160" cy="310896"/>
          </a:xfrm>
          <a:prstGeom prst="rect">
            <a:avLst/>
          </a:prstGeom>
          <a:noFill/>
          <a:ln/>
        </p:spPr>
        <p:txBody>
          <a:bodyPr wrap="square" lIns="0" tIns="0" rIns="0" bIns="0" rtlCol="0" anchor="t"/>
          <a:lstStyle/>
          <a:p>
            <a:pPr indent="0" marL="0">
              <a:buNone/>
            </a:pPr>
            <a:r>
              <a:rPr lang="en-US" sz="1500" b="1" dirty="0">
                <a:solidFill>
                  <a:schemeClr val="tx2"/>
                </a:solidFill>
              </a:rPr>
              <a:t>DHT11</a:t>
            </a:r>
            <a:endParaRPr lang="en-US" sz="1500" dirty="0"/>
          </a:p>
        </p:txBody>
      </p:sp>
      <p:sp>
        <p:nvSpPr>
          <p:cNvPr id="12" name="Text 10"/>
          <p:cNvSpPr txBox="1"/>
          <p:nvPr/>
        </p:nvSpPr>
        <p:spPr>
          <a:xfrm>
            <a:off x="5358384" y="1901952"/>
            <a:ext cx="2423160" cy="502920"/>
          </a:xfrm>
          <a:prstGeom prst="rect">
            <a:avLst/>
          </a:prstGeom>
          <a:noFill/>
          <a:ln/>
        </p:spPr>
        <p:txBody>
          <a:bodyPr wrap="square" lIns="0" tIns="0" rIns="0" bIns="0" rtlCol="0" anchor="t"/>
          <a:lstStyle/>
          <a:p>
            <a:pPr indent="0" marL="0">
              <a:buNone/>
            </a:pPr>
            <a:r>
              <a:rPr lang="en-US" sz="1250" dirty="0">
                <a:solidFill>
                  <a:schemeClr val="tx1"/>
                </a:solidFill>
              </a:rPr>
              <a:t>Température de l'air et hygrométrie</a:t>
            </a:r>
            <a:endParaRPr lang="en-US" sz="1250" dirty="0"/>
          </a:p>
        </p:txBody>
      </p:sp>
      <p:sp>
        <p:nvSpPr>
          <p:cNvPr id="13" name="Text 11"/>
          <p:cNvSpPr txBox="1"/>
          <p:nvPr/>
        </p:nvSpPr>
        <p:spPr>
          <a:xfrm>
            <a:off x="5358384" y="2404872"/>
            <a:ext cx="2423160" cy="256032"/>
          </a:xfrm>
          <a:prstGeom prst="rect">
            <a:avLst/>
          </a:prstGeom>
          <a:noFill/>
          <a:ln/>
        </p:spPr>
        <p:txBody>
          <a:bodyPr wrap="square" lIns="0" tIns="0" rIns="0" bIns="0" rtlCol="0" anchor="t"/>
          <a:lstStyle/>
          <a:p>
            <a:pPr indent="0" marL="0">
              <a:buNone/>
            </a:pPr>
            <a:r>
              <a:rPr lang="en-US" sz="1200" b="1" dirty="0">
                <a:solidFill>
                  <a:schemeClr val="accent1"/>
                </a:solidFill>
              </a:rPr>
              <a:t>1 fil · PB0</a:t>
            </a:r>
            <a:endParaRPr lang="en-US" sz="1200" dirty="0"/>
          </a:p>
        </p:txBody>
      </p:sp>
      <p:sp>
        <p:nvSpPr>
          <p:cNvPr id="14" name="BH1750 (GY-302)"/>
          <p:cNvSpPr/>
          <p:nvPr/>
        </p:nvSpPr>
        <p:spPr>
          <a:xfrm>
            <a:off x="8065008" y="1463040"/>
            <a:ext cx="3575304" cy="1280160"/>
          </a:xfrm>
          <a:prstGeom prst="roundRect">
            <a:avLst>
              <a:gd name="adj" fmla="val 5714"/>
            </a:avLst>
          </a:prstGeom>
          <a:solidFill>
            <a:schemeClr val="bg2"/>
          </a:solidFill>
          <a:ln/>
        </p:spPr>
      </p:sp>
      <p:sp>
        <p:nvSpPr>
          <p:cNvPr id="15" name="Text 13"/>
          <p:cNvSpPr/>
          <p:nvPr/>
        </p:nvSpPr>
        <p:spPr>
          <a:xfrm>
            <a:off x="8247888" y="1737360"/>
            <a:ext cx="713232" cy="713232"/>
          </a:xfrm>
          <a:prstGeom prst="ellipse">
            <a:avLst/>
          </a:prstGeom>
          <a:solidFill>
            <a:schemeClr val="accent1"/>
          </a:solidFill>
          <a:ln/>
        </p:spPr>
        <p:txBody>
          <a:bodyPr wrap="square" lIns="0" tIns="0" rIns="0" bIns="0" rtlCol="0" anchor="ctr"/>
          <a:lstStyle/>
          <a:p>
            <a:pPr algn="ctr" indent="0" marL="0">
              <a:buNone/>
            </a:pPr>
            <a:r>
              <a:rPr lang="en-US" sz="1700" b="1" dirty="0">
                <a:solidFill>
                  <a:schemeClr val="bg1"/>
                </a:solidFill>
              </a:rPr>
              <a:t>lx</a:t>
            </a:r>
            <a:endParaRPr lang="en-US" sz="1700" dirty="0"/>
          </a:p>
        </p:txBody>
      </p:sp>
      <p:sp>
        <p:nvSpPr>
          <p:cNvPr id="16" name="Text 14"/>
          <p:cNvSpPr txBox="1"/>
          <p:nvPr/>
        </p:nvSpPr>
        <p:spPr>
          <a:xfrm>
            <a:off x="9116568" y="1591056"/>
            <a:ext cx="2423160" cy="310896"/>
          </a:xfrm>
          <a:prstGeom prst="rect">
            <a:avLst/>
          </a:prstGeom>
          <a:noFill/>
          <a:ln/>
        </p:spPr>
        <p:txBody>
          <a:bodyPr wrap="square" lIns="0" tIns="0" rIns="0" bIns="0" rtlCol="0" anchor="t"/>
          <a:lstStyle/>
          <a:p>
            <a:pPr indent="0" marL="0">
              <a:buNone/>
            </a:pPr>
            <a:r>
              <a:rPr lang="en-US" sz="1500" b="1" dirty="0">
                <a:solidFill>
                  <a:schemeClr val="tx2"/>
                </a:solidFill>
              </a:rPr>
              <a:t>BH1750 (GY-302)</a:t>
            </a:r>
            <a:endParaRPr lang="en-US" sz="1500" dirty="0"/>
          </a:p>
        </p:txBody>
      </p:sp>
      <p:sp>
        <p:nvSpPr>
          <p:cNvPr id="17" name="Text 15"/>
          <p:cNvSpPr txBox="1"/>
          <p:nvPr/>
        </p:nvSpPr>
        <p:spPr>
          <a:xfrm>
            <a:off x="9116568" y="1901952"/>
            <a:ext cx="2423160" cy="502920"/>
          </a:xfrm>
          <a:prstGeom prst="rect">
            <a:avLst/>
          </a:prstGeom>
          <a:noFill/>
          <a:ln/>
        </p:spPr>
        <p:txBody>
          <a:bodyPr wrap="square" lIns="0" tIns="0" rIns="0" bIns="0" rtlCol="0" anchor="t"/>
          <a:lstStyle/>
          <a:p>
            <a:pPr indent="0" marL="0">
              <a:buNone/>
            </a:pPr>
            <a:r>
              <a:rPr lang="en-US" sz="1250" dirty="0">
                <a:solidFill>
                  <a:schemeClr val="tx1"/>
                </a:solidFill>
              </a:rPr>
              <a:t>Luminosité en lux</a:t>
            </a:r>
            <a:endParaRPr lang="en-US" sz="1250" dirty="0"/>
          </a:p>
        </p:txBody>
      </p:sp>
      <p:sp>
        <p:nvSpPr>
          <p:cNvPr id="18" name="Text 16"/>
          <p:cNvSpPr txBox="1"/>
          <p:nvPr/>
        </p:nvSpPr>
        <p:spPr>
          <a:xfrm>
            <a:off x="9116568" y="2404872"/>
            <a:ext cx="2423160" cy="256032"/>
          </a:xfrm>
          <a:prstGeom prst="rect">
            <a:avLst/>
          </a:prstGeom>
          <a:noFill/>
          <a:ln/>
        </p:spPr>
        <p:txBody>
          <a:bodyPr wrap="square" lIns="0" tIns="0" rIns="0" bIns="0" rtlCol="0" anchor="t"/>
          <a:lstStyle/>
          <a:p>
            <a:pPr indent="0" marL="0">
              <a:buNone/>
            </a:pPr>
            <a:r>
              <a:rPr lang="en-US" sz="1200" b="1" dirty="0">
                <a:solidFill>
                  <a:schemeClr val="accent1"/>
                </a:solidFill>
              </a:rPr>
              <a:t>I2C1</a:t>
            </a:r>
            <a:endParaRPr lang="en-US" sz="1200" dirty="0"/>
          </a:p>
        </p:txBody>
      </p:sp>
      <p:sp>
        <p:nvSpPr>
          <p:cNvPr id="19" name="Module GPS"/>
          <p:cNvSpPr/>
          <p:nvPr/>
        </p:nvSpPr>
        <p:spPr>
          <a:xfrm>
            <a:off x="548640" y="2880360"/>
            <a:ext cx="3575304" cy="1280160"/>
          </a:xfrm>
          <a:prstGeom prst="roundRect">
            <a:avLst>
              <a:gd name="adj" fmla="val 5714"/>
            </a:avLst>
          </a:prstGeom>
          <a:solidFill>
            <a:schemeClr val="bg2"/>
          </a:solidFill>
          <a:ln/>
        </p:spPr>
      </p:sp>
      <p:sp>
        <p:nvSpPr>
          <p:cNvPr id="20" name="Text 18"/>
          <p:cNvSpPr/>
          <p:nvPr/>
        </p:nvSpPr>
        <p:spPr>
          <a:xfrm>
            <a:off x="731520" y="3154680"/>
            <a:ext cx="713232" cy="713232"/>
          </a:xfrm>
          <a:prstGeom prst="ellipse">
            <a:avLst/>
          </a:prstGeom>
          <a:solidFill>
            <a:schemeClr val="accent1"/>
          </a:solidFill>
          <a:ln/>
        </p:spPr>
        <p:txBody>
          <a:bodyPr wrap="square" lIns="0" tIns="0" rIns="0" bIns="0" rtlCol="0" anchor="ctr"/>
          <a:lstStyle/>
          <a:p>
            <a:pPr algn="ctr" indent="0" marL="0">
              <a:buNone/>
            </a:pPr>
            <a:r>
              <a:rPr lang="en-US" sz="1300" b="1" dirty="0">
                <a:solidFill>
                  <a:schemeClr val="bg1"/>
                </a:solidFill>
              </a:rPr>
              <a:t>GPS</a:t>
            </a:r>
            <a:endParaRPr lang="en-US" sz="1300" dirty="0"/>
          </a:p>
        </p:txBody>
      </p:sp>
      <p:sp>
        <p:nvSpPr>
          <p:cNvPr id="21" name="Text 19"/>
          <p:cNvSpPr txBox="1"/>
          <p:nvPr/>
        </p:nvSpPr>
        <p:spPr>
          <a:xfrm>
            <a:off x="1600200" y="3008376"/>
            <a:ext cx="2423160" cy="310896"/>
          </a:xfrm>
          <a:prstGeom prst="rect">
            <a:avLst/>
          </a:prstGeom>
          <a:noFill/>
          <a:ln/>
        </p:spPr>
        <p:txBody>
          <a:bodyPr wrap="square" lIns="0" tIns="0" rIns="0" bIns="0" rtlCol="0" anchor="t"/>
          <a:lstStyle/>
          <a:p>
            <a:pPr indent="0" marL="0">
              <a:buNone/>
            </a:pPr>
            <a:r>
              <a:rPr lang="en-US" sz="1500" b="1" dirty="0">
                <a:solidFill>
                  <a:schemeClr val="tx2"/>
                </a:solidFill>
              </a:rPr>
              <a:t>Module GPS</a:t>
            </a:r>
            <a:endParaRPr lang="en-US" sz="1500" dirty="0"/>
          </a:p>
        </p:txBody>
      </p:sp>
      <p:sp>
        <p:nvSpPr>
          <p:cNvPr id="22" name="Text 20"/>
          <p:cNvSpPr txBox="1"/>
          <p:nvPr/>
        </p:nvSpPr>
        <p:spPr>
          <a:xfrm>
            <a:off x="1600200" y="3319272"/>
            <a:ext cx="2423160" cy="502920"/>
          </a:xfrm>
          <a:prstGeom prst="rect">
            <a:avLst/>
          </a:prstGeom>
          <a:noFill/>
          <a:ln/>
        </p:spPr>
        <p:txBody>
          <a:bodyPr wrap="square" lIns="0" tIns="0" rIns="0" bIns="0" rtlCol="0" anchor="t"/>
          <a:lstStyle/>
          <a:p>
            <a:pPr indent="0" marL="0">
              <a:buNone/>
            </a:pPr>
            <a:r>
              <a:rPr lang="en-US" sz="1250" dirty="0">
                <a:solidFill>
                  <a:schemeClr val="tx1"/>
                </a:solidFill>
              </a:rPr>
              <a:t>Position et heure UTC (trames NMEA)</a:t>
            </a:r>
            <a:endParaRPr lang="en-US" sz="1250" dirty="0"/>
          </a:p>
        </p:txBody>
      </p:sp>
      <p:sp>
        <p:nvSpPr>
          <p:cNvPr id="23" name="Text 21"/>
          <p:cNvSpPr txBox="1"/>
          <p:nvPr/>
        </p:nvSpPr>
        <p:spPr>
          <a:xfrm>
            <a:off x="1600200" y="3822192"/>
            <a:ext cx="2423160" cy="256032"/>
          </a:xfrm>
          <a:prstGeom prst="rect">
            <a:avLst/>
          </a:prstGeom>
          <a:noFill/>
          <a:ln/>
        </p:spPr>
        <p:txBody>
          <a:bodyPr wrap="square" lIns="0" tIns="0" rIns="0" bIns="0" rtlCol="0" anchor="t"/>
          <a:lstStyle/>
          <a:p>
            <a:pPr indent="0" marL="0">
              <a:buNone/>
            </a:pPr>
            <a:r>
              <a:rPr lang="en-US" sz="1200" b="1" dirty="0">
                <a:solidFill>
                  <a:schemeClr val="accent1"/>
                </a:solidFill>
              </a:rPr>
              <a:t>USART3 · 9600 Bd</a:t>
            </a:r>
            <a:endParaRPr lang="en-US" sz="1200" dirty="0"/>
          </a:p>
        </p:txBody>
      </p:sp>
      <p:sp>
        <p:nvSpPr>
          <p:cNvPr id="24" name="Module carte SD"/>
          <p:cNvSpPr/>
          <p:nvPr/>
        </p:nvSpPr>
        <p:spPr>
          <a:xfrm>
            <a:off x="4306824" y="2880360"/>
            <a:ext cx="3575304" cy="1280160"/>
          </a:xfrm>
          <a:prstGeom prst="roundRect">
            <a:avLst>
              <a:gd name="adj" fmla="val 5714"/>
            </a:avLst>
          </a:prstGeom>
          <a:solidFill>
            <a:schemeClr val="bg2"/>
          </a:solidFill>
          <a:ln/>
        </p:spPr>
      </p:sp>
      <p:sp>
        <p:nvSpPr>
          <p:cNvPr id="25" name="Text 23"/>
          <p:cNvSpPr/>
          <p:nvPr/>
        </p:nvSpPr>
        <p:spPr>
          <a:xfrm>
            <a:off x="4489704" y="3154680"/>
            <a:ext cx="713232" cy="713232"/>
          </a:xfrm>
          <a:prstGeom prst="ellipse">
            <a:avLst/>
          </a:prstGeom>
          <a:solidFill>
            <a:schemeClr val="accent3"/>
          </a:solidFill>
          <a:ln/>
        </p:spPr>
        <p:txBody>
          <a:bodyPr wrap="square" lIns="0" tIns="0" rIns="0" bIns="0" rtlCol="0" anchor="ctr"/>
          <a:lstStyle/>
          <a:p>
            <a:pPr algn="ctr" indent="0" marL="0">
              <a:buNone/>
            </a:pPr>
            <a:r>
              <a:rPr lang="en-US" sz="1700" b="1" dirty="0">
                <a:solidFill>
                  <a:schemeClr val="bg1"/>
                </a:solidFill>
              </a:rPr>
              <a:t>SD</a:t>
            </a:r>
            <a:endParaRPr lang="en-US" sz="1700" dirty="0"/>
          </a:p>
        </p:txBody>
      </p:sp>
      <p:sp>
        <p:nvSpPr>
          <p:cNvPr id="26" name="Text 24"/>
          <p:cNvSpPr txBox="1"/>
          <p:nvPr/>
        </p:nvSpPr>
        <p:spPr>
          <a:xfrm>
            <a:off x="5358384" y="3008376"/>
            <a:ext cx="2423160" cy="310896"/>
          </a:xfrm>
          <a:prstGeom prst="rect">
            <a:avLst/>
          </a:prstGeom>
          <a:noFill/>
          <a:ln/>
        </p:spPr>
        <p:txBody>
          <a:bodyPr wrap="square" lIns="0" tIns="0" rIns="0" bIns="0" rtlCol="0" anchor="t"/>
          <a:lstStyle/>
          <a:p>
            <a:pPr indent="0" marL="0">
              <a:buNone/>
            </a:pPr>
            <a:r>
              <a:rPr lang="en-US" sz="1500" b="1" dirty="0">
                <a:solidFill>
                  <a:schemeClr val="tx2"/>
                </a:solidFill>
              </a:rPr>
              <a:t>Module carte SD</a:t>
            </a:r>
            <a:endParaRPr lang="en-US" sz="1500" dirty="0"/>
          </a:p>
        </p:txBody>
      </p:sp>
      <p:sp>
        <p:nvSpPr>
          <p:cNvPr id="27" name="Text 25"/>
          <p:cNvSpPr txBox="1"/>
          <p:nvPr/>
        </p:nvSpPr>
        <p:spPr>
          <a:xfrm>
            <a:off x="5358384" y="3319272"/>
            <a:ext cx="2423160" cy="502920"/>
          </a:xfrm>
          <a:prstGeom prst="rect">
            <a:avLst/>
          </a:prstGeom>
          <a:noFill/>
          <a:ln/>
        </p:spPr>
        <p:txBody>
          <a:bodyPr wrap="square" lIns="0" tIns="0" rIns="0" bIns="0" rtlCol="0" anchor="t"/>
          <a:lstStyle/>
          <a:p>
            <a:pPr indent="0" marL="0">
              <a:buNone/>
            </a:pPr>
            <a:r>
              <a:rPr lang="en-US" sz="1250" dirty="0">
                <a:solidFill>
                  <a:schemeClr val="tx1"/>
                </a:solidFill>
              </a:rPr>
              <a:t>Stockage des mesures (FAT32)</a:t>
            </a:r>
            <a:endParaRPr lang="en-US" sz="1250" dirty="0"/>
          </a:p>
        </p:txBody>
      </p:sp>
      <p:sp>
        <p:nvSpPr>
          <p:cNvPr id="28" name="Text 26"/>
          <p:cNvSpPr txBox="1"/>
          <p:nvPr/>
        </p:nvSpPr>
        <p:spPr>
          <a:xfrm>
            <a:off x="5358384" y="3822192"/>
            <a:ext cx="2423160" cy="256032"/>
          </a:xfrm>
          <a:prstGeom prst="rect">
            <a:avLst/>
          </a:prstGeom>
          <a:noFill/>
          <a:ln/>
        </p:spPr>
        <p:txBody>
          <a:bodyPr wrap="square" lIns="0" tIns="0" rIns="0" bIns="0" rtlCol="0" anchor="t"/>
          <a:lstStyle/>
          <a:p>
            <a:pPr indent="0" marL="0">
              <a:buNone/>
            </a:pPr>
            <a:r>
              <a:rPr lang="en-US" sz="1200" b="1" dirty="0">
                <a:solidFill>
                  <a:schemeClr val="accent1"/>
                </a:solidFill>
              </a:rPr>
              <a:t>SPI1 + FatFS</a:t>
            </a:r>
            <a:endParaRPr lang="en-US" sz="1200" dirty="0"/>
          </a:p>
        </p:txBody>
      </p:sp>
      <p:sp>
        <p:nvSpPr>
          <p:cNvPr id="29" name="RTC interne"/>
          <p:cNvSpPr/>
          <p:nvPr/>
        </p:nvSpPr>
        <p:spPr>
          <a:xfrm>
            <a:off x="8065008" y="2880360"/>
            <a:ext cx="3575304" cy="1280160"/>
          </a:xfrm>
          <a:prstGeom prst="roundRect">
            <a:avLst>
              <a:gd name="adj" fmla="val 5714"/>
            </a:avLst>
          </a:prstGeom>
          <a:solidFill>
            <a:schemeClr val="bg2"/>
          </a:solidFill>
          <a:ln/>
        </p:spPr>
      </p:sp>
      <p:sp>
        <p:nvSpPr>
          <p:cNvPr id="30" name="Text 28"/>
          <p:cNvSpPr/>
          <p:nvPr/>
        </p:nvSpPr>
        <p:spPr>
          <a:xfrm>
            <a:off x="8247888" y="3154680"/>
            <a:ext cx="713232" cy="713232"/>
          </a:xfrm>
          <a:prstGeom prst="ellipse">
            <a:avLst/>
          </a:prstGeom>
          <a:solidFill>
            <a:schemeClr val="accent3"/>
          </a:solidFill>
          <a:ln/>
        </p:spPr>
        <p:txBody>
          <a:bodyPr wrap="square" lIns="0" tIns="0" rIns="0" bIns="0" rtlCol="0" anchor="ctr"/>
          <a:lstStyle/>
          <a:p>
            <a:pPr algn="ctr" indent="0" marL="0">
              <a:buNone/>
            </a:pPr>
            <a:r>
              <a:rPr lang="en-US" sz="1300" b="1" dirty="0">
                <a:solidFill>
                  <a:schemeClr val="bg1"/>
                </a:solidFill>
              </a:rPr>
              <a:t>RTC</a:t>
            </a:r>
            <a:endParaRPr lang="en-US" sz="1300" dirty="0"/>
          </a:p>
        </p:txBody>
      </p:sp>
      <p:sp>
        <p:nvSpPr>
          <p:cNvPr id="31" name="Text 29"/>
          <p:cNvSpPr txBox="1"/>
          <p:nvPr/>
        </p:nvSpPr>
        <p:spPr>
          <a:xfrm>
            <a:off x="9116568" y="3008376"/>
            <a:ext cx="2423160" cy="310896"/>
          </a:xfrm>
          <a:prstGeom prst="rect">
            <a:avLst/>
          </a:prstGeom>
          <a:noFill/>
          <a:ln/>
        </p:spPr>
        <p:txBody>
          <a:bodyPr wrap="square" lIns="0" tIns="0" rIns="0" bIns="0" rtlCol="0" anchor="t"/>
          <a:lstStyle/>
          <a:p>
            <a:pPr indent="0" marL="0">
              <a:buNone/>
            </a:pPr>
            <a:r>
              <a:rPr lang="en-US" sz="1500" b="1" dirty="0">
                <a:solidFill>
                  <a:schemeClr val="tx2"/>
                </a:solidFill>
              </a:rPr>
              <a:t>RTC interne</a:t>
            </a:r>
            <a:endParaRPr lang="en-US" sz="1500" dirty="0"/>
          </a:p>
        </p:txBody>
      </p:sp>
      <p:sp>
        <p:nvSpPr>
          <p:cNvPr id="32" name="Text 30"/>
          <p:cNvSpPr txBox="1"/>
          <p:nvPr/>
        </p:nvSpPr>
        <p:spPr>
          <a:xfrm>
            <a:off x="9116568" y="3319272"/>
            <a:ext cx="2423160" cy="502920"/>
          </a:xfrm>
          <a:prstGeom prst="rect">
            <a:avLst/>
          </a:prstGeom>
          <a:noFill/>
          <a:ln/>
        </p:spPr>
        <p:txBody>
          <a:bodyPr wrap="square" lIns="0" tIns="0" rIns="0" bIns="0" rtlCol="0" anchor="t"/>
          <a:lstStyle/>
          <a:p>
            <a:pPr indent="0" marL="0">
              <a:buNone/>
            </a:pPr>
            <a:r>
              <a:rPr lang="en-US" sz="1250" dirty="0">
                <a:solidFill>
                  <a:schemeClr val="tx1"/>
                </a:solidFill>
              </a:rPr>
              <a:t>Date et heure de chaque mesure</a:t>
            </a:r>
            <a:endParaRPr lang="en-US" sz="1250" dirty="0"/>
          </a:p>
        </p:txBody>
      </p:sp>
      <p:sp>
        <p:nvSpPr>
          <p:cNvPr id="33" name="Text 31"/>
          <p:cNvSpPr txBox="1"/>
          <p:nvPr/>
        </p:nvSpPr>
        <p:spPr>
          <a:xfrm>
            <a:off x="9116568" y="3822192"/>
            <a:ext cx="2423160" cy="256032"/>
          </a:xfrm>
          <a:prstGeom prst="rect">
            <a:avLst/>
          </a:prstGeom>
          <a:noFill/>
          <a:ln/>
        </p:spPr>
        <p:txBody>
          <a:bodyPr wrap="square" lIns="0" tIns="0" rIns="0" bIns="0" rtlCol="0" anchor="t"/>
          <a:lstStyle/>
          <a:p>
            <a:pPr indent="0" marL="0">
              <a:buNone/>
            </a:pPr>
            <a:r>
              <a:rPr lang="en-US" sz="1200" b="1" dirty="0">
                <a:solidFill>
                  <a:schemeClr val="accent1"/>
                </a:solidFill>
              </a:rPr>
              <a:t>Périphérique interne</a:t>
            </a:r>
            <a:endParaRPr lang="en-US" sz="1200" dirty="0"/>
          </a:p>
        </p:txBody>
      </p:sp>
      <p:sp>
        <p:nvSpPr>
          <p:cNvPr id="34" name="LED RGB"/>
          <p:cNvSpPr/>
          <p:nvPr/>
        </p:nvSpPr>
        <p:spPr>
          <a:xfrm>
            <a:off x="548640" y="4297680"/>
            <a:ext cx="3575304" cy="1280160"/>
          </a:xfrm>
          <a:prstGeom prst="roundRect">
            <a:avLst>
              <a:gd name="adj" fmla="val 5714"/>
            </a:avLst>
          </a:prstGeom>
          <a:solidFill>
            <a:schemeClr val="bg2"/>
          </a:solidFill>
          <a:ln/>
        </p:spPr>
      </p:sp>
      <p:sp>
        <p:nvSpPr>
          <p:cNvPr id="35" name="Text 33"/>
          <p:cNvSpPr/>
          <p:nvPr/>
        </p:nvSpPr>
        <p:spPr>
          <a:xfrm>
            <a:off x="731520" y="4572000"/>
            <a:ext cx="713232" cy="713232"/>
          </a:xfrm>
          <a:prstGeom prst="ellipse">
            <a:avLst/>
          </a:prstGeom>
          <a:solidFill>
            <a:schemeClr val="accent6"/>
          </a:solidFill>
          <a:ln/>
        </p:spPr>
        <p:txBody>
          <a:bodyPr wrap="square" lIns="0" tIns="0" rIns="0" bIns="0" rtlCol="0" anchor="ctr"/>
          <a:lstStyle/>
          <a:p>
            <a:pPr algn="ctr" indent="0" marL="0">
              <a:buNone/>
            </a:pPr>
            <a:r>
              <a:rPr lang="en-US" sz="1300" b="1" dirty="0">
                <a:solidFill>
                  <a:schemeClr val="bg1"/>
                </a:solidFill>
              </a:rPr>
              <a:t>RGB</a:t>
            </a:r>
            <a:endParaRPr lang="en-US" sz="1300" dirty="0"/>
          </a:p>
        </p:txBody>
      </p:sp>
      <p:sp>
        <p:nvSpPr>
          <p:cNvPr id="36" name="Text 34"/>
          <p:cNvSpPr txBox="1"/>
          <p:nvPr/>
        </p:nvSpPr>
        <p:spPr>
          <a:xfrm>
            <a:off x="1600200" y="4425696"/>
            <a:ext cx="2423160" cy="310896"/>
          </a:xfrm>
          <a:prstGeom prst="rect">
            <a:avLst/>
          </a:prstGeom>
          <a:noFill/>
          <a:ln/>
        </p:spPr>
        <p:txBody>
          <a:bodyPr wrap="square" lIns="0" tIns="0" rIns="0" bIns="0" rtlCol="0" anchor="t"/>
          <a:lstStyle/>
          <a:p>
            <a:pPr indent="0" marL="0">
              <a:buNone/>
            </a:pPr>
            <a:r>
              <a:rPr lang="en-US" sz="1500" b="1" dirty="0">
                <a:solidFill>
                  <a:schemeClr val="tx2"/>
                </a:solidFill>
              </a:rPr>
              <a:t>LED RGB</a:t>
            </a:r>
            <a:endParaRPr lang="en-US" sz="1500" dirty="0"/>
          </a:p>
        </p:txBody>
      </p:sp>
      <p:sp>
        <p:nvSpPr>
          <p:cNvPr id="37" name="Text 35"/>
          <p:cNvSpPr txBox="1"/>
          <p:nvPr/>
        </p:nvSpPr>
        <p:spPr>
          <a:xfrm>
            <a:off x="1600200" y="4736592"/>
            <a:ext cx="2423160" cy="502920"/>
          </a:xfrm>
          <a:prstGeom prst="rect">
            <a:avLst/>
          </a:prstGeom>
          <a:noFill/>
          <a:ln/>
        </p:spPr>
        <p:txBody>
          <a:bodyPr wrap="square" lIns="0" tIns="0" rIns="0" bIns="0" rtlCol="0" anchor="t"/>
          <a:lstStyle/>
          <a:p>
            <a:pPr indent="0" marL="0">
              <a:buNone/>
            </a:pPr>
            <a:r>
              <a:rPr lang="en-US" sz="1250" dirty="0">
                <a:solidFill>
                  <a:schemeClr val="tx1"/>
                </a:solidFill>
              </a:rPr>
              <a:t>État du système et erreurs (anode commune)</a:t>
            </a:r>
            <a:endParaRPr lang="en-US" sz="1250" dirty="0"/>
          </a:p>
        </p:txBody>
      </p:sp>
      <p:sp>
        <p:nvSpPr>
          <p:cNvPr id="38" name="Text 36"/>
          <p:cNvSpPr txBox="1"/>
          <p:nvPr/>
        </p:nvSpPr>
        <p:spPr>
          <a:xfrm>
            <a:off x="1600200" y="5239512"/>
            <a:ext cx="2423160" cy="256032"/>
          </a:xfrm>
          <a:prstGeom prst="rect">
            <a:avLst/>
          </a:prstGeom>
          <a:noFill/>
          <a:ln/>
        </p:spPr>
        <p:txBody>
          <a:bodyPr wrap="square" lIns="0" tIns="0" rIns="0" bIns="0" rtlCol="0" anchor="t"/>
          <a:lstStyle/>
          <a:p>
            <a:pPr indent="0" marL="0">
              <a:buNone/>
            </a:pPr>
            <a:r>
              <a:rPr lang="en-US" sz="1200" b="1" dirty="0">
                <a:solidFill>
                  <a:schemeClr val="accent1"/>
                </a:solidFill>
              </a:rPr>
              <a:t>3 GPIO</a:t>
            </a:r>
            <a:endParaRPr lang="en-US" sz="1200" dirty="0"/>
          </a:p>
        </p:txBody>
      </p:sp>
      <p:sp>
        <p:nvSpPr>
          <p:cNvPr id="39" name="2 boutons poussoirs"/>
          <p:cNvSpPr/>
          <p:nvPr/>
        </p:nvSpPr>
        <p:spPr>
          <a:xfrm>
            <a:off x="4306824" y="4297680"/>
            <a:ext cx="3575304" cy="1280160"/>
          </a:xfrm>
          <a:prstGeom prst="roundRect">
            <a:avLst>
              <a:gd name="adj" fmla="val 5714"/>
            </a:avLst>
          </a:prstGeom>
          <a:solidFill>
            <a:schemeClr val="bg2"/>
          </a:solidFill>
          <a:ln/>
        </p:spPr>
      </p:sp>
      <p:sp>
        <p:nvSpPr>
          <p:cNvPr id="40" name="Text 38"/>
          <p:cNvSpPr/>
          <p:nvPr/>
        </p:nvSpPr>
        <p:spPr>
          <a:xfrm>
            <a:off x="4489704" y="4572000"/>
            <a:ext cx="713232" cy="713232"/>
          </a:xfrm>
          <a:prstGeom prst="ellipse">
            <a:avLst/>
          </a:prstGeom>
          <a:solidFill>
            <a:schemeClr val="accent6"/>
          </a:solidFill>
          <a:ln/>
        </p:spPr>
        <p:txBody>
          <a:bodyPr wrap="square" lIns="0" tIns="0" rIns="0" bIns="0" rtlCol="0" anchor="ctr"/>
          <a:lstStyle/>
          <a:p>
            <a:pPr algn="ctr" indent="0" marL="0">
              <a:buNone/>
            </a:pPr>
            <a:r>
              <a:rPr lang="en-US" sz="1700" b="1" dirty="0">
                <a:solidFill>
                  <a:schemeClr val="bg1"/>
                </a:solidFill>
              </a:rPr>
              <a:t>BP</a:t>
            </a:r>
            <a:endParaRPr lang="en-US" sz="1700" dirty="0"/>
          </a:p>
        </p:txBody>
      </p:sp>
      <p:sp>
        <p:nvSpPr>
          <p:cNvPr id="41" name="Text 39"/>
          <p:cNvSpPr txBox="1"/>
          <p:nvPr/>
        </p:nvSpPr>
        <p:spPr>
          <a:xfrm>
            <a:off x="5358384" y="4425696"/>
            <a:ext cx="2423160" cy="310896"/>
          </a:xfrm>
          <a:prstGeom prst="rect">
            <a:avLst/>
          </a:prstGeom>
          <a:noFill/>
          <a:ln/>
        </p:spPr>
        <p:txBody>
          <a:bodyPr wrap="square" lIns="0" tIns="0" rIns="0" bIns="0" rtlCol="0" anchor="t"/>
          <a:lstStyle/>
          <a:p>
            <a:pPr indent="0" marL="0">
              <a:buNone/>
            </a:pPr>
            <a:r>
              <a:rPr lang="en-US" sz="1500" b="1" dirty="0">
                <a:solidFill>
                  <a:schemeClr val="tx2"/>
                </a:solidFill>
              </a:rPr>
              <a:t>2 boutons poussoirs</a:t>
            </a:r>
            <a:endParaRPr lang="en-US" sz="1500" dirty="0"/>
          </a:p>
        </p:txBody>
      </p:sp>
      <p:sp>
        <p:nvSpPr>
          <p:cNvPr id="42" name="Text 40"/>
          <p:cNvSpPr txBox="1"/>
          <p:nvPr/>
        </p:nvSpPr>
        <p:spPr>
          <a:xfrm>
            <a:off x="5358384" y="4736592"/>
            <a:ext cx="2423160" cy="502920"/>
          </a:xfrm>
          <a:prstGeom prst="rect">
            <a:avLst/>
          </a:prstGeom>
          <a:noFill/>
          <a:ln/>
        </p:spPr>
        <p:txBody>
          <a:bodyPr wrap="square" lIns="0" tIns="0" rIns="0" bIns="0" rtlCol="0" anchor="t"/>
          <a:lstStyle/>
          <a:p>
            <a:pPr indent="0" marL="0">
              <a:buNone/>
            </a:pPr>
            <a:r>
              <a:rPr lang="en-US" sz="1250" dirty="0">
                <a:solidFill>
                  <a:schemeClr val="tx1"/>
                </a:solidFill>
              </a:rPr>
              <a:t>Changement de mode (rouge, vert)</a:t>
            </a:r>
            <a:endParaRPr lang="en-US" sz="1250" dirty="0"/>
          </a:p>
        </p:txBody>
      </p:sp>
      <p:sp>
        <p:nvSpPr>
          <p:cNvPr id="43" name="Text 41"/>
          <p:cNvSpPr txBox="1"/>
          <p:nvPr/>
        </p:nvSpPr>
        <p:spPr>
          <a:xfrm>
            <a:off x="5358384" y="5239512"/>
            <a:ext cx="2423160" cy="256032"/>
          </a:xfrm>
          <a:prstGeom prst="rect">
            <a:avLst/>
          </a:prstGeom>
          <a:noFill/>
          <a:ln/>
        </p:spPr>
        <p:txBody>
          <a:bodyPr wrap="square" lIns="0" tIns="0" rIns="0" bIns="0" rtlCol="0" anchor="t"/>
          <a:lstStyle/>
          <a:p>
            <a:pPr indent="0" marL="0">
              <a:buNone/>
            </a:pPr>
            <a:r>
              <a:rPr lang="en-US" sz="1200" b="1" dirty="0">
                <a:solidFill>
                  <a:schemeClr val="accent1"/>
                </a:solidFill>
              </a:rPr>
              <a:t>GPIO + EXTI</a:t>
            </a:r>
            <a:endParaRPr lang="en-US" sz="1200" dirty="0"/>
          </a:p>
        </p:txBody>
      </p:sp>
      <p:sp>
        <p:nvSpPr>
          <p:cNvPr id="44" name="Écran LCD 1602 I2C"/>
          <p:cNvSpPr/>
          <p:nvPr/>
        </p:nvSpPr>
        <p:spPr>
          <a:xfrm>
            <a:off x="8065008" y="4297680"/>
            <a:ext cx="3575304" cy="1280160"/>
          </a:xfrm>
          <a:prstGeom prst="roundRect">
            <a:avLst>
              <a:gd name="adj" fmla="val 5714"/>
            </a:avLst>
          </a:prstGeom>
          <a:solidFill>
            <a:schemeClr val="bg2"/>
          </a:solidFill>
          <a:ln/>
        </p:spPr>
      </p:sp>
      <p:sp>
        <p:nvSpPr>
          <p:cNvPr id="45" name="Text 43"/>
          <p:cNvSpPr/>
          <p:nvPr/>
        </p:nvSpPr>
        <p:spPr>
          <a:xfrm>
            <a:off x="8247888" y="4572000"/>
            <a:ext cx="713232" cy="713232"/>
          </a:xfrm>
          <a:prstGeom prst="ellipse">
            <a:avLst/>
          </a:prstGeom>
          <a:solidFill>
            <a:schemeClr val="accent6"/>
          </a:solidFill>
          <a:ln/>
        </p:spPr>
        <p:txBody>
          <a:bodyPr wrap="square" lIns="0" tIns="0" rIns="0" bIns="0" rtlCol="0" anchor="ctr"/>
          <a:lstStyle/>
          <a:p>
            <a:pPr algn="ctr" indent="0" marL="0">
              <a:buNone/>
            </a:pPr>
            <a:r>
              <a:rPr lang="en-US" sz="1300" b="1" dirty="0">
                <a:solidFill>
                  <a:schemeClr val="bg1"/>
                </a:solidFill>
              </a:rPr>
              <a:t>LCD</a:t>
            </a:r>
            <a:endParaRPr lang="en-US" sz="1300" dirty="0"/>
          </a:p>
        </p:txBody>
      </p:sp>
      <p:sp>
        <p:nvSpPr>
          <p:cNvPr id="46" name="Text 44"/>
          <p:cNvSpPr txBox="1"/>
          <p:nvPr/>
        </p:nvSpPr>
        <p:spPr>
          <a:xfrm>
            <a:off x="9116568" y="4425696"/>
            <a:ext cx="2423160" cy="310896"/>
          </a:xfrm>
          <a:prstGeom prst="rect">
            <a:avLst/>
          </a:prstGeom>
          <a:noFill/>
          <a:ln/>
        </p:spPr>
        <p:txBody>
          <a:bodyPr wrap="square" lIns="0" tIns="0" rIns="0" bIns="0" rtlCol="0" anchor="t"/>
          <a:lstStyle/>
          <a:p>
            <a:pPr indent="0" marL="0">
              <a:buNone/>
            </a:pPr>
            <a:r>
              <a:rPr lang="en-US" sz="1500" b="1" dirty="0">
                <a:solidFill>
                  <a:schemeClr val="tx2"/>
                </a:solidFill>
              </a:rPr>
              <a:t>Écran LCD 1602 I2C</a:t>
            </a:r>
            <a:endParaRPr lang="en-US" sz="1500" dirty="0"/>
          </a:p>
        </p:txBody>
      </p:sp>
      <p:sp>
        <p:nvSpPr>
          <p:cNvPr id="47" name="Text 45"/>
          <p:cNvSpPr txBox="1"/>
          <p:nvPr/>
        </p:nvSpPr>
        <p:spPr>
          <a:xfrm>
            <a:off x="9116568" y="4736592"/>
            <a:ext cx="2423160" cy="502920"/>
          </a:xfrm>
          <a:prstGeom prst="rect">
            <a:avLst/>
          </a:prstGeom>
          <a:noFill/>
          <a:ln/>
        </p:spPr>
        <p:txBody>
          <a:bodyPr wrap="square" lIns="0" tIns="0" rIns="0" bIns="0" rtlCol="0" anchor="t"/>
          <a:lstStyle/>
          <a:p>
            <a:pPr indent="0" marL="0">
              <a:buNone/>
            </a:pPr>
            <a:r>
              <a:rPr lang="en-US" sz="1250" dirty="0">
                <a:solidFill>
                  <a:schemeClr val="tx1"/>
                </a:solidFill>
              </a:rPr>
              <a:t>Affichage local (ajout, non exigé)</a:t>
            </a:r>
            <a:endParaRPr lang="en-US" sz="1250" dirty="0"/>
          </a:p>
        </p:txBody>
      </p:sp>
      <p:sp>
        <p:nvSpPr>
          <p:cNvPr id="48" name="Text 46"/>
          <p:cNvSpPr txBox="1"/>
          <p:nvPr/>
        </p:nvSpPr>
        <p:spPr>
          <a:xfrm>
            <a:off x="9116568" y="5239512"/>
            <a:ext cx="2423160" cy="256032"/>
          </a:xfrm>
          <a:prstGeom prst="rect">
            <a:avLst/>
          </a:prstGeom>
          <a:noFill/>
          <a:ln/>
        </p:spPr>
        <p:txBody>
          <a:bodyPr wrap="square" lIns="0" tIns="0" rIns="0" bIns="0" rtlCol="0" anchor="t"/>
          <a:lstStyle/>
          <a:p>
            <a:pPr indent="0" marL="0">
              <a:buNone/>
            </a:pPr>
            <a:r>
              <a:rPr lang="en-US" sz="1200" b="1" dirty="0">
                <a:solidFill>
                  <a:schemeClr val="accent1"/>
                </a:solidFill>
              </a:rPr>
              <a:t>I2C1</a:t>
            </a:r>
            <a:endParaRPr lang="en-US" sz="1200" dirty="0"/>
          </a:p>
        </p:txBody>
      </p:sp>
      <p:sp>
        <p:nvSpPr>
          <p:cNvPr id="49" name="Shape 47"/>
          <p:cNvSpPr/>
          <p:nvPr/>
        </p:nvSpPr>
        <p:spPr>
          <a:xfrm>
            <a:off x="548640" y="5852160"/>
            <a:ext cx="164592" cy="164592"/>
          </a:xfrm>
          <a:prstGeom prst="ellipse">
            <a:avLst/>
          </a:prstGeom>
          <a:solidFill>
            <a:schemeClr val="accent1"/>
          </a:solidFill>
          <a:ln/>
        </p:spPr>
      </p:sp>
      <p:sp>
        <p:nvSpPr>
          <p:cNvPr id="50" name="Text 48"/>
          <p:cNvSpPr txBox="1"/>
          <p:nvPr/>
        </p:nvSpPr>
        <p:spPr>
          <a:xfrm>
            <a:off x="786384" y="5788152"/>
            <a:ext cx="1600200" cy="274320"/>
          </a:xfrm>
          <a:prstGeom prst="rect">
            <a:avLst/>
          </a:prstGeom>
          <a:noFill/>
          <a:ln/>
        </p:spPr>
        <p:txBody>
          <a:bodyPr wrap="square" lIns="0" tIns="0" rIns="0" bIns="0" rtlCol="0" anchor="ctr"/>
          <a:lstStyle/>
          <a:p>
            <a:pPr indent="0" marL="0">
              <a:buNone/>
            </a:pPr>
            <a:r>
              <a:rPr lang="en-US" sz="1200" dirty="0">
                <a:solidFill>
                  <a:schemeClr val="tx1"/>
                </a:solidFill>
              </a:rPr>
              <a:t>Capteurs</a:t>
            </a:r>
            <a:endParaRPr lang="en-US" sz="1200" dirty="0"/>
          </a:p>
        </p:txBody>
      </p:sp>
      <p:sp>
        <p:nvSpPr>
          <p:cNvPr id="51" name="Shape 49"/>
          <p:cNvSpPr/>
          <p:nvPr/>
        </p:nvSpPr>
        <p:spPr>
          <a:xfrm>
            <a:off x="2331720" y="5852160"/>
            <a:ext cx="164592" cy="164592"/>
          </a:xfrm>
          <a:prstGeom prst="ellipse">
            <a:avLst/>
          </a:prstGeom>
          <a:solidFill>
            <a:schemeClr val="accent3"/>
          </a:solidFill>
          <a:ln/>
        </p:spPr>
      </p:sp>
      <p:sp>
        <p:nvSpPr>
          <p:cNvPr id="52" name="Text 50"/>
          <p:cNvSpPr txBox="1"/>
          <p:nvPr/>
        </p:nvSpPr>
        <p:spPr>
          <a:xfrm>
            <a:off x="2569464" y="5788152"/>
            <a:ext cx="1600200" cy="274320"/>
          </a:xfrm>
          <a:prstGeom prst="rect">
            <a:avLst/>
          </a:prstGeom>
          <a:noFill/>
          <a:ln/>
        </p:spPr>
        <p:txBody>
          <a:bodyPr wrap="square" lIns="0" tIns="0" rIns="0" bIns="0" rtlCol="0" anchor="ctr"/>
          <a:lstStyle/>
          <a:p>
            <a:pPr indent="0" marL="0">
              <a:buNone/>
            </a:pPr>
            <a:r>
              <a:rPr lang="en-US" sz="1200" dirty="0">
                <a:solidFill>
                  <a:schemeClr val="tx1"/>
                </a:solidFill>
              </a:rPr>
              <a:t>Stockage et temps</a:t>
            </a:r>
            <a:endParaRPr lang="en-US" sz="1200" dirty="0"/>
          </a:p>
        </p:txBody>
      </p:sp>
      <p:sp>
        <p:nvSpPr>
          <p:cNvPr id="53" name="Shape 51"/>
          <p:cNvSpPr/>
          <p:nvPr/>
        </p:nvSpPr>
        <p:spPr>
          <a:xfrm>
            <a:off x="4114800" y="5852160"/>
            <a:ext cx="164592" cy="164592"/>
          </a:xfrm>
          <a:prstGeom prst="ellipse">
            <a:avLst/>
          </a:prstGeom>
          <a:solidFill>
            <a:schemeClr val="accent6"/>
          </a:solidFill>
          <a:ln/>
        </p:spPr>
      </p:sp>
      <p:sp>
        <p:nvSpPr>
          <p:cNvPr id="54" name="Text 52"/>
          <p:cNvSpPr txBox="1"/>
          <p:nvPr/>
        </p:nvSpPr>
        <p:spPr>
          <a:xfrm>
            <a:off x="4352544" y="5788152"/>
            <a:ext cx="1600200" cy="274320"/>
          </a:xfrm>
          <a:prstGeom prst="rect">
            <a:avLst/>
          </a:prstGeom>
          <a:noFill/>
          <a:ln/>
        </p:spPr>
        <p:txBody>
          <a:bodyPr wrap="square" lIns="0" tIns="0" rIns="0" bIns="0" rtlCol="0" anchor="ctr"/>
          <a:lstStyle/>
          <a:p>
            <a:pPr indent="0" marL="0">
              <a:buNone/>
            </a:pPr>
            <a:r>
              <a:rPr lang="en-US" sz="1200" dirty="0">
                <a:solidFill>
                  <a:schemeClr val="tx1"/>
                </a:solidFill>
              </a:rPr>
              <a:t>Interface utilisateur</a:t>
            </a:r>
            <a:endParaRPr lang="en-US" sz="1200" dirty="0"/>
          </a:p>
        </p:txBody>
      </p:sp>
      <p:sp>
        <p:nvSpPr>
          <p:cNvPr id="55" name="Text 53"/>
          <p:cNvSpPr/>
          <p:nvPr/>
        </p:nvSpPr>
        <p:spPr>
          <a:xfrm>
            <a:off x="5943600" y="5788152"/>
            <a:ext cx="292608" cy="292608"/>
          </a:xfrm>
          <a:prstGeom prst="ellipse">
            <a:avLst/>
          </a:prstGeom>
          <a:solidFill>
            <a:schemeClr val="accent2"/>
          </a:solidFill>
          <a:ln/>
        </p:spPr>
        <p:txBody>
          <a:bodyPr wrap="square" lIns="0" tIns="0" rIns="0" bIns="0" rtlCol="0" anchor="ctr"/>
          <a:lstStyle/>
          <a:p>
            <a:pPr algn="ctr" indent="0" marL="0">
              <a:buNone/>
            </a:pPr>
            <a:r>
              <a:rPr lang="en-US" sz="1300" b="1" dirty="0">
                <a:solidFill>
                  <a:schemeClr val="bg1"/>
                </a:solidFill>
              </a:rPr>
              <a:t>!</a:t>
            </a:r>
            <a:endParaRPr lang="en-US" sz="1300" dirty="0"/>
          </a:p>
        </p:txBody>
      </p:sp>
      <p:sp>
        <p:nvSpPr>
          <p:cNvPr id="56" name="Text 54"/>
          <p:cNvSpPr txBox="1"/>
          <p:nvPr/>
        </p:nvSpPr>
        <p:spPr>
          <a:xfrm>
            <a:off x="6336792" y="5788152"/>
            <a:ext cx="5303520" cy="292608"/>
          </a:xfrm>
          <a:prstGeom prst="rect">
            <a:avLst/>
          </a:prstGeom>
          <a:noFill/>
          <a:ln/>
        </p:spPr>
        <p:txBody>
          <a:bodyPr wrap="square" lIns="0" tIns="0" rIns="0" bIns="0" rtlCol="0" anchor="ctr"/>
          <a:lstStyle/>
          <a:p>
            <a:pPr indent="0" marL="0">
              <a:buNone/>
            </a:pPr>
            <a:r>
              <a:rPr lang="en-US" sz="1300" b="1" dirty="0">
                <a:solidFill>
                  <a:schemeClr val="tx1"/>
                </a:solidFill>
              </a:rPr>
              <a:t>Prévu au CDC, absent du kit : </a:t>
            </a:r>
            <a:pPr indent="0" marL="0">
              <a:buNone/>
            </a:pPr>
            <a:r>
              <a:rPr lang="en-US" sz="1300" dirty="0">
                <a:solidFill>
                  <a:schemeClr val="tx1"/>
                </a:solidFill>
              </a:rPr>
              <a:t>capteur de pression → non implémenté</a:t>
            </a:r>
            <a:endParaRPr lang="en-US" sz="1300" dirty="0"/>
          </a:p>
        </p:txBody>
      </p:sp>
      <p:sp>
        <p:nvSpPr>
          <p:cNvPr id="25" name="Slide Number Placeholder 0"/>
          <p:cNvSpPr>
            <a:spLocks noGrp="1"/>
          </p:cNvSpPr>
          <p:nvPr>
            <p:ph type="sldNum" sz="quarter" idx="4294967295"/>
          </p:nvPr>
        </p:nvSpPr>
        <p:spPr>
          <a:xfrm>
            <a:off x="11091672" y="6455664"/>
            <a:ext cx="548640" cy="237744"/>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6"/>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9144000" cy="274320"/>
          </a:xfrm>
          <a:prstGeom prst="rect">
            <a:avLst/>
          </a:prstGeom>
          <a:noFill/>
          <a:ln/>
        </p:spPr>
        <p:txBody>
          <a:bodyPr wrap="square" lIns="0" tIns="0" rIns="0" bIns="0" rtlCol="0" anchor="t"/>
          <a:lstStyle/>
          <a:p>
            <a:pPr indent="0" marL="0">
              <a:buNone/>
            </a:pPr>
            <a:r>
              <a:rPr lang="en-US" sz="1200" b="1" spc="150" kern="0" dirty="0">
                <a:solidFill>
                  <a:schemeClr val="accent1"/>
                </a:solidFill>
              </a:rPr>
              <a:t>02 · MATÉRIEL ET ARCHITECTURE</a:t>
            </a:r>
            <a:endParaRPr lang="en-US" sz="1200" dirty="0"/>
          </a:p>
        </p:txBody>
      </p:sp>
      <p:sp>
        <p:nvSpPr>
          <p:cNvPr id="3" name="Text 0"/>
          <p:cNvSpPr/>
          <p:nvPr>
            <p:ph idx="101" type="title" hasCustomPrompt="1"/>
          </p:nvPr>
        </p:nvSpPr>
        <p:spPr>
          <a:xfrm>
            <a:off x="548640" y="621792"/>
            <a:ext cx="11091672" cy="640080"/>
          </a:xfrm>
          <a:prstGeom prst="rect">
            <a:avLst/>
          </a:prstGeom>
          <a:noFill/>
          <a:ln/>
        </p:spPr>
        <p:txBody>
          <a:bodyPr wrap="square" lIns="0" tIns="0" rIns="0" bIns="0" rtlCol="0" anchor="t"/>
          <a:lstStyle/>
          <a:p>
            <a:pPr algn="l" indent="0" marL="0">
              <a:buNone/>
            </a:pPr>
            <a:r>
              <a:rPr lang="en-US" sz="3000" b="1" dirty="0">
                <a:solidFill>
                  <a:schemeClr val="tx2"/>
                </a:solidFill>
              </a:rPr>
              <a:t>Architecture matérielle</a:t>
            </a:r>
            <a:endParaRPr lang="en-US" sz="3000" dirty="0"/>
          </a:p>
        </p:txBody>
      </p:sp>
      <p:sp>
        <p:nvSpPr>
          <p:cNvPr id="4" name="STM32L476RG"/>
          <p:cNvSpPr/>
          <p:nvPr/>
        </p:nvSpPr>
        <p:spPr>
          <a:xfrm>
            <a:off x="4434840" y="1554480"/>
            <a:ext cx="3319272" cy="3931920"/>
          </a:xfrm>
          <a:prstGeom prst="roundRect">
            <a:avLst>
              <a:gd name="adj" fmla="val 2204"/>
            </a:avLst>
          </a:prstGeom>
          <a:solidFill>
            <a:schemeClr val="tx2"/>
          </a:solidFill>
          <a:ln/>
          <a:effectLst>
            <a:outerShdw sx="100000" sy="100000" kx="0" ky="0" algn="bl" rotWithShape="0" blurRad="76200" dist="25400" dir="5400000">
              <a:srgbClr val="0B2545">
                <a:alpha val="14000"/>
              </a:srgbClr>
            </a:outerShdw>
          </a:effectLst>
        </p:spPr>
      </p:sp>
      <p:sp>
        <p:nvSpPr>
          <p:cNvPr id="5" name="Text 3"/>
          <p:cNvSpPr txBox="1"/>
          <p:nvPr/>
        </p:nvSpPr>
        <p:spPr>
          <a:xfrm>
            <a:off x="4434840" y="1755648"/>
            <a:ext cx="3319272" cy="411480"/>
          </a:xfrm>
          <a:prstGeom prst="rect">
            <a:avLst/>
          </a:prstGeom>
          <a:noFill/>
          <a:ln/>
        </p:spPr>
        <p:txBody>
          <a:bodyPr wrap="square" lIns="0" tIns="0" rIns="0" bIns="0" rtlCol="0" anchor="t"/>
          <a:lstStyle/>
          <a:p>
            <a:pPr algn="ctr" indent="0" marL="0">
              <a:buNone/>
            </a:pPr>
            <a:r>
              <a:rPr lang="en-US" sz="2200" b="1" dirty="0">
                <a:solidFill>
                  <a:schemeClr val="bg1"/>
                </a:solidFill>
              </a:rPr>
              <a:t>STM32L476RG</a:t>
            </a:r>
            <a:endParaRPr lang="en-US" sz="2200" dirty="0"/>
          </a:p>
        </p:txBody>
      </p:sp>
      <p:sp>
        <p:nvSpPr>
          <p:cNvPr id="6" name="Text 4"/>
          <p:cNvSpPr txBox="1"/>
          <p:nvPr/>
        </p:nvSpPr>
        <p:spPr>
          <a:xfrm>
            <a:off x="4526280" y="2194560"/>
            <a:ext cx="3136392" cy="548640"/>
          </a:xfrm>
          <a:prstGeom prst="rect">
            <a:avLst/>
          </a:prstGeom>
          <a:noFill/>
          <a:ln/>
        </p:spPr>
        <p:txBody>
          <a:bodyPr wrap="square" lIns="0" tIns="0" rIns="0" bIns="0" rtlCol="0" anchor="t"/>
          <a:lstStyle/>
          <a:p>
            <a:pPr algn="ctr" indent="0" marL="0">
              <a:buNone/>
            </a:pPr>
            <a:r>
              <a:rPr lang="en-US" sz="1300" dirty="0">
                <a:solidFill>
                  <a:schemeClr val="bg2"/>
                </a:solidFill>
              </a:rPr>
              <a:t>Cortex‑M4 · 80 MHz</a:t>
            </a:r>
            <a:endParaRPr lang="en-US" sz="1300" dirty="0"/>
          </a:p>
          <a:p>
            <a:pPr algn="ctr" indent="0" marL="0">
              <a:buNone/>
            </a:pPr>
            <a:r>
              <a:rPr lang="en-US" sz="1300" dirty="0">
                <a:solidFill>
                  <a:schemeClr val="bg2"/>
                </a:solidFill>
              </a:rPr>
              <a:t>1 Mo Flash · 128 Ko RAM</a:t>
            </a:r>
            <a:endParaRPr lang="en-US" sz="1300" dirty="0"/>
          </a:p>
        </p:txBody>
      </p:sp>
      <p:sp>
        <p:nvSpPr>
          <p:cNvPr id="7" name="Text 5"/>
          <p:cNvSpPr/>
          <p:nvPr/>
        </p:nvSpPr>
        <p:spPr>
          <a:xfrm>
            <a:off x="4663440" y="2926080"/>
            <a:ext cx="2862072" cy="640080"/>
          </a:xfrm>
          <a:prstGeom prst="roundRect">
            <a:avLst>
              <a:gd name="adj" fmla="val 8571"/>
            </a:avLst>
          </a:prstGeom>
          <a:solidFill>
            <a:schemeClr val="accent3"/>
          </a:solidFill>
          <a:ln/>
        </p:spPr>
        <p:txBody>
          <a:bodyPr wrap="square" lIns="25400" tIns="101600" rIns="101600" bIns="25400" rtlCol="0" anchor="ctr"/>
          <a:lstStyle/>
          <a:p>
            <a:pPr algn="ctr" indent="0" marL="0">
              <a:buNone/>
            </a:pPr>
            <a:r>
              <a:rPr lang="en-US" sz="1300" b="1" dirty="0">
                <a:solidFill>
                  <a:schemeClr val="accent5"/>
                </a:solidFill>
              </a:rPr>
              <a:t>RTC interne</a:t>
            </a:r>
            <a:endParaRPr lang="en-US" sz="1300" dirty="0"/>
          </a:p>
          <a:p>
            <a:pPr algn="ctr" indent="0" marL="0">
              <a:buNone/>
            </a:pPr>
            <a:r>
              <a:rPr lang="en-US" sz="1200" dirty="0">
                <a:solidFill>
                  <a:schemeClr val="bg1"/>
                </a:solidFill>
              </a:rPr>
              <a:t>horloge LSI, recalée par le GPS</a:t>
            </a:r>
            <a:endParaRPr lang="en-US" sz="1300" dirty="0"/>
          </a:p>
        </p:txBody>
      </p:sp>
      <p:sp>
        <p:nvSpPr>
          <p:cNvPr id="8" name="Text 6"/>
          <p:cNvSpPr/>
          <p:nvPr/>
        </p:nvSpPr>
        <p:spPr>
          <a:xfrm>
            <a:off x="4663440" y="3703320"/>
            <a:ext cx="2862072" cy="640080"/>
          </a:xfrm>
          <a:prstGeom prst="roundRect">
            <a:avLst>
              <a:gd name="adj" fmla="val 8571"/>
            </a:avLst>
          </a:prstGeom>
          <a:solidFill>
            <a:schemeClr val="accent3"/>
          </a:solidFill>
          <a:ln/>
        </p:spPr>
        <p:txBody>
          <a:bodyPr wrap="square" lIns="25400" tIns="101600" rIns="101600" bIns="25400" rtlCol="0" anchor="ctr"/>
          <a:lstStyle/>
          <a:p>
            <a:pPr algn="ctr" indent="0" marL="0">
              <a:buNone/>
            </a:pPr>
            <a:r>
              <a:rPr lang="en-US" sz="1300" b="1" dirty="0">
                <a:solidFill>
                  <a:schemeClr val="accent5"/>
                </a:solidFill>
              </a:rPr>
              <a:t>Flash</a:t>
            </a:r>
            <a:endParaRPr lang="en-US" sz="1300" dirty="0"/>
          </a:p>
          <a:p>
            <a:pPr algn="ctr" indent="0" marL="0">
              <a:buNone/>
            </a:pPr>
            <a:r>
              <a:rPr lang="en-US" sz="1200" dirty="0">
                <a:solidFill>
                  <a:schemeClr val="bg1"/>
                </a:solidFill>
              </a:rPr>
              <a:t>paramètres (pas d'EEPROM)</a:t>
            </a:r>
            <a:endParaRPr lang="en-US" sz="1300" dirty="0"/>
          </a:p>
        </p:txBody>
      </p:sp>
      <p:sp>
        <p:nvSpPr>
          <p:cNvPr id="9" name="Text 7"/>
          <p:cNvSpPr/>
          <p:nvPr/>
        </p:nvSpPr>
        <p:spPr>
          <a:xfrm>
            <a:off x="4663440" y="4480560"/>
            <a:ext cx="2862072" cy="640080"/>
          </a:xfrm>
          <a:prstGeom prst="roundRect">
            <a:avLst>
              <a:gd name="adj" fmla="val 8571"/>
            </a:avLst>
          </a:prstGeom>
          <a:solidFill>
            <a:schemeClr val="accent3"/>
          </a:solidFill>
          <a:ln/>
        </p:spPr>
        <p:txBody>
          <a:bodyPr wrap="square" lIns="25400" tIns="101600" rIns="101600" bIns="25400" rtlCol="0" anchor="ctr"/>
          <a:lstStyle/>
          <a:p>
            <a:pPr algn="ctr" indent="0" marL="0">
              <a:buNone/>
            </a:pPr>
            <a:r>
              <a:rPr lang="en-US" sz="1300" b="1" dirty="0">
                <a:solidFill>
                  <a:schemeClr val="accent5"/>
                </a:solidFill>
              </a:rPr>
              <a:t>NVIC</a:t>
            </a:r>
            <a:endParaRPr lang="en-US" sz="1300" dirty="0"/>
          </a:p>
          <a:p>
            <a:pPr algn="ctr" indent="0" marL="0">
              <a:buNone/>
            </a:pPr>
            <a:r>
              <a:rPr lang="en-US" sz="1200" dirty="0">
                <a:solidFill>
                  <a:schemeClr val="bg1"/>
                </a:solidFill>
              </a:rPr>
              <a:t>EXTI · UART · SysTick</a:t>
            </a:r>
            <a:endParaRPr lang="en-US" sz="1300" dirty="0"/>
          </a:p>
        </p:txBody>
      </p:sp>
      <p:sp>
        <p:nvSpPr>
          <p:cNvPr id="10" name="DHT11"/>
          <p:cNvSpPr/>
          <p:nvPr/>
        </p:nvSpPr>
        <p:spPr>
          <a:xfrm>
            <a:off x="548640" y="1554480"/>
            <a:ext cx="2926080" cy="914400"/>
          </a:xfrm>
          <a:prstGeom prst="roundRect">
            <a:avLst>
              <a:gd name="adj" fmla="val 8000"/>
            </a:avLst>
          </a:prstGeom>
          <a:solidFill>
            <a:schemeClr val="bg2"/>
          </a:solidFill>
          <a:ln/>
        </p:spPr>
      </p:sp>
      <p:sp>
        <p:nvSpPr>
          <p:cNvPr id="11" name="Text 9"/>
          <p:cNvSpPr txBox="1"/>
          <p:nvPr/>
        </p:nvSpPr>
        <p:spPr>
          <a:xfrm>
            <a:off x="731520" y="1673352"/>
            <a:ext cx="2606040" cy="320040"/>
          </a:xfrm>
          <a:prstGeom prst="rect">
            <a:avLst/>
          </a:prstGeom>
          <a:noFill/>
          <a:ln/>
        </p:spPr>
        <p:txBody>
          <a:bodyPr wrap="square" lIns="0" tIns="0" rIns="0" bIns="0" rtlCol="0" anchor="t"/>
          <a:lstStyle/>
          <a:p>
            <a:pPr indent="0" marL="0">
              <a:buNone/>
            </a:pPr>
            <a:r>
              <a:rPr lang="en-US" sz="1600" b="1" dirty="0">
                <a:solidFill>
                  <a:schemeClr val="tx2"/>
                </a:solidFill>
              </a:rPr>
              <a:t>DHT11</a:t>
            </a:r>
            <a:endParaRPr lang="en-US" sz="1600" dirty="0"/>
          </a:p>
        </p:txBody>
      </p:sp>
      <p:sp>
        <p:nvSpPr>
          <p:cNvPr id="12" name="Text 10"/>
          <p:cNvSpPr txBox="1"/>
          <p:nvPr/>
        </p:nvSpPr>
        <p:spPr>
          <a:xfrm>
            <a:off x="731520" y="2011680"/>
            <a:ext cx="2651760" cy="365760"/>
          </a:xfrm>
          <a:prstGeom prst="rect">
            <a:avLst/>
          </a:prstGeom>
          <a:noFill/>
          <a:ln/>
        </p:spPr>
        <p:txBody>
          <a:bodyPr wrap="square" lIns="0" tIns="0" rIns="0" bIns="0" rtlCol="0" anchor="t"/>
          <a:lstStyle/>
          <a:p>
            <a:pPr indent="0" marL="0">
              <a:buNone/>
            </a:pPr>
            <a:r>
              <a:rPr lang="en-US" sz="1250" dirty="0">
                <a:solidFill>
                  <a:schemeClr val="accent6"/>
                </a:solidFill>
              </a:rPr>
              <a:t>1 fil · PB0</a:t>
            </a:r>
            <a:endParaRPr lang="en-US" sz="1250" dirty="0"/>
          </a:p>
        </p:txBody>
      </p:sp>
      <p:sp>
        <p:nvSpPr>
          <p:cNvPr id="13" name="Shape 11"/>
          <p:cNvSpPr/>
          <p:nvPr/>
        </p:nvSpPr>
        <p:spPr>
          <a:xfrm>
            <a:off x="3474720" y="2011680"/>
            <a:ext cx="960120" cy="0"/>
          </a:xfrm>
          <a:prstGeom prst="line">
            <a:avLst/>
          </a:prstGeom>
          <a:noFill/>
          <a:ln w="28575">
            <a:solidFill>
              <a:schemeClr val="accent6"/>
            </a:solidFill>
            <a:prstDash val="solid"/>
            <a:tailEnd type="triangle"/>
          </a:ln>
        </p:spPr>
      </p:sp>
      <p:sp>
        <p:nvSpPr>
          <p:cNvPr id="14" name="BH1750"/>
          <p:cNvSpPr/>
          <p:nvPr/>
        </p:nvSpPr>
        <p:spPr>
          <a:xfrm>
            <a:off x="548640" y="2560320"/>
            <a:ext cx="2926080" cy="914400"/>
          </a:xfrm>
          <a:prstGeom prst="roundRect">
            <a:avLst>
              <a:gd name="adj" fmla="val 8000"/>
            </a:avLst>
          </a:prstGeom>
          <a:solidFill>
            <a:schemeClr val="bg2"/>
          </a:solidFill>
          <a:ln/>
        </p:spPr>
      </p:sp>
      <p:sp>
        <p:nvSpPr>
          <p:cNvPr id="15" name="Text 13"/>
          <p:cNvSpPr txBox="1"/>
          <p:nvPr/>
        </p:nvSpPr>
        <p:spPr>
          <a:xfrm>
            <a:off x="731520" y="2679192"/>
            <a:ext cx="2606040" cy="320040"/>
          </a:xfrm>
          <a:prstGeom prst="rect">
            <a:avLst/>
          </a:prstGeom>
          <a:noFill/>
          <a:ln/>
        </p:spPr>
        <p:txBody>
          <a:bodyPr wrap="square" lIns="0" tIns="0" rIns="0" bIns="0" rtlCol="0" anchor="t"/>
          <a:lstStyle/>
          <a:p>
            <a:pPr indent="0" marL="0">
              <a:buNone/>
            </a:pPr>
            <a:r>
              <a:rPr lang="en-US" sz="1600" b="1" dirty="0">
                <a:solidFill>
                  <a:schemeClr val="tx2"/>
                </a:solidFill>
              </a:rPr>
              <a:t>BH1750</a:t>
            </a:r>
            <a:endParaRPr lang="en-US" sz="1600" dirty="0"/>
          </a:p>
        </p:txBody>
      </p:sp>
      <p:sp>
        <p:nvSpPr>
          <p:cNvPr id="16" name="Text 14"/>
          <p:cNvSpPr txBox="1"/>
          <p:nvPr/>
        </p:nvSpPr>
        <p:spPr>
          <a:xfrm>
            <a:off x="731520" y="3017520"/>
            <a:ext cx="2651760" cy="365760"/>
          </a:xfrm>
          <a:prstGeom prst="rect">
            <a:avLst/>
          </a:prstGeom>
          <a:noFill/>
          <a:ln/>
        </p:spPr>
        <p:txBody>
          <a:bodyPr wrap="square" lIns="0" tIns="0" rIns="0" bIns="0" rtlCol="0" anchor="t"/>
          <a:lstStyle/>
          <a:p>
            <a:pPr indent="0" marL="0">
              <a:buNone/>
            </a:pPr>
            <a:r>
              <a:rPr lang="en-US" sz="1250" dirty="0">
                <a:solidFill>
                  <a:schemeClr val="accent6"/>
                </a:solidFill>
              </a:rPr>
              <a:t>I2C1 · PB8 / PB9 · adresse 0x23</a:t>
            </a:r>
            <a:endParaRPr lang="en-US" sz="1250" dirty="0"/>
          </a:p>
        </p:txBody>
      </p:sp>
      <p:sp>
        <p:nvSpPr>
          <p:cNvPr id="17" name="Shape 15"/>
          <p:cNvSpPr/>
          <p:nvPr/>
        </p:nvSpPr>
        <p:spPr>
          <a:xfrm>
            <a:off x="3474720" y="3017520"/>
            <a:ext cx="960120" cy="0"/>
          </a:xfrm>
          <a:prstGeom prst="line">
            <a:avLst/>
          </a:prstGeom>
          <a:noFill/>
          <a:ln w="28575">
            <a:solidFill>
              <a:schemeClr val="accent1"/>
            </a:solidFill>
            <a:prstDash val="solid"/>
            <a:tailEnd type="triangle"/>
          </a:ln>
        </p:spPr>
      </p:sp>
      <p:sp>
        <p:nvSpPr>
          <p:cNvPr id="18" name="Module GPS"/>
          <p:cNvSpPr/>
          <p:nvPr/>
        </p:nvSpPr>
        <p:spPr>
          <a:xfrm>
            <a:off x="548640" y="3566160"/>
            <a:ext cx="2926080" cy="914400"/>
          </a:xfrm>
          <a:prstGeom prst="roundRect">
            <a:avLst>
              <a:gd name="adj" fmla="val 8000"/>
            </a:avLst>
          </a:prstGeom>
          <a:solidFill>
            <a:schemeClr val="bg2"/>
          </a:solidFill>
          <a:ln/>
        </p:spPr>
      </p:sp>
      <p:sp>
        <p:nvSpPr>
          <p:cNvPr id="19" name="Text 17"/>
          <p:cNvSpPr txBox="1"/>
          <p:nvPr/>
        </p:nvSpPr>
        <p:spPr>
          <a:xfrm>
            <a:off x="731520" y="3685032"/>
            <a:ext cx="2606040" cy="320040"/>
          </a:xfrm>
          <a:prstGeom prst="rect">
            <a:avLst/>
          </a:prstGeom>
          <a:noFill/>
          <a:ln/>
        </p:spPr>
        <p:txBody>
          <a:bodyPr wrap="square" lIns="0" tIns="0" rIns="0" bIns="0" rtlCol="0" anchor="t"/>
          <a:lstStyle/>
          <a:p>
            <a:pPr indent="0" marL="0">
              <a:buNone/>
            </a:pPr>
            <a:r>
              <a:rPr lang="en-US" sz="1600" b="1" dirty="0">
                <a:solidFill>
                  <a:schemeClr val="tx2"/>
                </a:solidFill>
              </a:rPr>
              <a:t>Module GPS</a:t>
            </a:r>
            <a:endParaRPr lang="en-US" sz="1600" dirty="0"/>
          </a:p>
        </p:txBody>
      </p:sp>
      <p:sp>
        <p:nvSpPr>
          <p:cNvPr id="20" name="Text 18"/>
          <p:cNvSpPr txBox="1"/>
          <p:nvPr/>
        </p:nvSpPr>
        <p:spPr>
          <a:xfrm>
            <a:off x="731520" y="4023360"/>
            <a:ext cx="2651760" cy="365760"/>
          </a:xfrm>
          <a:prstGeom prst="rect">
            <a:avLst/>
          </a:prstGeom>
          <a:noFill/>
          <a:ln/>
        </p:spPr>
        <p:txBody>
          <a:bodyPr wrap="square" lIns="0" tIns="0" rIns="0" bIns="0" rtlCol="0" anchor="t"/>
          <a:lstStyle/>
          <a:p>
            <a:pPr indent="0" marL="0">
              <a:buNone/>
            </a:pPr>
            <a:r>
              <a:rPr lang="en-US" sz="1250" dirty="0">
                <a:solidFill>
                  <a:schemeClr val="accent6"/>
                </a:solidFill>
              </a:rPr>
              <a:t>USART3 · PC10 / PC11 · 9600 Bd</a:t>
            </a:r>
            <a:endParaRPr lang="en-US" sz="1250" dirty="0"/>
          </a:p>
        </p:txBody>
      </p:sp>
      <p:sp>
        <p:nvSpPr>
          <p:cNvPr id="21" name="Shape 19"/>
          <p:cNvSpPr/>
          <p:nvPr/>
        </p:nvSpPr>
        <p:spPr>
          <a:xfrm>
            <a:off x="3474720" y="4023360"/>
            <a:ext cx="960120" cy="0"/>
          </a:xfrm>
          <a:prstGeom prst="line">
            <a:avLst/>
          </a:prstGeom>
          <a:noFill/>
          <a:ln w="28575">
            <a:solidFill>
              <a:schemeClr val="accent3"/>
            </a:solidFill>
            <a:prstDash val="solid"/>
            <a:tailEnd type="triangle"/>
          </a:ln>
        </p:spPr>
      </p:sp>
      <p:sp>
        <p:nvSpPr>
          <p:cNvPr id="22" name="Boutons rouge / vert"/>
          <p:cNvSpPr/>
          <p:nvPr/>
        </p:nvSpPr>
        <p:spPr>
          <a:xfrm>
            <a:off x="548640" y="4572000"/>
            <a:ext cx="2926080" cy="914400"/>
          </a:xfrm>
          <a:prstGeom prst="roundRect">
            <a:avLst>
              <a:gd name="adj" fmla="val 8000"/>
            </a:avLst>
          </a:prstGeom>
          <a:solidFill>
            <a:schemeClr val="bg2"/>
          </a:solidFill>
          <a:ln/>
        </p:spPr>
      </p:sp>
      <p:sp>
        <p:nvSpPr>
          <p:cNvPr id="23" name="Text 21"/>
          <p:cNvSpPr txBox="1"/>
          <p:nvPr/>
        </p:nvSpPr>
        <p:spPr>
          <a:xfrm>
            <a:off x="731520" y="4690872"/>
            <a:ext cx="2606040" cy="320040"/>
          </a:xfrm>
          <a:prstGeom prst="rect">
            <a:avLst/>
          </a:prstGeom>
          <a:noFill/>
          <a:ln/>
        </p:spPr>
        <p:txBody>
          <a:bodyPr wrap="square" lIns="0" tIns="0" rIns="0" bIns="0" rtlCol="0" anchor="t"/>
          <a:lstStyle/>
          <a:p>
            <a:pPr indent="0" marL="0">
              <a:buNone/>
            </a:pPr>
            <a:r>
              <a:rPr lang="en-US" sz="1600" b="1" dirty="0">
                <a:solidFill>
                  <a:schemeClr val="tx2"/>
                </a:solidFill>
              </a:rPr>
              <a:t>Boutons rouge / vert</a:t>
            </a:r>
            <a:endParaRPr lang="en-US" sz="1600" dirty="0"/>
          </a:p>
        </p:txBody>
      </p:sp>
      <p:sp>
        <p:nvSpPr>
          <p:cNvPr id="24" name="Text 22"/>
          <p:cNvSpPr txBox="1"/>
          <p:nvPr/>
        </p:nvSpPr>
        <p:spPr>
          <a:xfrm>
            <a:off x="731520" y="5029200"/>
            <a:ext cx="2651760" cy="365760"/>
          </a:xfrm>
          <a:prstGeom prst="rect">
            <a:avLst/>
          </a:prstGeom>
          <a:noFill/>
          <a:ln/>
        </p:spPr>
        <p:txBody>
          <a:bodyPr wrap="square" lIns="0" tIns="0" rIns="0" bIns="0" rtlCol="0" anchor="t"/>
          <a:lstStyle/>
          <a:p>
            <a:pPr indent="0" marL="0">
              <a:buNone/>
            </a:pPr>
            <a:r>
              <a:rPr lang="en-US" sz="1250" dirty="0">
                <a:solidFill>
                  <a:schemeClr val="accent6"/>
                </a:solidFill>
              </a:rPr>
              <a:t>PC3 · PC13 (B1) · interruptions EXTI</a:t>
            </a:r>
            <a:endParaRPr lang="en-US" sz="1250" dirty="0"/>
          </a:p>
        </p:txBody>
      </p:sp>
      <p:sp>
        <p:nvSpPr>
          <p:cNvPr id="25" name="Shape 23"/>
          <p:cNvSpPr/>
          <p:nvPr/>
        </p:nvSpPr>
        <p:spPr>
          <a:xfrm>
            <a:off x="3474720" y="5029200"/>
            <a:ext cx="960120" cy="0"/>
          </a:xfrm>
          <a:prstGeom prst="line">
            <a:avLst/>
          </a:prstGeom>
          <a:noFill/>
          <a:ln w="28575">
            <a:solidFill>
              <a:schemeClr val="accent6"/>
            </a:solidFill>
            <a:prstDash val="solid"/>
            <a:tailEnd type="triangle"/>
          </a:ln>
        </p:spPr>
      </p:sp>
      <p:sp>
        <p:nvSpPr>
          <p:cNvPr id="26" name="Carte SD (FatFS)"/>
          <p:cNvSpPr/>
          <p:nvPr/>
        </p:nvSpPr>
        <p:spPr>
          <a:xfrm>
            <a:off x="8714232" y="1554480"/>
            <a:ext cx="2926080" cy="914400"/>
          </a:xfrm>
          <a:prstGeom prst="roundRect">
            <a:avLst>
              <a:gd name="adj" fmla="val 8000"/>
            </a:avLst>
          </a:prstGeom>
          <a:solidFill>
            <a:schemeClr val="bg2"/>
          </a:solidFill>
          <a:ln/>
        </p:spPr>
      </p:sp>
      <p:sp>
        <p:nvSpPr>
          <p:cNvPr id="27" name="Text 25"/>
          <p:cNvSpPr txBox="1"/>
          <p:nvPr/>
        </p:nvSpPr>
        <p:spPr>
          <a:xfrm>
            <a:off x="8897112" y="1673352"/>
            <a:ext cx="2606040" cy="320040"/>
          </a:xfrm>
          <a:prstGeom prst="rect">
            <a:avLst/>
          </a:prstGeom>
          <a:noFill/>
          <a:ln/>
        </p:spPr>
        <p:txBody>
          <a:bodyPr wrap="square" lIns="0" tIns="0" rIns="0" bIns="0" rtlCol="0" anchor="t"/>
          <a:lstStyle/>
          <a:p>
            <a:pPr indent="0" marL="0">
              <a:buNone/>
            </a:pPr>
            <a:r>
              <a:rPr lang="en-US" sz="1600" b="1" dirty="0">
                <a:solidFill>
                  <a:schemeClr val="tx2"/>
                </a:solidFill>
              </a:rPr>
              <a:t>Carte SD (FatFS)</a:t>
            </a:r>
            <a:endParaRPr lang="en-US" sz="1600" dirty="0"/>
          </a:p>
        </p:txBody>
      </p:sp>
      <p:sp>
        <p:nvSpPr>
          <p:cNvPr id="28" name="Text 26"/>
          <p:cNvSpPr txBox="1"/>
          <p:nvPr/>
        </p:nvSpPr>
        <p:spPr>
          <a:xfrm>
            <a:off x="8897112" y="2011680"/>
            <a:ext cx="2651760" cy="365760"/>
          </a:xfrm>
          <a:prstGeom prst="rect">
            <a:avLst/>
          </a:prstGeom>
          <a:noFill/>
          <a:ln/>
        </p:spPr>
        <p:txBody>
          <a:bodyPr wrap="square" lIns="0" tIns="0" rIns="0" bIns="0" rtlCol="0" anchor="t"/>
          <a:lstStyle/>
          <a:p>
            <a:pPr indent="0" marL="0">
              <a:buNone/>
            </a:pPr>
            <a:r>
              <a:rPr lang="en-US" sz="1250" dirty="0">
                <a:solidFill>
                  <a:schemeClr val="accent6"/>
                </a:solidFill>
              </a:rPr>
              <a:t>SPI1 · PA5 / PA6 / PA7 · CS PB6</a:t>
            </a:r>
            <a:endParaRPr lang="en-US" sz="1250" dirty="0"/>
          </a:p>
        </p:txBody>
      </p:sp>
      <p:sp>
        <p:nvSpPr>
          <p:cNvPr id="29" name="Shape 27"/>
          <p:cNvSpPr/>
          <p:nvPr/>
        </p:nvSpPr>
        <p:spPr>
          <a:xfrm>
            <a:off x="7754112" y="2011680"/>
            <a:ext cx="960120" cy="0"/>
          </a:xfrm>
          <a:prstGeom prst="line">
            <a:avLst/>
          </a:prstGeom>
          <a:noFill/>
          <a:ln w="28575">
            <a:solidFill>
              <a:schemeClr val="accent2"/>
            </a:solidFill>
            <a:prstDash val="solid"/>
            <a:tailEnd type="triangle"/>
          </a:ln>
        </p:spPr>
      </p:sp>
      <p:sp>
        <p:nvSpPr>
          <p:cNvPr id="30" name="Écran LCD 1602"/>
          <p:cNvSpPr/>
          <p:nvPr/>
        </p:nvSpPr>
        <p:spPr>
          <a:xfrm>
            <a:off x="8714232" y="2560320"/>
            <a:ext cx="2926080" cy="914400"/>
          </a:xfrm>
          <a:prstGeom prst="roundRect">
            <a:avLst>
              <a:gd name="adj" fmla="val 8000"/>
            </a:avLst>
          </a:prstGeom>
          <a:solidFill>
            <a:schemeClr val="bg2"/>
          </a:solidFill>
          <a:ln/>
        </p:spPr>
      </p:sp>
      <p:sp>
        <p:nvSpPr>
          <p:cNvPr id="31" name="Text 29"/>
          <p:cNvSpPr txBox="1"/>
          <p:nvPr/>
        </p:nvSpPr>
        <p:spPr>
          <a:xfrm>
            <a:off x="8897112" y="2679192"/>
            <a:ext cx="2606040" cy="320040"/>
          </a:xfrm>
          <a:prstGeom prst="rect">
            <a:avLst/>
          </a:prstGeom>
          <a:noFill/>
          <a:ln/>
        </p:spPr>
        <p:txBody>
          <a:bodyPr wrap="square" lIns="0" tIns="0" rIns="0" bIns="0" rtlCol="0" anchor="t"/>
          <a:lstStyle/>
          <a:p>
            <a:pPr indent="0" marL="0">
              <a:buNone/>
            </a:pPr>
            <a:r>
              <a:rPr lang="en-US" sz="1600" b="1" dirty="0">
                <a:solidFill>
                  <a:schemeClr val="tx2"/>
                </a:solidFill>
              </a:rPr>
              <a:t>Écran LCD 1602</a:t>
            </a:r>
            <a:endParaRPr lang="en-US" sz="1600" dirty="0"/>
          </a:p>
        </p:txBody>
      </p:sp>
      <p:sp>
        <p:nvSpPr>
          <p:cNvPr id="32" name="Text 30"/>
          <p:cNvSpPr txBox="1"/>
          <p:nvPr/>
        </p:nvSpPr>
        <p:spPr>
          <a:xfrm>
            <a:off x="8897112" y="3017520"/>
            <a:ext cx="2651760" cy="365760"/>
          </a:xfrm>
          <a:prstGeom prst="rect">
            <a:avLst/>
          </a:prstGeom>
          <a:noFill/>
          <a:ln/>
        </p:spPr>
        <p:txBody>
          <a:bodyPr wrap="square" lIns="0" tIns="0" rIns="0" bIns="0" rtlCol="0" anchor="t"/>
          <a:lstStyle/>
          <a:p>
            <a:pPr indent="0" marL="0">
              <a:buNone/>
            </a:pPr>
            <a:r>
              <a:rPr lang="en-US" sz="1250" dirty="0">
                <a:solidFill>
                  <a:schemeClr val="accent6"/>
                </a:solidFill>
              </a:rPr>
              <a:t>I2C1 (bus partagé) · adresse auto</a:t>
            </a:r>
            <a:endParaRPr lang="en-US" sz="1250" dirty="0"/>
          </a:p>
        </p:txBody>
      </p:sp>
      <p:sp>
        <p:nvSpPr>
          <p:cNvPr id="33" name="Shape 31"/>
          <p:cNvSpPr/>
          <p:nvPr/>
        </p:nvSpPr>
        <p:spPr>
          <a:xfrm>
            <a:off x="7754112" y="3017520"/>
            <a:ext cx="960120" cy="0"/>
          </a:xfrm>
          <a:prstGeom prst="line">
            <a:avLst/>
          </a:prstGeom>
          <a:noFill/>
          <a:ln w="28575">
            <a:solidFill>
              <a:schemeClr val="accent1"/>
            </a:solidFill>
            <a:prstDash val="solid"/>
            <a:tailEnd type="triangle"/>
          </a:ln>
        </p:spPr>
      </p:sp>
      <p:sp>
        <p:nvSpPr>
          <p:cNvPr id="34" name="LED RGB"/>
          <p:cNvSpPr/>
          <p:nvPr/>
        </p:nvSpPr>
        <p:spPr>
          <a:xfrm>
            <a:off x="8714232" y="3566160"/>
            <a:ext cx="2926080" cy="914400"/>
          </a:xfrm>
          <a:prstGeom prst="roundRect">
            <a:avLst>
              <a:gd name="adj" fmla="val 8000"/>
            </a:avLst>
          </a:prstGeom>
          <a:solidFill>
            <a:schemeClr val="bg2"/>
          </a:solidFill>
          <a:ln/>
        </p:spPr>
      </p:sp>
      <p:sp>
        <p:nvSpPr>
          <p:cNvPr id="35" name="Text 33"/>
          <p:cNvSpPr txBox="1"/>
          <p:nvPr/>
        </p:nvSpPr>
        <p:spPr>
          <a:xfrm>
            <a:off x="8897112" y="3685032"/>
            <a:ext cx="2606040" cy="320040"/>
          </a:xfrm>
          <a:prstGeom prst="rect">
            <a:avLst/>
          </a:prstGeom>
          <a:noFill/>
          <a:ln/>
        </p:spPr>
        <p:txBody>
          <a:bodyPr wrap="square" lIns="0" tIns="0" rIns="0" bIns="0" rtlCol="0" anchor="t"/>
          <a:lstStyle/>
          <a:p>
            <a:pPr indent="0" marL="0">
              <a:buNone/>
            </a:pPr>
            <a:r>
              <a:rPr lang="en-US" sz="1600" b="1" dirty="0">
                <a:solidFill>
                  <a:schemeClr val="tx2"/>
                </a:solidFill>
              </a:rPr>
              <a:t>LED RGB</a:t>
            </a:r>
            <a:endParaRPr lang="en-US" sz="1600" dirty="0"/>
          </a:p>
        </p:txBody>
      </p:sp>
      <p:sp>
        <p:nvSpPr>
          <p:cNvPr id="36" name="Text 34"/>
          <p:cNvSpPr txBox="1"/>
          <p:nvPr/>
        </p:nvSpPr>
        <p:spPr>
          <a:xfrm>
            <a:off x="8897112" y="4023360"/>
            <a:ext cx="2651760" cy="365760"/>
          </a:xfrm>
          <a:prstGeom prst="rect">
            <a:avLst/>
          </a:prstGeom>
          <a:noFill/>
          <a:ln/>
        </p:spPr>
        <p:txBody>
          <a:bodyPr wrap="square" lIns="0" tIns="0" rIns="0" bIns="0" rtlCol="0" anchor="t"/>
          <a:lstStyle/>
          <a:p>
            <a:pPr indent="0" marL="0">
              <a:buNone/>
            </a:pPr>
            <a:r>
              <a:rPr lang="en-US" sz="1250" dirty="0">
                <a:solidFill>
                  <a:schemeClr val="accent6"/>
                </a:solidFill>
              </a:rPr>
              <a:t>GPIO · PA0 / PA1 / PA4</a:t>
            </a:r>
            <a:endParaRPr lang="en-US" sz="1250" dirty="0"/>
          </a:p>
        </p:txBody>
      </p:sp>
      <p:sp>
        <p:nvSpPr>
          <p:cNvPr id="37" name="Shape 35"/>
          <p:cNvSpPr/>
          <p:nvPr/>
        </p:nvSpPr>
        <p:spPr>
          <a:xfrm>
            <a:off x="7754112" y="4023360"/>
            <a:ext cx="960120" cy="0"/>
          </a:xfrm>
          <a:prstGeom prst="line">
            <a:avLst/>
          </a:prstGeom>
          <a:noFill/>
          <a:ln w="28575">
            <a:solidFill>
              <a:schemeClr val="accent6"/>
            </a:solidFill>
            <a:prstDash val="solid"/>
            <a:tailEnd type="triangle"/>
          </a:ln>
        </p:spPr>
      </p:sp>
      <p:sp>
        <p:nvSpPr>
          <p:cNvPr id="38" name="PC · console série"/>
          <p:cNvSpPr/>
          <p:nvPr/>
        </p:nvSpPr>
        <p:spPr>
          <a:xfrm>
            <a:off x="8714232" y="4572000"/>
            <a:ext cx="2926080" cy="914400"/>
          </a:xfrm>
          <a:prstGeom prst="roundRect">
            <a:avLst>
              <a:gd name="adj" fmla="val 8000"/>
            </a:avLst>
          </a:prstGeom>
          <a:solidFill>
            <a:schemeClr val="bg2"/>
          </a:solidFill>
          <a:ln/>
        </p:spPr>
      </p:sp>
      <p:sp>
        <p:nvSpPr>
          <p:cNvPr id="39" name="Text 37"/>
          <p:cNvSpPr txBox="1"/>
          <p:nvPr/>
        </p:nvSpPr>
        <p:spPr>
          <a:xfrm>
            <a:off x="8897112" y="4690872"/>
            <a:ext cx="2606040" cy="320040"/>
          </a:xfrm>
          <a:prstGeom prst="rect">
            <a:avLst/>
          </a:prstGeom>
          <a:noFill/>
          <a:ln/>
        </p:spPr>
        <p:txBody>
          <a:bodyPr wrap="square" lIns="0" tIns="0" rIns="0" bIns="0" rtlCol="0" anchor="t"/>
          <a:lstStyle/>
          <a:p>
            <a:pPr indent="0" marL="0">
              <a:buNone/>
            </a:pPr>
            <a:r>
              <a:rPr lang="en-US" sz="1600" b="1" dirty="0">
                <a:solidFill>
                  <a:schemeClr val="tx2"/>
                </a:solidFill>
              </a:rPr>
              <a:t>PC · console série</a:t>
            </a:r>
            <a:endParaRPr lang="en-US" sz="1600" dirty="0"/>
          </a:p>
        </p:txBody>
      </p:sp>
      <p:sp>
        <p:nvSpPr>
          <p:cNvPr id="40" name="Text 38"/>
          <p:cNvSpPr txBox="1"/>
          <p:nvPr/>
        </p:nvSpPr>
        <p:spPr>
          <a:xfrm>
            <a:off x="8897112" y="5029200"/>
            <a:ext cx="2651760" cy="365760"/>
          </a:xfrm>
          <a:prstGeom prst="rect">
            <a:avLst/>
          </a:prstGeom>
          <a:noFill/>
          <a:ln/>
        </p:spPr>
        <p:txBody>
          <a:bodyPr wrap="square" lIns="0" tIns="0" rIns="0" bIns="0" rtlCol="0" anchor="t"/>
          <a:lstStyle/>
          <a:p>
            <a:pPr indent="0" marL="0">
              <a:buNone/>
            </a:pPr>
            <a:r>
              <a:rPr lang="en-US" sz="1250" dirty="0">
                <a:solidFill>
                  <a:schemeClr val="accent6"/>
                </a:solidFill>
              </a:rPr>
              <a:t>USART2 via ST-LINK · 115 200 Bd</a:t>
            </a:r>
            <a:endParaRPr lang="en-US" sz="1250" dirty="0"/>
          </a:p>
        </p:txBody>
      </p:sp>
      <p:sp>
        <p:nvSpPr>
          <p:cNvPr id="41" name="Shape 39"/>
          <p:cNvSpPr/>
          <p:nvPr/>
        </p:nvSpPr>
        <p:spPr>
          <a:xfrm>
            <a:off x="7754112" y="5029200"/>
            <a:ext cx="960120" cy="0"/>
          </a:xfrm>
          <a:prstGeom prst="line">
            <a:avLst/>
          </a:prstGeom>
          <a:noFill/>
          <a:ln w="28575">
            <a:solidFill>
              <a:schemeClr val="accent3"/>
            </a:solidFill>
            <a:prstDash val="solid"/>
            <a:headEnd type="triangle"/>
            <a:tailEnd type="triangle"/>
          </a:ln>
        </p:spPr>
      </p:sp>
      <p:sp>
        <p:nvSpPr>
          <p:cNvPr id="42" name="Text 40"/>
          <p:cNvSpPr txBox="1"/>
          <p:nvPr/>
        </p:nvSpPr>
        <p:spPr>
          <a:xfrm>
            <a:off x="4434840" y="5559552"/>
            <a:ext cx="3319272" cy="274320"/>
          </a:xfrm>
          <a:prstGeom prst="rect">
            <a:avLst/>
          </a:prstGeom>
          <a:noFill/>
          <a:ln/>
        </p:spPr>
        <p:txBody>
          <a:bodyPr wrap="square" lIns="0" tIns="0" rIns="0" bIns="0" rtlCol="0" anchor="t"/>
          <a:lstStyle/>
          <a:p>
            <a:pPr algn="ctr" indent="0" marL="0">
              <a:buNone/>
            </a:pPr>
            <a:r>
              <a:rPr lang="en-US" sz="1150" i="1" dirty="0">
                <a:solidFill>
                  <a:schemeClr val="accent6"/>
                </a:solidFill>
              </a:rPr>
              <a:t>Alimentation : câble USB du ST-LINK (prototype)</a:t>
            </a:r>
            <a:endParaRPr lang="en-US" sz="1150" dirty="0"/>
          </a:p>
        </p:txBody>
      </p:sp>
      <p:sp>
        <p:nvSpPr>
          <p:cNvPr id="43" name="Shape 41"/>
          <p:cNvSpPr/>
          <p:nvPr/>
        </p:nvSpPr>
        <p:spPr>
          <a:xfrm>
            <a:off x="548640" y="6062472"/>
            <a:ext cx="411480" cy="0"/>
          </a:xfrm>
          <a:prstGeom prst="line">
            <a:avLst/>
          </a:prstGeom>
          <a:noFill/>
          <a:ln w="38100">
            <a:solidFill>
              <a:schemeClr val="accent6"/>
            </a:solidFill>
            <a:prstDash val="solid"/>
          </a:ln>
        </p:spPr>
      </p:sp>
      <p:sp>
        <p:nvSpPr>
          <p:cNvPr id="44" name="Text 42"/>
          <p:cNvSpPr txBox="1"/>
          <p:nvPr/>
        </p:nvSpPr>
        <p:spPr>
          <a:xfrm>
            <a:off x="1051560" y="5943600"/>
            <a:ext cx="1051560" cy="256032"/>
          </a:xfrm>
          <a:prstGeom prst="rect">
            <a:avLst/>
          </a:prstGeom>
          <a:noFill/>
          <a:ln/>
        </p:spPr>
        <p:txBody>
          <a:bodyPr wrap="square" lIns="0" tIns="0" rIns="0" bIns="0" rtlCol="0" anchor="ctr"/>
          <a:lstStyle/>
          <a:p>
            <a:pPr indent="0" marL="0">
              <a:buNone/>
            </a:pPr>
            <a:r>
              <a:rPr lang="en-US" sz="1200" dirty="0">
                <a:solidFill>
                  <a:schemeClr val="tx1"/>
                </a:solidFill>
              </a:rPr>
              <a:t>1 fil / GPIO</a:t>
            </a:r>
            <a:endParaRPr lang="en-US" sz="1200" dirty="0"/>
          </a:p>
        </p:txBody>
      </p:sp>
      <p:sp>
        <p:nvSpPr>
          <p:cNvPr id="45" name="Shape 43"/>
          <p:cNvSpPr/>
          <p:nvPr/>
        </p:nvSpPr>
        <p:spPr>
          <a:xfrm>
            <a:off x="2148840" y="6062472"/>
            <a:ext cx="411480" cy="0"/>
          </a:xfrm>
          <a:prstGeom prst="line">
            <a:avLst/>
          </a:prstGeom>
          <a:noFill/>
          <a:ln w="38100">
            <a:solidFill>
              <a:schemeClr val="accent1"/>
            </a:solidFill>
            <a:prstDash val="solid"/>
          </a:ln>
        </p:spPr>
      </p:sp>
      <p:sp>
        <p:nvSpPr>
          <p:cNvPr id="46" name="Text 44"/>
          <p:cNvSpPr txBox="1"/>
          <p:nvPr/>
        </p:nvSpPr>
        <p:spPr>
          <a:xfrm>
            <a:off x="2651760" y="5943600"/>
            <a:ext cx="1051560" cy="256032"/>
          </a:xfrm>
          <a:prstGeom prst="rect">
            <a:avLst/>
          </a:prstGeom>
          <a:noFill/>
          <a:ln/>
        </p:spPr>
        <p:txBody>
          <a:bodyPr wrap="square" lIns="0" tIns="0" rIns="0" bIns="0" rtlCol="0" anchor="ctr"/>
          <a:lstStyle/>
          <a:p>
            <a:pPr indent="0" marL="0">
              <a:buNone/>
            </a:pPr>
            <a:r>
              <a:rPr lang="en-US" sz="1200" dirty="0">
                <a:solidFill>
                  <a:schemeClr val="tx1"/>
                </a:solidFill>
              </a:rPr>
              <a:t>I2C</a:t>
            </a:r>
            <a:endParaRPr lang="en-US" sz="1200" dirty="0"/>
          </a:p>
        </p:txBody>
      </p:sp>
      <p:sp>
        <p:nvSpPr>
          <p:cNvPr id="47" name="Shape 45"/>
          <p:cNvSpPr/>
          <p:nvPr/>
        </p:nvSpPr>
        <p:spPr>
          <a:xfrm>
            <a:off x="3749040" y="6062472"/>
            <a:ext cx="411480" cy="0"/>
          </a:xfrm>
          <a:prstGeom prst="line">
            <a:avLst/>
          </a:prstGeom>
          <a:noFill/>
          <a:ln w="38100">
            <a:solidFill>
              <a:schemeClr val="accent3"/>
            </a:solidFill>
            <a:prstDash val="solid"/>
          </a:ln>
        </p:spPr>
      </p:sp>
      <p:sp>
        <p:nvSpPr>
          <p:cNvPr id="48" name="Text 46"/>
          <p:cNvSpPr txBox="1"/>
          <p:nvPr/>
        </p:nvSpPr>
        <p:spPr>
          <a:xfrm>
            <a:off x="4251960" y="5943600"/>
            <a:ext cx="1051560" cy="256032"/>
          </a:xfrm>
          <a:prstGeom prst="rect">
            <a:avLst/>
          </a:prstGeom>
          <a:noFill/>
          <a:ln/>
        </p:spPr>
        <p:txBody>
          <a:bodyPr wrap="square" lIns="0" tIns="0" rIns="0" bIns="0" rtlCol="0" anchor="ctr"/>
          <a:lstStyle/>
          <a:p>
            <a:pPr indent="0" marL="0">
              <a:buNone/>
            </a:pPr>
            <a:r>
              <a:rPr lang="en-US" sz="1200" dirty="0">
                <a:solidFill>
                  <a:schemeClr val="tx1"/>
                </a:solidFill>
              </a:rPr>
              <a:t>UART</a:t>
            </a:r>
            <a:endParaRPr lang="en-US" sz="1200" dirty="0"/>
          </a:p>
        </p:txBody>
      </p:sp>
      <p:sp>
        <p:nvSpPr>
          <p:cNvPr id="49" name="Shape 47"/>
          <p:cNvSpPr/>
          <p:nvPr/>
        </p:nvSpPr>
        <p:spPr>
          <a:xfrm>
            <a:off x="5349240" y="6062472"/>
            <a:ext cx="411480" cy="0"/>
          </a:xfrm>
          <a:prstGeom prst="line">
            <a:avLst/>
          </a:prstGeom>
          <a:noFill/>
          <a:ln w="38100">
            <a:solidFill>
              <a:schemeClr val="accent2"/>
            </a:solidFill>
            <a:prstDash val="solid"/>
          </a:ln>
        </p:spPr>
      </p:sp>
      <p:sp>
        <p:nvSpPr>
          <p:cNvPr id="50" name="Text 48"/>
          <p:cNvSpPr txBox="1"/>
          <p:nvPr/>
        </p:nvSpPr>
        <p:spPr>
          <a:xfrm>
            <a:off x="5852160" y="5943600"/>
            <a:ext cx="1051560" cy="256032"/>
          </a:xfrm>
          <a:prstGeom prst="rect">
            <a:avLst/>
          </a:prstGeom>
          <a:noFill/>
          <a:ln/>
        </p:spPr>
        <p:txBody>
          <a:bodyPr wrap="square" lIns="0" tIns="0" rIns="0" bIns="0" rtlCol="0" anchor="ctr"/>
          <a:lstStyle/>
          <a:p>
            <a:pPr indent="0" marL="0">
              <a:buNone/>
            </a:pPr>
            <a:r>
              <a:rPr lang="en-US" sz="1200" dirty="0">
                <a:solidFill>
                  <a:schemeClr val="tx1"/>
                </a:solidFill>
              </a:rPr>
              <a:t>SPI</a:t>
            </a:r>
            <a:endParaRPr lang="en-US" sz="1200" dirty="0"/>
          </a:p>
        </p:txBody>
      </p:sp>
      <p:sp>
        <p:nvSpPr>
          <p:cNvPr id="51" name="Text 49"/>
          <p:cNvSpPr txBox="1"/>
          <p:nvPr/>
        </p:nvSpPr>
        <p:spPr>
          <a:xfrm>
            <a:off x="6949440" y="5943600"/>
            <a:ext cx="4690872" cy="256032"/>
          </a:xfrm>
          <a:prstGeom prst="rect">
            <a:avLst/>
          </a:prstGeom>
          <a:noFill/>
          <a:ln/>
        </p:spPr>
        <p:txBody>
          <a:bodyPr wrap="square" lIns="0" tIns="0" rIns="0" bIns="0" rtlCol="0" anchor="ctr"/>
          <a:lstStyle/>
          <a:p>
            <a:pPr algn="r" indent="0" marL="0">
              <a:buNone/>
            </a:pPr>
            <a:r>
              <a:rPr lang="en-US" sz="1100" i="1" dirty="0">
                <a:solidFill>
                  <a:schemeClr val="accent6"/>
                </a:solidFill>
              </a:rPr>
              <a:t>Schéma fonctionnel, pas un schéma de câblage</a:t>
            </a:r>
            <a:endParaRPr lang="en-US" sz="1100" dirty="0"/>
          </a:p>
        </p:txBody>
      </p:sp>
      <p:sp>
        <p:nvSpPr>
          <p:cNvPr id="25" name="Slide Number Placeholder 0"/>
          <p:cNvSpPr>
            <a:spLocks noGrp="1"/>
          </p:cNvSpPr>
          <p:nvPr>
            <p:ph type="sldNum" sz="quarter" idx="4294967295"/>
          </p:nvPr>
        </p:nvSpPr>
        <p:spPr>
          <a:xfrm>
            <a:off x="11091672" y="6455664"/>
            <a:ext cx="548640" cy="237744"/>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6"/>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9144000" cy="274320"/>
          </a:xfrm>
          <a:prstGeom prst="rect">
            <a:avLst/>
          </a:prstGeom>
          <a:noFill/>
          <a:ln/>
        </p:spPr>
        <p:txBody>
          <a:bodyPr wrap="square" lIns="0" tIns="0" rIns="0" bIns="0" rtlCol="0" anchor="t"/>
          <a:lstStyle/>
          <a:p>
            <a:pPr indent="0" marL="0">
              <a:buNone/>
            </a:pPr>
            <a:r>
              <a:rPr lang="en-US" sz="1200" b="1" spc="150" kern="0" dirty="0">
                <a:solidFill>
                  <a:schemeClr val="accent1"/>
                </a:solidFill>
              </a:rPr>
              <a:t>02 · MATÉRIEL ET ARCHITECTURE</a:t>
            </a:r>
            <a:endParaRPr lang="en-US" sz="1200" dirty="0"/>
          </a:p>
        </p:txBody>
      </p:sp>
      <p:sp>
        <p:nvSpPr>
          <p:cNvPr id="3" name="Text 0"/>
          <p:cNvSpPr/>
          <p:nvPr>
            <p:ph idx="101" type="title" hasCustomPrompt="1"/>
          </p:nvPr>
        </p:nvSpPr>
        <p:spPr>
          <a:xfrm>
            <a:off x="548640" y="621792"/>
            <a:ext cx="11091672" cy="640080"/>
          </a:xfrm>
          <a:prstGeom prst="rect">
            <a:avLst/>
          </a:prstGeom>
          <a:noFill/>
          <a:ln/>
        </p:spPr>
        <p:txBody>
          <a:bodyPr wrap="square" lIns="0" tIns="0" rIns="0" bIns="0" rtlCol="0" anchor="t"/>
          <a:lstStyle/>
          <a:p>
            <a:pPr algn="l" indent="0" marL="0">
              <a:buNone/>
            </a:pPr>
            <a:r>
              <a:rPr lang="en-US" sz="3000" b="1" dirty="0">
                <a:solidFill>
                  <a:schemeClr val="tx2"/>
                </a:solidFill>
              </a:rPr>
              <a:t>Architecture logicielle du firmware</a:t>
            </a:r>
            <a:endParaRPr lang="en-US" sz="3000" dirty="0"/>
          </a:p>
        </p:txBody>
      </p:sp>
      <p:sp>
        <p:nvSpPr>
          <p:cNvPr id="4" name="Text 2"/>
          <p:cNvSpPr/>
          <p:nvPr/>
        </p:nvSpPr>
        <p:spPr>
          <a:xfrm>
            <a:off x="548640" y="1508760"/>
            <a:ext cx="4572000" cy="731520"/>
          </a:xfrm>
          <a:prstGeom prst="roundRect">
            <a:avLst>
              <a:gd name="adj" fmla="val 7500"/>
            </a:avLst>
          </a:prstGeom>
          <a:solidFill>
            <a:schemeClr val="tx2"/>
          </a:solidFill>
          <a:ln/>
        </p:spPr>
        <p:txBody>
          <a:bodyPr wrap="square" lIns="50800" tIns="177800" rIns="177800" bIns="50800" rtlCol="0" anchor="ctr"/>
          <a:lstStyle/>
          <a:p>
            <a:pPr indent="0" marL="0">
              <a:buNone/>
            </a:pPr>
            <a:r>
              <a:rPr lang="en-US" sz="1500" b="1" dirty="0">
                <a:solidFill>
                  <a:schemeClr val="accent5"/>
                </a:solidFill>
              </a:rPr>
              <a:t>Application · station.c</a:t>
            </a:r>
            <a:endParaRPr lang="en-US" sz="1500" dirty="0"/>
          </a:p>
          <a:p>
            <a:pPr indent="0" marL="0">
              <a:buNone/>
            </a:pPr>
            <a:r>
              <a:rPr lang="en-US" sz="1300" dirty="0">
                <a:solidFill>
                  <a:schemeClr val="bg1"/>
                </a:solidFill>
              </a:rPr>
              <a:t>modes, acquisition, carte SD, configuration, LED et erreurs</a:t>
            </a:r>
            <a:endParaRPr lang="en-US" sz="1500" dirty="0"/>
          </a:p>
        </p:txBody>
      </p:sp>
      <p:sp>
        <p:nvSpPr>
          <p:cNvPr id="5" name="Text 3"/>
          <p:cNvSpPr/>
          <p:nvPr/>
        </p:nvSpPr>
        <p:spPr>
          <a:xfrm>
            <a:off x="548640" y="2331720"/>
            <a:ext cx="4572000" cy="731520"/>
          </a:xfrm>
          <a:prstGeom prst="roundRect">
            <a:avLst>
              <a:gd name="adj" fmla="val 7500"/>
            </a:avLst>
          </a:prstGeom>
          <a:solidFill>
            <a:schemeClr val="accent3"/>
          </a:solidFill>
          <a:ln/>
        </p:spPr>
        <p:txBody>
          <a:bodyPr wrap="square" lIns="50800" tIns="177800" rIns="177800" bIns="50800" rtlCol="0" anchor="ctr"/>
          <a:lstStyle/>
          <a:p>
            <a:pPr indent="0" marL="0">
              <a:buNone/>
            </a:pPr>
            <a:r>
              <a:rPr lang="en-US" sz="1500" b="1" dirty="0">
                <a:solidFill>
                  <a:schemeClr val="accent5"/>
                </a:solidFill>
              </a:rPr>
              <a:t>Démarrage · main.c</a:t>
            </a:r>
            <a:endParaRPr lang="en-US" sz="1500" dirty="0"/>
          </a:p>
          <a:p>
            <a:pPr indent="0" marL="0">
              <a:buNone/>
            </a:pPr>
            <a:r>
              <a:rPr lang="en-US" sz="1300" dirty="0">
                <a:solidFill>
                  <a:schemeClr val="bg1"/>
                </a:solidFill>
              </a:rPr>
              <a:t>initialisation, diagnostic matériel</a:t>
            </a:r>
            <a:endParaRPr lang="en-US" sz="1500" dirty="0"/>
          </a:p>
        </p:txBody>
      </p:sp>
      <p:sp>
        <p:nvSpPr>
          <p:cNvPr id="6" name="Text 4"/>
          <p:cNvSpPr/>
          <p:nvPr/>
        </p:nvSpPr>
        <p:spPr>
          <a:xfrm>
            <a:off x="548640" y="3154680"/>
            <a:ext cx="4572000" cy="731520"/>
          </a:xfrm>
          <a:prstGeom prst="roundRect">
            <a:avLst>
              <a:gd name="adj" fmla="val 7500"/>
            </a:avLst>
          </a:prstGeom>
          <a:solidFill>
            <a:schemeClr val="accent1"/>
          </a:solidFill>
          <a:ln/>
        </p:spPr>
        <p:txBody>
          <a:bodyPr wrap="square" lIns="50800" tIns="177800" rIns="177800" bIns="50800" rtlCol="0" anchor="ctr"/>
          <a:lstStyle/>
          <a:p>
            <a:pPr indent="0" marL="0">
              <a:buNone/>
            </a:pPr>
            <a:r>
              <a:rPr lang="en-US" sz="1500" b="1" dirty="0">
                <a:solidFill>
                  <a:schemeClr val="bg1"/>
                </a:solidFill>
              </a:rPr>
              <a:t>Pilotes des composants</a:t>
            </a:r>
            <a:endParaRPr lang="en-US" sz="1500" dirty="0"/>
          </a:p>
          <a:p>
            <a:pPr indent="0" marL="0">
              <a:buNone/>
            </a:pPr>
            <a:r>
              <a:rPr lang="en-US" sz="1300" dirty="0">
                <a:solidFill>
                  <a:schemeClr val="bg1"/>
                </a:solidFill>
              </a:rPr>
              <a:t>dht11.c · bh1750.c · lcd_i2c.c · rgb_led.c</a:t>
            </a:r>
            <a:endParaRPr lang="en-US" sz="1500" dirty="0"/>
          </a:p>
        </p:txBody>
      </p:sp>
      <p:sp>
        <p:nvSpPr>
          <p:cNvPr id="7" name="Text 5"/>
          <p:cNvSpPr/>
          <p:nvPr/>
        </p:nvSpPr>
        <p:spPr>
          <a:xfrm>
            <a:off x="548640" y="3977640"/>
            <a:ext cx="4572000" cy="731520"/>
          </a:xfrm>
          <a:prstGeom prst="roundRect">
            <a:avLst>
              <a:gd name="adj" fmla="val 7500"/>
            </a:avLst>
          </a:prstGeom>
          <a:solidFill>
            <a:schemeClr val="bg2"/>
          </a:solidFill>
          <a:ln w="9525">
            <a:solidFill>
              <a:srgbClr val="C9D4DF"/>
            </a:solidFill>
          </a:ln>
        </p:spPr>
        <p:txBody>
          <a:bodyPr wrap="square" lIns="50800" tIns="177800" rIns="177800" bIns="50800" rtlCol="0" anchor="ctr"/>
          <a:lstStyle/>
          <a:p>
            <a:pPr indent="0" marL="0">
              <a:buNone/>
            </a:pPr>
            <a:r>
              <a:rPr lang="en-US" sz="1500" b="1" dirty="0">
                <a:solidFill>
                  <a:schemeClr val="tx2"/>
                </a:solidFill>
              </a:rPr>
              <a:t>Middleware FatFS</a:t>
            </a:r>
            <a:endParaRPr lang="en-US" sz="1500" dirty="0"/>
          </a:p>
          <a:p>
            <a:pPr indent="0" marL="0">
              <a:buNone/>
            </a:pPr>
            <a:r>
              <a:rPr lang="en-US" sz="1300" dirty="0">
                <a:solidFill>
                  <a:schemeClr val="tx1"/>
                </a:solidFill>
              </a:rPr>
              <a:t>système de fichiers + user_diskio.c (SD en SPI)</a:t>
            </a:r>
            <a:endParaRPr lang="en-US" sz="1500" dirty="0"/>
          </a:p>
        </p:txBody>
      </p:sp>
      <p:sp>
        <p:nvSpPr>
          <p:cNvPr id="8" name="Text 6"/>
          <p:cNvSpPr/>
          <p:nvPr/>
        </p:nvSpPr>
        <p:spPr>
          <a:xfrm>
            <a:off x="548640" y="4800600"/>
            <a:ext cx="4572000" cy="731520"/>
          </a:xfrm>
          <a:prstGeom prst="roundRect">
            <a:avLst>
              <a:gd name="adj" fmla="val 7500"/>
            </a:avLst>
          </a:prstGeom>
          <a:solidFill>
            <a:schemeClr val="bg2"/>
          </a:solidFill>
          <a:ln w="9525">
            <a:solidFill>
              <a:srgbClr val="C9D4DF"/>
            </a:solidFill>
          </a:ln>
        </p:spPr>
        <p:txBody>
          <a:bodyPr wrap="square" lIns="50800" tIns="177800" rIns="177800" bIns="50800" rtlCol="0" anchor="ctr"/>
          <a:lstStyle/>
          <a:p>
            <a:pPr indent="0" marL="0">
              <a:buNone/>
            </a:pPr>
            <a:r>
              <a:rPr lang="en-US" sz="1500" b="1" dirty="0">
                <a:solidFill>
                  <a:schemeClr val="tx2"/>
                </a:solidFill>
              </a:rPr>
              <a:t>HAL STM32L4 + CMSIS</a:t>
            </a:r>
            <a:endParaRPr lang="en-US" sz="1500" dirty="0"/>
          </a:p>
          <a:p>
            <a:pPr indent="0" marL="0">
              <a:buNone/>
            </a:pPr>
            <a:r>
              <a:rPr lang="en-US" sz="1300" dirty="0">
                <a:solidFill>
                  <a:schemeClr val="tx1"/>
                </a:solidFill>
              </a:rPr>
              <a:t>code généré par STM32CubeMX</a:t>
            </a:r>
            <a:endParaRPr lang="en-US" sz="1500" dirty="0"/>
          </a:p>
        </p:txBody>
      </p:sp>
      <p:sp>
        <p:nvSpPr>
          <p:cNvPr id="9" name="Text 7"/>
          <p:cNvSpPr txBox="1"/>
          <p:nvPr/>
        </p:nvSpPr>
        <p:spPr>
          <a:xfrm>
            <a:off x="548640" y="5669280"/>
            <a:ext cx="4572000" cy="256032"/>
          </a:xfrm>
          <a:prstGeom prst="rect">
            <a:avLst/>
          </a:prstGeom>
          <a:noFill/>
          <a:ln/>
        </p:spPr>
        <p:txBody>
          <a:bodyPr wrap="square" lIns="0" tIns="0" rIns="0" bIns="0" rtlCol="0" anchor="t"/>
          <a:lstStyle/>
          <a:p>
            <a:pPr indent="0" marL="0">
              <a:buNone/>
            </a:pPr>
            <a:r>
              <a:rPr lang="en-US" sz="1200" dirty="0">
                <a:solidFill>
                  <a:schemeClr val="accent6"/>
                </a:solidFill>
              </a:rPr>
              <a:t>Langage C · HAL STM32 · compilation CMake + Ninja + arm-none-eabi-gcc</a:t>
            </a:r>
            <a:endParaRPr lang="en-US" sz="1200" dirty="0"/>
          </a:p>
        </p:txBody>
      </p:sp>
      <p:sp>
        <p:nvSpPr>
          <p:cNvPr id="10" name="Text 8"/>
          <p:cNvSpPr txBox="1"/>
          <p:nvPr/>
        </p:nvSpPr>
        <p:spPr>
          <a:xfrm>
            <a:off x="548640" y="5943600"/>
            <a:ext cx="4572000" cy="256032"/>
          </a:xfrm>
          <a:prstGeom prst="rect">
            <a:avLst/>
          </a:prstGeom>
          <a:noFill/>
          <a:ln/>
        </p:spPr>
        <p:txBody>
          <a:bodyPr wrap="square" lIns="0" tIns="0" rIns="0" bIns="0" rtlCol="0" anchor="t"/>
          <a:lstStyle/>
          <a:p>
            <a:pPr indent="0" marL="0">
              <a:buNone/>
            </a:pPr>
            <a:r>
              <a:rPr lang="en-US" sz="1200" dirty="0">
                <a:solidFill>
                  <a:schemeClr val="accent6"/>
                </a:solidFill>
              </a:rPr>
              <a:t>En parallèle : interruptions SysTick, EXTI et UART (p. 10)</a:t>
            </a:r>
            <a:endParaRPr lang="en-US" sz="1200" dirty="0"/>
          </a:p>
        </p:txBody>
      </p:sp>
      <p:sp>
        <p:nvSpPr>
          <p:cNvPr id="11" name="Text 9"/>
          <p:cNvSpPr/>
          <p:nvPr/>
        </p:nvSpPr>
        <p:spPr>
          <a:xfrm>
            <a:off x="6446520" y="1481328"/>
            <a:ext cx="2377440" cy="384048"/>
          </a:xfrm>
          <a:prstGeom prst="roundRect">
            <a:avLst>
              <a:gd name="adj" fmla="val 47619"/>
            </a:avLst>
          </a:prstGeom>
          <a:solidFill>
            <a:schemeClr val="accent1"/>
          </a:solidFill>
          <a:ln/>
        </p:spPr>
        <p:txBody>
          <a:bodyPr wrap="square" lIns="38100" tIns="101600" rIns="101600" bIns="38100" rtlCol="0" anchor="ctr"/>
          <a:lstStyle/>
          <a:p>
            <a:pPr algn="ctr" indent="0" marL="0">
              <a:buNone/>
            </a:pPr>
            <a:r>
              <a:rPr lang="en-US" sz="1300" b="1" dirty="0">
                <a:solidFill>
                  <a:schemeClr val="bg1"/>
                </a:solidFill>
              </a:rPr>
              <a:t>Mise sous tension / reset</a:t>
            </a:r>
            <a:endParaRPr lang="en-US" sz="1300" dirty="0"/>
          </a:p>
        </p:txBody>
      </p:sp>
      <p:sp>
        <p:nvSpPr>
          <p:cNvPr id="12" name="Shape 10"/>
          <p:cNvSpPr/>
          <p:nvPr/>
        </p:nvSpPr>
        <p:spPr>
          <a:xfrm>
            <a:off x="7635240" y="1865376"/>
            <a:ext cx="0" cy="182880"/>
          </a:xfrm>
          <a:prstGeom prst="line">
            <a:avLst/>
          </a:prstGeom>
          <a:noFill/>
          <a:ln w="22225">
            <a:solidFill>
              <a:schemeClr val="accent6"/>
            </a:solidFill>
            <a:prstDash val="solid"/>
            <a:tailEnd type="triangle"/>
          </a:ln>
        </p:spPr>
      </p:sp>
      <p:sp>
        <p:nvSpPr>
          <p:cNvPr id="13" name="Text 11"/>
          <p:cNvSpPr/>
          <p:nvPr/>
        </p:nvSpPr>
        <p:spPr>
          <a:xfrm>
            <a:off x="5989320" y="2048256"/>
            <a:ext cx="3291840" cy="566928"/>
          </a:xfrm>
          <a:prstGeom prst="roundRect">
            <a:avLst>
              <a:gd name="adj" fmla="val 9677"/>
            </a:avLst>
          </a:prstGeom>
          <a:solidFill>
            <a:schemeClr val="bg2"/>
          </a:solidFill>
          <a:ln/>
        </p:spPr>
        <p:txBody>
          <a:bodyPr wrap="square" lIns="38100" tIns="101600" rIns="101600" bIns="38100" rtlCol="0" anchor="ctr"/>
          <a:lstStyle/>
          <a:p>
            <a:pPr algn="ctr" indent="0" marL="0">
              <a:buNone/>
            </a:pPr>
            <a:r>
              <a:rPr lang="en-US" sz="1300" b="1" dirty="0">
                <a:solidFill>
                  <a:schemeClr val="tx1"/>
                </a:solidFill>
              </a:rPr>
              <a:t>HAL_Init · horloge 80 MHz</a:t>
            </a:r>
            <a:endParaRPr lang="en-US" sz="1300" dirty="0"/>
          </a:p>
          <a:p>
            <a:pPr algn="ctr" indent="0" marL="0">
              <a:buNone/>
            </a:pPr>
            <a:r>
              <a:rPr lang="en-US" sz="1300" dirty="0">
                <a:solidFill>
                  <a:schemeClr val="tx1"/>
                </a:solidFill>
              </a:rPr>
              <a:t>init. GPIO, RTC, I2C1, SPI1, USART2/3, FatFS</a:t>
            </a:r>
            <a:endParaRPr lang="en-US" sz="1300" dirty="0"/>
          </a:p>
        </p:txBody>
      </p:sp>
      <p:sp>
        <p:nvSpPr>
          <p:cNvPr id="14" name="Shape 12"/>
          <p:cNvSpPr/>
          <p:nvPr/>
        </p:nvSpPr>
        <p:spPr>
          <a:xfrm>
            <a:off x="7635240" y="2615184"/>
            <a:ext cx="0" cy="164592"/>
          </a:xfrm>
          <a:prstGeom prst="line">
            <a:avLst/>
          </a:prstGeom>
          <a:noFill/>
          <a:ln w="22225">
            <a:solidFill>
              <a:schemeClr val="accent6"/>
            </a:solidFill>
            <a:prstDash val="solid"/>
            <a:tailEnd type="triangle"/>
          </a:ln>
        </p:spPr>
      </p:sp>
      <p:sp>
        <p:nvSpPr>
          <p:cNvPr id="15" name="Text 13"/>
          <p:cNvSpPr/>
          <p:nvPr/>
        </p:nvSpPr>
        <p:spPr>
          <a:xfrm>
            <a:off x="6492240" y="2779776"/>
            <a:ext cx="2286000" cy="749808"/>
          </a:xfrm>
          <a:prstGeom prst="diamond">
            <a:avLst/>
          </a:prstGeom>
          <a:solidFill>
            <a:schemeClr val="bg1"/>
          </a:solidFill>
          <a:ln w="19050">
            <a:solidFill>
              <a:schemeClr val="accent2"/>
            </a:solidFill>
          </a:ln>
        </p:spPr>
        <p:txBody>
          <a:bodyPr wrap="square" lIns="0" tIns="0" rIns="0" bIns="0" rtlCol="0" anchor="ctr"/>
          <a:lstStyle/>
          <a:p>
            <a:pPr algn="ctr" indent="0" marL="0">
              <a:buNone/>
            </a:pPr>
            <a:r>
              <a:rPr lang="en-US" sz="1300" b="1" dirty="0">
                <a:solidFill>
                  <a:schemeClr val="tx2"/>
                </a:solidFill>
              </a:rPr>
              <a:t>B1 maintenu ?</a:t>
            </a:r>
            <a:endParaRPr lang="en-US" sz="1300" dirty="0"/>
          </a:p>
        </p:txBody>
      </p:sp>
      <p:sp>
        <p:nvSpPr>
          <p:cNvPr id="16" name="Shape 14"/>
          <p:cNvSpPr/>
          <p:nvPr/>
        </p:nvSpPr>
        <p:spPr>
          <a:xfrm>
            <a:off x="8778240" y="3154680"/>
            <a:ext cx="868680" cy="0"/>
          </a:xfrm>
          <a:prstGeom prst="line">
            <a:avLst/>
          </a:prstGeom>
          <a:noFill/>
          <a:ln w="22225">
            <a:solidFill>
              <a:schemeClr val="accent2"/>
            </a:solidFill>
            <a:prstDash val="solid"/>
            <a:tailEnd type="triangle"/>
          </a:ln>
        </p:spPr>
      </p:sp>
      <p:sp>
        <p:nvSpPr>
          <p:cNvPr id="17" name="Text 15"/>
          <p:cNvSpPr txBox="1"/>
          <p:nvPr/>
        </p:nvSpPr>
        <p:spPr>
          <a:xfrm>
            <a:off x="8823960" y="2880360"/>
            <a:ext cx="548640" cy="228600"/>
          </a:xfrm>
          <a:prstGeom prst="rect">
            <a:avLst/>
          </a:prstGeom>
          <a:noFill/>
          <a:ln/>
        </p:spPr>
        <p:txBody>
          <a:bodyPr wrap="square" lIns="0" tIns="0" rIns="0" bIns="0" rtlCol="0" anchor="t"/>
          <a:lstStyle/>
          <a:p>
            <a:pPr indent="0" marL="0">
              <a:buNone/>
            </a:pPr>
            <a:r>
              <a:rPr lang="en-US" sz="1200" b="1" dirty="0">
                <a:solidFill>
                  <a:schemeClr val="accent2"/>
                </a:solidFill>
              </a:rPr>
              <a:t>oui</a:t>
            </a:r>
            <a:endParaRPr lang="en-US" sz="1200" dirty="0"/>
          </a:p>
        </p:txBody>
      </p:sp>
      <p:sp>
        <p:nvSpPr>
          <p:cNvPr id="18" name="Text 16"/>
          <p:cNvSpPr/>
          <p:nvPr/>
        </p:nvSpPr>
        <p:spPr>
          <a:xfrm>
            <a:off x="9646920" y="2788920"/>
            <a:ext cx="1993392" cy="731520"/>
          </a:xfrm>
          <a:prstGeom prst="roundRect">
            <a:avLst>
              <a:gd name="adj" fmla="val 7500"/>
            </a:avLst>
          </a:prstGeom>
          <a:solidFill>
            <a:schemeClr val="bg1"/>
          </a:solidFill>
          <a:ln w="15875">
            <a:solidFill>
              <a:schemeClr val="accent2"/>
            </a:solidFill>
            <a:prstDash val="dash"/>
          </a:ln>
        </p:spPr>
        <p:txBody>
          <a:bodyPr wrap="square" lIns="38100" tIns="101600" rIns="101600" bIns="38100" rtlCol="0" anchor="ctr"/>
          <a:lstStyle/>
          <a:p>
            <a:pPr algn="ctr" indent="0" marL="0">
              <a:buNone/>
            </a:pPr>
            <a:r>
              <a:rPr lang="en-US" sz="1250" dirty="0">
                <a:solidFill>
                  <a:schemeClr val="tx1"/>
                </a:solidFill>
              </a:rPr>
              <a:t>Diagnostic matériel : 9 tests + bilan</a:t>
            </a:r>
            <a:endParaRPr lang="en-US" sz="1250" dirty="0"/>
          </a:p>
        </p:txBody>
      </p:sp>
      <p:sp>
        <p:nvSpPr>
          <p:cNvPr id="19" name="Shape 17"/>
          <p:cNvSpPr/>
          <p:nvPr/>
        </p:nvSpPr>
        <p:spPr>
          <a:xfrm>
            <a:off x="7635240" y="3529584"/>
            <a:ext cx="0" cy="201168"/>
          </a:xfrm>
          <a:prstGeom prst="line">
            <a:avLst/>
          </a:prstGeom>
          <a:noFill/>
          <a:ln w="22225">
            <a:solidFill>
              <a:schemeClr val="accent6"/>
            </a:solidFill>
            <a:prstDash val="solid"/>
            <a:tailEnd type="triangle"/>
          </a:ln>
        </p:spPr>
      </p:sp>
      <p:sp>
        <p:nvSpPr>
          <p:cNvPr id="20" name="Text 18"/>
          <p:cNvSpPr txBox="1"/>
          <p:nvPr/>
        </p:nvSpPr>
        <p:spPr>
          <a:xfrm>
            <a:off x="7726680" y="3511296"/>
            <a:ext cx="548640" cy="228600"/>
          </a:xfrm>
          <a:prstGeom prst="rect">
            <a:avLst/>
          </a:prstGeom>
          <a:noFill/>
          <a:ln/>
        </p:spPr>
        <p:txBody>
          <a:bodyPr wrap="square" lIns="0" tIns="0" rIns="0" bIns="0" rtlCol="0" anchor="t"/>
          <a:lstStyle/>
          <a:p>
            <a:pPr indent="0" marL="0">
              <a:buNone/>
            </a:pPr>
            <a:r>
              <a:rPr lang="en-US" sz="1200" b="1" dirty="0">
                <a:solidFill>
                  <a:schemeClr val="accent6"/>
                </a:solidFill>
              </a:rPr>
              <a:t>non</a:t>
            </a:r>
            <a:endParaRPr lang="en-US" sz="1200" dirty="0"/>
          </a:p>
        </p:txBody>
      </p:sp>
      <p:sp>
        <p:nvSpPr>
          <p:cNvPr id="21" name="Text 19"/>
          <p:cNvSpPr/>
          <p:nvPr/>
        </p:nvSpPr>
        <p:spPr>
          <a:xfrm>
            <a:off x="5532120" y="3730752"/>
            <a:ext cx="4206240" cy="713232"/>
          </a:xfrm>
          <a:prstGeom prst="roundRect">
            <a:avLst>
              <a:gd name="adj" fmla="val 7692"/>
            </a:avLst>
          </a:prstGeom>
          <a:solidFill>
            <a:schemeClr val="bg2"/>
          </a:solidFill>
          <a:ln/>
        </p:spPr>
        <p:txBody>
          <a:bodyPr wrap="square" lIns="38100" tIns="101600" rIns="101600" bIns="38100" rtlCol="0" anchor="ctr"/>
          <a:lstStyle/>
          <a:p>
            <a:pPr algn="ctr" indent="0" marL="0">
              <a:buNone/>
            </a:pPr>
            <a:r>
              <a:rPr lang="en-US" sz="1250" b="1" dirty="0">
                <a:solidFill>
                  <a:schemeClr val="tx1"/>
                </a:solidFill>
              </a:rPr>
              <a:t>Station_Init()</a:t>
            </a:r>
            <a:endParaRPr lang="en-US" sz="1250" dirty="0"/>
          </a:p>
          <a:p>
            <a:pPr algn="ctr" indent="0" marL="0">
              <a:buNone/>
            </a:pPr>
            <a:r>
              <a:rPr lang="en-US" sz="1250" dirty="0">
                <a:solidFill>
                  <a:schemeClr val="tx1"/>
                </a:solidFill>
              </a:rPr>
              <a:t>paramètres Flash, boutons, UART, écran ; mode initial : CONFIG si rouge maintenu, sinon STANDARD</a:t>
            </a:r>
            <a:endParaRPr lang="en-US" sz="1250" dirty="0"/>
          </a:p>
        </p:txBody>
      </p:sp>
      <p:sp>
        <p:nvSpPr>
          <p:cNvPr id="22" name="Shape 20"/>
          <p:cNvSpPr/>
          <p:nvPr/>
        </p:nvSpPr>
        <p:spPr>
          <a:xfrm>
            <a:off x="7635240" y="4443984"/>
            <a:ext cx="0" cy="182880"/>
          </a:xfrm>
          <a:prstGeom prst="line">
            <a:avLst/>
          </a:prstGeom>
          <a:noFill/>
          <a:ln w="22225">
            <a:solidFill>
              <a:schemeClr val="accent6"/>
            </a:solidFill>
            <a:prstDash val="solid"/>
            <a:tailEnd type="triangle"/>
          </a:ln>
        </p:spPr>
      </p:sp>
      <p:sp>
        <p:nvSpPr>
          <p:cNvPr id="23" name="Text 21"/>
          <p:cNvSpPr/>
          <p:nvPr/>
        </p:nvSpPr>
        <p:spPr>
          <a:xfrm>
            <a:off x="5532120" y="4626864"/>
            <a:ext cx="4206240" cy="1572768"/>
          </a:xfrm>
          <a:prstGeom prst="roundRect">
            <a:avLst>
              <a:gd name="adj" fmla="val 3488"/>
            </a:avLst>
          </a:prstGeom>
          <a:solidFill>
            <a:schemeClr val="tx2"/>
          </a:solidFill>
          <a:ln/>
        </p:spPr>
        <p:txBody>
          <a:bodyPr wrap="square" lIns="76200" tIns="152400" rIns="152400" bIns="76200" rtlCol="0" anchor="ctr"/>
          <a:lstStyle/>
          <a:p>
            <a:pPr indent="0" marL="0">
              <a:buNone/>
            </a:pPr>
            <a:r>
              <a:rPr lang="en-US" sz="1400" b="1" dirty="0">
                <a:solidFill>
                  <a:schemeClr val="accent5"/>
                </a:solidFill>
              </a:rPr>
              <a:t>while (1) → Station_Loop()</a:t>
            </a:r>
            <a:endParaRPr lang="en-US" sz="1250" dirty="0"/>
          </a:p>
          <a:p>
            <a:pPr indent="0" marL="0">
              <a:buNone/>
            </a:pPr>
            <a:r>
              <a:rPr lang="en-US" sz="1250" dirty="0">
                <a:solidFill>
                  <a:schemeClr val="bg1"/>
                </a:solidFill>
              </a:rPr>
              <a:t>1. Événements des boutons → changement de mode</a:t>
            </a:r>
            <a:endParaRPr lang="en-US" sz="1250" dirty="0"/>
          </a:p>
          <a:p>
            <a:pPr indent="0" marL="0">
              <a:buNone/>
            </a:pPr>
            <a:r>
              <a:rPr lang="en-US" sz="1250" dirty="0">
                <a:solidFill>
                  <a:schemeClr val="bg1"/>
                </a:solidFill>
              </a:rPr>
              <a:t>2. Rafraîchir l'écran LCD (toutes les 1 s)</a:t>
            </a:r>
            <a:endParaRPr lang="en-US" sz="1250" dirty="0"/>
          </a:p>
          <a:p>
            <a:pPr indent="0" marL="0">
              <a:buNone/>
            </a:pPr>
            <a:r>
              <a:rPr lang="en-US" sz="1250" dirty="0">
                <a:solidFill>
                  <a:schemeClr val="bg1"/>
                </a:solidFill>
              </a:rPr>
              <a:t>3. Selon le mode : commandes série · acquisition + SD · affichage série</a:t>
            </a:r>
            <a:endParaRPr lang="en-US" sz="1250" dirty="0"/>
          </a:p>
        </p:txBody>
      </p:sp>
      <p:sp>
        <p:nvSpPr>
          <p:cNvPr id="24" name="Shape 22"/>
          <p:cNvSpPr/>
          <p:nvPr/>
        </p:nvSpPr>
        <p:spPr>
          <a:xfrm>
            <a:off x="9829800" y="5074920"/>
            <a:ext cx="566928" cy="566928"/>
          </a:xfrm>
          <a:prstGeom prst="circularArrow">
            <a:avLst/>
          </a:prstGeom>
          <a:solidFill>
            <a:schemeClr val="accent1"/>
          </a:solidFill>
          <a:ln/>
        </p:spPr>
      </p:sp>
      <p:sp>
        <p:nvSpPr>
          <p:cNvPr id="25" name="Slide Number Placeholder 0"/>
          <p:cNvSpPr>
            <a:spLocks noGrp="1"/>
          </p:cNvSpPr>
          <p:nvPr>
            <p:ph type="sldNum" sz="quarter" idx="4294967295"/>
          </p:nvPr>
        </p:nvSpPr>
        <p:spPr>
          <a:xfrm>
            <a:off x="11091672" y="6455664"/>
            <a:ext cx="548640" cy="237744"/>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6"/>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9144000" cy="274320"/>
          </a:xfrm>
          <a:prstGeom prst="rect">
            <a:avLst/>
          </a:prstGeom>
          <a:noFill/>
          <a:ln/>
        </p:spPr>
        <p:txBody>
          <a:bodyPr wrap="square" lIns="0" tIns="0" rIns="0" bIns="0" rtlCol="0" anchor="t"/>
          <a:lstStyle/>
          <a:p>
            <a:pPr indent="0" marL="0">
              <a:buNone/>
            </a:pPr>
            <a:r>
              <a:rPr lang="en-US" sz="1200" b="1" spc="150" kern="0" dirty="0">
                <a:solidFill>
                  <a:schemeClr val="accent1"/>
                </a:solidFill>
              </a:rPr>
              <a:t>03 · FONCTIONNEMENT LOGICIEL</a:t>
            </a:r>
            <a:endParaRPr lang="en-US" sz="1200" dirty="0"/>
          </a:p>
        </p:txBody>
      </p:sp>
      <p:sp>
        <p:nvSpPr>
          <p:cNvPr id="3" name="Text 0"/>
          <p:cNvSpPr/>
          <p:nvPr>
            <p:ph idx="101" type="title" hasCustomPrompt="1"/>
          </p:nvPr>
        </p:nvSpPr>
        <p:spPr>
          <a:xfrm>
            <a:off x="548640" y="621792"/>
            <a:ext cx="11091672" cy="640080"/>
          </a:xfrm>
          <a:prstGeom prst="rect">
            <a:avLst/>
          </a:prstGeom>
          <a:noFill/>
          <a:ln/>
        </p:spPr>
        <p:txBody>
          <a:bodyPr wrap="square" lIns="0" tIns="0" rIns="0" bIns="0" rtlCol="0" anchor="t"/>
          <a:lstStyle/>
          <a:p>
            <a:pPr algn="l" indent="0" marL="0">
              <a:buNone/>
            </a:pPr>
            <a:r>
              <a:rPr lang="en-US" sz="3000" b="1" dirty="0">
                <a:solidFill>
                  <a:schemeClr val="tx2"/>
                </a:solidFill>
              </a:rPr>
              <a:t>Acquisition et traitement des données</a:t>
            </a:r>
            <a:endParaRPr lang="en-US" sz="3000" dirty="0"/>
          </a:p>
        </p:txBody>
      </p:sp>
      <p:sp>
        <p:nvSpPr>
          <p:cNvPr id="4" name="Shape 2"/>
          <p:cNvSpPr/>
          <p:nvPr/>
        </p:nvSpPr>
        <p:spPr>
          <a:xfrm>
            <a:off x="548640" y="1463040"/>
            <a:ext cx="2633472" cy="2468880"/>
          </a:xfrm>
          <a:prstGeom prst="roundRect">
            <a:avLst>
              <a:gd name="adj" fmla="val 2963"/>
            </a:avLst>
          </a:prstGeom>
          <a:solidFill>
            <a:schemeClr val="bg2"/>
          </a:solidFill>
          <a:ln/>
        </p:spPr>
      </p:sp>
      <p:sp>
        <p:nvSpPr>
          <p:cNvPr id="5" name="Text 3"/>
          <p:cNvSpPr/>
          <p:nvPr/>
        </p:nvSpPr>
        <p:spPr>
          <a:xfrm>
            <a:off x="731520" y="1627632"/>
            <a:ext cx="420624" cy="420624"/>
          </a:xfrm>
          <a:prstGeom prst="ellipse">
            <a:avLst/>
          </a:prstGeom>
          <a:solidFill>
            <a:schemeClr val="accent1"/>
          </a:solid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6" name="Text 4"/>
          <p:cNvSpPr txBox="1"/>
          <p:nvPr/>
        </p:nvSpPr>
        <p:spPr>
          <a:xfrm>
            <a:off x="1261872" y="1627632"/>
            <a:ext cx="1828800" cy="457200"/>
          </a:xfrm>
          <a:prstGeom prst="rect">
            <a:avLst/>
          </a:prstGeom>
          <a:noFill/>
          <a:ln/>
        </p:spPr>
        <p:txBody>
          <a:bodyPr wrap="square" lIns="0" tIns="0" rIns="0" bIns="0" rtlCol="0" anchor="ctr"/>
          <a:lstStyle/>
          <a:p>
            <a:pPr indent="0" marL="0">
              <a:buNone/>
            </a:pPr>
            <a:r>
              <a:rPr lang="en-US" sz="1500" b="1" dirty="0">
                <a:solidFill>
                  <a:schemeClr val="tx2"/>
                </a:solidFill>
              </a:rPr>
              <a:t>Horodatage</a:t>
            </a:r>
            <a:endParaRPr lang="en-US" sz="1500" dirty="0"/>
          </a:p>
        </p:txBody>
      </p:sp>
      <p:sp>
        <p:nvSpPr>
          <p:cNvPr id="7" name="Text 5"/>
          <p:cNvSpPr txBox="1"/>
          <p:nvPr/>
        </p:nvSpPr>
        <p:spPr>
          <a:xfrm>
            <a:off x="731520" y="2194560"/>
            <a:ext cx="2331720" cy="274320"/>
          </a:xfrm>
          <a:prstGeom prst="rect">
            <a:avLst/>
          </a:prstGeom>
          <a:noFill/>
          <a:ln/>
        </p:spPr>
        <p:txBody>
          <a:bodyPr wrap="square" lIns="0" tIns="0" rIns="0" bIns="0" rtlCol="0" anchor="t"/>
          <a:lstStyle/>
          <a:p>
            <a:pPr indent="0" marL="0">
              <a:buNone/>
            </a:pPr>
            <a:r>
              <a:rPr lang="en-US" sz="1300" b="1" dirty="0">
                <a:solidFill>
                  <a:schemeClr val="accent1"/>
                </a:solidFill>
              </a:rPr>
              <a:t>RTC interne</a:t>
            </a:r>
            <a:endParaRPr lang="en-US" sz="1300" dirty="0"/>
          </a:p>
        </p:txBody>
      </p:sp>
      <p:sp>
        <p:nvSpPr>
          <p:cNvPr id="8" name="Text 6"/>
          <p:cNvSpPr txBox="1"/>
          <p:nvPr/>
        </p:nvSpPr>
        <p:spPr>
          <a:xfrm>
            <a:off x="731520" y="2514600"/>
            <a:ext cx="2331720" cy="1371600"/>
          </a:xfrm>
          <a:prstGeom prst="rect">
            <a:avLst/>
          </a:prstGeom>
          <a:noFill/>
          <a:ln/>
        </p:spPr>
        <p:txBody>
          <a:bodyPr wrap="square" lIns="0" tIns="0" rIns="0" bIns="0" rtlCol="0" anchor="t"/>
          <a:lstStyle/>
          <a:p>
            <a:pPr marL="152400" indent="-152400">
              <a:spcAft>
                <a:spcPts val="500"/>
              </a:spcAft>
              <a:buSzPct val="100000"/>
              <a:buChar char="•"/>
            </a:pPr>
            <a:r>
              <a:rPr lang="en-US" sz="1300" dirty="0">
                <a:solidFill>
                  <a:schemeClr val="tx1"/>
                </a:solidFill>
              </a:rPr>
              <a:t>Date et heure lues au début de la mesure</a:t>
            </a:r>
            <a:endParaRPr lang="en-US" sz="1300" dirty="0"/>
          </a:p>
          <a:p>
            <a:pPr marL="152400" indent="-152400">
              <a:spcAft>
                <a:spcPts val="500"/>
              </a:spcAft>
              <a:buSzPct val="100000"/>
              <a:buChar char="•"/>
            </a:pPr>
            <a:r>
              <a:rPr lang="en-US" sz="1300" dirty="0">
                <a:solidFill>
                  <a:schemeClr val="tx1"/>
                </a:solidFill>
              </a:rPr>
              <a:t>« NA » si l'horloge n'a jamais été réglée</a:t>
            </a:r>
            <a:endParaRPr lang="en-US" sz="1300" dirty="0"/>
          </a:p>
        </p:txBody>
      </p:sp>
      <p:sp>
        <p:nvSpPr>
          <p:cNvPr id="9" name="Shape 7"/>
          <p:cNvSpPr/>
          <p:nvPr/>
        </p:nvSpPr>
        <p:spPr>
          <a:xfrm>
            <a:off x="3218688" y="2560320"/>
            <a:ext cx="118872" cy="274320"/>
          </a:xfrm>
          <a:prstGeom prst="chevron">
            <a:avLst/>
          </a:prstGeom>
          <a:solidFill>
            <a:schemeClr val="accent1"/>
          </a:solidFill>
          <a:ln/>
        </p:spPr>
      </p:sp>
      <p:sp>
        <p:nvSpPr>
          <p:cNvPr id="10" name="Shape 8"/>
          <p:cNvSpPr/>
          <p:nvPr/>
        </p:nvSpPr>
        <p:spPr>
          <a:xfrm>
            <a:off x="3364992" y="1463040"/>
            <a:ext cx="2633472" cy="2468880"/>
          </a:xfrm>
          <a:prstGeom prst="roundRect">
            <a:avLst>
              <a:gd name="adj" fmla="val 2963"/>
            </a:avLst>
          </a:prstGeom>
          <a:solidFill>
            <a:schemeClr val="bg2"/>
          </a:solidFill>
          <a:ln/>
        </p:spPr>
      </p:sp>
      <p:sp>
        <p:nvSpPr>
          <p:cNvPr id="11" name="Text 9"/>
          <p:cNvSpPr/>
          <p:nvPr/>
        </p:nvSpPr>
        <p:spPr>
          <a:xfrm>
            <a:off x="3547872" y="1627632"/>
            <a:ext cx="420624" cy="420624"/>
          </a:xfrm>
          <a:prstGeom prst="ellipse">
            <a:avLst/>
          </a:prstGeom>
          <a:solidFill>
            <a:schemeClr val="accent1"/>
          </a:solid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12" name="Text 10"/>
          <p:cNvSpPr txBox="1"/>
          <p:nvPr/>
        </p:nvSpPr>
        <p:spPr>
          <a:xfrm>
            <a:off x="4078224" y="1627632"/>
            <a:ext cx="1828800" cy="457200"/>
          </a:xfrm>
          <a:prstGeom prst="rect">
            <a:avLst/>
          </a:prstGeom>
          <a:noFill/>
          <a:ln/>
        </p:spPr>
        <p:txBody>
          <a:bodyPr wrap="square" lIns="0" tIns="0" rIns="0" bIns="0" rtlCol="0" anchor="ctr"/>
          <a:lstStyle/>
          <a:p>
            <a:pPr indent="0" marL="0">
              <a:buNone/>
            </a:pPr>
            <a:r>
              <a:rPr lang="en-US" sz="1500" b="1" dirty="0">
                <a:solidFill>
                  <a:schemeClr val="tx2"/>
                </a:solidFill>
              </a:rPr>
              <a:t>Température et humidité</a:t>
            </a:r>
            <a:endParaRPr lang="en-US" sz="1500" dirty="0"/>
          </a:p>
        </p:txBody>
      </p:sp>
      <p:sp>
        <p:nvSpPr>
          <p:cNvPr id="13" name="Text 11"/>
          <p:cNvSpPr txBox="1"/>
          <p:nvPr/>
        </p:nvSpPr>
        <p:spPr>
          <a:xfrm>
            <a:off x="3547872" y="2194560"/>
            <a:ext cx="2331720" cy="274320"/>
          </a:xfrm>
          <a:prstGeom prst="rect">
            <a:avLst/>
          </a:prstGeom>
          <a:noFill/>
          <a:ln/>
        </p:spPr>
        <p:txBody>
          <a:bodyPr wrap="square" lIns="0" tIns="0" rIns="0" bIns="0" rtlCol="0" anchor="t"/>
          <a:lstStyle/>
          <a:p>
            <a:pPr indent="0" marL="0">
              <a:buNone/>
            </a:pPr>
            <a:r>
              <a:rPr lang="en-US" sz="1300" b="1" dirty="0">
                <a:solidFill>
                  <a:schemeClr val="accent1"/>
                </a:solidFill>
              </a:rPr>
              <a:t>DHT11 · 1 fil</a:t>
            </a:r>
            <a:endParaRPr lang="en-US" sz="1300" dirty="0"/>
          </a:p>
        </p:txBody>
      </p:sp>
      <p:sp>
        <p:nvSpPr>
          <p:cNvPr id="14" name="Text 12"/>
          <p:cNvSpPr txBox="1"/>
          <p:nvPr/>
        </p:nvSpPr>
        <p:spPr>
          <a:xfrm>
            <a:off x="3547872" y="2514600"/>
            <a:ext cx="2331720" cy="1371600"/>
          </a:xfrm>
          <a:prstGeom prst="rect">
            <a:avLst/>
          </a:prstGeom>
          <a:noFill/>
          <a:ln/>
        </p:spPr>
        <p:txBody>
          <a:bodyPr wrap="square" lIns="0" tIns="0" rIns="0" bIns="0" rtlCol="0" anchor="t"/>
          <a:lstStyle/>
          <a:p>
            <a:pPr marL="152400" indent="-152400">
              <a:spcAft>
                <a:spcPts val="500"/>
              </a:spcAft>
              <a:buSzPct val="100000"/>
              <a:buChar char="•"/>
            </a:pPr>
            <a:r>
              <a:rPr lang="en-US" sz="1300" dirty="0">
                <a:solidFill>
                  <a:schemeClr val="tx1"/>
                </a:solidFill>
              </a:rPr>
              <a:t>Trame de 40 bits chronométrée (compteur DWT) + checksum</a:t>
            </a:r>
            <a:endParaRPr lang="en-US" sz="1300" dirty="0"/>
          </a:p>
          <a:p>
            <a:pPr marL="152400" indent="-152400">
              <a:spcAft>
                <a:spcPts val="500"/>
              </a:spcAft>
              <a:buSzPct val="100000"/>
              <a:buChar char="•"/>
            </a:pPr>
            <a:r>
              <a:rPr lang="en-US" sz="1300" dirty="0">
                <a:solidFill>
                  <a:schemeClr val="tx1"/>
                </a:solidFill>
              </a:rPr>
              <a:t>Nouvel essai toutes les 2 s jusqu'au TIMEOUT</a:t>
            </a:r>
            <a:endParaRPr lang="en-US" sz="1300" dirty="0"/>
          </a:p>
        </p:txBody>
      </p:sp>
      <p:sp>
        <p:nvSpPr>
          <p:cNvPr id="15" name="Shape 13"/>
          <p:cNvSpPr/>
          <p:nvPr/>
        </p:nvSpPr>
        <p:spPr>
          <a:xfrm>
            <a:off x="6035040" y="2560320"/>
            <a:ext cx="118872" cy="274320"/>
          </a:xfrm>
          <a:prstGeom prst="chevron">
            <a:avLst/>
          </a:prstGeom>
          <a:solidFill>
            <a:schemeClr val="accent1"/>
          </a:solidFill>
          <a:ln/>
        </p:spPr>
      </p:sp>
      <p:sp>
        <p:nvSpPr>
          <p:cNvPr id="16" name="Shape 14"/>
          <p:cNvSpPr/>
          <p:nvPr/>
        </p:nvSpPr>
        <p:spPr>
          <a:xfrm>
            <a:off x="6181344" y="1463040"/>
            <a:ext cx="2633472" cy="2468880"/>
          </a:xfrm>
          <a:prstGeom prst="roundRect">
            <a:avLst>
              <a:gd name="adj" fmla="val 2963"/>
            </a:avLst>
          </a:prstGeom>
          <a:solidFill>
            <a:schemeClr val="bg2"/>
          </a:solidFill>
          <a:ln/>
        </p:spPr>
      </p:sp>
      <p:sp>
        <p:nvSpPr>
          <p:cNvPr id="17" name="Text 15"/>
          <p:cNvSpPr/>
          <p:nvPr/>
        </p:nvSpPr>
        <p:spPr>
          <a:xfrm>
            <a:off x="6364224" y="1627632"/>
            <a:ext cx="420624" cy="420624"/>
          </a:xfrm>
          <a:prstGeom prst="ellipse">
            <a:avLst/>
          </a:prstGeom>
          <a:solidFill>
            <a:schemeClr val="accent1"/>
          </a:solid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18" name="Text 16"/>
          <p:cNvSpPr txBox="1"/>
          <p:nvPr/>
        </p:nvSpPr>
        <p:spPr>
          <a:xfrm>
            <a:off x="6894576" y="1627632"/>
            <a:ext cx="1828800" cy="457200"/>
          </a:xfrm>
          <a:prstGeom prst="rect">
            <a:avLst/>
          </a:prstGeom>
          <a:noFill/>
          <a:ln/>
        </p:spPr>
        <p:txBody>
          <a:bodyPr wrap="square" lIns="0" tIns="0" rIns="0" bIns="0" rtlCol="0" anchor="ctr"/>
          <a:lstStyle/>
          <a:p>
            <a:pPr indent="0" marL="0">
              <a:buNone/>
            </a:pPr>
            <a:r>
              <a:rPr lang="en-US" sz="1500" b="1" dirty="0">
                <a:solidFill>
                  <a:schemeClr val="tx2"/>
                </a:solidFill>
              </a:rPr>
              <a:t>Luminosité</a:t>
            </a:r>
            <a:endParaRPr lang="en-US" sz="1500" dirty="0"/>
          </a:p>
        </p:txBody>
      </p:sp>
      <p:sp>
        <p:nvSpPr>
          <p:cNvPr id="19" name="Text 17"/>
          <p:cNvSpPr txBox="1"/>
          <p:nvPr/>
        </p:nvSpPr>
        <p:spPr>
          <a:xfrm>
            <a:off x="6364224" y="2194560"/>
            <a:ext cx="2331720" cy="274320"/>
          </a:xfrm>
          <a:prstGeom prst="rect">
            <a:avLst/>
          </a:prstGeom>
          <a:noFill/>
          <a:ln/>
        </p:spPr>
        <p:txBody>
          <a:bodyPr wrap="square" lIns="0" tIns="0" rIns="0" bIns="0" rtlCol="0" anchor="t"/>
          <a:lstStyle/>
          <a:p>
            <a:pPr indent="0" marL="0">
              <a:buNone/>
            </a:pPr>
            <a:r>
              <a:rPr lang="en-US" sz="1300" b="1" dirty="0">
                <a:solidFill>
                  <a:schemeClr val="accent1"/>
                </a:solidFill>
              </a:rPr>
              <a:t>BH1750 · I2C1</a:t>
            </a:r>
            <a:endParaRPr lang="en-US" sz="1300" dirty="0"/>
          </a:p>
        </p:txBody>
      </p:sp>
      <p:sp>
        <p:nvSpPr>
          <p:cNvPr id="20" name="Text 18"/>
          <p:cNvSpPr txBox="1"/>
          <p:nvPr/>
        </p:nvSpPr>
        <p:spPr>
          <a:xfrm>
            <a:off x="6364224" y="2514600"/>
            <a:ext cx="2331720" cy="1371600"/>
          </a:xfrm>
          <a:prstGeom prst="rect">
            <a:avLst/>
          </a:prstGeom>
          <a:noFill/>
          <a:ln/>
        </p:spPr>
        <p:txBody>
          <a:bodyPr wrap="square" lIns="0" tIns="0" rIns="0" bIns="0" rtlCol="0" anchor="t"/>
          <a:lstStyle/>
          <a:p>
            <a:pPr marL="152400" indent="-152400">
              <a:spcAft>
                <a:spcPts val="500"/>
              </a:spcAft>
              <a:buSzPct val="100000"/>
              <a:buChar char="•"/>
            </a:pPr>
            <a:r>
              <a:rPr lang="en-US" sz="1300" dirty="0">
                <a:solidFill>
                  <a:schemeClr val="tx1"/>
                </a:solidFill>
              </a:rPr>
              <a:t>Mode continu haute résolution (1 lx)</a:t>
            </a:r>
            <a:endParaRPr lang="en-US" sz="1300" dirty="0"/>
          </a:p>
          <a:p>
            <a:pPr marL="152400" indent="-152400">
              <a:spcAft>
                <a:spcPts val="500"/>
              </a:spcAft>
              <a:buSzPct val="100000"/>
              <a:buChar char="•"/>
            </a:pPr>
            <a:r>
              <a:rPr lang="en-US" sz="1300" dirty="0">
                <a:solidFill>
                  <a:schemeClr val="tx1"/>
                </a:solidFill>
              </a:rPr>
              <a:t>Valeur brute ÷ 1,2 = lux</a:t>
            </a:r>
            <a:endParaRPr lang="en-US" sz="1300" dirty="0"/>
          </a:p>
        </p:txBody>
      </p:sp>
      <p:sp>
        <p:nvSpPr>
          <p:cNvPr id="21" name="Shape 19"/>
          <p:cNvSpPr/>
          <p:nvPr/>
        </p:nvSpPr>
        <p:spPr>
          <a:xfrm>
            <a:off x="8851392" y="2560320"/>
            <a:ext cx="118872" cy="274320"/>
          </a:xfrm>
          <a:prstGeom prst="chevron">
            <a:avLst/>
          </a:prstGeom>
          <a:solidFill>
            <a:schemeClr val="accent1"/>
          </a:solidFill>
          <a:ln/>
        </p:spPr>
      </p:sp>
      <p:sp>
        <p:nvSpPr>
          <p:cNvPr id="22" name="Shape 20"/>
          <p:cNvSpPr/>
          <p:nvPr/>
        </p:nvSpPr>
        <p:spPr>
          <a:xfrm>
            <a:off x="8997696" y="1463040"/>
            <a:ext cx="2633472" cy="2468880"/>
          </a:xfrm>
          <a:prstGeom prst="roundRect">
            <a:avLst>
              <a:gd name="adj" fmla="val 2963"/>
            </a:avLst>
          </a:prstGeom>
          <a:solidFill>
            <a:schemeClr val="bg2"/>
          </a:solidFill>
          <a:ln/>
        </p:spPr>
      </p:sp>
      <p:sp>
        <p:nvSpPr>
          <p:cNvPr id="23" name="Text 21"/>
          <p:cNvSpPr/>
          <p:nvPr/>
        </p:nvSpPr>
        <p:spPr>
          <a:xfrm>
            <a:off x="9180576" y="1627632"/>
            <a:ext cx="420624" cy="420624"/>
          </a:xfrm>
          <a:prstGeom prst="ellipse">
            <a:avLst/>
          </a:prstGeom>
          <a:solidFill>
            <a:schemeClr val="accent1"/>
          </a:solidFill>
          <a:ln/>
        </p:spPr>
        <p:txBody>
          <a:bodyPr wrap="square" lIns="0" tIns="0" rIns="0" bIns="0" rtlCol="0" anchor="ctr"/>
          <a:lstStyle/>
          <a:p>
            <a:pPr algn="ctr" indent="0" marL="0">
              <a:buNone/>
            </a:pPr>
            <a:r>
              <a:rPr lang="en-US" sz="1600" b="1" dirty="0">
                <a:solidFill>
                  <a:schemeClr val="bg1"/>
                </a:solidFill>
              </a:rPr>
              <a:t>4</a:t>
            </a:r>
            <a:endParaRPr lang="en-US" sz="1600" dirty="0"/>
          </a:p>
        </p:txBody>
      </p:sp>
      <p:sp>
        <p:nvSpPr>
          <p:cNvPr id="24" name="Text 22"/>
          <p:cNvSpPr txBox="1"/>
          <p:nvPr/>
        </p:nvSpPr>
        <p:spPr>
          <a:xfrm>
            <a:off x="9710928" y="1627632"/>
            <a:ext cx="1828800" cy="457200"/>
          </a:xfrm>
          <a:prstGeom prst="rect">
            <a:avLst/>
          </a:prstGeom>
          <a:noFill/>
          <a:ln/>
        </p:spPr>
        <p:txBody>
          <a:bodyPr wrap="square" lIns="0" tIns="0" rIns="0" bIns="0" rtlCol="0" anchor="ctr"/>
          <a:lstStyle/>
          <a:p>
            <a:pPr indent="0" marL="0">
              <a:buNone/>
            </a:pPr>
            <a:r>
              <a:rPr lang="en-US" sz="1500" b="1" dirty="0">
                <a:solidFill>
                  <a:schemeClr val="tx2"/>
                </a:solidFill>
              </a:rPr>
              <a:t>Position</a:t>
            </a:r>
            <a:endParaRPr lang="en-US" sz="1500" dirty="0"/>
          </a:p>
        </p:txBody>
      </p:sp>
      <p:sp>
        <p:nvSpPr>
          <p:cNvPr id="25" name="Text 23"/>
          <p:cNvSpPr txBox="1"/>
          <p:nvPr/>
        </p:nvSpPr>
        <p:spPr>
          <a:xfrm>
            <a:off x="9180576" y="2194560"/>
            <a:ext cx="2331720" cy="274320"/>
          </a:xfrm>
          <a:prstGeom prst="rect">
            <a:avLst/>
          </a:prstGeom>
          <a:noFill/>
          <a:ln/>
        </p:spPr>
        <p:txBody>
          <a:bodyPr wrap="square" lIns="0" tIns="0" rIns="0" bIns="0" rtlCol="0" anchor="t"/>
          <a:lstStyle/>
          <a:p>
            <a:pPr indent="0" marL="0">
              <a:buNone/>
            </a:pPr>
            <a:r>
              <a:rPr lang="en-US" sz="1300" b="1" dirty="0">
                <a:solidFill>
                  <a:schemeClr val="accent1"/>
                </a:solidFill>
              </a:rPr>
              <a:t>GPS · USART3</a:t>
            </a:r>
            <a:endParaRPr lang="en-US" sz="1300" dirty="0"/>
          </a:p>
        </p:txBody>
      </p:sp>
      <p:sp>
        <p:nvSpPr>
          <p:cNvPr id="26" name="Text 24"/>
          <p:cNvSpPr txBox="1"/>
          <p:nvPr/>
        </p:nvSpPr>
        <p:spPr>
          <a:xfrm>
            <a:off x="9180576" y="2514600"/>
            <a:ext cx="2331720" cy="1371600"/>
          </a:xfrm>
          <a:prstGeom prst="rect">
            <a:avLst/>
          </a:prstGeom>
          <a:noFill/>
          <a:ln/>
        </p:spPr>
        <p:txBody>
          <a:bodyPr wrap="square" lIns="0" tIns="0" rIns="0" bIns="0" rtlCol="0" anchor="t"/>
          <a:lstStyle/>
          <a:p>
            <a:pPr marL="152400" indent="-152400">
              <a:spcAft>
                <a:spcPts val="500"/>
              </a:spcAft>
              <a:buSzPct val="100000"/>
              <a:buChar char="•"/>
            </a:pPr>
            <a:r>
              <a:rPr lang="en-US" sz="1300" dirty="0">
                <a:solidFill>
                  <a:schemeClr val="tx1"/>
                </a:solidFill>
              </a:rPr>
              <a:t>Dernière trame RMC reçue sous interruption, statut « A » exigé</a:t>
            </a:r>
            <a:endParaRPr lang="en-US" sz="1300" dirty="0"/>
          </a:p>
          <a:p>
            <a:pPr marL="152400" indent="-152400">
              <a:spcAft>
                <a:spcPts val="500"/>
              </a:spcAft>
              <a:buSzPct val="100000"/>
              <a:buChar char="•"/>
            </a:pPr>
            <a:r>
              <a:rPr lang="en-US" sz="1300" dirty="0">
                <a:solidFill>
                  <a:schemeClr val="tx1"/>
                </a:solidFill>
              </a:rPr>
              <a:t>Conversion en degrés décimaux, recalage de la RTC</a:t>
            </a:r>
            <a:endParaRPr lang="en-US" sz="1300" dirty="0"/>
          </a:p>
        </p:txBody>
      </p:sp>
      <p:sp>
        <p:nvSpPr>
          <p:cNvPr id="27" name="Ligne CSV"/>
          <p:cNvSpPr/>
          <p:nvPr/>
        </p:nvSpPr>
        <p:spPr>
          <a:xfrm>
            <a:off x="548640" y="4160520"/>
            <a:ext cx="6720840" cy="2057400"/>
          </a:xfrm>
          <a:prstGeom prst="roundRect">
            <a:avLst>
              <a:gd name="adj" fmla="val 3556"/>
            </a:avLst>
          </a:prstGeom>
          <a:solidFill>
            <a:schemeClr val="tx2"/>
          </a:solidFill>
          <a:ln/>
        </p:spPr>
      </p:sp>
      <p:sp>
        <p:nvSpPr>
          <p:cNvPr id="28" name="Text 26"/>
          <p:cNvSpPr txBox="1"/>
          <p:nvPr/>
        </p:nvSpPr>
        <p:spPr>
          <a:xfrm>
            <a:off x="777240" y="4297680"/>
            <a:ext cx="6309360" cy="320040"/>
          </a:xfrm>
          <a:prstGeom prst="rect">
            <a:avLst/>
          </a:prstGeom>
          <a:noFill/>
          <a:ln/>
        </p:spPr>
        <p:txBody>
          <a:bodyPr wrap="square" lIns="0" tIns="0" rIns="0" bIns="0" rtlCol="0" anchor="t"/>
          <a:lstStyle/>
          <a:p>
            <a:pPr indent="0" marL="0">
              <a:buNone/>
            </a:pPr>
            <a:r>
              <a:rPr lang="en-US" sz="1500" b="1" dirty="0">
                <a:solidFill>
                  <a:schemeClr val="bg1"/>
                </a:solidFill>
              </a:rPr>
              <a:t>Une ligne horodatée par acquisition (séparateur « ; »)</a:t>
            </a:r>
            <a:endParaRPr lang="en-US" sz="1500" dirty="0"/>
          </a:p>
        </p:txBody>
      </p:sp>
      <p:sp>
        <p:nvSpPr>
          <p:cNvPr id="29" name="Text 27"/>
          <p:cNvSpPr/>
          <p:nvPr/>
        </p:nvSpPr>
        <p:spPr>
          <a:xfrm>
            <a:off x="777240" y="4736592"/>
            <a:ext cx="777240" cy="384048"/>
          </a:xfrm>
          <a:prstGeom prst="roundRect">
            <a:avLst>
              <a:gd name="adj" fmla="val 11905"/>
            </a:avLst>
          </a:prstGeom>
          <a:solidFill>
            <a:schemeClr val="accent3"/>
          </a:solidFill>
          <a:ln w="9525">
            <a:solidFill>
              <a:schemeClr val="accent5"/>
            </a:solidFill>
          </a:ln>
        </p:spPr>
        <p:txBody>
          <a:bodyPr wrap="square" lIns="0" tIns="0" rIns="0" bIns="0" rtlCol="0" anchor="ctr"/>
          <a:lstStyle/>
          <a:p>
            <a:pPr algn="ctr" indent="0" marL="0">
              <a:buNone/>
            </a:pPr>
            <a:r>
              <a:rPr lang="en-US" sz="1250" dirty="0">
                <a:solidFill>
                  <a:schemeClr val="bg1"/>
                </a:solidFill>
                <a:latin typeface="Consolas" pitchFamily="34" charset="0"/>
                <a:ea typeface="Consolas" pitchFamily="34" charset="-122"/>
                <a:cs typeface="Consolas" pitchFamily="34" charset="-120"/>
              </a:rPr>
              <a:t>date</a:t>
            </a:r>
            <a:endParaRPr lang="en-US" sz="1250" dirty="0"/>
          </a:p>
        </p:txBody>
      </p:sp>
      <p:sp>
        <p:nvSpPr>
          <p:cNvPr id="30" name="Text 28"/>
          <p:cNvSpPr/>
          <p:nvPr/>
        </p:nvSpPr>
        <p:spPr>
          <a:xfrm>
            <a:off x="1618488" y="4736592"/>
            <a:ext cx="777240" cy="384048"/>
          </a:xfrm>
          <a:prstGeom prst="roundRect">
            <a:avLst>
              <a:gd name="adj" fmla="val 11905"/>
            </a:avLst>
          </a:prstGeom>
          <a:solidFill>
            <a:schemeClr val="accent3"/>
          </a:solidFill>
          <a:ln w="9525">
            <a:solidFill>
              <a:schemeClr val="accent5"/>
            </a:solidFill>
          </a:ln>
        </p:spPr>
        <p:txBody>
          <a:bodyPr wrap="square" lIns="0" tIns="0" rIns="0" bIns="0" rtlCol="0" anchor="ctr"/>
          <a:lstStyle/>
          <a:p>
            <a:pPr algn="ctr" indent="0" marL="0">
              <a:buNone/>
            </a:pPr>
            <a:r>
              <a:rPr lang="en-US" sz="1250" dirty="0">
                <a:solidFill>
                  <a:schemeClr val="bg1"/>
                </a:solidFill>
                <a:latin typeface="Consolas" pitchFamily="34" charset="0"/>
                <a:ea typeface="Consolas" pitchFamily="34" charset="-122"/>
                <a:cs typeface="Consolas" pitchFamily="34" charset="-120"/>
              </a:rPr>
              <a:t>heure</a:t>
            </a:r>
            <a:endParaRPr lang="en-US" sz="1250" dirty="0"/>
          </a:p>
        </p:txBody>
      </p:sp>
      <p:sp>
        <p:nvSpPr>
          <p:cNvPr id="31" name="Text 29"/>
          <p:cNvSpPr/>
          <p:nvPr/>
        </p:nvSpPr>
        <p:spPr>
          <a:xfrm>
            <a:off x="2459736" y="4736592"/>
            <a:ext cx="896112" cy="384048"/>
          </a:xfrm>
          <a:prstGeom prst="roundRect">
            <a:avLst>
              <a:gd name="adj" fmla="val 11905"/>
            </a:avLst>
          </a:prstGeom>
          <a:solidFill>
            <a:schemeClr val="accent3"/>
          </a:solidFill>
          <a:ln w="9525">
            <a:solidFill>
              <a:schemeClr val="accent5"/>
            </a:solidFill>
          </a:ln>
        </p:spPr>
        <p:txBody>
          <a:bodyPr wrap="square" lIns="0" tIns="0" rIns="0" bIns="0" rtlCol="0" anchor="ctr"/>
          <a:lstStyle/>
          <a:p>
            <a:pPr algn="ctr" indent="0" marL="0">
              <a:buNone/>
            </a:pPr>
            <a:r>
              <a:rPr lang="en-US" sz="1250" dirty="0">
                <a:solidFill>
                  <a:schemeClr val="bg1"/>
                </a:solidFill>
                <a:latin typeface="Consolas" pitchFamily="34" charset="0"/>
                <a:ea typeface="Consolas" pitchFamily="34" charset="-122"/>
                <a:cs typeface="Consolas" pitchFamily="34" charset="-120"/>
              </a:rPr>
              <a:t>latitude</a:t>
            </a:r>
            <a:endParaRPr lang="en-US" sz="1250" dirty="0"/>
          </a:p>
        </p:txBody>
      </p:sp>
      <p:sp>
        <p:nvSpPr>
          <p:cNvPr id="32" name="Text 30"/>
          <p:cNvSpPr/>
          <p:nvPr/>
        </p:nvSpPr>
        <p:spPr>
          <a:xfrm>
            <a:off x="3419856" y="4736592"/>
            <a:ext cx="960120" cy="384048"/>
          </a:xfrm>
          <a:prstGeom prst="roundRect">
            <a:avLst>
              <a:gd name="adj" fmla="val 11905"/>
            </a:avLst>
          </a:prstGeom>
          <a:solidFill>
            <a:schemeClr val="accent3"/>
          </a:solidFill>
          <a:ln w="9525">
            <a:solidFill>
              <a:schemeClr val="accent5"/>
            </a:solidFill>
          </a:ln>
        </p:spPr>
        <p:txBody>
          <a:bodyPr wrap="square" lIns="0" tIns="0" rIns="0" bIns="0" rtlCol="0" anchor="ctr"/>
          <a:lstStyle/>
          <a:p>
            <a:pPr algn="ctr" indent="0" marL="0">
              <a:buNone/>
            </a:pPr>
            <a:r>
              <a:rPr lang="en-US" sz="1250" dirty="0">
                <a:solidFill>
                  <a:schemeClr val="bg1"/>
                </a:solidFill>
                <a:latin typeface="Consolas" pitchFamily="34" charset="0"/>
                <a:ea typeface="Consolas" pitchFamily="34" charset="-122"/>
                <a:cs typeface="Consolas" pitchFamily="34" charset="-120"/>
              </a:rPr>
              <a:t>longitude</a:t>
            </a:r>
            <a:endParaRPr lang="en-US" sz="1250" dirty="0"/>
          </a:p>
        </p:txBody>
      </p:sp>
      <p:sp>
        <p:nvSpPr>
          <p:cNvPr id="33" name="Text 31"/>
          <p:cNvSpPr/>
          <p:nvPr/>
        </p:nvSpPr>
        <p:spPr>
          <a:xfrm>
            <a:off x="4443984" y="4736592"/>
            <a:ext cx="868680" cy="384048"/>
          </a:xfrm>
          <a:prstGeom prst="roundRect">
            <a:avLst>
              <a:gd name="adj" fmla="val 11905"/>
            </a:avLst>
          </a:prstGeom>
          <a:solidFill>
            <a:schemeClr val="accent3"/>
          </a:solidFill>
          <a:ln w="9525">
            <a:solidFill>
              <a:schemeClr val="accent5"/>
            </a:solidFill>
          </a:ln>
        </p:spPr>
        <p:txBody>
          <a:bodyPr wrap="square" lIns="0" tIns="0" rIns="0" bIns="0" rtlCol="0" anchor="ctr"/>
          <a:lstStyle/>
          <a:p>
            <a:pPr algn="ctr" indent="0" marL="0">
              <a:buNone/>
            </a:pPr>
            <a:r>
              <a:rPr lang="en-US" sz="1250" dirty="0">
                <a:solidFill>
                  <a:schemeClr val="bg1"/>
                </a:solidFill>
                <a:latin typeface="Consolas" pitchFamily="34" charset="0"/>
                <a:ea typeface="Consolas" pitchFamily="34" charset="-122"/>
                <a:cs typeface="Consolas" pitchFamily="34" charset="-120"/>
              </a:rPr>
              <a:t>temp. °C</a:t>
            </a:r>
            <a:endParaRPr lang="en-US" sz="1250" dirty="0"/>
          </a:p>
        </p:txBody>
      </p:sp>
      <p:sp>
        <p:nvSpPr>
          <p:cNvPr id="34" name="Text 32"/>
          <p:cNvSpPr/>
          <p:nvPr/>
        </p:nvSpPr>
        <p:spPr>
          <a:xfrm>
            <a:off x="5376672" y="4736592"/>
            <a:ext cx="777240" cy="384048"/>
          </a:xfrm>
          <a:prstGeom prst="roundRect">
            <a:avLst>
              <a:gd name="adj" fmla="val 11905"/>
            </a:avLst>
          </a:prstGeom>
          <a:solidFill>
            <a:schemeClr val="accent3"/>
          </a:solidFill>
          <a:ln w="9525">
            <a:solidFill>
              <a:schemeClr val="accent5"/>
            </a:solidFill>
          </a:ln>
        </p:spPr>
        <p:txBody>
          <a:bodyPr wrap="square" lIns="0" tIns="0" rIns="0" bIns="0" rtlCol="0" anchor="ctr"/>
          <a:lstStyle/>
          <a:p>
            <a:pPr algn="ctr" indent="0" marL="0">
              <a:buNone/>
            </a:pPr>
            <a:r>
              <a:rPr lang="en-US" sz="1250" dirty="0">
                <a:solidFill>
                  <a:schemeClr val="bg1"/>
                </a:solidFill>
                <a:latin typeface="Consolas" pitchFamily="34" charset="0"/>
                <a:ea typeface="Consolas" pitchFamily="34" charset="-122"/>
                <a:cs typeface="Consolas" pitchFamily="34" charset="-120"/>
              </a:rPr>
              <a:t>hum. %</a:t>
            </a:r>
            <a:endParaRPr lang="en-US" sz="1250" dirty="0"/>
          </a:p>
        </p:txBody>
      </p:sp>
      <p:sp>
        <p:nvSpPr>
          <p:cNvPr id="35" name="Text 33"/>
          <p:cNvSpPr/>
          <p:nvPr/>
        </p:nvSpPr>
        <p:spPr>
          <a:xfrm>
            <a:off x="6217920" y="4736592"/>
            <a:ext cx="548640" cy="384048"/>
          </a:xfrm>
          <a:prstGeom prst="roundRect">
            <a:avLst>
              <a:gd name="adj" fmla="val 11905"/>
            </a:avLst>
          </a:prstGeom>
          <a:solidFill>
            <a:schemeClr val="accent3"/>
          </a:solidFill>
          <a:ln w="9525">
            <a:solidFill>
              <a:schemeClr val="accent5"/>
            </a:solidFill>
          </a:ln>
        </p:spPr>
        <p:txBody>
          <a:bodyPr wrap="square" lIns="0" tIns="0" rIns="0" bIns="0" rtlCol="0" anchor="ctr"/>
          <a:lstStyle/>
          <a:p>
            <a:pPr algn="ctr" indent="0" marL="0">
              <a:buNone/>
            </a:pPr>
            <a:r>
              <a:rPr lang="en-US" sz="1250" dirty="0">
                <a:solidFill>
                  <a:schemeClr val="bg1"/>
                </a:solidFill>
                <a:latin typeface="Consolas" pitchFamily="34" charset="0"/>
                <a:ea typeface="Consolas" pitchFamily="34" charset="-122"/>
                <a:cs typeface="Consolas" pitchFamily="34" charset="-120"/>
              </a:rPr>
              <a:t>lux</a:t>
            </a:r>
            <a:endParaRPr lang="en-US" sz="1250" dirty="0"/>
          </a:p>
        </p:txBody>
      </p:sp>
      <p:sp>
        <p:nvSpPr>
          <p:cNvPr id="36" name="Text 34"/>
          <p:cNvSpPr txBox="1"/>
          <p:nvPr/>
        </p:nvSpPr>
        <p:spPr>
          <a:xfrm>
            <a:off x="777240" y="5257800"/>
            <a:ext cx="6309360" cy="274320"/>
          </a:xfrm>
          <a:prstGeom prst="rect">
            <a:avLst/>
          </a:prstGeom>
          <a:noFill/>
          <a:ln/>
        </p:spPr>
        <p:txBody>
          <a:bodyPr wrap="square" lIns="0" tIns="0" rIns="0" bIns="0" rtlCol="0" anchor="t"/>
          <a:lstStyle/>
          <a:p>
            <a:pPr indent="0" marL="0">
              <a:buNone/>
            </a:pPr>
            <a:r>
              <a:rPr lang="en-US" sz="1300" dirty="0">
                <a:solidFill>
                  <a:schemeClr val="bg2"/>
                </a:solidFill>
              </a:rPr>
              <a:t>Fichier </a:t>
            </a:r>
            <a:pPr indent="0" marL="0">
              <a:buNone/>
            </a:pPr>
            <a:r>
              <a:rPr lang="en-US" sz="1300" b="1" dirty="0">
                <a:solidFill>
                  <a:schemeClr val="accent5"/>
                </a:solidFill>
              </a:rPr>
              <a:t>AAMMJJ_0.LOG</a:t>
            </a:r>
            <a:pPr indent="0" marL="0">
              <a:buNone/>
            </a:pPr>
            <a:r>
              <a:rPr lang="en-US" sz="1300" dirty="0">
                <a:solidFill>
                  <a:schemeClr val="bg2"/>
                </a:solidFill>
              </a:rPr>
              <a:t> (ex. 261023_0.LOG), archivé en _1 … _9 au-delà de FILE_MAX_SIZE</a:t>
            </a:r>
            <a:endParaRPr lang="en-US" sz="1300" dirty="0"/>
          </a:p>
        </p:txBody>
      </p:sp>
      <p:sp>
        <p:nvSpPr>
          <p:cNvPr id="37" name="Text 35"/>
          <p:cNvSpPr txBox="1"/>
          <p:nvPr/>
        </p:nvSpPr>
        <p:spPr>
          <a:xfrm>
            <a:off x="777240" y="5596128"/>
            <a:ext cx="6309360" cy="274320"/>
          </a:xfrm>
          <a:prstGeom prst="rect">
            <a:avLst/>
          </a:prstGeom>
          <a:noFill/>
          <a:ln/>
        </p:spPr>
        <p:txBody>
          <a:bodyPr wrap="square" lIns="0" tIns="0" rIns="0" bIns="0" rtlCol="0" anchor="t"/>
          <a:lstStyle/>
          <a:p>
            <a:pPr indent="0" marL="0">
              <a:buNone/>
            </a:pPr>
            <a:r>
              <a:rPr lang="en-US" sz="1300" dirty="0">
                <a:solidFill>
                  <a:schemeClr val="bg2"/>
                </a:solidFill>
              </a:rPr>
              <a:t>Destinations : </a:t>
            </a:r>
            <a:pPr indent="0" marL="0">
              <a:buNone/>
            </a:pPr>
            <a:r>
              <a:rPr lang="en-US" sz="1300" b="1" dirty="0">
                <a:solidFill>
                  <a:schemeClr val="bg1"/>
                </a:solidFill>
              </a:rPr>
              <a:t>carte SD (STANDARD, ÉCO) · console série · écran LCD</a:t>
            </a:r>
            <a:endParaRPr lang="en-US" sz="1300" dirty="0"/>
          </a:p>
        </p:txBody>
      </p:sp>
      <p:sp>
        <p:nvSpPr>
          <p:cNvPr id="38" name="Shape 36"/>
          <p:cNvSpPr/>
          <p:nvPr/>
        </p:nvSpPr>
        <p:spPr>
          <a:xfrm>
            <a:off x="7498080" y="4160520"/>
            <a:ext cx="4142232" cy="2057400"/>
          </a:xfrm>
          <a:prstGeom prst="roundRect">
            <a:avLst>
              <a:gd name="adj" fmla="val 3556"/>
            </a:avLst>
          </a:prstGeom>
          <a:solidFill>
            <a:schemeClr val="bg2"/>
          </a:solidFill>
          <a:ln/>
        </p:spPr>
      </p:sp>
      <p:sp>
        <p:nvSpPr>
          <p:cNvPr id="39" name="Text 37"/>
          <p:cNvSpPr txBox="1"/>
          <p:nvPr/>
        </p:nvSpPr>
        <p:spPr>
          <a:xfrm>
            <a:off x="7726680" y="4297680"/>
            <a:ext cx="3749040" cy="320040"/>
          </a:xfrm>
          <a:prstGeom prst="rect">
            <a:avLst/>
          </a:prstGeom>
          <a:noFill/>
          <a:ln/>
        </p:spPr>
        <p:txBody>
          <a:bodyPr wrap="square" lIns="0" tIns="0" rIns="0" bIns="0" rtlCol="0" anchor="t"/>
          <a:lstStyle/>
          <a:p>
            <a:pPr indent="0" marL="0">
              <a:buNone/>
            </a:pPr>
            <a:r>
              <a:rPr lang="en-US" sz="1500" b="1" dirty="0">
                <a:solidFill>
                  <a:schemeClr val="tx2"/>
                </a:solidFill>
              </a:rPr>
              <a:t>Règles de traitement</a:t>
            </a:r>
            <a:endParaRPr lang="en-US" sz="1500" dirty="0"/>
          </a:p>
        </p:txBody>
      </p:sp>
      <p:sp>
        <p:nvSpPr>
          <p:cNvPr id="40" name="Text 38"/>
          <p:cNvSpPr txBox="1"/>
          <p:nvPr/>
        </p:nvSpPr>
        <p:spPr>
          <a:xfrm>
            <a:off x="7726680" y="4681728"/>
            <a:ext cx="3794760" cy="1508760"/>
          </a:xfrm>
          <a:prstGeom prst="rect">
            <a:avLst/>
          </a:prstGeom>
          <a:noFill/>
          <a:ln/>
        </p:spPr>
        <p:txBody>
          <a:bodyPr wrap="square" lIns="0" tIns="0" rIns="0" bIns="0" rtlCol="0" anchor="t"/>
          <a:lstStyle/>
          <a:p>
            <a:pPr marL="152400" indent="-152400">
              <a:spcAft>
                <a:spcPts val="400"/>
              </a:spcAft>
              <a:buSzPct val="100000"/>
              <a:buChar char="•"/>
            </a:pPr>
            <a:r>
              <a:rPr lang="en-US" sz="1300" dirty="0">
                <a:solidFill>
                  <a:schemeClr val="tx1"/>
                </a:solidFill>
              </a:rPr>
              <a:t>Capteur muet ou désactivé → NA</a:t>
            </a:r>
            <a:endParaRPr lang="en-US" sz="1300" dirty="0"/>
          </a:p>
          <a:p>
            <a:pPr marL="152400" indent="-152400">
              <a:spcAft>
                <a:spcPts val="400"/>
              </a:spcAft>
              <a:buSzPct val="100000"/>
              <a:buChar char="•"/>
            </a:pPr>
            <a:r>
              <a:rPr lang="en-US" sz="1300" dirty="0">
                <a:solidFill>
                  <a:schemeClr val="tx1"/>
                </a:solidFill>
              </a:rPr>
              <a:t>T hors [MIN_TEMP_AIR ; MAX_TEMP_AIR] → NA + erreur « incohérente »</a:t>
            </a:r>
            <a:endParaRPr lang="en-US" sz="1300" dirty="0"/>
          </a:p>
          <a:p>
            <a:pPr marL="152400" indent="-152400">
              <a:spcAft>
                <a:spcPts val="400"/>
              </a:spcAft>
              <a:buSzPct val="100000"/>
              <a:buChar char="•"/>
            </a:pPr>
            <a:r>
              <a:rPr lang="en-US" sz="1300" dirty="0">
                <a:solidFill>
                  <a:schemeClr val="tx1"/>
                </a:solidFill>
              </a:rPr>
              <a:t>Humidité retenue si T ∈ [HYGR_MINT ; HYGR_MAXT]</a:t>
            </a:r>
            <a:endParaRPr lang="en-US" sz="1300" dirty="0"/>
          </a:p>
          <a:p>
            <a:pPr marL="152400" indent="-152400">
              <a:spcAft>
                <a:spcPts val="400"/>
              </a:spcAft>
              <a:buSzPct val="100000"/>
              <a:buChar char="•"/>
            </a:pPr>
            <a:r>
              <a:rPr lang="en-US" sz="1300" dirty="0">
                <a:solidFill>
                  <a:schemeClr val="tx1"/>
                </a:solidFill>
              </a:rPr>
              <a:t>Luminosité classée faible / moyenne / forte</a:t>
            </a:r>
            <a:endParaRPr lang="en-US" sz="1300" dirty="0"/>
          </a:p>
        </p:txBody>
      </p:sp>
      <p:sp>
        <p:nvSpPr>
          <p:cNvPr id="25" name="Slide Number Placeholder 0"/>
          <p:cNvSpPr>
            <a:spLocks noGrp="1"/>
          </p:cNvSpPr>
          <p:nvPr>
            <p:ph type="sldNum" sz="quarter" idx="4294967295"/>
          </p:nvPr>
        </p:nvSpPr>
        <p:spPr>
          <a:xfrm>
            <a:off x="11091672" y="6455664"/>
            <a:ext cx="548640" cy="237744"/>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6"/>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9144000" cy="274320"/>
          </a:xfrm>
          <a:prstGeom prst="rect">
            <a:avLst/>
          </a:prstGeom>
          <a:noFill/>
          <a:ln/>
        </p:spPr>
        <p:txBody>
          <a:bodyPr wrap="square" lIns="0" tIns="0" rIns="0" bIns="0" rtlCol="0" anchor="t"/>
          <a:lstStyle/>
          <a:p>
            <a:pPr indent="0" marL="0">
              <a:buNone/>
            </a:pPr>
            <a:r>
              <a:rPr lang="en-US" sz="1200" b="1" spc="150" kern="0" dirty="0">
                <a:solidFill>
                  <a:schemeClr val="accent1"/>
                </a:solidFill>
              </a:rPr>
              <a:t>03 · FONCTIONNEMENT LOGICIEL</a:t>
            </a:r>
            <a:endParaRPr lang="en-US" sz="1200" dirty="0"/>
          </a:p>
        </p:txBody>
      </p:sp>
      <p:sp>
        <p:nvSpPr>
          <p:cNvPr id="3" name="Text 0"/>
          <p:cNvSpPr/>
          <p:nvPr>
            <p:ph idx="101" type="title" hasCustomPrompt="1"/>
          </p:nvPr>
        </p:nvSpPr>
        <p:spPr>
          <a:xfrm>
            <a:off x="548640" y="621792"/>
            <a:ext cx="11091672" cy="640080"/>
          </a:xfrm>
          <a:prstGeom prst="rect">
            <a:avLst/>
          </a:prstGeom>
          <a:noFill/>
          <a:ln/>
        </p:spPr>
        <p:txBody>
          <a:bodyPr wrap="square" lIns="0" tIns="0" rIns="0" bIns="0" rtlCol="0" anchor="t"/>
          <a:lstStyle/>
          <a:p>
            <a:pPr algn="l" indent="0" marL="0">
              <a:buNone/>
            </a:pPr>
            <a:r>
              <a:rPr lang="en-US" sz="3000" b="1" dirty="0">
                <a:solidFill>
                  <a:schemeClr val="tx2"/>
                </a:solidFill>
              </a:rPr>
              <a:t>Les quatre modes de fonctionnement</a:t>
            </a:r>
            <a:endParaRPr lang="en-US" sz="3000" dirty="0"/>
          </a:p>
        </p:txBody>
      </p:sp>
      <p:sp>
        <p:nvSpPr>
          <p:cNvPr id="4" name="Text 2"/>
          <p:cNvSpPr/>
          <p:nvPr/>
        </p:nvSpPr>
        <p:spPr>
          <a:xfrm>
            <a:off x="3383280" y="1572768"/>
            <a:ext cx="1691640" cy="411480"/>
          </a:xfrm>
          <a:prstGeom prst="roundRect">
            <a:avLst>
              <a:gd name="adj" fmla="val 44444"/>
            </a:avLst>
          </a:prstGeom>
          <a:solidFill>
            <a:schemeClr val="accent6"/>
          </a:solidFill>
          <a:ln/>
        </p:spPr>
        <p:txBody>
          <a:bodyPr wrap="square" lIns="0" tIns="0" rIns="0" bIns="0" rtlCol="0" anchor="ctr"/>
          <a:lstStyle/>
          <a:p>
            <a:pPr algn="ctr" indent="0" marL="0">
              <a:buNone/>
            </a:pPr>
            <a:r>
              <a:rPr lang="en-US" sz="1300" b="1" dirty="0">
                <a:solidFill>
                  <a:schemeClr val="bg1"/>
                </a:solidFill>
              </a:rPr>
              <a:t>Mise sous tension</a:t>
            </a:r>
            <a:endParaRPr lang="en-US" sz="1300" dirty="0"/>
          </a:p>
        </p:txBody>
      </p:sp>
      <p:sp>
        <p:nvSpPr>
          <p:cNvPr id="5" name="Text 3"/>
          <p:cNvSpPr/>
          <p:nvPr/>
        </p:nvSpPr>
        <p:spPr>
          <a:xfrm>
            <a:off x="548640" y="3383280"/>
            <a:ext cx="1783080" cy="731520"/>
          </a:xfrm>
          <a:prstGeom prst="roundRect">
            <a:avLst>
              <a:gd name="adj" fmla="val 12500"/>
            </a:avLst>
          </a:prstGeom>
          <a:solidFill>
            <a:srgbClr val="FDF3D0"/>
          </a:solidFill>
          <a:ln w="25400">
            <a:solidFill>
              <a:srgbClr val="F2C230"/>
            </a:solidFill>
          </a:ln>
          <a:effectLst>
            <a:outerShdw sx="100000" sy="100000" kx="0" ky="0" algn="bl" rotWithShape="0" blurRad="63500" dist="25400" dir="5400000">
              <a:srgbClr val="0B2545">
                <a:alpha val="12000"/>
              </a:srgbClr>
            </a:outerShdw>
          </a:effectLst>
        </p:spPr>
        <p:txBody>
          <a:bodyPr wrap="square" lIns="0" tIns="0" rIns="0" bIns="0" rtlCol="0" anchor="ctr"/>
          <a:lstStyle/>
          <a:p>
            <a:pPr algn="ctr" indent="0" marL="0">
              <a:buNone/>
            </a:pPr>
            <a:r>
              <a:rPr lang="en-US" sz="1600" dirty="0">
                <a:solidFill>
                  <a:srgbClr val="F2C230"/>
                </a:solidFill>
              </a:rPr>
              <a:t>●  </a:t>
            </a:r>
            <a:pPr algn="ctr" indent="0" marL="0">
              <a:buNone/>
            </a:pPr>
            <a:r>
              <a:rPr lang="en-US" sz="1400" b="1" dirty="0">
                <a:solidFill>
                  <a:schemeClr val="tx2"/>
                </a:solidFill>
              </a:rPr>
              <a:t>CONFIGURATION</a:t>
            </a:r>
            <a:endParaRPr lang="en-US" sz="1400" dirty="0"/>
          </a:p>
        </p:txBody>
      </p:sp>
      <p:sp>
        <p:nvSpPr>
          <p:cNvPr id="6" name="Text 4"/>
          <p:cNvSpPr/>
          <p:nvPr/>
        </p:nvSpPr>
        <p:spPr>
          <a:xfrm>
            <a:off x="3337560" y="3383280"/>
            <a:ext cx="1783080" cy="731520"/>
          </a:xfrm>
          <a:prstGeom prst="roundRect">
            <a:avLst>
              <a:gd name="adj" fmla="val 12500"/>
            </a:avLst>
          </a:prstGeom>
          <a:solidFill>
            <a:srgbClr val="DDF3E4"/>
          </a:solidFill>
          <a:ln w="25400">
            <a:solidFill>
              <a:srgbClr val="2EAD5B"/>
            </a:solidFill>
          </a:ln>
          <a:effectLst>
            <a:outerShdw sx="100000" sy="100000" kx="0" ky="0" algn="bl" rotWithShape="0" blurRad="63500" dist="25400" dir="5400000">
              <a:srgbClr val="0B2545">
                <a:alpha val="12000"/>
              </a:srgbClr>
            </a:outerShdw>
          </a:effectLst>
        </p:spPr>
        <p:txBody>
          <a:bodyPr wrap="square" lIns="0" tIns="0" rIns="0" bIns="0" rtlCol="0" anchor="ctr"/>
          <a:lstStyle/>
          <a:p>
            <a:pPr algn="ctr" indent="0" marL="0">
              <a:buNone/>
            </a:pPr>
            <a:r>
              <a:rPr lang="en-US" sz="1600" dirty="0">
                <a:solidFill>
                  <a:srgbClr val="2EAD5B"/>
                </a:solidFill>
              </a:rPr>
              <a:t>●  </a:t>
            </a:r>
            <a:pPr algn="ctr" indent="0" marL="0">
              <a:buNone/>
            </a:pPr>
            <a:r>
              <a:rPr lang="en-US" sz="1400" b="1" dirty="0">
                <a:solidFill>
                  <a:schemeClr val="tx2"/>
                </a:solidFill>
              </a:rPr>
              <a:t>STANDARD</a:t>
            </a:r>
            <a:endParaRPr lang="en-US" sz="1400" dirty="0"/>
          </a:p>
        </p:txBody>
      </p:sp>
      <p:sp>
        <p:nvSpPr>
          <p:cNvPr id="7" name="Text 5"/>
          <p:cNvSpPr/>
          <p:nvPr/>
        </p:nvSpPr>
        <p:spPr>
          <a:xfrm>
            <a:off x="6126480" y="3383280"/>
            <a:ext cx="1783080" cy="731520"/>
          </a:xfrm>
          <a:prstGeom prst="roundRect">
            <a:avLst>
              <a:gd name="adj" fmla="val 12500"/>
            </a:avLst>
          </a:prstGeom>
          <a:solidFill>
            <a:srgbClr val="FDE6D2"/>
          </a:solidFill>
          <a:ln w="25400">
            <a:solidFill>
              <a:srgbClr val="F28C28"/>
            </a:solidFill>
          </a:ln>
          <a:effectLst>
            <a:outerShdw sx="100000" sy="100000" kx="0" ky="0" algn="bl" rotWithShape="0" blurRad="63500" dist="25400" dir="5400000">
              <a:srgbClr val="0B2545">
                <a:alpha val="12000"/>
              </a:srgbClr>
            </a:outerShdw>
          </a:effectLst>
        </p:spPr>
        <p:txBody>
          <a:bodyPr wrap="square" lIns="0" tIns="0" rIns="0" bIns="0" rtlCol="0" anchor="ctr"/>
          <a:lstStyle/>
          <a:p>
            <a:pPr algn="ctr" indent="0" marL="0">
              <a:buNone/>
            </a:pPr>
            <a:r>
              <a:rPr lang="en-US" sz="1600" dirty="0">
                <a:solidFill>
                  <a:srgbClr val="F28C28"/>
                </a:solidFill>
              </a:rPr>
              <a:t>●  </a:t>
            </a:r>
            <a:pPr algn="ctr" indent="0" marL="0">
              <a:buNone/>
            </a:pPr>
            <a:r>
              <a:rPr lang="en-US" sz="1400" b="1" dirty="0">
                <a:solidFill>
                  <a:schemeClr val="tx2"/>
                </a:solidFill>
              </a:rPr>
              <a:t>MAINTENANCE</a:t>
            </a:r>
            <a:endParaRPr lang="en-US" sz="1400" dirty="0"/>
          </a:p>
        </p:txBody>
      </p:sp>
      <p:sp>
        <p:nvSpPr>
          <p:cNvPr id="8" name="Text 6"/>
          <p:cNvSpPr/>
          <p:nvPr/>
        </p:nvSpPr>
        <p:spPr>
          <a:xfrm>
            <a:off x="3337560" y="5257800"/>
            <a:ext cx="1783080" cy="731520"/>
          </a:xfrm>
          <a:prstGeom prst="roundRect">
            <a:avLst>
              <a:gd name="adj" fmla="val 12500"/>
            </a:avLst>
          </a:prstGeom>
          <a:solidFill>
            <a:srgbClr val="DCE8FB"/>
          </a:solidFill>
          <a:ln w="25400">
            <a:solidFill>
              <a:srgbClr val="2F6FD6"/>
            </a:solidFill>
          </a:ln>
          <a:effectLst>
            <a:outerShdw sx="100000" sy="100000" kx="0" ky="0" algn="bl" rotWithShape="0" blurRad="63500" dist="25400" dir="5400000">
              <a:srgbClr val="0B2545">
                <a:alpha val="12000"/>
              </a:srgbClr>
            </a:outerShdw>
          </a:effectLst>
        </p:spPr>
        <p:txBody>
          <a:bodyPr wrap="square" lIns="0" tIns="0" rIns="0" bIns="0" rtlCol="0" anchor="ctr"/>
          <a:lstStyle/>
          <a:p>
            <a:pPr algn="ctr" indent="0" marL="0">
              <a:buNone/>
            </a:pPr>
            <a:r>
              <a:rPr lang="en-US" sz="1600" dirty="0">
                <a:solidFill>
                  <a:srgbClr val="2F6FD6"/>
                </a:solidFill>
              </a:rPr>
              <a:t>●  </a:t>
            </a:r>
            <a:pPr algn="ctr" indent="0" marL="0">
              <a:buNone/>
            </a:pPr>
            <a:r>
              <a:rPr lang="en-US" sz="1400" b="1" dirty="0">
                <a:solidFill>
                  <a:schemeClr val="tx2"/>
                </a:solidFill>
              </a:rPr>
              <a:t>ÉCONOMIQUE</a:t>
            </a:r>
            <a:endParaRPr lang="en-US" sz="1400" dirty="0"/>
          </a:p>
        </p:txBody>
      </p:sp>
      <p:sp>
        <p:nvSpPr>
          <p:cNvPr id="9" name="Shape 7"/>
          <p:cNvSpPr/>
          <p:nvPr/>
        </p:nvSpPr>
        <p:spPr>
          <a:xfrm>
            <a:off x="4224528" y="1984248"/>
            <a:ext cx="0" cy="1399032"/>
          </a:xfrm>
          <a:prstGeom prst="line">
            <a:avLst/>
          </a:prstGeom>
          <a:noFill/>
          <a:ln w="22225">
            <a:solidFill>
              <a:schemeClr val="tx2"/>
            </a:solidFill>
            <a:prstDash val="solid"/>
            <a:tailEnd type="triangle"/>
          </a:ln>
        </p:spPr>
      </p:sp>
      <p:sp>
        <p:nvSpPr>
          <p:cNvPr id="10" name="Text 8"/>
          <p:cNvSpPr txBox="1"/>
          <p:nvPr/>
        </p:nvSpPr>
        <p:spPr>
          <a:xfrm>
            <a:off x="4297680" y="2514600"/>
            <a:ext cx="1371600" cy="256032"/>
          </a:xfrm>
          <a:prstGeom prst="rect">
            <a:avLst/>
          </a:prstGeom>
          <a:noFill/>
          <a:ln/>
        </p:spPr>
        <p:txBody>
          <a:bodyPr wrap="square" lIns="0" tIns="0" rIns="0" bIns="0" rtlCol="0" anchor="ctr"/>
          <a:lstStyle/>
          <a:p>
            <a:pPr algn="l" indent="0" marL="0">
              <a:buNone/>
            </a:pPr>
            <a:r>
              <a:rPr lang="en-US" sz="1200" b="1" dirty="0">
                <a:solidFill>
                  <a:schemeClr val="tx1"/>
                </a:solidFill>
              </a:rPr>
              <a:t>aucun bouton</a:t>
            </a:r>
            <a:endParaRPr lang="en-US" sz="1200" dirty="0"/>
          </a:p>
        </p:txBody>
      </p:sp>
      <p:sp>
        <p:nvSpPr>
          <p:cNvPr id="11" name="Shape 9"/>
          <p:cNvSpPr/>
          <p:nvPr/>
        </p:nvSpPr>
        <p:spPr>
          <a:xfrm>
            <a:off x="1435608" y="1778508"/>
            <a:ext cx="1947672" cy="0"/>
          </a:xfrm>
          <a:prstGeom prst="line">
            <a:avLst/>
          </a:prstGeom>
          <a:noFill/>
          <a:ln w="22225">
            <a:solidFill>
              <a:schemeClr val="tx2"/>
            </a:solidFill>
            <a:prstDash val="solid"/>
          </a:ln>
        </p:spPr>
      </p:sp>
      <p:sp>
        <p:nvSpPr>
          <p:cNvPr id="12" name="Shape 10"/>
          <p:cNvSpPr/>
          <p:nvPr/>
        </p:nvSpPr>
        <p:spPr>
          <a:xfrm>
            <a:off x="1435608" y="1778508"/>
            <a:ext cx="0" cy="1604772"/>
          </a:xfrm>
          <a:prstGeom prst="line">
            <a:avLst/>
          </a:prstGeom>
          <a:noFill/>
          <a:ln w="22225">
            <a:solidFill>
              <a:schemeClr val="tx2"/>
            </a:solidFill>
            <a:prstDash val="solid"/>
            <a:tailEnd type="triangle"/>
          </a:ln>
        </p:spPr>
      </p:sp>
      <p:sp>
        <p:nvSpPr>
          <p:cNvPr id="13" name="Text 11"/>
          <p:cNvSpPr txBox="1"/>
          <p:nvPr/>
        </p:nvSpPr>
        <p:spPr>
          <a:xfrm>
            <a:off x="1508760" y="2057400"/>
            <a:ext cx="1783080" cy="457200"/>
          </a:xfrm>
          <a:prstGeom prst="rect">
            <a:avLst/>
          </a:prstGeom>
          <a:noFill/>
          <a:ln/>
        </p:spPr>
        <p:txBody>
          <a:bodyPr wrap="square" lIns="0" tIns="0" rIns="0" bIns="0" rtlCol="0" anchor="ctr"/>
          <a:lstStyle/>
          <a:p>
            <a:pPr algn="l" indent="0" marL="0">
              <a:buNone/>
            </a:pPr>
            <a:r>
              <a:rPr lang="en-US" sz="1200" b="1" dirty="0">
                <a:solidFill>
                  <a:schemeClr val="tx1"/>
                </a:solidFill>
              </a:rPr>
              <a:t>rouge maintenu au démarrage</a:t>
            </a:r>
            <a:endParaRPr lang="en-US" sz="1200" dirty="0"/>
          </a:p>
        </p:txBody>
      </p:sp>
      <p:sp>
        <p:nvSpPr>
          <p:cNvPr id="14" name="Shape 12"/>
          <p:cNvSpPr/>
          <p:nvPr/>
        </p:nvSpPr>
        <p:spPr>
          <a:xfrm>
            <a:off x="2331720" y="3749040"/>
            <a:ext cx="1005840" cy="0"/>
          </a:xfrm>
          <a:prstGeom prst="line">
            <a:avLst/>
          </a:prstGeom>
          <a:noFill/>
          <a:ln w="22225">
            <a:solidFill>
              <a:schemeClr val="tx2"/>
            </a:solidFill>
            <a:prstDash val="solid"/>
            <a:tailEnd type="triangle"/>
          </a:ln>
        </p:spPr>
      </p:sp>
      <p:sp>
        <p:nvSpPr>
          <p:cNvPr id="15" name="Text 13"/>
          <p:cNvSpPr txBox="1"/>
          <p:nvPr/>
        </p:nvSpPr>
        <p:spPr>
          <a:xfrm>
            <a:off x="2286000" y="3822192"/>
            <a:ext cx="1097280" cy="457200"/>
          </a:xfrm>
          <a:prstGeom prst="rect">
            <a:avLst/>
          </a:prstGeom>
          <a:noFill/>
          <a:ln/>
        </p:spPr>
        <p:txBody>
          <a:bodyPr wrap="square" lIns="0" tIns="0" rIns="0" bIns="0" rtlCol="0" anchor="ctr"/>
          <a:lstStyle/>
          <a:p>
            <a:pPr algn="ctr" indent="0" marL="0">
              <a:buNone/>
            </a:pPr>
            <a:r>
              <a:rPr lang="en-US" sz="1200" b="1" dirty="0">
                <a:solidFill>
                  <a:schemeClr val="tx1"/>
                </a:solidFill>
              </a:rPr>
              <a:t>30 min sans commande</a:t>
            </a:r>
            <a:endParaRPr lang="en-US" sz="1200" dirty="0"/>
          </a:p>
        </p:txBody>
      </p:sp>
      <p:sp>
        <p:nvSpPr>
          <p:cNvPr id="16" name="Shape 14"/>
          <p:cNvSpPr/>
          <p:nvPr/>
        </p:nvSpPr>
        <p:spPr>
          <a:xfrm>
            <a:off x="5120640" y="3611880"/>
            <a:ext cx="1005840" cy="0"/>
          </a:xfrm>
          <a:prstGeom prst="line">
            <a:avLst/>
          </a:prstGeom>
          <a:noFill/>
          <a:ln w="22225">
            <a:solidFill>
              <a:schemeClr val="tx2"/>
            </a:solidFill>
            <a:prstDash val="solid"/>
            <a:tailEnd type="triangle"/>
          </a:ln>
        </p:spPr>
      </p:sp>
      <p:sp>
        <p:nvSpPr>
          <p:cNvPr id="17" name="Shape 15"/>
          <p:cNvSpPr/>
          <p:nvPr/>
        </p:nvSpPr>
        <p:spPr>
          <a:xfrm flipH="1">
            <a:off x="5120640" y="3886200"/>
            <a:ext cx="1005840" cy="0"/>
          </a:xfrm>
          <a:prstGeom prst="line">
            <a:avLst/>
          </a:prstGeom>
          <a:noFill/>
          <a:ln w="22225">
            <a:solidFill>
              <a:schemeClr val="tx2"/>
            </a:solidFill>
            <a:prstDash val="solid"/>
            <a:tailEnd type="triangle"/>
          </a:ln>
        </p:spPr>
      </p:sp>
      <p:sp>
        <p:nvSpPr>
          <p:cNvPr id="18" name="Text 16"/>
          <p:cNvSpPr txBox="1"/>
          <p:nvPr/>
        </p:nvSpPr>
        <p:spPr>
          <a:xfrm>
            <a:off x="5074920" y="3291840"/>
            <a:ext cx="1097280" cy="256032"/>
          </a:xfrm>
          <a:prstGeom prst="rect">
            <a:avLst/>
          </a:prstGeom>
          <a:noFill/>
          <a:ln/>
        </p:spPr>
        <p:txBody>
          <a:bodyPr wrap="square" lIns="0" tIns="0" rIns="0" bIns="0" rtlCol="0" anchor="ctr"/>
          <a:lstStyle/>
          <a:p>
            <a:pPr algn="ctr" indent="0" marL="0">
              <a:buNone/>
            </a:pPr>
            <a:r>
              <a:rPr lang="en-US" sz="1200" b="1" dirty="0">
                <a:solidFill>
                  <a:schemeClr val="tx1"/>
                </a:solidFill>
              </a:rPr>
              <a:t>rouge 5 s</a:t>
            </a:r>
            <a:endParaRPr lang="en-US" sz="1200" dirty="0"/>
          </a:p>
        </p:txBody>
      </p:sp>
      <p:sp>
        <p:nvSpPr>
          <p:cNvPr id="19" name="Text 17"/>
          <p:cNvSpPr txBox="1"/>
          <p:nvPr/>
        </p:nvSpPr>
        <p:spPr>
          <a:xfrm>
            <a:off x="4983480" y="3950208"/>
            <a:ext cx="1280160" cy="457200"/>
          </a:xfrm>
          <a:prstGeom prst="rect">
            <a:avLst/>
          </a:prstGeom>
          <a:noFill/>
          <a:ln/>
        </p:spPr>
        <p:txBody>
          <a:bodyPr wrap="square" lIns="0" tIns="0" rIns="0" bIns="0" rtlCol="0" anchor="t"/>
          <a:lstStyle/>
          <a:p>
            <a:pPr algn="ctr" indent="0" marL="0">
              <a:buNone/>
            </a:pPr>
            <a:r>
              <a:rPr lang="en-US" sz="1200" b="1" dirty="0">
                <a:solidFill>
                  <a:schemeClr val="tx1"/>
                </a:solidFill>
              </a:rPr>
              <a:t>rouge 5 s</a:t>
            </a:r>
            <a:endParaRPr lang="en-US" sz="1200" dirty="0"/>
          </a:p>
          <a:p>
            <a:pPr algn="ctr" indent="0" marL="0">
              <a:buNone/>
            </a:pPr>
            <a:r>
              <a:rPr lang="en-US" sz="1100" dirty="0">
                <a:solidFill>
                  <a:schemeClr val="accent6"/>
                </a:solidFill>
              </a:rPr>
              <a:t>(mode précédent)</a:t>
            </a:r>
            <a:endParaRPr lang="en-US" sz="1200" dirty="0"/>
          </a:p>
        </p:txBody>
      </p:sp>
      <p:sp>
        <p:nvSpPr>
          <p:cNvPr id="20" name="Shape 18"/>
          <p:cNvSpPr/>
          <p:nvPr/>
        </p:nvSpPr>
        <p:spPr>
          <a:xfrm>
            <a:off x="4041648" y="4114800"/>
            <a:ext cx="0" cy="1143000"/>
          </a:xfrm>
          <a:prstGeom prst="line">
            <a:avLst/>
          </a:prstGeom>
          <a:noFill/>
          <a:ln w="22225">
            <a:solidFill>
              <a:schemeClr val="tx2"/>
            </a:solidFill>
            <a:prstDash val="solid"/>
            <a:tailEnd type="triangle"/>
          </a:ln>
        </p:spPr>
      </p:sp>
      <p:sp>
        <p:nvSpPr>
          <p:cNvPr id="21" name="Shape 19"/>
          <p:cNvSpPr/>
          <p:nvPr/>
        </p:nvSpPr>
        <p:spPr>
          <a:xfrm flipV="1">
            <a:off x="4407408" y="4114800"/>
            <a:ext cx="0" cy="1143000"/>
          </a:xfrm>
          <a:prstGeom prst="line">
            <a:avLst/>
          </a:prstGeom>
          <a:noFill/>
          <a:ln w="22225">
            <a:solidFill>
              <a:schemeClr val="tx2"/>
            </a:solidFill>
            <a:prstDash val="solid"/>
            <a:tailEnd type="triangle"/>
          </a:ln>
        </p:spPr>
      </p:sp>
      <p:sp>
        <p:nvSpPr>
          <p:cNvPr id="22" name="Text 20"/>
          <p:cNvSpPr txBox="1"/>
          <p:nvPr/>
        </p:nvSpPr>
        <p:spPr>
          <a:xfrm>
            <a:off x="2880360" y="4553712"/>
            <a:ext cx="1097280" cy="256032"/>
          </a:xfrm>
          <a:prstGeom prst="rect">
            <a:avLst/>
          </a:prstGeom>
          <a:noFill/>
          <a:ln/>
        </p:spPr>
        <p:txBody>
          <a:bodyPr wrap="square" lIns="0" tIns="0" rIns="0" bIns="0" rtlCol="0" anchor="ctr"/>
          <a:lstStyle/>
          <a:p>
            <a:pPr algn="r" indent="0" marL="0">
              <a:buNone/>
            </a:pPr>
            <a:r>
              <a:rPr lang="en-US" sz="1200" b="1" dirty="0">
                <a:solidFill>
                  <a:schemeClr val="tx1"/>
                </a:solidFill>
              </a:rPr>
              <a:t>vert 5 s</a:t>
            </a:r>
            <a:endParaRPr lang="en-US" sz="1200" dirty="0"/>
          </a:p>
        </p:txBody>
      </p:sp>
      <p:sp>
        <p:nvSpPr>
          <p:cNvPr id="23" name="Text 21"/>
          <p:cNvSpPr txBox="1"/>
          <p:nvPr/>
        </p:nvSpPr>
        <p:spPr>
          <a:xfrm>
            <a:off x="4526280" y="4553712"/>
            <a:ext cx="1097280" cy="256032"/>
          </a:xfrm>
          <a:prstGeom prst="rect">
            <a:avLst/>
          </a:prstGeom>
          <a:noFill/>
          <a:ln/>
        </p:spPr>
        <p:txBody>
          <a:bodyPr wrap="square" lIns="0" tIns="0" rIns="0" bIns="0" rtlCol="0" anchor="ctr"/>
          <a:lstStyle/>
          <a:p>
            <a:pPr algn="l" indent="0" marL="0">
              <a:buNone/>
            </a:pPr>
            <a:r>
              <a:rPr lang="en-US" sz="1200" b="1" dirty="0">
                <a:solidFill>
                  <a:schemeClr val="tx1"/>
                </a:solidFill>
              </a:rPr>
              <a:t>rouge 5 s</a:t>
            </a:r>
            <a:endParaRPr lang="en-US" sz="1200" dirty="0"/>
          </a:p>
        </p:txBody>
      </p:sp>
      <p:sp>
        <p:nvSpPr>
          <p:cNvPr id="24" name="Text 22"/>
          <p:cNvSpPr/>
          <p:nvPr/>
        </p:nvSpPr>
        <p:spPr>
          <a:xfrm>
            <a:off x="5486400" y="5120640"/>
            <a:ext cx="2423160" cy="1097280"/>
          </a:xfrm>
          <a:prstGeom prst="roundRect">
            <a:avLst>
              <a:gd name="adj" fmla="val 5000"/>
            </a:avLst>
          </a:prstGeom>
          <a:solidFill>
            <a:schemeClr val="accent2">
              <a:alpha val="15000"/>
            </a:schemeClr>
          </a:solidFill>
          <a:ln w="12700">
            <a:solidFill>
              <a:schemeClr val="accent2"/>
            </a:solidFill>
          </a:ln>
        </p:spPr>
        <p:txBody>
          <a:bodyPr wrap="square" lIns="50800" tIns="101600" rIns="101600" bIns="50800" rtlCol="0" anchor="ctr"/>
          <a:lstStyle/>
          <a:p>
            <a:pPr indent="0" marL="0">
              <a:buNone/>
            </a:pPr>
            <a:r>
              <a:rPr lang="en-US" sz="1150" b="1" dirty="0">
                <a:solidFill>
                  <a:schemeClr val="tx2"/>
                </a:solidFill>
              </a:rPr>
              <a:t>Ambiguïté du CDC : </a:t>
            </a:r>
            <a:pPr indent="0" marL="0">
              <a:buNone/>
            </a:pPr>
            <a:r>
              <a:rPr lang="en-US" sz="1150" dirty="0">
                <a:solidFill>
                  <a:schemeClr val="tx1"/>
                </a:solidFill>
              </a:rPr>
              <a:t>depuis ÉCO, « rouge 5 s » mène aussi en MAINTENANCE. Choix retenu : retour en STANDARD (paramétrable).</a:t>
            </a:r>
            <a:endParaRPr lang="en-US" sz="1150" dirty="0"/>
          </a:p>
        </p:txBody>
      </p:sp>
      <p:sp>
        <p:nvSpPr>
          <p:cNvPr id="25" name="Shape 23"/>
          <p:cNvSpPr/>
          <p:nvPr/>
        </p:nvSpPr>
        <p:spPr>
          <a:xfrm>
            <a:off x="8183880" y="1481328"/>
            <a:ext cx="3456432" cy="1078992"/>
          </a:xfrm>
          <a:prstGeom prst="roundRect">
            <a:avLst>
              <a:gd name="adj" fmla="val 6780"/>
            </a:avLst>
          </a:prstGeom>
          <a:solidFill>
            <a:schemeClr val="bg2"/>
          </a:solidFill>
          <a:ln/>
        </p:spPr>
      </p:sp>
      <p:sp>
        <p:nvSpPr>
          <p:cNvPr id="26" name="Shape 24"/>
          <p:cNvSpPr/>
          <p:nvPr/>
        </p:nvSpPr>
        <p:spPr>
          <a:xfrm>
            <a:off x="8366760" y="1636776"/>
            <a:ext cx="237744" cy="237744"/>
          </a:xfrm>
          <a:prstGeom prst="ellipse">
            <a:avLst/>
          </a:prstGeom>
          <a:solidFill>
            <a:srgbClr val="2EAD5B"/>
          </a:solidFill>
          <a:ln w="6350">
            <a:solidFill>
              <a:srgbClr val="9AA8B6"/>
            </a:solidFill>
            <a:prstDash val="solid"/>
          </a:ln>
        </p:spPr>
      </p:sp>
      <p:sp>
        <p:nvSpPr>
          <p:cNvPr id="27" name="Text 25"/>
          <p:cNvSpPr txBox="1"/>
          <p:nvPr/>
        </p:nvSpPr>
        <p:spPr>
          <a:xfrm>
            <a:off x="8686800" y="1591056"/>
            <a:ext cx="2880360" cy="320040"/>
          </a:xfrm>
          <a:prstGeom prst="rect">
            <a:avLst/>
          </a:prstGeom>
          <a:noFill/>
          <a:ln/>
        </p:spPr>
        <p:txBody>
          <a:bodyPr wrap="square" lIns="0" tIns="0" rIns="0" bIns="0" rtlCol="0" anchor="ctr"/>
          <a:lstStyle/>
          <a:p>
            <a:pPr indent="0" marL="0">
              <a:buNone/>
            </a:pPr>
            <a:r>
              <a:rPr lang="en-US" sz="1400" b="1" dirty="0">
                <a:solidFill>
                  <a:schemeClr val="tx2"/>
                </a:solidFill>
              </a:rPr>
              <a:t>STANDARD  </a:t>
            </a:r>
            <a:pPr indent="0" marL="0">
              <a:buNone/>
            </a:pPr>
            <a:r>
              <a:rPr lang="en-US" sz="1400" dirty="0">
                <a:solidFill>
                  <a:schemeClr val="accent6"/>
                </a:solidFill>
              </a:rPr>
              <a:t>LED verte</a:t>
            </a:r>
            <a:endParaRPr lang="en-US" sz="1400" dirty="0"/>
          </a:p>
        </p:txBody>
      </p:sp>
      <p:sp>
        <p:nvSpPr>
          <p:cNvPr id="28" name="Text 26"/>
          <p:cNvSpPr txBox="1"/>
          <p:nvPr/>
        </p:nvSpPr>
        <p:spPr>
          <a:xfrm>
            <a:off x="8366760" y="1938528"/>
            <a:ext cx="3154680" cy="594360"/>
          </a:xfrm>
          <a:prstGeom prst="rect">
            <a:avLst/>
          </a:prstGeom>
          <a:noFill/>
          <a:ln/>
        </p:spPr>
        <p:txBody>
          <a:bodyPr wrap="square" lIns="0" tIns="0" rIns="0" bIns="0" rtlCol="0" anchor="t"/>
          <a:lstStyle/>
          <a:p>
            <a:pPr indent="0" marL="0">
              <a:buNone/>
            </a:pPr>
            <a:r>
              <a:rPr lang="en-US" sz="1250" dirty="0">
                <a:solidFill>
                  <a:schemeClr val="tx1"/>
                </a:solidFill>
              </a:rPr>
              <a:t>Une mesure toutes les LOG_INTERVAL (10 min par défaut), écrite sur la carte SD</a:t>
            </a:r>
            <a:endParaRPr lang="en-US" sz="1250" dirty="0"/>
          </a:p>
        </p:txBody>
      </p:sp>
      <p:sp>
        <p:nvSpPr>
          <p:cNvPr id="29" name="Shape 27"/>
          <p:cNvSpPr/>
          <p:nvPr/>
        </p:nvSpPr>
        <p:spPr>
          <a:xfrm>
            <a:off x="8183880" y="2670048"/>
            <a:ext cx="3456432" cy="1078992"/>
          </a:xfrm>
          <a:prstGeom prst="roundRect">
            <a:avLst>
              <a:gd name="adj" fmla="val 6780"/>
            </a:avLst>
          </a:prstGeom>
          <a:solidFill>
            <a:schemeClr val="bg2"/>
          </a:solidFill>
          <a:ln/>
        </p:spPr>
      </p:sp>
      <p:sp>
        <p:nvSpPr>
          <p:cNvPr id="30" name="Shape 28"/>
          <p:cNvSpPr/>
          <p:nvPr/>
        </p:nvSpPr>
        <p:spPr>
          <a:xfrm>
            <a:off x="8366760" y="2825496"/>
            <a:ext cx="237744" cy="237744"/>
          </a:xfrm>
          <a:prstGeom prst="ellipse">
            <a:avLst/>
          </a:prstGeom>
          <a:solidFill>
            <a:srgbClr val="F2C230"/>
          </a:solidFill>
          <a:ln w="6350">
            <a:solidFill>
              <a:srgbClr val="9AA8B6"/>
            </a:solidFill>
            <a:prstDash val="solid"/>
          </a:ln>
        </p:spPr>
      </p:sp>
      <p:sp>
        <p:nvSpPr>
          <p:cNvPr id="31" name="Text 29"/>
          <p:cNvSpPr txBox="1"/>
          <p:nvPr/>
        </p:nvSpPr>
        <p:spPr>
          <a:xfrm>
            <a:off x="8686800" y="2779776"/>
            <a:ext cx="2880360" cy="320040"/>
          </a:xfrm>
          <a:prstGeom prst="rect">
            <a:avLst/>
          </a:prstGeom>
          <a:noFill/>
          <a:ln/>
        </p:spPr>
        <p:txBody>
          <a:bodyPr wrap="square" lIns="0" tIns="0" rIns="0" bIns="0" rtlCol="0" anchor="ctr"/>
          <a:lstStyle/>
          <a:p>
            <a:pPr indent="0" marL="0">
              <a:buNone/>
            </a:pPr>
            <a:r>
              <a:rPr lang="en-US" sz="1400" b="1" dirty="0">
                <a:solidFill>
                  <a:schemeClr val="tx2"/>
                </a:solidFill>
              </a:rPr>
              <a:t>CONFIGURATION  </a:t>
            </a:r>
            <a:pPr indent="0" marL="0">
              <a:buNone/>
            </a:pPr>
            <a:r>
              <a:rPr lang="en-US" sz="1400" dirty="0">
                <a:solidFill>
                  <a:schemeClr val="accent6"/>
                </a:solidFill>
              </a:rPr>
              <a:t>LED jaune</a:t>
            </a:r>
            <a:endParaRPr lang="en-US" sz="1400" dirty="0"/>
          </a:p>
        </p:txBody>
      </p:sp>
      <p:sp>
        <p:nvSpPr>
          <p:cNvPr id="32" name="Text 30"/>
          <p:cNvSpPr txBox="1"/>
          <p:nvPr/>
        </p:nvSpPr>
        <p:spPr>
          <a:xfrm>
            <a:off x="8366760" y="3127248"/>
            <a:ext cx="3154680" cy="594360"/>
          </a:xfrm>
          <a:prstGeom prst="rect">
            <a:avLst/>
          </a:prstGeom>
          <a:noFill/>
          <a:ln/>
        </p:spPr>
        <p:txBody>
          <a:bodyPr wrap="square" lIns="0" tIns="0" rIns="0" bIns="0" rtlCol="0" anchor="t"/>
          <a:lstStyle/>
          <a:p>
            <a:pPr indent="0" marL="0">
              <a:buNone/>
            </a:pPr>
            <a:r>
              <a:rPr lang="en-US" sz="1250" dirty="0">
                <a:solidFill>
                  <a:schemeClr val="tx1"/>
                </a:solidFill>
              </a:rPr>
              <a:t>Acquisition arrêtée ; commandes série sauvegardées en Flash ; boutons ignorés</a:t>
            </a:r>
            <a:endParaRPr lang="en-US" sz="1250" dirty="0"/>
          </a:p>
        </p:txBody>
      </p:sp>
      <p:sp>
        <p:nvSpPr>
          <p:cNvPr id="33" name="Shape 31"/>
          <p:cNvSpPr/>
          <p:nvPr/>
        </p:nvSpPr>
        <p:spPr>
          <a:xfrm>
            <a:off x="8183880" y="3858768"/>
            <a:ext cx="3456432" cy="1078992"/>
          </a:xfrm>
          <a:prstGeom prst="roundRect">
            <a:avLst>
              <a:gd name="adj" fmla="val 6780"/>
            </a:avLst>
          </a:prstGeom>
          <a:solidFill>
            <a:schemeClr val="bg2"/>
          </a:solidFill>
          <a:ln/>
        </p:spPr>
      </p:sp>
      <p:sp>
        <p:nvSpPr>
          <p:cNvPr id="34" name="Shape 32"/>
          <p:cNvSpPr/>
          <p:nvPr/>
        </p:nvSpPr>
        <p:spPr>
          <a:xfrm>
            <a:off x="8366760" y="4014216"/>
            <a:ext cx="237744" cy="237744"/>
          </a:xfrm>
          <a:prstGeom prst="ellipse">
            <a:avLst/>
          </a:prstGeom>
          <a:solidFill>
            <a:srgbClr val="F28C28"/>
          </a:solidFill>
          <a:ln w="6350">
            <a:solidFill>
              <a:srgbClr val="9AA8B6"/>
            </a:solidFill>
            <a:prstDash val="solid"/>
          </a:ln>
        </p:spPr>
      </p:sp>
      <p:sp>
        <p:nvSpPr>
          <p:cNvPr id="35" name="Text 33"/>
          <p:cNvSpPr txBox="1"/>
          <p:nvPr/>
        </p:nvSpPr>
        <p:spPr>
          <a:xfrm>
            <a:off x="8686800" y="3968496"/>
            <a:ext cx="2880360" cy="320040"/>
          </a:xfrm>
          <a:prstGeom prst="rect">
            <a:avLst/>
          </a:prstGeom>
          <a:noFill/>
          <a:ln/>
        </p:spPr>
        <p:txBody>
          <a:bodyPr wrap="square" lIns="0" tIns="0" rIns="0" bIns="0" rtlCol="0" anchor="ctr"/>
          <a:lstStyle/>
          <a:p>
            <a:pPr indent="0" marL="0">
              <a:buNone/>
            </a:pPr>
            <a:r>
              <a:rPr lang="en-US" sz="1400" b="1" dirty="0">
                <a:solidFill>
                  <a:schemeClr val="tx2"/>
                </a:solidFill>
              </a:rPr>
              <a:t>MAINTENANCE  </a:t>
            </a:r>
            <a:pPr indent="0" marL="0">
              <a:buNone/>
            </a:pPr>
            <a:r>
              <a:rPr lang="en-US" sz="1400" dirty="0">
                <a:solidFill>
                  <a:schemeClr val="accent6"/>
                </a:solidFill>
              </a:rPr>
              <a:t>LED orange</a:t>
            </a:r>
            <a:endParaRPr lang="en-US" sz="1400" dirty="0"/>
          </a:p>
        </p:txBody>
      </p:sp>
      <p:sp>
        <p:nvSpPr>
          <p:cNvPr id="36" name="Text 34"/>
          <p:cNvSpPr txBox="1"/>
          <p:nvPr/>
        </p:nvSpPr>
        <p:spPr>
          <a:xfrm>
            <a:off x="8366760" y="4315968"/>
            <a:ext cx="3154680" cy="594360"/>
          </a:xfrm>
          <a:prstGeom prst="rect">
            <a:avLst/>
          </a:prstGeom>
          <a:noFill/>
          <a:ln/>
        </p:spPr>
        <p:txBody>
          <a:bodyPr wrap="square" lIns="0" tIns="0" rIns="0" bIns="0" rtlCol="0" anchor="t"/>
          <a:lstStyle/>
          <a:p>
            <a:pPr indent="0" marL="0">
              <a:buNone/>
            </a:pPr>
            <a:r>
              <a:rPr lang="en-US" sz="1250" dirty="0">
                <a:solidFill>
                  <a:schemeClr val="tx1"/>
                </a:solidFill>
              </a:rPr>
              <a:t>Carte SD démontée (retrait sans risque) ; mesures en direct sur la console toutes les 2 s</a:t>
            </a:r>
            <a:endParaRPr lang="en-US" sz="1250" dirty="0"/>
          </a:p>
        </p:txBody>
      </p:sp>
      <p:sp>
        <p:nvSpPr>
          <p:cNvPr id="37" name="Shape 35"/>
          <p:cNvSpPr/>
          <p:nvPr/>
        </p:nvSpPr>
        <p:spPr>
          <a:xfrm>
            <a:off x="8183880" y="5047488"/>
            <a:ext cx="3456432" cy="1078992"/>
          </a:xfrm>
          <a:prstGeom prst="roundRect">
            <a:avLst>
              <a:gd name="adj" fmla="val 6780"/>
            </a:avLst>
          </a:prstGeom>
          <a:solidFill>
            <a:schemeClr val="bg2"/>
          </a:solidFill>
          <a:ln/>
        </p:spPr>
      </p:sp>
      <p:sp>
        <p:nvSpPr>
          <p:cNvPr id="38" name="Shape 36"/>
          <p:cNvSpPr/>
          <p:nvPr/>
        </p:nvSpPr>
        <p:spPr>
          <a:xfrm>
            <a:off x="8366760" y="5202936"/>
            <a:ext cx="237744" cy="237744"/>
          </a:xfrm>
          <a:prstGeom prst="ellipse">
            <a:avLst/>
          </a:prstGeom>
          <a:solidFill>
            <a:srgbClr val="2F6FD6"/>
          </a:solidFill>
          <a:ln w="6350">
            <a:solidFill>
              <a:srgbClr val="9AA8B6"/>
            </a:solidFill>
            <a:prstDash val="solid"/>
          </a:ln>
        </p:spPr>
      </p:sp>
      <p:sp>
        <p:nvSpPr>
          <p:cNvPr id="39" name="Text 37"/>
          <p:cNvSpPr txBox="1"/>
          <p:nvPr/>
        </p:nvSpPr>
        <p:spPr>
          <a:xfrm>
            <a:off x="8686800" y="5157216"/>
            <a:ext cx="2880360" cy="320040"/>
          </a:xfrm>
          <a:prstGeom prst="rect">
            <a:avLst/>
          </a:prstGeom>
          <a:noFill/>
          <a:ln/>
        </p:spPr>
        <p:txBody>
          <a:bodyPr wrap="square" lIns="0" tIns="0" rIns="0" bIns="0" rtlCol="0" anchor="ctr"/>
          <a:lstStyle/>
          <a:p>
            <a:pPr indent="0" marL="0">
              <a:buNone/>
            </a:pPr>
            <a:r>
              <a:rPr lang="en-US" sz="1400" b="1" dirty="0">
                <a:solidFill>
                  <a:schemeClr val="tx2"/>
                </a:solidFill>
              </a:rPr>
              <a:t>ÉCONOMIQUE  </a:t>
            </a:r>
            <a:pPr indent="0" marL="0">
              <a:buNone/>
            </a:pPr>
            <a:r>
              <a:rPr lang="en-US" sz="1400" dirty="0">
                <a:solidFill>
                  <a:schemeClr val="accent6"/>
                </a:solidFill>
              </a:rPr>
              <a:t>LED bleue</a:t>
            </a:r>
            <a:endParaRPr lang="en-US" sz="1400" dirty="0"/>
          </a:p>
        </p:txBody>
      </p:sp>
      <p:sp>
        <p:nvSpPr>
          <p:cNvPr id="40" name="Text 38"/>
          <p:cNvSpPr txBox="1"/>
          <p:nvPr/>
        </p:nvSpPr>
        <p:spPr>
          <a:xfrm>
            <a:off x="8366760" y="5504688"/>
            <a:ext cx="3154680" cy="594360"/>
          </a:xfrm>
          <a:prstGeom prst="rect">
            <a:avLst/>
          </a:prstGeom>
          <a:noFill/>
          <a:ln/>
        </p:spPr>
        <p:txBody>
          <a:bodyPr wrap="square" lIns="0" tIns="0" rIns="0" bIns="0" rtlCol="0" anchor="t"/>
          <a:lstStyle/>
          <a:p>
            <a:pPr indent="0" marL="0">
              <a:buNone/>
            </a:pPr>
            <a:r>
              <a:rPr lang="en-US" sz="1250" dirty="0">
                <a:solidFill>
                  <a:schemeClr val="tx1"/>
                </a:solidFill>
              </a:rPr>
              <a:t>Intervalle × 2 ; GPS lu une mesure sur deux</a:t>
            </a:r>
            <a:endParaRPr lang="en-US" sz="1250" dirty="0"/>
          </a:p>
        </p:txBody>
      </p:sp>
      <p:sp>
        <p:nvSpPr>
          <p:cNvPr id="25" name="Slide Number Placeholder 0"/>
          <p:cNvSpPr>
            <a:spLocks noGrp="1"/>
          </p:cNvSpPr>
          <p:nvPr>
            <p:ph type="sldNum" sz="quarter" idx="4294967295"/>
          </p:nvPr>
        </p:nvSpPr>
        <p:spPr>
          <a:xfrm>
            <a:off x="11091672" y="6455664"/>
            <a:ext cx="548640" cy="237744"/>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6"/>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9144000" cy="274320"/>
          </a:xfrm>
          <a:prstGeom prst="rect">
            <a:avLst/>
          </a:prstGeom>
          <a:noFill/>
          <a:ln/>
        </p:spPr>
        <p:txBody>
          <a:bodyPr wrap="square" lIns="0" tIns="0" rIns="0" bIns="0" rtlCol="0" anchor="t"/>
          <a:lstStyle/>
          <a:p>
            <a:pPr indent="0" marL="0">
              <a:buNone/>
            </a:pPr>
            <a:r>
              <a:rPr lang="en-US" sz="1200" b="1" spc="150" kern="0" dirty="0">
                <a:solidFill>
                  <a:schemeClr val="accent1"/>
                </a:solidFill>
              </a:rPr>
              <a:t>03 · FONCTIONNEMENT LOGICIEL</a:t>
            </a:r>
            <a:endParaRPr lang="en-US" sz="1200" dirty="0"/>
          </a:p>
        </p:txBody>
      </p:sp>
      <p:sp>
        <p:nvSpPr>
          <p:cNvPr id="3" name="Text 0"/>
          <p:cNvSpPr/>
          <p:nvPr>
            <p:ph idx="101" type="title" hasCustomPrompt="1"/>
          </p:nvPr>
        </p:nvSpPr>
        <p:spPr>
          <a:xfrm>
            <a:off x="548640" y="621792"/>
            <a:ext cx="11091672" cy="640080"/>
          </a:xfrm>
          <a:prstGeom prst="rect">
            <a:avLst/>
          </a:prstGeom>
          <a:noFill/>
          <a:ln/>
        </p:spPr>
        <p:txBody>
          <a:bodyPr wrap="square" lIns="0" tIns="0" rIns="0" bIns="0" rtlCol="0" anchor="t"/>
          <a:lstStyle/>
          <a:p>
            <a:pPr algn="l" indent="0" marL="0">
              <a:buNone/>
            </a:pPr>
            <a:r>
              <a:rPr lang="en-US" sz="3000" b="1" dirty="0">
                <a:solidFill>
                  <a:schemeClr val="tx2"/>
                </a:solidFill>
              </a:rPr>
              <a:t>Interruptions et événements</a:t>
            </a:r>
            <a:endParaRPr lang="en-US" sz="30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48640" y="1463040"/>
          <a:ext cx="6583680" cy="914400"/>
        </p:xfrm>
        <a:graphic>
          <a:graphicData uri="http://schemas.openxmlformats.org/drawingml/2006/table">
            <a:tbl>
              <a:tblPr/>
              <a:tblGrid>
                <a:gridCol w="1645920"/>
                <a:gridCol w="1920240"/>
                <a:gridCol w="3017520"/>
              </a:tblGrid>
              <a:tr h="384048">
                <a:tc>
                  <a:txBody>
                    <a:bodyPr/>
                    <a:lstStyle/>
                    <a:p>
                      <a:pPr indent="0" marL="0">
                        <a:buNone/>
                      </a:pPr>
                      <a:r>
                        <a:rPr lang="en-US" sz="1300" b="1" dirty="0">
                          <a:solidFill>
                            <a:schemeClr val="bg1"/>
                          </a:solidFill>
                          <a:latin typeface="Calibri" pitchFamily="34" charset="0"/>
                          <a:ea typeface="Calibri" pitchFamily="34" charset="-122"/>
                          <a:cs typeface="Calibri" pitchFamily="34" charset="-120"/>
                        </a:rPr>
                        <a:t>Source</a:t>
                      </a:r>
                      <a:endParaRPr lang="en-US" sz="1300" dirty="0">
                        <a:latin typeface="Calibri" charset="0"/>
                        <a:ea typeface="Calibri" charset="0"/>
                        <a:cs typeface="Calibri" charset="0"/>
                      </a:endParaRPr>
                    </a:p>
                  </a:txBody>
                  <a:tcPr marL="91440" marR="91440" marT="36576" marB="36576" anchor="ctr">
                    <a:lnL w="6350" cap="flat" cmpd="sng" algn="ctr">
                      <a:solidFill>
                        <a:srgbClr val="D5DEE7"/>
                      </a:solidFill>
                      <a:prstDash val="solid"/>
                      <a:round/>
                      <a:headEnd type="none" w="med" len="med"/>
                      <a:tailEnd type="none" w="med" len="med"/>
                    </a:lnL>
                    <a:lnR w="6350" cap="flat" cmpd="sng" algn="ctr">
                      <a:solidFill>
                        <a:srgbClr val="D5DEE7"/>
                      </a:solidFill>
                      <a:prstDash val="solid"/>
                      <a:round/>
                      <a:headEnd type="none" w="med" len="med"/>
                      <a:tailEnd type="none" w="med" len="med"/>
                    </a:lnR>
                    <a:lnT w="6350" cap="flat" cmpd="sng" algn="ctr">
                      <a:solidFill>
                        <a:srgbClr val="D5DEE7"/>
                      </a:solidFill>
                      <a:prstDash val="solid"/>
                      <a:round/>
                      <a:headEnd type="none" w="med" len="med"/>
                      <a:tailEnd type="none" w="med" len="med"/>
                    </a:lnT>
                    <a:lnB w="6350" cap="flat" cmpd="sng" algn="ctr">
                      <a:solidFill>
                        <a:srgbClr val="D5DEE7"/>
                      </a:solidFill>
                      <a:prstDash val="solid"/>
                      <a:round/>
                      <a:headEnd type="none" w="med" len="med"/>
                      <a:tailEnd type="none" w="med" len="med"/>
                    </a:lnB>
                    <a:solidFill>
                      <a:schemeClr val="tx2"/>
                    </a:solidFill>
                  </a:tcPr>
                </a:tc>
                <a:tc>
                  <a:txBody>
                    <a:bodyPr/>
                    <a:lstStyle/>
                    <a:p>
                      <a:pPr indent="0" marL="0">
                        <a:buNone/>
                      </a:pPr>
                      <a:r>
                        <a:rPr lang="en-US" sz="1300" b="1" dirty="0">
                          <a:solidFill>
                            <a:schemeClr val="bg1"/>
                          </a:solidFill>
                          <a:latin typeface="Calibri" pitchFamily="34" charset="0"/>
                          <a:ea typeface="Calibri" pitchFamily="34" charset="-122"/>
                          <a:cs typeface="Calibri" pitchFamily="34" charset="-120"/>
                        </a:rPr>
                        <a:t>Déclenchée par</a:t>
                      </a:r>
                      <a:endParaRPr lang="en-US" sz="1300" dirty="0">
                        <a:latin typeface="Calibri" charset="0"/>
                        <a:ea typeface="Calibri" charset="0"/>
                        <a:cs typeface="Calibri" charset="0"/>
                      </a:endParaRPr>
                    </a:p>
                  </a:txBody>
                  <a:tcPr marL="91440" marR="91440" marT="36576" marB="36576" anchor="ctr">
                    <a:lnL w="6350" cap="flat" cmpd="sng" algn="ctr">
                      <a:solidFill>
                        <a:srgbClr val="D5DEE7"/>
                      </a:solidFill>
                      <a:prstDash val="solid"/>
                      <a:round/>
                      <a:headEnd type="none" w="med" len="med"/>
                      <a:tailEnd type="none" w="med" len="med"/>
                    </a:lnL>
                    <a:lnR w="6350" cap="flat" cmpd="sng" algn="ctr">
                      <a:solidFill>
                        <a:srgbClr val="D5DEE7"/>
                      </a:solidFill>
                      <a:prstDash val="solid"/>
                      <a:round/>
                      <a:headEnd type="none" w="med" len="med"/>
                      <a:tailEnd type="none" w="med" len="med"/>
                    </a:lnR>
                    <a:lnT w="6350" cap="flat" cmpd="sng" algn="ctr">
                      <a:solidFill>
                        <a:srgbClr val="D5DEE7"/>
                      </a:solidFill>
                      <a:prstDash val="solid"/>
                      <a:round/>
                      <a:headEnd type="none" w="med" len="med"/>
                      <a:tailEnd type="none" w="med" len="med"/>
                    </a:lnT>
                    <a:lnB w="6350" cap="flat" cmpd="sng" algn="ctr">
                      <a:solidFill>
                        <a:srgbClr val="D5DEE7"/>
                      </a:solidFill>
                      <a:prstDash val="solid"/>
                      <a:round/>
                      <a:headEnd type="none" w="med" len="med"/>
                      <a:tailEnd type="none" w="med" len="med"/>
                    </a:lnB>
                    <a:solidFill>
                      <a:schemeClr val="tx2"/>
                    </a:solidFill>
                  </a:tcPr>
                </a:tc>
                <a:tc>
                  <a:txBody>
                    <a:bodyPr/>
                    <a:lstStyle/>
                    <a:p>
                      <a:pPr indent="0" marL="0">
                        <a:buNone/>
                      </a:pPr>
                      <a:r>
                        <a:rPr lang="en-US" sz="1300" b="1" dirty="0">
                          <a:solidFill>
                            <a:schemeClr val="bg1"/>
                          </a:solidFill>
                          <a:latin typeface="Calibri" pitchFamily="34" charset="0"/>
                          <a:ea typeface="Calibri" pitchFamily="34" charset="-122"/>
                          <a:cs typeface="Calibri" pitchFamily="34" charset="-120"/>
                        </a:rPr>
                        <a:t>Rôle de la routine d'interruption</a:t>
                      </a:r>
                      <a:endParaRPr lang="en-US" sz="1300" dirty="0">
                        <a:latin typeface="Calibri" charset="0"/>
                        <a:ea typeface="Calibri" charset="0"/>
                        <a:cs typeface="Calibri" charset="0"/>
                      </a:endParaRPr>
                    </a:p>
                  </a:txBody>
                  <a:tcPr marL="91440" marR="91440" marT="36576" marB="36576" anchor="ctr">
                    <a:lnL w="6350" cap="flat" cmpd="sng" algn="ctr">
                      <a:solidFill>
                        <a:srgbClr val="D5DEE7"/>
                      </a:solidFill>
                      <a:prstDash val="solid"/>
                      <a:round/>
                      <a:headEnd type="none" w="med" len="med"/>
                      <a:tailEnd type="none" w="med" len="med"/>
                    </a:lnL>
                    <a:lnR w="6350" cap="flat" cmpd="sng" algn="ctr">
                      <a:solidFill>
                        <a:srgbClr val="D5DEE7"/>
                      </a:solidFill>
                      <a:prstDash val="solid"/>
                      <a:round/>
                      <a:headEnd type="none" w="med" len="med"/>
                      <a:tailEnd type="none" w="med" len="med"/>
                    </a:lnR>
                    <a:lnT w="6350" cap="flat" cmpd="sng" algn="ctr">
                      <a:solidFill>
                        <a:srgbClr val="D5DEE7"/>
                      </a:solidFill>
                      <a:prstDash val="solid"/>
                      <a:round/>
                      <a:headEnd type="none" w="med" len="med"/>
                      <a:tailEnd type="none" w="med" len="med"/>
                    </a:lnT>
                    <a:lnB w="6350" cap="flat" cmpd="sng" algn="ctr">
                      <a:solidFill>
                        <a:srgbClr val="D5DEE7"/>
                      </a:solidFill>
                      <a:prstDash val="solid"/>
                      <a:round/>
                      <a:headEnd type="none" w="med" len="med"/>
                      <a:tailEnd type="none" w="med" len="med"/>
                    </a:lnB>
                    <a:solidFill>
                      <a:schemeClr val="tx2"/>
                    </a:solidFill>
                  </a:tcPr>
                </a:tc>
              </a:tr>
              <a:tr h="713232">
                <a:tc>
                  <a:txBody>
                    <a:bodyPr/>
                    <a:lstStyle/>
                    <a:p>
                      <a:pPr indent="0" marL="0">
                        <a:buNone/>
                      </a:pPr>
                      <a:r>
                        <a:rPr lang="en-US" sz="1300" b="1" dirty="0">
                          <a:solidFill>
                            <a:schemeClr val="tx2"/>
                          </a:solidFill>
                          <a:latin typeface="Calibri" pitchFamily="34" charset="0"/>
                          <a:ea typeface="Calibri" pitchFamily="34" charset="-122"/>
                          <a:cs typeface="Calibri" pitchFamily="34" charset="-120"/>
                        </a:rPr>
                        <a:t>SysTick · 1 ms</a:t>
                      </a:r>
                      <a:endParaRPr lang="en-US" sz="1300" dirty="0">
                        <a:latin typeface="Calibri" charset="0"/>
                        <a:ea typeface="Calibri" charset="0"/>
                        <a:cs typeface="Calibri" charset="0"/>
                      </a:endParaRPr>
                    </a:p>
                  </a:txBody>
                  <a:tcPr marL="91440" marR="91440" marT="36576" marB="36576" anchor="ctr">
                    <a:lnL w="6350" cap="flat" cmpd="sng" algn="ctr">
                      <a:solidFill>
                        <a:srgbClr val="D5DEE7"/>
                      </a:solidFill>
                      <a:prstDash val="solid"/>
                      <a:round/>
                      <a:headEnd type="none" w="med" len="med"/>
                      <a:tailEnd type="none" w="med" len="med"/>
                    </a:lnL>
                    <a:lnR w="6350" cap="flat" cmpd="sng" algn="ctr">
                      <a:solidFill>
                        <a:srgbClr val="D5DEE7"/>
                      </a:solidFill>
                      <a:prstDash val="solid"/>
                      <a:round/>
                      <a:headEnd type="none" w="med" len="med"/>
                      <a:tailEnd type="none" w="med" len="med"/>
                    </a:lnR>
                    <a:lnT w="6350" cap="flat" cmpd="sng" algn="ctr">
                      <a:solidFill>
                        <a:srgbClr val="D5DEE7"/>
                      </a:solidFill>
                      <a:prstDash val="solid"/>
                      <a:round/>
                      <a:headEnd type="none" w="med" len="med"/>
                      <a:tailEnd type="none" w="med" len="med"/>
                    </a:lnT>
                    <a:lnB w="6350" cap="flat" cmpd="sng" algn="ctr">
                      <a:solidFill>
                        <a:srgbClr val="D5DEE7"/>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latin typeface="Calibri" pitchFamily="34" charset="0"/>
                          <a:ea typeface="Calibri" pitchFamily="34" charset="-122"/>
                          <a:cs typeface="Calibri" pitchFamily="34" charset="-120"/>
                        </a:rPr>
                        <a:t>Horloge système</a:t>
                      </a:r>
                      <a:endParaRPr lang="en-US" sz="1300" dirty="0">
                        <a:latin typeface="Calibri" charset="0"/>
                        <a:ea typeface="Calibri" charset="0"/>
                        <a:cs typeface="Calibri" charset="0"/>
                      </a:endParaRPr>
                    </a:p>
                  </a:txBody>
                  <a:tcPr marL="91440" marR="91440" marT="36576" marB="36576" anchor="ctr">
                    <a:lnL w="6350" cap="flat" cmpd="sng" algn="ctr">
                      <a:solidFill>
                        <a:srgbClr val="D5DEE7"/>
                      </a:solidFill>
                      <a:prstDash val="solid"/>
                      <a:round/>
                      <a:headEnd type="none" w="med" len="med"/>
                      <a:tailEnd type="none" w="med" len="med"/>
                    </a:lnL>
                    <a:lnR w="6350" cap="flat" cmpd="sng" algn="ctr">
                      <a:solidFill>
                        <a:srgbClr val="D5DEE7"/>
                      </a:solidFill>
                      <a:prstDash val="solid"/>
                      <a:round/>
                      <a:headEnd type="none" w="med" len="med"/>
                      <a:tailEnd type="none" w="med" len="med"/>
                    </a:lnR>
                    <a:lnT w="6350" cap="flat" cmpd="sng" algn="ctr">
                      <a:solidFill>
                        <a:srgbClr val="D5DEE7"/>
                      </a:solidFill>
                      <a:prstDash val="solid"/>
                      <a:round/>
                      <a:headEnd type="none" w="med" len="med"/>
                      <a:tailEnd type="none" w="med" len="med"/>
                    </a:lnT>
                    <a:lnB w="6350" cap="flat" cmpd="sng" algn="ctr">
                      <a:solidFill>
                        <a:srgbClr val="D5DEE7"/>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latin typeface="Calibri" pitchFamily="34" charset="0"/>
                          <a:ea typeface="Calibri" pitchFamily="34" charset="-122"/>
                          <a:cs typeface="Calibri" pitchFamily="34" charset="-120"/>
                        </a:rPr>
                        <a:t>Détecte l'appui long (≥ 5 s) ; anime la LED (couleurs, 1 Hz)</a:t>
                      </a:r>
                      <a:endParaRPr lang="en-US" sz="1300" dirty="0">
                        <a:latin typeface="Calibri" charset="0"/>
                        <a:ea typeface="Calibri" charset="0"/>
                        <a:cs typeface="Calibri" charset="0"/>
                      </a:endParaRPr>
                    </a:p>
                  </a:txBody>
                  <a:tcPr marL="91440" marR="91440" marT="36576" marB="36576" anchor="ctr">
                    <a:lnL w="6350" cap="flat" cmpd="sng" algn="ctr">
                      <a:solidFill>
                        <a:srgbClr val="D5DEE7"/>
                      </a:solidFill>
                      <a:prstDash val="solid"/>
                      <a:round/>
                      <a:headEnd type="none" w="med" len="med"/>
                      <a:tailEnd type="none" w="med" len="med"/>
                    </a:lnL>
                    <a:lnR w="6350" cap="flat" cmpd="sng" algn="ctr">
                      <a:solidFill>
                        <a:srgbClr val="D5DEE7"/>
                      </a:solidFill>
                      <a:prstDash val="solid"/>
                      <a:round/>
                      <a:headEnd type="none" w="med" len="med"/>
                      <a:tailEnd type="none" w="med" len="med"/>
                    </a:lnR>
                    <a:lnT w="6350" cap="flat" cmpd="sng" algn="ctr">
                      <a:solidFill>
                        <a:srgbClr val="D5DEE7"/>
                      </a:solidFill>
                      <a:prstDash val="solid"/>
                      <a:round/>
                      <a:headEnd type="none" w="med" len="med"/>
                      <a:tailEnd type="none" w="med" len="med"/>
                    </a:lnT>
                    <a:lnB w="6350" cap="flat" cmpd="sng" algn="ctr">
                      <a:solidFill>
                        <a:srgbClr val="D5DEE7"/>
                      </a:solidFill>
                      <a:prstDash val="solid"/>
                      <a:round/>
                      <a:headEnd type="none" w="med" len="med"/>
                      <a:tailEnd type="none" w="med" len="med"/>
                    </a:lnB>
                    <a:solidFill>
                      <a:schemeClr val="bg1"/>
                    </a:solidFill>
                  </a:tcPr>
                </a:tc>
              </a:tr>
              <a:tr h="713232">
                <a:tc>
                  <a:txBody>
                    <a:bodyPr/>
                    <a:lstStyle/>
                    <a:p>
                      <a:pPr indent="0" marL="0">
                        <a:buNone/>
                      </a:pPr>
                      <a:r>
                        <a:rPr lang="en-US" sz="1300" b="1" dirty="0">
                          <a:solidFill>
                            <a:schemeClr val="tx2"/>
                          </a:solidFill>
                          <a:latin typeface="Calibri" pitchFamily="34" charset="0"/>
                          <a:ea typeface="Calibri" pitchFamily="34" charset="-122"/>
                          <a:cs typeface="Calibri" pitchFamily="34" charset="-120"/>
                        </a:rPr>
                        <a:t>EXTI3 · EXTI15_10</a:t>
                      </a:r>
                      <a:endParaRPr lang="en-US" sz="1300" dirty="0">
                        <a:latin typeface="Calibri" charset="0"/>
                        <a:ea typeface="Calibri" charset="0"/>
                        <a:cs typeface="Calibri" charset="0"/>
                      </a:endParaRPr>
                    </a:p>
                  </a:txBody>
                  <a:tcPr marL="91440" marR="91440" marT="36576" marB="36576" anchor="ctr">
                    <a:lnL w="6350" cap="flat" cmpd="sng" algn="ctr">
                      <a:solidFill>
                        <a:srgbClr val="D5DEE7"/>
                      </a:solidFill>
                      <a:prstDash val="solid"/>
                      <a:round/>
                      <a:headEnd type="none" w="med" len="med"/>
                      <a:tailEnd type="none" w="med" len="med"/>
                    </a:lnL>
                    <a:lnR w="6350" cap="flat" cmpd="sng" algn="ctr">
                      <a:solidFill>
                        <a:srgbClr val="D5DEE7"/>
                      </a:solidFill>
                      <a:prstDash val="solid"/>
                      <a:round/>
                      <a:headEnd type="none" w="med" len="med"/>
                      <a:tailEnd type="none" w="med" len="med"/>
                    </a:lnR>
                    <a:lnT w="6350" cap="flat" cmpd="sng" algn="ctr">
                      <a:solidFill>
                        <a:srgbClr val="D5DEE7"/>
                      </a:solidFill>
                      <a:prstDash val="solid"/>
                      <a:round/>
                      <a:headEnd type="none" w="med" len="med"/>
                      <a:tailEnd type="none" w="med" len="med"/>
                    </a:lnT>
                    <a:lnB w="6350" cap="flat" cmpd="sng" algn="ctr">
                      <a:solidFill>
                        <a:srgbClr val="D5DEE7"/>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latin typeface="Calibri" pitchFamily="34" charset="0"/>
                          <a:ea typeface="Calibri" pitchFamily="34" charset="-122"/>
                          <a:cs typeface="Calibri" pitchFamily="34" charset="-120"/>
                        </a:rPr>
                        <a:t>Front montant ou descendant sur PC3 / PC13</a:t>
                      </a:r>
                      <a:endParaRPr lang="en-US" sz="1300" dirty="0">
                        <a:latin typeface="Calibri" charset="0"/>
                        <a:ea typeface="Calibri" charset="0"/>
                        <a:cs typeface="Calibri" charset="0"/>
                      </a:endParaRPr>
                    </a:p>
                  </a:txBody>
                  <a:tcPr marL="91440" marR="91440" marT="36576" marB="36576" anchor="ctr">
                    <a:lnL w="6350" cap="flat" cmpd="sng" algn="ctr">
                      <a:solidFill>
                        <a:srgbClr val="D5DEE7"/>
                      </a:solidFill>
                      <a:prstDash val="solid"/>
                      <a:round/>
                      <a:headEnd type="none" w="med" len="med"/>
                      <a:tailEnd type="none" w="med" len="med"/>
                    </a:lnL>
                    <a:lnR w="6350" cap="flat" cmpd="sng" algn="ctr">
                      <a:solidFill>
                        <a:srgbClr val="D5DEE7"/>
                      </a:solidFill>
                      <a:prstDash val="solid"/>
                      <a:round/>
                      <a:headEnd type="none" w="med" len="med"/>
                      <a:tailEnd type="none" w="med" len="med"/>
                    </a:lnR>
                    <a:lnT w="6350" cap="flat" cmpd="sng" algn="ctr">
                      <a:solidFill>
                        <a:srgbClr val="D5DEE7"/>
                      </a:solidFill>
                      <a:prstDash val="solid"/>
                      <a:round/>
                      <a:headEnd type="none" w="med" len="med"/>
                      <a:tailEnd type="none" w="med" len="med"/>
                    </a:lnT>
                    <a:lnB w="6350" cap="flat" cmpd="sng" algn="ctr">
                      <a:solidFill>
                        <a:srgbClr val="D5DEE7"/>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latin typeface="Calibri" pitchFamily="34" charset="0"/>
                          <a:ea typeface="Calibri" pitchFamily="34" charset="-122"/>
                          <a:cs typeface="Calibri" pitchFamily="34" charset="-120"/>
                        </a:rPr>
                        <a:t>Anti-rebond 20 ms ; mémorise l'instant de l'appui</a:t>
                      </a:r>
                      <a:endParaRPr lang="en-US" sz="1300" dirty="0">
                        <a:latin typeface="Calibri" charset="0"/>
                        <a:ea typeface="Calibri" charset="0"/>
                        <a:cs typeface="Calibri" charset="0"/>
                      </a:endParaRPr>
                    </a:p>
                  </a:txBody>
                  <a:tcPr marL="91440" marR="91440" marT="36576" marB="36576" anchor="ctr">
                    <a:lnL w="6350" cap="flat" cmpd="sng" algn="ctr">
                      <a:solidFill>
                        <a:srgbClr val="D5DEE7"/>
                      </a:solidFill>
                      <a:prstDash val="solid"/>
                      <a:round/>
                      <a:headEnd type="none" w="med" len="med"/>
                      <a:tailEnd type="none" w="med" len="med"/>
                    </a:lnL>
                    <a:lnR w="6350" cap="flat" cmpd="sng" algn="ctr">
                      <a:solidFill>
                        <a:srgbClr val="D5DEE7"/>
                      </a:solidFill>
                      <a:prstDash val="solid"/>
                      <a:round/>
                      <a:headEnd type="none" w="med" len="med"/>
                      <a:tailEnd type="none" w="med" len="med"/>
                    </a:lnR>
                    <a:lnT w="6350" cap="flat" cmpd="sng" algn="ctr">
                      <a:solidFill>
                        <a:srgbClr val="D5DEE7"/>
                      </a:solidFill>
                      <a:prstDash val="solid"/>
                      <a:round/>
                      <a:headEnd type="none" w="med" len="med"/>
                      <a:tailEnd type="none" w="med" len="med"/>
                    </a:lnT>
                    <a:lnB w="6350" cap="flat" cmpd="sng" algn="ctr">
                      <a:solidFill>
                        <a:srgbClr val="D5DEE7"/>
                      </a:solidFill>
                      <a:prstDash val="solid"/>
                      <a:round/>
                      <a:headEnd type="none" w="med" len="med"/>
                      <a:tailEnd type="none" w="med" len="med"/>
                    </a:lnB>
                    <a:solidFill>
                      <a:schemeClr val="bg2"/>
                    </a:solidFill>
                  </a:tcPr>
                </a:tc>
              </a:tr>
              <a:tr h="713232">
                <a:tc>
                  <a:txBody>
                    <a:bodyPr/>
                    <a:lstStyle/>
                    <a:p>
                      <a:pPr indent="0" marL="0">
                        <a:buNone/>
                      </a:pPr>
                      <a:r>
                        <a:rPr lang="en-US" sz="1300" b="1" dirty="0">
                          <a:solidFill>
                            <a:schemeClr val="tx2"/>
                          </a:solidFill>
                          <a:latin typeface="Calibri" pitchFamily="34" charset="0"/>
                          <a:ea typeface="Calibri" pitchFamily="34" charset="-122"/>
                          <a:cs typeface="Calibri" pitchFamily="34" charset="-120"/>
                        </a:rPr>
                        <a:t>USART2 RX</a:t>
                      </a:r>
                      <a:endParaRPr lang="en-US" sz="1300" dirty="0">
                        <a:latin typeface="Calibri" charset="0"/>
                        <a:ea typeface="Calibri" charset="0"/>
                        <a:cs typeface="Calibri" charset="0"/>
                      </a:endParaRPr>
                    </a:p>
                  </a:txBody>
                  <a:tcPr marL="91440" marR="91440" marT="36576" marB="36576" anchor="ctr">
                    <a:lnL w="6350" cap="flat" cmpd="sng" algn="ctr">
                      <a:solidFill>
                        <a:srgbClr val="D5DEE7"/>
                      </a:solidFill>
                      <a:prstDash val="solid"/>
                      <a:round/>
                      <a:headEnd type="none" w="med" len="med"/>
                      <a:tailEnd type="none" w="med" len="med"/>
                    </a:lnL>
                    <a:lnR w="6350" cap="flat" cmpd="sng" algn="ctr">
                      <a:solidFill>
                        <a:srgbClr val="D5DEE7"/>
                      </a:solidFill>
                      <a:prstDash val="solid"/>
                      <a:round/>
                      <a:headEnd type="none" w="med" len="med"/>
                      <a:tailEnd type="none" w="med" len="med"/>
                    </a:lnR>
                    <a:lnT w="6350" cap="flat" cmpd="sng" algn="ctr">
                      <a:solidFill>
                        <a:srgbClr val="D5DEE7"/>
                      </a:solidFill>
                      <a:prstDash val="solid"/>
                      <a:round/>
                      <a:headEnd type="none" w="med" len="med"/>
                      <a:tailEnd type="none" w="med" len="med"/>
                    </a:lnT>
                    <a:lnB w="6350" cap="flat" cmpd="sng" algn="ctr">
                      <a:solidFill>
                        <a:srgbClr val="D5DEE7"/>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latin typeface="Calibri" pitchFamily="34" charset="0"/>
                          <a:ea typeface="Calibri" pitchFamily="34" charset="-122"/>
                          <a:cs typeface="Calibri" pitchFamily="34" charset="-120"/>
                        </a:rPr>
                        <a:t>Octet reçu de la console</a:t>
                      </a:r>
                      <a:endParaRPr lang="en-US" sz="1300" dirty="0">
                        <a:latin typeface="Calibri" charset="0"/>
                        <a:ea typeface="Calibri" charset="0"/>
                        <a:cs typeface="Calibri" charset="0"/>
                      </a:endParaRPr>
                    </a:p>
                  </a:txBody>
                  <a:tcPr marL="91440" marR="91440" marT="36576" marB="36576" anchor="ctr">
                    <a:lnL w="6350" cap="flat" cmpd="sng" algn="ctr">
                      <a:solidFill>
                        <a:srgbClr val="D5DEE7"/>
                      </a:solidFill>
                      <a:prstDash val="solid"/>
                      <a:round/>
                      <a:headEnd type="none" w="med" len="med"/>
                      <a:tailEnd type="none" w="med" len="med"/>
                    </a:lnL>
                    <a:lnR w="6350" cap="flat" cmpd="sng" algn="ctr">
                      <a:solidFill>
                        <a:srgbClr val="D5DEE7"/>
                      </a:solidFill>
                      <a:prstDash val="solid"/>
                      <a:round/>
                      <a:headEnd type="none" w="med" len="med"/>
                      <a:tailEnd type="none" w="med" len="med"/>
                    </a:lnR>
                    <a:lnT w="6350" cap="flat" cmpd="sng" algn="ctr">
                      <a:solidFill>
                        <a:srgbClr val="D5DEE7"/>
                      </a:solidFill>
                      <a:prstDash val="solid"/>
                      <a:round/>
                      <a:headEnd type="none" w="med" len="med"/>
                      <a:tailEnd type="none" w="med" len="med"/>
                    </a:lnT>
                    <a:lnB w="6350" cap="flat" cmpd="sng" algn="ctr">
                      <a:solidFill>
                        <a:srgbClr val="D5DEE7"/>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latin typeface="Calibri" pitchFamily="34" charset="0"/>
                          <a:ea typeface="Calibri" pitchFamily="34" charset="-122"/>
                          <a:cs typeface="Calibri" pitchFamily="34" charset="-120"/>
                        </a:rPr>
                        <a:t>Assemble la commande jusqu'à « Entrée » → drapeau cmd_prete</a:t>
                      </a:r>
                      <a:endParaRPr lang="en-US" sz="1300" dirty="0">
                        <a:latin typeface="Calibri" charset="0"/>
                        <a:ea typeface="Calibri" charset="0"/>
                        <a:cs typeface="Calibri" charset="0"/>
                      </a:endParaRPr>
                    </a:p>
                  </a:txBody>
                  <a:tcPr marL="91440" marR="91440" marT="36576" marB="36576" anchor="ctr">
                    <a:lnL w="6350" cap="flat" cmpd="sng" algn="ctr">
                      <a:solidFill>
                        <a:srgbClr val="D5DEE7"/>
                      </a:solidFill>
                      <a:prstDash val="solid"/>
                      <a:round/>
                      <a:headEnd type="none" w="med" len="med"/>
                      <a:tailEnd type="none" w="med" len="med"/>
                    </a:lnL>
                    <a:lnR w="6350" cap="flat" cmpd="sng" algn="ctr">
                      <a:solidFill>
                        <a:srgbClr val="D5DEE7"/>
                      </a:solidFill>
                      <a:prstDash val="solid"/>
                      <a:round/>
                      <a:headEnd type="none" w="med" len="med"/>
                      <a:tailEnd type="none" w="med" len="med"/>
                    </a:lnR>
                    <a:lnT w="6350" cap="flat" cmpd="sng" algn="ctr">
                      <a:solidFill>
                        <a:srgbClr val="D5DEE7"/>
                      </a:solidFill>
                      <a:prstDash val="solid"/>
                      <a:round/>
                      <a:headEnd type="none" w="med" len="med"/>
                      <a:tailEnd type="none" w="med" len="med"/>
                    </a:lnT>
                    <a:lnB w="6350" cap="flat" cmpd="sng" algn="ctr">
                      <a:solidFill>
                        <a:srgbClr val="D5DEE7"/>
                      </a:solidFill>
                      <a:prstDash val="solid"/>
                      <a:round/>
                      <a:headEnd type="none" w="med" len="med"/>
                      <a:tailEnd type="none" w="med" len="med"/>
                    </a:lnB>
                    <a:solidFill>
                      <a:schemeClr val="bg1"/>
                    </a:solidFill>
                  </a:tcPr>
                </a:tc>
              </a:tr>
              <a:tr h="713232">
                <a:tc>
                  <a:txBody>
                    <a:bodyPr/>
                    <a:lstStyle/>
                    <a:p>
                      <a:pPr indent="0" marL="0">
                        <a:buNone/>
                      </a:pPr>
                      <a:r>
                        <a:rPr lang="en-US" sz="1300" b="1" dirty="0">
                          <a:solidFill>
                            <a:schemeClr val="tx2"/>
                          </a:solidFill>
                          <a:latin typeface="Calibri" pitchFamily="34" charset="0"/>
                          <a:ea typeface="Calibri" pitchFamily="34" charset="-122"/>
                          <a:cs typeface="Calibri" pitchFamily="34" charset="-120"/>
                        </a:rPr>
                        <a:t>USART3 RX</a:t>
                      </a:r>
                      <a:endParaRPr lang="en-US" sz="1300" dirty="0">
                        <a:latin typeface="Calibri" charset="0"/>
                        <a:ea typeface="Calibri" charset="0"/>
                        <a:cs typeface="Calibri" charset="0"/>
                      </a:endParaRPr>
                    </a:p>
                  </a:txBody>
                  <a:tcPr marL="91440" marR="91440" marT="36576" marB="36576" anchor="ctr">
                    <a:lnL w="6350" cap="flat" cmpd="sng" algn="ctr">
                      <a:solidFill>
                        <a:srgbClr val="D5DEE7"/>
                      </a:solidFill>
                      <a:prstDash val="solid"/>
                      <a:round/>
                      <a:headEnd type="none" w="med" len="med"/>
                      <a:tailEnd type="none" w="med" len="med"/>
                    </a:lnL>
                    <a:lnR w="6350" cap="flat" cmpd="sng" algn="ctr">
                      <a:solidFill>
                        <a:srgbClr val="D5DEE7"/>
                      </a:solidFill>
                      <a:prstDash val="solid"/>
                      <a:round/>
                      <a:headEnd type="none" w="med" len="med"/>
                      <a:tailEnd type="none" w="med" len="med"/>
                    </a:lnR>
                    <a:lnT w="6350" cap="flat" cmpd="sng" algn="ctr">
                      <a:solidFill>
                        <a:srgbClr val="D5DEE7"/>
                      </a:solidFill>
                      <a:prstDash val="solid"/>
                      <a:round/>
                      <a:headEnd type="none" w="med" len="med"/>
                      <a:tailEnd type="none" w="med" len="med"/>
                    </a:lnT>
                    <a:lnB w="6350" cap="flat" cmpd="sng" algn="ctr">
                      <a:solidFill>
                        <a:srgbClr val="D5DEE7"/>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latin typeface="Calibri" pitchFamily="34" charset="0"/>
                          <a:ea typeface="Calibri" pitchFamily="34" charset="-122"/>
                          <a:cs typeface="Calibri" pitchFamily="34" charset="-120"/>
                        </a:rPr>
                        <a:t>Octet reçu du GPS</a:t>
                      </a:r>
                      <a:endParaRPr lang="en-US" sz="1300" dirty="0">
                        <a:latin typeface="Calibri" charset="0"/>
                        <a:ea typeface="Calibri" charset="0"/>
                        <a:cs typeface="Calibri" charset="0"/>
                      </a:endParaRPr>
                    </a:p>
                  </a:txBody>
                  <a:tcPr marL="91440" marR="91440" marT="36576" marB="36576" anchor="ctr">
                    <a:lnL w="6350" cap="flat" cmpd="sng" algn="ctr">
                      <a:solidFill>
                        <a:srgbClr val="D5DEE7"/>
                      </a:solidFill>
                      <a:prstDash val="solid"/>
                      <a:round/>
                      <a:headEnd type="none" w="med" len="med"/>
                      <a:tailEnd type="none" w="med" len="med"/>
                    </a:lnL>
                    <a:lnR w="6350" cap="flat" cmpd="sng" algn="ctr">
                      <a:solidFill>
                        <a:srgbClr val="D5DEE7"/>
                      </a:solidFill>
                      <a:prstDash val="solid"/>
                      <a:round/>
                      <a:headEnd type="none" w="med" len="med"/>
                      <a:tailEnd type="none" w="med" len="med"/>
                    </a:lnR>
                    <a:lnT w="6350" cap="flat" cmpd="sng" algn="ctr">
                      <a:solidFill>
                        <a:srgbClr val="D5DEE7"/>
                      </a:solidFill>
                      <a:prstDash val="solid"/>
                      <a:round/>
                      <a:headEnd type="none" w="med" len="med"/>
                      <a:tailEnd type="none" w="med" len="med"/>
                    </a:lnT>
                    <a:lnB w="6350" cap="flat" cmpd="sng" algn="ctr">
                      <a:solidFill>
                        <a:srgbClr val="D5DEE7"/>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latin typeface="Calibri" pitchFamily="34" charset="0"/>
                          <a:ea typeface="Calibri" pitchFamily="34" charset="-122"/>
                          <a:cs typeface="Calibri" pitchFamily="34" charset="-120"/>
                        </a:rPr>
                        <a:t>Assemble la trame NMEA ; garde la dernière RMC et son instant</a:t>
                      </a:r>
                      <a:endParaRPr lang="en-US" sz="1300" dirty="0">
                        <a:latin typeface="Calibri" charset="0"/>
                        <a:ea typeface="Calibri" charset="0"/>
                        <a:cs typeface="Calibri" charset="0"/>
                      </a:endParaRPr>
                    </a:p>
                  </a:txBody>
                  <a:tcPr marL="91440" marR="91440" marT="36576" marB="36576" anchor="ctr">
                    <a:lnL w="6350" cap="flat" cmpd="sng" algn="ctr">
                      <a:solidFill>
                        <a:srgbClr val="D5DEE7"/>
                      </a:solidFill>
                      <a:prstDash val="solid"/>
                      <a:round/>
                      <a:headEnd type="none" w="med" len="med"/>
                      <a:tailEnd type="none" w="med" len="med"/>
                    </a:lnL>
                    <a:lnR w="6350" cap="flat" cmpd="sng" algn="ctr">
                      <a:solidFill>
                        <a:srgbClr val="D5DEE7"/>
                      </a:solidFill>
                      <a:prstDash val="solid"/>
                      <a:round/>
                      <a:headEnd type="none" w="med" len="med"/>
                      <a:tailEnd type="none" w="med" len="med"/>
                    </a:lnR>
                    <a:lnT w="6350" cap="flat" cmpd="sng" algn="ctr">
                      <a:solidFill>
                        <a:srgbClr val="D5DEE7"/>
                      </a:solidFill>
                      <a:prstDash val="solid"/>
                      <a:round/>
                      <a:headEnd type="none" w="med" len="med"/>
                      <a:tailEnd type="none" w="med" len="med"/>
                    </a:lnT>
                    <a:lnB w="6350" cap="flat" cmpd="sng" algn="ctr">
                      <a:solidFill>
                        <a:srgbClr val="D5DEE7"/>
                      </a:solidFill>
                      <a:prstDash val="solid"/>
                      <a:round/>
                      <a:headEnd type="none" w="med" len="med"/>
                      <a:tailEnd type="none" w="med" len="med"/>
                    </a:lnB>
                    <a:solidFill>
                      <a:schemeClr val="bg2"/>
                    </a:solidFill>
                  </a:tcPr>
                </a:tc>
              </a:tr>
            </a:tbl>
          </a:graphicData>
        </a:graphic>
      </p:graphicFrame>
      <p:sp>
        <p:nvSpPr>
          <p:cNvPr id="5" name="Text 2"/>
          <p:cNvSpPr/>
          <p:nvPr/>
        </p:nvSpPr>
        <p:spPr>
          <a:xfrm>
            <a:off x="548640" y="4983480"/>
            <a:ext cx="2103120" cy="1216152"/>
          </a:xfrm>
          <a:prstGeom prst="roundRect">
            <a:avLst>
              <a:gd name="adj" fmla="val 4511"/>
            </a:avLst>
          </a:prstGeom>
          <a:solidFill>
            <a:schemeClr val="accent1">
              <a:alpha val="10000"/>
            </a:schemeClr>
          </a:solidFill>
          <a:ln/>
        </p:spPr>
        <p:txBody>
          <a:bodyPr wrap="square" lIns="76200" tIns="127000" rIns="127000" bIns="76200" rtlCol="0" anchor="t"/>
          <a:lstStyle/>
          <a:p>
            <a:pPr indent="0" marL="0">
              <a:buNone/>
            </a:pPr>
            <a:r>
              <a:rPr lang="en-US" sz="1250" b="1" dirty="0">
                <a:solidFill>
                  <a:schemeClr val="accent1"/>
                </a:solidFill>
              </a:rPr>
              <a:t>Routines courtes</a:t>
            </a:r>
            <a:endParaRPr lang="en-US" sz="1250" dirty="0"/>
          </a:p>
          <a:p>
            <a:pPr indent="0" marL="0">
              <a:buNone/>
            </a:pPr>
            <a:r>
              <a:rPr lang="en-US" sz="1250" dirty="0">
                <a:solidFill>
                  <a:schemeClr val="tx1"/>
                </a:solidFill>
              </a:rPr>
              <a:t>aucun changement de mode dans une interruption</a:t>
            </a:r>
            <a:endParaRPr lang="en-US" sz="1250" dirty="0"/>
          </a:p>
        </p:txBody>
      </p:sp>
      <p:sp>
        <p:nvSpPr>
          <p:cNvPr id="6" name="Text 3"/>
          <p:cNvSpPr/>
          <p:nvPr/>
        </p:nvSpPr>
        <p:spPr>
          <a:xfrm>
            <a:off x="2788920" y="4983480"/>
            <a:ext cx="2103120" cy="1216152"/>
          </a:xfrm>
          <a:prstGeom prst="roundRect">
            <a:avLst>
              <a:gd name="adj" fmla="val 4511"/>
            </a:avLst>
          </a:prstGeom>
          <a:solidFill>
            <a:schemeClr val="accent1">
              <a:alpha val="10000"/>
            </a:schemeClr>
          </a:solidFill>
          <a:ln/>
        </p:spPr>
        <p:txBody>
          <a:bodyPr wrap="square" lIns="76200" tIns="127000" rIns="127000" bIns="76200" rtlCol="0" anchor="t"/>
          <a:lstStyle/>
          <a:p>
            <a:pPr indent="0" marL="0">
              <a:buNone/>
            </a:pPr>
            <a:r>
              <a:rPr lang="en-US" sz="1250" b="1" dirty="0">
                <a:solidFill>
                  <a:schemeClr val="accent1"/>
                </a:solidFill>
              </a:rPr>
              <a:t>Partage sûr</a:t>
            </a:r>
            <a:endParaRPr lang="en-US" sz="1250" dirty="0"/>
          </a:p>
          <a:p>
            <a:pPr indent="0" marL="0">
              <a:buNone/>
            </a:pPr>
            <a:r>
              <a:rPr lang="en-US" sz="1250" dirty="0">
                <a:solidFill>
                  <a:schemeClr val="tx1"/>
                </a:solidFill>
              </a:rPr>
              <a:t>variables volatile, file de 8 événements, copies sous __disable_irq()</a:t>
            </a:r>
            <a:endParaRPr lang="en-US" sz="1250" dirty="0"/>
          </a:p>
        </p:txBody>
      </p:sp>
      <p:sp>
        <p:nvSpPr>
          <p:cNvPr id="7" name="Text 4"/>
          <p:cNvSpPr/>
          <p:nvPr/>
        </p:nvSpPr>
        <p:spPr>
          <a:xfrm>
            <a:off x="5029200" y="4983480"/>
            <a:ext cx="2103120" cy="1216152"/>
          </a:xfrm>
          <a:prstGeom prst="roundRect">
            <a:avLst>
              <a:gd name="adj" fmla="val 4511"/>
            </a:avLst>
          </a:prstGeom>
          <a:solidFill>
            <a:schemeClr val="accent1">
              <a:alpha val="10000"/>
            </a:schemeClr>
          </a:solidFill>
          <a:ln/>
        </p:spPr>
        <p:txBody>
          <a:bodyPr wrap="square" lIns="76200" tIns="127000" rIns="127000" bIns="76200" rtlCol="0" anchor="t"/>
          <a:lstStyle/>
          <a:p>
            <a:pPr indent="0" marL="0">
              <a:buNone/>
            </a:pPr>
            <a:r>
              <a:rPr lang="en-US" sz="1250" b="1" dirty="0">
                <a:solidFill>
                  <a:schemeClr val="accent1"/>
                </a:solidFill>
              </a:rPr>
              <a:t>Mesures périodiques</a:t>
            </a:r>
            <a:endParaRPr lang="en-US" sz="1250" dirty="0"/>
          </a:p>
          <a:p>
            <a:pPr indent="0" marL="0">
              <a:buNone/>
            </a:pPr>
            <a:r>
              <a:rPr lang="en-US" sz="1250" dirty="0">
                <a:solidFill>
                  <a:schemeClr val="tx1"/>
                </a:solidFill>
              </a:rPr>
              <a:t>comparaison de HAL_GetTick(), sans timer dédié</a:t>
            </a:r>
            <a:endParaRPr lang="en-US" sz="1250" dirty="0"/>
          </a:p>
        </p:txBody>
      </p:sp>
      <p:sp>
        <p:nvSpPr>
          <p:cNvPr id="8" name="Shape 5"/>
          <p:cNvSpPr/>
          <p:nvPr/>
        </p:nvSpPr>
        <p:spPr>
          <a:xfrm>
            <a:off x="7452360" y="1463040"/>
            <a:ext cx="4187952" cy="4736592"/>
          </a:xfrm>
          <a:prstGeom prst="roundRect">
            <a:avLst>
              <a:gd name="adj" fmla="val 1747"/>
            </a:avLst>
          </a:prstGeom>
          <a:solidFill>
            <a:schemeClr val="bg2"/>
          </a:solidFill>
          <a:ln/>
        </p:spPr>
      </p:sp>
      <p:sp>
        <p:nvSpPr>
          <p:cNvPr id="9" name="Text 6"/>
          <p:cNvSpPr txBox="1"/>
          <p:nvPr/>
        </p:nvSpPr>
        <p:spPr>
          <a:xfrm>
            <a:off x="7680960" y="1600200"/>
            <a:ext cx="3840480" cy="320040"/>
          </a:xfrm>
          <a:prstGeom prst="rect">
            <a:avLst/>
          </a:prstGeom>
          <a:noFill/>
          <a:ln/>
        </p:spPr>
        <p:txBody>
          <a:bodyPr wrap="square" lIns="0" tIns="0" rIns="0" bIns="0" rtlCol="0" anchor="t"/>
          <a:lstStyle/>
          <a:p>
            <a:pPr indent="0" marL="0">
              <a:buNone/>
            </a:pPr>
            <a:r>
              <a:rPr lang="en-US" sz="1500" b="1" dirty="0">
                <a:solidFill>
                  <a:schemeClr val="tx2"/>
                </a:solidFill>
              </a:rPr>
              <a:t>Exemple : appui long sur le bouton rouge</a:t>
            </a:r>
            <a:endParaRPr lang="en-US" sz="1500" dirty="0"/>
          </a:p>
        </p:txBody>
      </p:sp>
      <p:sp>
        <p:nvSpPr>
          <p:cNvPr id="10" name="Shape 7"/>
          <p:cNvSpPr/>
          <p:nvPr/>
        </p:nvSpPr>
        <p:spPr>
          <a:xfrm>
            <a:off x="7918704" y="2240280"/>
            <a:ext cx="0" cy="3017520"/>
          </a:xfrm>
          <a:prstGeom prst="line">
            <a:avLst/>
          </a:prstGeom>
          <a:noFill/>
          <a:ln w="19050">
            <a:solidFill>
              <a:srgbClr val="B8C5D2"/>
            </a:solidFill>
            <a:prstDash val="solid"/>
          </a:ln>
        </p:spPr>
      </p:sp>
      <p:sp>
        <p:nvSpPr>
          <p:cNvPr id="11" name="Text 8"/>
          <p:cNvSpPr/>
          <p:nvPr/>
        </p:nvSpPr>
        <p:spPr>
          <a:xfrm>
            <a:off x="7726680" y="2103120"/>
            <a:ext cx="384048" cy="384048"/>
          </a:xfrm>
          <a:prstGeom prst="ellipse">
            <a:avLst/>
          </a:prstGeom>
          <a:solidFill>
            <a:schemeClr val="tx2"/>
          </a:solidFill>
          <a:ln/>
        </p:spPr>
        <p:txBody>
          <a:bodyPr wrap="square" lIns="0" tIns="0" rIns="0" bIns="0" rtlCol="0" anchor="ctr"/>
          <a:lstStyle/>
          <a:p>
            <a:pPr algn="ctr" indent="0" marL="0">
              <a:buNone/>
            </a:pPr>
            <a:r>
              <a:rPr lang="en-US" sz="1300" b="1" dirty="0">
                <a:solidFill>
                  <a:schemeClr val="bg1"/>
                </a:solidFill>
              </a:rPr>
              <a:t>1</a:t>
            </a:r>
            <a:endParaRPr lang="en-US" sz="1300" dirty="0"/>
          </a:p>
        </p:txBody>
      </p:sp>
      <p:sp>
        <p:nvSpPr>
          <p:cNvPr id="12" name="Text 9"/>
          <p:cNvSpPr txBox="1"/>
          <p:nvPr/>
        </p:nvSpPr>
        <p:spPr>
          <a:xfrm>
            <a:off x="8275320" y="2084832"/>
            <a:ext cx="3246120" cy="566928"/>
          </a:xfrm>
          <a:prstGeom prst="rect">
            <a:avLst/>
          </a:prstGeom>
          <a:noFill/>
          <a:ln/>
        </p:spPr>
        <p:txBody>
          <a:bodyPr wrap="square" lIns="0" tIns="0" rIns="0" bIns="0" rtlCol="0" anchor="ctr"/>
          <a:lstStyle/>
          <a:p>
            <a:pPr indent="0" marL="0">
              <a:buNone/>
            </a:pPr>
            <a:r>
              <a:rPr lang="en-US" sz="1250" dirty="0">
                <a:solidFill>
                  <a:schemeClr val="tx1"/>
                </a:solidFill>
              </a:rPr>
              <a:t>Front descendant sur PC3 → EXTI3 mémorise l'instant</a:t>
            </a:r>
            <a:endParaRPr lang="en-US" sz="1250" dirty="0"/>
          </a:p>
        </p:txBody>
      </p:sp>
      <p:sp>
        <p:nvSpPr>
          <p:cNvPr id="13" name="Text 10"/>
          <p:cNvSpPr/>
          <p:nvPr/>
        </p:nvSpPr>
        <p:spPr>
          <a:xfrm>
            <a:off x="7726680" y="2770632"/>
            <a:ext cx="384048" cy="384048"/>
          </a:xfrm>
          <a:prstGeom prst="ellipse">
            <a:avLst/>
          </a:prstGeom>
          <a:solidFill>
            <a:schemeClr val="tx2"/>
          </a:solidFill>
          <a:ln/>
        </p:spPr>
        <p:txBody>
          <a:bodyPr wrap="square" lIns="0" tIns="0" rIns="0" bIns="0" rtlCol="0" anchor="ctr"/>
          <a:lstStyle/>
          <a:p>
            <a:pPr algn="ctr" indent="0" marL="0">
              <a:buNone/>
            </a:pPr>
            <a:r>
              <a:rPr lang="en-US" sz="1300" b="1" dirty="0">
                <a:solidFill>
                  <a:schemeClr val="bg1"/>
                </a:solidFill>
              </a:rPr>
              <a:t>2</a:t>
            </a:r>
            <a:endParaRPr lang="en-US" sz="1300" dirty="0"/>
          </a:p>
        </p:txBody>
      </p:sp>
      <p:sp>
        <p:nvSpPr>
          <p:cNvPr id="14" name="Text 11"/>
          <p:cNvSpPr txBox="1"/>
          <p:nvPr/>
        </p:nvSpPr>
        <p:spPr>
          <a:xfrm>
            <a:off x="8275320" y="2752344"/>
            <a:ext cx="3246120" cy="566928"/>
          </a:xfrm>
          <a:prstGeom prst="rect">
            <a:avLst/>
          </a:prstGeom>
          <a:noFill/>
          <a:ln/>
        </p:spPr>
        <p:txBody>
          <a:bodyPr wrap="square" lIns="0" tIns="0" rIns="0" bIns="0" rtlCol="0" anchor="ctr"/>
          <a:lstStyle/>
          <a:p>
            <a:pPr indent="0" marL="0">
              <a:buNone/>
            </a:pPr>
            <a:r>
              <a:rPr lang="en-US" sz="1250" dirty="0">
                <a:solidFill>
                  <a:schemeClr val="tx1"/>
                </a:solidFill>
              </a:rPr>
              <a:t>SysTick, chaque ms : appui maintenu depuis 5 s ?</a:t>
            </a:r>
            <a:endParaRPr lang="en-US" sz="1250" dirty="0"/>
          </a:p>
        </p:txBody>
      </p:sp>
      <p:sp>
        <p:nvSpPr>
          <p:cNvPr id="15" name="Text 12"/>
          <p:cNvSpPr/>
          <p:nvPr/>
        </p:nvSpPr>
        <p:spPr>
          <a:xfrm>
            <a:off x="7726680" y="3438144"/>
            <a:ext cx="384048" cy="384048"/>
          </a:xfrm>
          <a:prstGeom prst="ellipse">
            <a:avLst/>
          </a:prstGeom>
          <a:solidFill>
            <a:schemeClr val="accent2"/>
          </a:solidFill>
          <a:ln/>
        </p:spPr>
        <p:txBody>
          <a:bodyPr wrap="square" lIns="0" tIns="0" rIns="0" bIns="0" rtlCol="0" anchor="ctr"/>
          <a:lstStyle/>
          <a:p>
            <a:pPr algn="ctr" indent="0" marL="0">
              <a:buNone/>
            </a:pPr>
            <a:r>
              <a:rPr lang="en-US" sz="1300" b="1" dirty="0">
                <a:solidFill>
                  <a:schemeClr val="bg1"/>
                </a:solidFill>
              </a:rPr>
              <a:t>3</a:t>
            </a:r>
            <a:endParaRPr lang="en-US" sz="1300" dirty="0"/>
          </a:p>
        </p:txBody>
      </p:sp>
      <p:sp>
        <p:nvSpPr>
          <p:cNvPr id="16" name="Text 13"/>
          <p:cNvSpPr txBox="1"/>
          <p:nvPr/>
        </p:nvSpPr>
        <p:spPr>
          <a:xfrm>
            <a:off x="8275320" y="3419856"/>
            <a:ext cx="3246120" cy="566928"/>
          </a:xfrm>
          <a:prstGeom prst="rect">
            <a:avLst/>
          </a:prstGeom>
          <a:noFill/>
          <a:ln/>
        </p:spPr>
        <p:txBody>
          <a:bodyPr wrap="square" lIns="0" tIns="0" rIns="0" bIns="0" rtlCol="0" anchor="ctr"/>
          <a:lstStyle/>
          <a:p>
            <a:pPr indent="0" marL="0">
              <a:buNone/>
            </a:pPr>
            <a:r>
              <a:rPr lang="en-US" sz="1250" dirty="0">
                <a:solidFill>
                  <a:schemeClr val="tx1"/>
                </a:solidFill>
              </a:rPr>
              <a:t>Événement EV_LONG_ROUGE déposé dans la file</a:t>
            </a:r>
            <a:endParaRPr lang="en-US" sz="1250" dirty="0"/>
          </a:p>
        </p:txBody>
      </p:sp>
      <p:sp>
        <p:nvSpPr>
          <p:cNvPr id="17" name="Text 14"/>
          <p:cNvSpPr/>
          <p:nvPr/>
        </p:nvSpPr>
        <p:spPr>
          <a:xfrm>
            <a:off x="7726680" y="4105656"/>
            <a:ext cx="384048" cy="384048"/>
          </a:xfrm>
          <a:prstGeom prst="ellipse">
            <a:avLst/>
          </a:prstGeom>
          <a:solidFill>
            <a:schemeClr val="accent1"/>
          </a:solidFill>
          <a:ln/>
        </p:spPr>
        <p:txBody>
          <a:bodyPr wrap="square" lIns="0" tIns="0" rIns="0" bIns="0" rtlCol="0" anchor="ctr"/>
          <a:lstStyle/>
          <a:p>
            <a:pPr algn="ctr" indent="0" marL="0">
              <a:buNone/>
            </a:pPr>
            <a:r>
              <a:rPr lang="en-US" sz="1300" b="1" dirty="0">
                <a:solidFill>
                  <a:schemeClr val="bg1"/>
                </a:solidFill>
              </a:rPr>
              <a:t>4</a:t>
            </a:r>
            <a:endParaRPr lang="en-US" sz="1300" dirty="0"/>
          </a:p>
        </p:txBody>
      </p:sp>
      <p:sp>
        <p:nvSpPr>
          <p:cNvPr id="18" name="Text 15"/>
          <p:cNvSpPr txBox="1"/>
          <p:nvPr/>
        </p:nvSpPr>
        <p:spPr>
          <a:xfrm>
            <a:off x="8275320" y="4087368"/>
            <a:ext cx="3246120" cy="566928"/>
          </a:xfrm>
          <a:prstGeom prst="rect">
            <a:avLst/>
          </a:prstGeom>
          <a:noFill/>
          <a:ln/>
        </p:spPr>
        <p:txBody>
          <a:bodyPr wrap="square" lIns="0" tIns="0" rIns="0" bIns="0" rtlCol="0" anchor="ctr"/>
          <a:lstStyle/>
          <a:p>
            <a:pPr indent="0" marL="0">
              <a:buNone/>
            </a:pPr>
            <a:r>
              <a:rPr lang="en-US" sz="1250" dirty="0">
                <a:solidFill>
                  <a:schemeClr val="tx1"/>
                </a:solidFill>
              </a:rPr>
              <a:t>Boucle principale : gerer_evenements() lit la file</a:t>
            </a:r>
            <a:endParaRPr lang="en-US" sz="1250" dirty="0"/>
          </a:p>
        </p:txBody>
      </p:sp>
      <p:sp>
        <p:nvSpPr>
          <p:cNvPr id="19" name="Text 16"/>
          <p:cNvSpPr/>
          <p:nvPr/>
        </p:nvSpPr>
        <p:spPr>
          <a:xfrm>
            <a:off x="7726680" y="4773168"/>
            <a:ext cx="384048" cy="384048"/>
          </a:xfrm>
          <a:prstGeom prst="ellipse">
            <a:avLst/>
          </a:prstGeom>
          <a:solidFill>
            <a:schemeClr val="accent1"/>
          </a:solidFill>
          <a:ln/>
        </p:spPr>
        <p:txBody>
          <a:bodyPr wrap="square" lIns="0" tIns="0" rIns="0" bIns="0" rtlCol="0" anchor="ctr"/>
          <a:lstStyle/>
          <a:p>
            <a:pPr algn="ctr" indent="0" marL="0">
              <a:buNone/>
            </a:pPr>
            <a:r>
              <a:rPr lang="en-US" sz="1300" b="1" dirty="0">
                <a:solidFill>
                  <a:schemeClr val="bg1"/>
                </a:solidFill>
              </a:rPr>
              <a:t>5</a:t>
            </a:r>
            <a:endParaRPr lang="en-US" sz="1300" dirty="0"/>
          </a:p>
        </p:txBody>
      </p:sp>
      <p:sp>
        <p:nvSpPr>
          <p:cNvPr id="20" name="Text 17"/>
          <p:cNvSpPr txBox="1"/>
          <p:nvPr/>
        </p:nvSpPr>
        <p:spPr>
          <a:xfrm>
            <a:off x="8275320" y="4754880"/>
            <a:ext cx="3246120" cy="566928"/>
          </a:xfrm>
          <a:prstGeom prst="rect">
            <a:avLst/>
          </a:prstGeom>
          <a:noFill/>
          <a:ln/>
        </p:spPr>
        <p:txBody>
          <a:bodyPr wrap="square" lIns="0" tIns="0" rIns="0" bIns="0" rtlCol="0" anchor="ctr"/>
          <a:lstStyle/>
          <a:p>
            <a:pPr indent="0" marL="0">
              <a:buNone/>
            </a:pPr>
            <a:r>
              <a:rPr lang="en-US" sz="1250" dirty="0">
                <a:solidFill>
                  <a:schemeClr val="tx1"/>
                </a:solidFill>
              </a:rPr>
              <a:t>changer_mode(MAINTENANCE) : carte SD démontée, LED orange</a:t>
            </a:r>
            <a:endParaRPr lang="en-US" sz="1250" dirty="0"/>
          </a:p>
        </p:txBody>
      </p:sp>
      <p:sp>
        <p:nvSpPr>
          <p:cNvPr id="21" name="Shape 18"/>
          <p:cNvSpPr/>
          <p:nvPr/>
        </p:nvSpPr>
        <p:spPr>
          <a:xfrm>
            <a:off x="7726680" y="5513832"/>
            <a:ext cx="146304" cy="146304"/>
          </a:xfrm>
          <a:prstGeom prst="ellipse">
            <a:avLst/>
          </a:prstGeom>
          <a:solidFill>
            <a:schemeClr val="tx2"/>
          </a:solidFill>
          <a:ln/>
        </p:spPr>
      </p:sp>
      <p:sp>
        <p:nvSpPr>
          <p:cNvPr id="22" name="Text 19"/>
          <p:cNvSpPr txBox="1"/>
          <p:nvPr/>
        </p:nvSpPr>
        <p:spPr>
          <a:xfrm>
            <a:off x="7955280" y="5468112"/>
            <a:ext cx="2743200" cy="219456"/>
          </a:xfrm>
          <a:prstGeom prst="rect">
            <a:avLst/>
          </a:prstGeom>
          <a:noFill/>
          <a:ln/>
        </p:spPr>
        <p:txBody>
          <a:bodyPr wrap="square" lIns="0" tIns="0" rIns="0" bIns="0" rtlCol="0" anchor="ctr"/>
          <a:lstStyle/>
          <a:p>
            <a:pPr indent="0" marL="0">
              <a:buNone/>
            </a:pPr>
            <a:r>
              <a:rPr lang="en-US" sz="1100" dirty="0">
                <a:solidFill>
                  <a:schemeClr val="tx1"/>
                </a:solidFill>
              </a:rPr>
              <a:t>Interruption matérielle</a:t>
            </a:r>
            <a:endParaRPr lang="en-US" sz="1100" dirty="0"/>
          </a:p>
        </p:txBody>
      </p:sp>
      <p:sp>
        <p:nvSpPr>
          <p:cNvPr id="23" name="Shape 20"/>
          <p:cNvSpPr/>
          <p:nvPr/>
        </p:nvSpPr>
        <p:spPr>
          <a:xfrm>
            <a:off x="7726680" y="5733288"/>
            <a:ext cx="146304" cy="146304"/>
          </a:xfrm>
          <a:prstGeom prst="ellipse">
            <a:avLst/>
          </a:prstGeom>
          <a:solidFill>
            <a:schemeClr val="accent2"/>
          </a:solidFill>
          <a:ln/>
        </p:spPr>
      </p:sp>
      <p:sp>
        <p:nvSpPr>
          <p:cNvPr id="24" name="Text 21"/>
          <p:cNvSpPr txBox="1"/>
          <p:nvPr/>
        </p:nvSpPr>
        <p:spPr>
          <a:xfrm>
            <a:off x="7955280" y="5687568"/>
            <a:ext cx="2743200" cy="219456"/>
          </a:xfrm>
          <a:prstGeom prst="rect">
            <a:avLst/>
          </a:prstGeom>
          <a:noFill/>
          <a:ln/>
        </p:spPr>
        <p:txBody>
          <a:bodyPr wrap="square" lIns="0" tIns="0" rIns="0" bIns="0" rtlCol="0" anchor="ctr"/>
          <a:lstStyle/>
          <a:p>
            <a:pPr indent="0" marL="0">
              <a:buNone/>
            </a:pPr>
            <a:r>
              <a:rPr lang="en-US" sz="1100" dirty="0">
                <a:solidFill>
                  <a:schemeClr val="tx1"/>
                </a:solidFill>
              </a:rPr>
              <a:t>Événement logiciel</a:t>
            </a:r>
            <a:endParaRPr lang="en-US" sz="1100" dirty="0"/>
          </a:p>
        </p:txBody>
      </p:sp>
      <p:sp>
        <p:nvSpPr>
          <p:cNvPr id="25" name="Shape 22"/>
          <p:cNvSpPr/>
          <p:nvPr/>
        </p:nvSpPr>
        <p:spPr>
          <a:xfrm>
            <a:off x="7726680" y="5952744"/>
            <a:ext cx="146304" cy="146304"/>
          </a:xfrm>
          <a:prstGeom prst="ellipse">
            <a:avLst/>
          </a:prstGeom>
          <a:solidFill>
            <a:schemeClr val="accent1"/>
          </a:solidFill>
          <a:ln/>
        </p:spPr>
      </p:sp>
      <p:sp>
        <p:nvSpPr>
          <p:cNvPr id="26" name="Text 23"/>
          <p:cNvSpPr txBox="1"/>
          <p:nvPr/>
        </p:nvSpPr>
        <p:spPr>
          <a:xfrm>
            <a:off x="7955280" y="5907024"/>
            <a:ext cx="2743200" cy="219456"/>
          </a:xfrm>
          <a:prstGeom prst="rect">
            <a:avLst/>
          </a:prstGeom>
          <a:noFill/>
          <a:ln/>
        </p:spPr>
        <p:txBody>
          <a:bodyPr wrap="square" lIns="0" tIns="0" rIns="0" bIns="0" rtlCol="0" anchor="ctr"/>
          <a:lstStyle/>
          <a:p>
            <a:pPr indent="0" marL="0">
              <a:buNone/>
            </a:pPr>
            <a:r>
              <a:rPr lang="en-US" sz="1100" dirty="0">
                <a:solidFill>
                  <a:schemeClr val="tx1"/>
                </a:solidFill>
              </a:rPr>
              <a:t>Boucle principale</a:t>
            </a:r>
            <a:endParaRPr lang="en-US" sz="1100" dirty="0"/>
          </a:p>
        </p:txBody>
      </p:sp>
      <p:sp>
        <p:nvSpPr>
          <p:cNvPr id="25" name="Slide Number Placeholder 0"/>
          <p:cNvSpPr>
            <a:spLocks noGrp="1"/>
          </p:cNvSpPr>
          <p:nvPr>
            <p:ph type="sldNum" sz="quarter" idx="4294967295"/>
          </p:nvPr>
        </p:nvSpPr>
        <p:spPr>
          <a:xfrm>
            <a:off x="11091672" y="6455664"/>
            <a:ext cx="548640" cy="237744"/>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6"/>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9144000" cy="274320"/>
          </a:xfrm>
          <a:prstGeom prst="rect">
            <a:avLst/>
          </a:prstGeom>
          <a:noFill/>
          <a:ln/>
        </p:spPr>
        <p:txBody>
          <a:bodyPr wrap="square" lIns="0" tIns="0" rIns="0" bIns="0" rtlCol="0" anchor="t"/>
          <a:lstStyle/>
          <a:p>
            <a:pPr indent="0" marL="0">
              <a:buNone/>
            </a:pPr>
            <a:r>
              <a:rPr lang="en-US" sz="1200" b="1" spc="150" kern="0" dirty="0">
                <a:solidFill>
                  <a:schemeClr val="accent1"/>
                </a:solidFill>
              </a:rPr>
              <a:t>03 · FONCTIONNEMENT LOGICIEL</a:t>
            </a:r>
            <a:endParaRPr lang="en-US" sz="1200" dirty="0"/>
          </a:p>
        </p:txBody>
      </p:sp>
      <p:sp>
        <p:nvSpPr>
          <p:cNvPr id="3" name="Text 0"/>
          <p:cNvSpPr/>
          <p:nvPr>
            <p:ph idx="101" type="title" hasCustomPrompt="1"/>
          </p:nvPr>
        </p:nvSpPr>
        <p:spPr>
          <a:xfrm>
            <a:off x="548640" y="621792"/>
            <a:ext cx="11091672" cy="640080"/>
          </a:xfrm>
          <a:prstGeom prst="rect">
            <a:avLst/>
          </a:prstGeom>
          <a:noFill/>
          <a:ln/>
        </p:spPr>
        <p:txBody>
          <a:bodyPr wrap="square" lIns="0" tIns="0" rIns="0" bIns="0" rtlCol="0" anchor="t"/>
          <a:lstStyle/>
          <a:p>
            <a:pPr algn="l" indent="0" marL="0">
              <a:buNone/>
            </a:pPr>
            <a:r>
              <a:rPr lang="en-US" sz="3000" b="1" dirty="0">
                <a:solidFill>
                  <a:schemeClr val="tx2"/>
                </a:solidFill>
              </a:rPr>
              <a:t>Gestion des erreurs et robustesse</a:t>
            </a:r>
            <a:endParaRPr lang="en-US" sz="30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548640" y="1463040"/>
          <a:ext cx="11091672" cy="914400"/>
        </p:xfrm>
        <a:graphic>
          <a:graphicData uri="http://schemas.openxmlformats.org/drawingml/2006/table">
            <a:tbl>
              <a:tblPr/>
              <a:tblGrid>
                <a:gridCol w="2240280"/>
                <a:gridCol w="3291840"/>
                <a:gridCol w="1463040"/>
                <a:gridCol w="4096512"/>
              </a:tblGrid>
              <a:tr h="384048">
                <a:tc>
                  <a:txBody>
                    <a:bodyPr/>
                    <a:lstStyle/>
                    <a:p>
                      <a:pPr indent="0" marL="0">
                        <a:buNone/>
                      </a:pPr>
                      <a:r>
                        <a:rPr lang="en-US" sz="1300" b="1" dirty="0">
                          <a:solidFill>
                            <a:schemeClr val="bg1"/>
                          </a:solidFill>
                          <a:latin typeface="Calibri" pitchFamily="34" charset="0"/>
                          <a:ea typeface="Calibri" pitchFamily="34" charset="-122"/>
                          <a:cs typeface="Calibri" pitchFamily="34" charset="-120"/>
                        </a:rPr>
                        <a:t>Erreur (par priorité)</a:t>
                      </a:r>
                      <a:endParaRPr lang="en-US" sz="1300" dirty="0">
                        <a:latin typeface="Calibri" charset="0"/>
                        <a:ea typeface="Calibri" charset="0"/>
                        <a:cs typeface="Calibri" charset="0"/>
                      </a:endParaRPr>
                    </a:p>
                  </a:txBody>
                  <a:tcPr marL="91440" marR="91440" marT="27432" marB="27432" anchor="ctr">
                    <a:lnL w="6350" cap="flat" cmpd="sng" algn="ctr">
                      <a:solidFill>
                        <a:srgbClr val="D5DEE7"/>
                      </a:solidFill>
                      <a:prstDash val="solid"/>
                      <a:round/>
                      <a:headEnd type="none" w="med" len="med"/>
                      <a:tailEnd type="none" w="med" len="med"/>
                    </a:lnL>
                    <a:lnR w="6350" cap="flat" cmpd="sng" algn="ctr">
                      <a:solidFill>
                        <a:srgbClr val="D5DEE7"/>
                      </a:solidFill>
                      <a:prstDash val="solid"/>
                      <a:round/>
                      <a:headEnd type="none" w="med" len="med"/>
                      <a:tailEnd type="none" w="med" len="med"/>
                    </a:lnR>
                    <a:lnT w="6350" cap="flat" cmpd="sng" algn="ctr">
                      <a:solidFill>
                        <a:srgbClr val="D5DEE7"/>
                      </a:solidFill>
                      <a:prstDash val="solid"/>
                      <a:round/>
                      <a:headEnd type="none" w="med" len="med"/>
                      <a:tailEnd type="none" w="med" len="med"/>
                    </a:lnT>
                    <a:lnB w="6350" cap="flat" cmpd="sng" algn="ctr">
                      <a:solidFill>
                        <a:srgbClr val="D5DEE7"/>
                      </a:solidFill>
                      <a:prstDash val="solid"/>
                      <a:round/>
                      <a:headEnd type="none" w="med" len="med"/>
                      <a:tailEnd type="none" w="med" len="med"/>
                    </a:lnB>
                    <a:solidFill>
                      <a:schemeClr val="tx2"/>
                    </a:solidFill>
                  </a:tcPr>
                </a:tc>
                <a:tc>
                  <a:txBody>
                    <a:bodyPr/>
                    <a:lstStyle/>
                    <a:p>
                      <a:pPr indent="0" marL="0">
                        <a:buNone/>
                      </a:pPr>
                      <a:r>
                        <a:rPr lang="en-US" sz="1300" b="1" dirty="0">
                          <a:solidFill>
                            <a:schemeClr val="bg1"/>
                          </a:solidFill>
                          <a:latin typeface="Calibri" pitchFamily="34" charset="0"/>
                          <a:ea typeface="Calibri" pitchFamily="34" charset="-122"/>
                          <a:cs typeface="Calibri" pitchFamily="34" charset="-120"/>
                        </a:rPr>
                        <a:t>Détection</a:t>
                      </a:r>
                      <a:endParaRPr lang="en-US" sz="1300" dirty="0">
                        <a:latin typeface="Calibri" charset="0"/>
                        <a:ea typeface="Calibri" charset="0"/>
                        <a:cs typeface="Calibri" charset="0"/>
                      </a:endParaRPr>
                    </a:p>
                  </a:txBody>
                  <a:tcPr marL="91440" marR="91440" marT="27432" marB="27432" anchor="ctr">
                    <a:lnL w="6350" cap="flat" cmpd="sng" algn="ctr">
                      <a:solidFill>
                        <a:srgbClr val="D5DEE7"/>
                      </a:solidFill>
                      <a:prstDash val="solid"/>
                      <a:round/>
                      <a:headEnd type="none" w="med" len="med"/>
                      <a:tailEnd type="none" w="med" len="med"/>
                    </a:lnL>
                    <a:lnR w="6350" cap="flat" cmpd="sng" algn="ctr">
                      <a:solidFill>
                        <a:srgbClr val="D5DEE7"/>
                      </a:solidFill>
                      <a:prstDash val="solid"/>
                      <a:round/>
                      <a:headEnd type="none" w="med" len="med"/>
                      <a:tailEnd type="none" w="med" len="med"/>
                    </a:lnR>
                    <a:lnT w="6350" cap="flat" cmpd="sng" algn="ctr">
                      <a:solidFill>
                        <a:srgbClr val="D5DEE7"/>
                      </a:solidFill>
                      <a:prstDash val="solid"/>
                      <a:round/>
                      <a:headEnd type="none" w="med" len="med"/>
                      <a:tailEnd type="none" w="med" len="med"/>
                    </a:lnT>
                    <a:lnB w="6350" cap="flat" cmpd="sng" algn="ctr">
                      <a:solidFill>
                        <a:srgbClr val="D5DEE7"/>
                      </a:solidFill>
                      <a:prstDash val="solid"/>
                      <a:round/>
                      <a:headEnd type="none" w="med" len="med"/>
                      <a:tailEnd type="none" w="med" len="med"/>
                    </a:lnB>
                    <a:solidFill>
                      <a:schemeClr val="tx2"/>
                    </a:solidFill>
                  </a:tcPr>
                </a:tc>
                <a:tc>
                  <a:txBody>
                    <a:bodyPr/>
                    <a:lstStyle/>
                    <a:p>
                      <a:pPr algn="ctr" indent="0" marL="0">
                        <a:buNone/>
                      </a:pPr>
                      <a:r>
                        <a:rPr lang="en-US" sz="1300" b="1" dirty="0">
                          <a:solidFill>
                            <a:schemeClr val="bg1"/>
                          </a:solidFill>
                          <a:latin typeface="Calibri" pitchFamily="34" charset="0"/>
                          <a:ea typeface="Calibri" pitchFamily="34" charset="-122"/>
                          <a:cs typeface="Calibri" pitchFamily="34" charset="-120"/>
                        </a:rPr>
                        <a:t>Signal LED</a:t>
                      </a:r>
                      <a:endParaRPr lang="en-US" sz="1300" dirty="0">
                        <a:latin typeface="Calibri" charset="0"/>
                        <a:ea typeface="Calibri" charset="0"/>
                        <a:cs typeface="Calibri" charset="0"/>
                      </a:endParaRPr>
                    </a:p>
                  </a:txBody>
                  <a:tcPr marL="91440" marR="91440" marT="27432" marB="27432" anchor="ctr">
                    <a:lnL w="6350" cap="flat" cmpd="sng" algn="ctr">
                      <a:solidFill>
                        <a:srgbClr val="D5DEE7"/>
                      </a:solidFill>
                      <a:prstDash val="solid"/>
                      <a:round/>
                      <a:headEnd type="none" w="med" len="med"/>
                      <a:tailEnd type="none" w="med" len="med"/>
                    </a:lnL>
                    <a:lnR w="6350" cap="flat" cmpd="sng" algn="ctr">
                      <a:solidFill>
                        <a:srgbClr val="D5DEE7"/>
                      </a:solidFill>
                      <a:prstDash val="solid"/>
                      <a:round/>
                      <a:headEnd type="none" w="med" len="med"/>
                      <a:tailEnd type="none" w="med" len="med"/>
                    </a:lnR>
                    <a:lnT w="6350" cap="flat" cmpd="sng" algn="ctr">
                      <a:solidFill>
                        <a:srgbClr val="D5DEE7"/>
                      </a:solidFill>
                      <a:prstDash val="solid"/>
                      <a:round/>
                      <a:headEnd type="none" w="med" len="med"/>
                      <a:tailEnd type="none" w="med" len="med"/>
                    </a:lnT>
                    <a:lnB w="6350" cap="flat" cmpd="sng" algn="ctr">
                      <a:solidFill>
                        <a:srgbClr val="D5DEE7"/>
                      </a:solidFill>
                      <a:prstDash val="solid"/>
                      <a:round/>
                      <a:headEnd type="none" w="med" len="med"/>
                      <a:tailEnd type="none" w="med" len="med"/>
                    </a:lnB>
                    <a:solidFill>
                      <a:schemeClr val="tx2"/>
                    </a:solidFill>
                  </a:tcPr>
                </a:tc>
                <a:tc>
                  <a:txBody>
                    <a:bodyPr/>
                    <a:lstStyle/>
                    <a:p>
                      <a:pPr indent="0" marL="0">
                        <a:buNone/>
                      </a:pPr>
                      <a:r>
                        <a:rPr lang="en-US" sz="1300" b="1" dirty="0">
                          <a:solidFill>
                            <a:schemeClr val="bg1"/>
                          </a:solidFill>
                          <a:latin typeface="Calibri" pitchFamily="34" charset="0"/>
                          <a:ea typeface="Calibri" pitchFamily="34" charset="-122"/>
                          <a:cs typeface="Calibri" pitchFamily="34" charset="-120"/>
                        </a:rPr>
                        <a:t>Réaction et reprise</a:t>
                      </a:r>
                      <a:endParaRPr lang="en-US" sz="1300" dirty="0">
                        <a:latin typeface="Calibri" charset="0"/>
                        <a:ea typeface="Calibri" charset="0"/>
                        <a:cs typeface="Calibri" charset="0"/>
                      </a:endParaRPr>
                    </a:p>
                  </a:txBody>
                  <a:tcPr marL="91440" marR="91440" marT="27432" marB="27432" anchor="ctr">
                    <a:lnL w="6350" cap="flat" cmpd="sng" algn="ctr">
                      <a:solidFill>
                        <a:srgbClr val="D5DEE7"/>
                      </a:solidFill>
                      <a:prstDash val="solid"/>
                      <a:round/>
                      <a:headEnd type="none" w="med" len="med"/>
                      <a:tailEnd type="none" w="med" len="med"/>
                    </a:lnL>
                    <a:lnR w="6350" cap="flat" cmpd="sng" algn="ctr">
                      <a:solidFill>
                        <a:srgbClr val="D5DEE7"/>
                      </a:solidFill>
                      <a:prstDash val="solid"/>
                      <a:round/>
                      <a:headEnd type="none" w="med" len="med"/>
                      <a:tailEnd type="none" w="med" len="med"/>
                    </a:lnR>
                    <a:lnT w="6350" cap="flat" cmpd="sng" algn="ctr">
                      <a:solidFill>
                        <a:srgbClr val="D5DEE7"/>
                      </a:solidFill>
                      <a:prstDash val="solid"/>
                      <a:round/>
                      <a:headEnd type="none" w="med" len="med"/>
                      <a:tailEnd type="none" w="med" len="med"/>
                    </a:lnT>
                    <a:lnB w="6350" cap="flat" cmpd="sng" algn="ctr">
                      <a:solidFill>
                        <a:srgbClr val="D5DEE7"/>
                      </a:solidFill>
                      <a:prstDash val="solid"/>
                      <a:round/>
                      <a:headEnd type="none" w="med" len="med"/>
                      <a:tailEnd type="none" w="med" len="med"/>
                    </a:lnB>
                    <a:solidFill>
                      <a:schemeClr val="tx2"/>
                    </a:solidFill>
                  </a:tcPr>
                </a:tc>
              </a:tr>
              <a:tr h="548640">
                <a:tc>
                  <a:txBody>
                    <a:bodyPr/>
                    <a:lstStyle/>
                    <a:p>
                      <a:pPr indent="0" marL="0">
                        <a:buNone/>
                      </a:pPr>
                      <a:r>
                        <a:rPr lang="en-US" sz="1300" b="1" dirty="0">
                          <a:solidFill>
                            <a:schemeClr val="tx2"/>
                          </a:solidFill>
                          <a:latin typeface="Calibri" pitchFamily="34" charset="0"/>
                          <a:ea typeface="Calibri" pitchFamily="34" charset="-122"/>
                          <a:cs typeface="Calibri" pitchFamily="34" charset="-120"/>
                        </a:rPr>
                        <a:t>Accès / écriture SD</a:t>
                      </a:r>
                      <a:endParaRPr lang="en-US" sz="1300" dirty="0">
                        <a:latin typeface="Calibri" charset="0"/>
                        <a:ea typeface="Calibri" charset="0"/>
                        <a:cs typeface="Calibri" charset="0"/>
                      </a:endParaRPr>
                    </a:p>
                  </a:txBody>
                  <a:tcPr marL="91440" marR="91440" marT="27432" marB="27432" anchor="ctr">
                    <a:lnL w="6350" cap="flat" cmpd="sng" algn="ctr">
                      <a:solidFill>
                        <a:srgbClr val="D5DEE7"/>
                      </a:solidFill>
                      <a:prstDash val="solid"/>
                      <a:round/>
                      <a:headEnd type="none" w="med" len="med"/>
                      <a:tailEnd type="none" w="med" len="med"/>
                    </a:lnL>
                    <a:lnR w="6350" cap="flat" cmpd="sng" algn="ctr">
                      <a:solidFill>
                        <a:srgbClr val="D5DEE7"/>
                      </a:solidFill>
                      <a:prstDash val="solid"/>
                      <a:round/>
                      <a:headEnd type="none" w="med" len="med"/>
                      <a:tailEnd type="none" w="med" len="med"/>
                    </a:lnR>
                    <a:lnT w="6350" cap="flat" cmpd="sng" algn="ctr">
                      <a:solidFill>
                        <a:srgbClr val="D5DEE7"/>
                      </a:solidFill>
                      <a:prstDash val="solid"/>
                      <a:round/>
                      <a:headEnd type="none" w="med" len="med"/>
                      <a:tailEnd type="none" w="med" len="med"/>
                    </a:lnT>
                    <a:lnB w="6350" cap="flat" cmpd="sng" algn="ctr">
                      <a:solidFill>
                        <a:srgbClr val="D5DEE7"/>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latin typeface="Calibri" pitchFamily="34" charset="0"/>
                          <a:ea typeface="Calibri" pitchFamily="34" charset="-122"/>
                          <a:cs typeface="Calibri" pitchFamily="34" charset="-120"/>
                        </a:rPr>
                        <a:t>Montage, ouverture, écriture ou fermeture en échec</a:t>
                      </a:r>
                      <a:endParaRPr lang="en-US" sz="1300" dirty="0">
                        <a:latin typeface="Calibri" charset="0"/>
                        <a:ea typeface="Calibri" charset="0"/>
                        <a:cs typeface="Calibri" charset="0"/>
                      </a:endParaRPr>
                    </a:p>
                  </a:txBody>
                  <a:tcPr marL="91440" marR="91440" marT="27432" marB="27432" anchor="ctr">
                    <a:lnL w="6350" cap="flat" cmpd="sng" algn="ctr">
                      <a:solidFill>
                        <a:srgbClr val="D5DEE7"/>
                      </a:solidFill>
                      <a:prstDash val="solid"/>
                      <a:round/>
                      <a:headEnd type="none" w="med" len="med"/>
                      <a:tailEnd type="none" w="med" len="med"/>
                    </a:lnL>
                    <a:lnR w="6350" cap="flat" cmpd="sng" algn="ctr">
                      <a:solidFill>
                        <a:srgbClr val="D5DEE7"/>
                      </a:solidFill>
                      <a:prstDash val="solid"/>
                      <a:round/>
                      <a:headEnd type="none" w="med" len="med"/>
                      <a:tailEnd type="none" w="med" len="med"/>
                    </a:lnR>
                    <a:lnT w="6350" cap="flat" cmpd="sng" algn="ctr">
                      <a:solidFill>
                        <a:srgbClr val="D5DEE7"/>
                      </a:solidFill>
                      <a:prstDash val="solid"/>
                      <a:round/>
                      <a:headEnd type="none" w="med" len="med"/>
                      <a:tailEnd type="none" w="med" len="med"/>
                    </a:lnT>
                    <a:lnB w="6350" cap="flat" cmpd="sng" algn="ctr">
                      <a:solidFill>
                        <a:srgbClr val="D5DEE7"/>
                      </a:solidFill>
                      <a:prstDash val="solid"/>
                      <a:round/>
                      <a:headEnd type="none" w="med" len="med"/>
                      <a:tailEnd type="none" w="med" len="med"/>
                    </a:lnB>
                    <a:solidFill>
                      <a:schemeClr val="bg1"/>
                    </a:solidFill>
                  </a:tcPr>
                </a:tc>
                <a:tc>
                  <a:txBody>
                    <a:bodyPr/>
                    <a:lstStyle/>
                    <a:p>
                      <a:pPr indent="0" marL="0">
                        <a:buNone/>
                      </a:pPr>
                      <a:endParaRPr lang="en-US" sz="1300" dirty="0">
                        <a:latin typeface="Calibri" charset="0"/>
                        <a:ea typeface="Calibri" charset="0"/>
                        <a:cs typeface="Calibri" charset="0"/>
                      </a:endParaRPr>
                    </a:p>
                  </a:txBody>
                  <a:tcPr marL="91440" marR="91440" marT="27432" marB="27432" anchor="ctr">
                    <a:lnL w="6350" cap="flat" cmpd="sng" algn="ctr">
                      <a:solidFill>
                        <a:srgbClr val="D5DEE7"/>
                      </a:solidFill>
                      <a:prstDash val="solid"/>
                      <a:round/>
                      <a:headEnd type="none" w="med" len="med"/>
                      <a:tailEnd type="none" w="med" len="med"/>
                    </a:lnL>
                    <a:lnR w="6350" cap="flat" cmpd="sng" algn="ctr">
                      <a:solidFill>
                        <a:srgbClr val="D5DEE7"/>
                      </a:solidFill>
                      <a:prstDash val="solid"/>
                      <a:round/>
                      <a:headEnd type="none" w="med" len="med"/>
                      <a:tailEnd type="none" w="med" len="med"/>
                    </a:lnR>
                    <a:lnT w="6350" cap="flat" cmpd="sng" algn="ctr">
                      <a:solidFill>
                        <a:srgbClr val="D5DEE7"/>
                      </a:solidFill>
                      <a:prstDash val="solid"/>
                      <a:round/>
                      <a:headEnd type="none" w="med" len="med"/>
                      <a:tailEnd type="none" w="med" len="med"/>
                    </a:lnT>
                    <a:lnB w="6350" cap="flat" cmpd="sng" algn="ctr">
                      <a:solidFill>
                        <a:srgbClr val="D5DEE7"/>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latin typeface="Calibri" pitchFamily="34" charset="0"/>
                          <a:ea typeface="Calibri" pitchFamily="34" charset="-122"/>
                          <a:cs typeface="Calibri" pitchFamily="34" charset="-120"/>
                        </a:rPr>
                        <a:t>Carte démontée ; nouveau montage tenté à l'écriture suivante</a:t>
                      </a:r>
                      <a:endParaRPr lang="en-US" sz="1300" dirty="0">
                        <a:latin typeface="Calibri" charset="0"/>
                        <a:ea typeface="Calibri" charset="0"/>
                        <a:cs typeface="Calibri" charset="0"/>
                      </a:endParaRPr>
                    </a:p>
                  </a:txBody>
                  <a:tcPr marL="91440" marR="91440" marT="27432" marB="27432" anchor="ctr">
                    <a:lnL w="6350" cap="flat" cmpd="sng" algn="ctr">
                      <a:solidFill>
                        <a:srgbClr val="D5DEE7"/>
                      </a:solidFill>
                      <a:prstDash val="solid"/>
                      <a:round/>
                      <a:headEnd type="none" w="med" len="med"/>
                      <a:tailEnd type="none" w="med" len="med"/>
                    </a:lnL>
                    <a:lnR w="6350" cap="flat" cmpd="sng" algn="ctr">
                      <a:solidFill>
                        <a:srgbClr val="D5DEE7"/>
                      </a:solidFill>
                      <a:prstDash val="solid"/>
                      <a:round/>
                      <a:headEnd type="none" w="med" len="med"/>
                      <a:tailEnd type="none" w="med" len="med"/>
                    </a:lnR>
                    <a:lnT w="6350" cap="flat" cmpd="sng" algn="ctr">
                      <a:solidFill>
                        <a:srgbClr val="D5DEE7"/>
                      </a:solidFill>
                      <a:prstDash val="solid"/>
                      <a:round/>
                      <a:headEnd type="none" w="med" len="med"/>
                      <a:tailEnd type="none" w="med" len="med"/>
                    </a:lnT>
                    <a:lnB w="6350" cap="flat" cmpd="sng" algn="ctr">
                      <a:solidFill>
                        <a:srgbClr val="D5DEE7"/>
                      </a:solidFill>
                      <a:prstDash val="solid"/>
                      <a:round/>
                      <a:headEnd type="none" w="med" len="med"/>
                      <a:tailEnd type="none" w="med" len="med"/>
                    </a:lnB>
                    <a:solidFill>
                      <a:schemeClr val="bg1"/>
                    </a:solidFill>
                  </a:tcPr>
                </a:tc>
              </a:tr>
              <a:tr h="548640">
                <a:tc>
                  <a:txBody>
                    <a:bodyPr/>
                    <a:lstStyle/>
                    <a:p>
                      <a:pPr indent="0" marL="0">
                        <a:buNone/>
                      </a:pPr>
                      <a:r>
                        <a:rPr lang="en-US" sz="1300" b="1" dirty="0">
                          <a:solidFill>
                            <a:schemeClr val="tx2"/>
                          </a:solidFill>
                          <a:latin typeface="Calibri" pitchFamily="34" charset="0"/>
                          <a:ea typeface="Calibri" pitchFamily="34" charset="-122"/>
                          <a:cs typeface="Calibri" pitchFamily="34" charset="-120"/>
                        </a:rPr>
                        <a:t>Carte SD pleine</a:t>
                      </a:r>
                      <a:endParaRPr lang="en-US" sz="1300" dirty="0">
                        <a:latin typeface="Calibri" charset="0"/>
                        <a:ea typeface="Calibri" charset="0"/>
                        <a:cs typeface="Calibri" charset="0"/>
                      </a:endParaRPr>
                    </a:p>
                  </a:txBody>
                  <a:tcPr marL="91440" marR="91440" marT="27432" marB="27432" anchor="ctr">
                    <a:lnL w="6350" cap="flat" cmpd="sng" algn="ctr">
                      <a:solidFill>
                        <a:srgbClr val="D5DEE7"/>
                      </a:solidFill>
                      <a:prstDash val="solid"/>
                      <a:round/>
                      <a:headEnd type="none" w="med" len="med"/>
                      <a:tailEnd type="none" w="med" len="med"/>
                    </a:lnL>
                    <a:lnR w="6350" cap="flat" cmpd="sng" algn="ctr">
                      <a:solidFill>
                        <a:srgbClr val="D5DEE7"/>
                      </a:solidFill>
                      <a:prstDash val="solid"/>
                      <a:round/>
                      <a:headEnd type="none" w="med" len="med"/>
                      <a:tailEnd type="none" w="med" len="med"/>
                    </a:lnR>
                    <a:lnT w="6350" cap="flat" cmpd="sng" algn="ctr">
                      <a:solidFill>
                        <a:srgbClr val="D5DEE7"/>
                      </a:solidFill>
                      <a:prstDash val="solid"/>
                      <a:round/>
                      <a:headEnd type="none" w="med" len="med"/>
                      <a:tailEnd type="none" w="med" len="med"/>
                    </a:lnT>
                    <a:lnB w="6350" cap="flat" cmpd="sng" algn="ctr">
                      <a:solidFill>
                        <a:srgbClr val="D5DEE7"/>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latin typeface="Calibri" pitchFamily="34" charset="0"/>
                          <a:ea typeface="Calibri" pitchFamily="34" charset="-122"/>
                          <a:cs typeface="Calibri" pitchFamily="34" charset="-120"/>
                        </a:rPr>
                        <a:t>Espace libre &lt; ligne + FILE_MAX_SIZE</a:t>
                      </a:r>
                      <a:endParaRPr lang="en-US" sz="1300" dirty="0">
                        <a:latin typeface="Calibri" charset="0"/>
                        <a:ea typeface="Calibri" charset="0"/>
                        <a:cs typeface="Calibri" charset="0"/>
                      </a:endParaRPr>
                    </a:p>
                  </a:txBody>
                  <a:tcPr marL="91440" marR="91440" marT="27432" marB="27432" anchor="ctr">
                    <a:lnL w="6350" cap="flat" cmpd="sng" algn="ctr">
                      <a:solidFill>
                        <a:srgbClr val="D5DEE7"/>
                      </a:solidFill>
                      <a:prstDash val="solid"/>
                      <a:round/>
                      <a:headEnd type="none" w="med" len="med"/>
                      <a:tailEnd type="none" w="med" len="med"/>
                    </a:lnL>
                    <a:lnR w="6350" cap="flat" cmpd="sng" algn="ctr">
                      <a:solidFill>
                        <a:srgbClr val="D5DEE7"/>
                      </a:solidFill>
                      <a:prstDash val="solid"/>
                      <a:round/>
                      <a:headEnd type="none" w="med" len="med"/>
                      <a:tailEnd type="none" w="med" len="med"/>
                    </a:lnR>
                    <a:lnT w="6350" cap="flat" cmpd="sng" algn="ctr">
                      <a:solidFill>
                        <a:srgbClr val="D5DEE7"/>
                      </a:solidFill>
                      <a:prstDash val="solid"/>
                      <a:round/>
                      <a:headEnd type="none" w="med" len="med"/>
                      <a:tailEnd type="none" w="med" len="med"/>
                    </a:lnT>
                    <a:lnB w="6350" cap="flat" cmpd="sng" algn="ctr">
                      <a:solidFill>
                        <a:srgbClr val="D5DEE7"/>
                      </a:solidFill>
                      <a:prstDash val="solid"/>
                      <a:round/>
                      <a:headEnd type="none" w="med" len="med"/>
                      <a:tailEnd type="none" w="med" len="med"/>
                    </a:lnB>
                    <a:solidFill>
                      <a:schemeClr val="bg2"/>
                    </a:solidFill>
                  </a:tcPr>
                </a:tc>
                <a:tc>
                  <a:txBody>
                    <a:bodyPr/>
                    <a:lstStyle/>
                    <a:p>
                      <a:pPr indent="0" marL="0">
                        <a:buNone/>
                      </a:pPr>
                      <a:endParaRPr lang="en-US" sz="1300" dirty="0">
                        <a:latin typeface="Calibri" charset="0"/>
                        <a:ea typeface="Calibri" charset="0"/>
                        <a:cs typeface="Calibri" charset="0"/>
                      </a:endParaRPr>
                    </a:p>
                  </a:txBody>
                  <a:tcPr marL="91440" marR="91440" marT="27432" marB="27432" anchor="ctr">
                    <a:lnL w="6350" cap="flat" cmpd="sng" algn="ctr">
                      <a:solidFill>
                        <a:srgbClr val="D5DEE7"/>
                      </a:solidFill>
                      <a:prstDash val="solid"/>
                      <a:round/>
                      <a:headEnd type="none" w="med" len="med"/>
                      <a:tailEnd type="none" w="med" len="med"/>
                    </a:lnL>
                    <a:lnR w="6350" cap="flat" cmpd="sng" algn="ctr">
                      <a:solidFill>
                        <a:srgbClr val="D5DEE7"/>
                      </a:solidFill>
                      <a:prstDash val="solid"/>
                      <a:round/>
                      <a:headEnd type="none" w="med" len="med"/>
                      <a:tailEnd type="none" w="med" len="med"/>
                    </a:lnR>
                    <a:lnT w="6350" cap="flat" cmpd="sng" algn="ctr">
                      <a:solidFill>
                        <a:srgbClr val="D5DEE7"/>
                      </a:solidFill>
                      <a:prstDash val="solid"/>
                      <a:round/>
                      <a:headEnd type="none" w="med" len="med"/>
                      <a:tailEnd type="none" w="med" len="med"/>
                    </a:lnT>
                    <a:lnB w="6350" cap="flat" cmpd="sng" algn="ctr">
                      <a:solidFill>
                        <a:srgbClr val="D5DEE7"/>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latin typeface="Calibri" pitchFamily="34" charset="0"/>
                          <a:ea typeface="Calibri" pitchFamily="34" charset="-122"/>
                          <a:cs typeface="Calibri" pitchFamily="34" charset="-120"/>
                        </a:rPr>
                        <a:t>Ligne non écrite ; reprise dès qu'il y a de la place</a:t>
                      </a:r>
                      <a:endParaRPr lang="en-US" sz="1300" dirty="0">
                        <a:latin typeface="Calibri" charset="0"/>
                        <a:ea typeface="Calibri" charset="0"/>
                        <a:cs typeface="Calibri" charset="0"/>
                      </a:endParaRPr>
                    </a:p>
                  </a:txBody>
                  <a:tcPr marL="91440" marR="91440" marT="27432" marB="27432" anchor="ctr">
                    <a:lnL w="6350" cap="flat" cmpd="sng" algn="ctr">
                      <a:solidFill>
                        <a:srgbClr val="D5DEE7"/>
                      </a:solidFill>
                      <a:prstDash val="solid"/>
                      <a:round/>
                      <a:headEnd type="none" w="med" len="med"/>
                      <a:tailEnd type="none" w="med" len="med"/>
                    </a:lnL>
                    <a:lnR w="6350" cap="flat" cmpd="sng" algn="ctr">
                      <a:solidFill>
                        <a:srgbClr val="D5DEE7"/>
                      </a:solidFill>
                      <a:prstDash val="solid"/>
                      <a:round/>
                      <a:headEnd type="none" w="med" len="med"/>
                      <a:tailEnd type="none" w="med" len="med"/>
                    </a:lnR>
                    <a:lnT w="6350" cap="flat" cmpd="sng" algn="ctr">
                      <a:solidFill>
                        <a:srgbClr val="D5DEE7"/>
                      </a:solidFill>
                      <a:prstDash val="solid"/>
                      <a:round/>
                      <a:headEnd type="none" w="med" len="med"/>
                      <a:tailEnd type="none" w="med" len="med"/>
                    </a:lnT>
                    <a:lnB w="6350" cap="flat" cmpd="sng" algn="ctr">
                      <a:solidFill>
                        <a:srgbClr val="D5DEE7"/>
                      </a:solidFill>
                      <a:prstDash val="solid"/>
                      <a:round/>
                      <a:headEnd type="none" w="med" len="med"/>
                      <a:tailEnd type="none" w="med" len="med"/>
                    </a:lnB>
                    <a:solidFill>
                      <a:schemeClr val="bg2"/>
                    </a:solidFill>
                  </a:tcPr>
                </a:tc>
              </a:tr>
              <a:tr h="548640">
                <a:tc>
                  <a:txBody>
                    <a:bodyPr/>
                    <a:lstStyle/>
                    <a:p>
                      <a:pPr indent="0" marL="0">
                        <a:buNone/>
                      </a:pPr>
                      <a:r>
                        <a:rPr lang="en-US" sz="1300" b="1" dirty="0">
                          <a:solidFill>
                            <a:schemeClr val="tx2"/>
                          </a:solidFill>
                          <a:latin typeface="Calibri" pitchFamily="34" charset="0"/>
                          <a:ea typeface="Calibri" pitchFamily="34" charset="-122"/>
                          <a:cs typeface="Calibri" pitchFamily="34" charset="-120"/>
                        </a:rPr>
                        <a:t>Horloge RTC</a:t>
                      </a:r>
                      <a:endParaRPr lang="en-US" sz="1300" dirty="0">
                        <a:latin typeface="Calibri" charset="0"/>
                        <a:ea typeface="Calibri" charset="0"/>
                        <a:cs typeface="Calibri" charset="0"/>
                      </a:endParaRPr>
                    </a:p>
                  </a:txBody>
                  <a:tcPr marL="91440" marR="91440" marT="27432" marB="27432" anchor="ctr">
                    <a:lnL w="6350" cap="flat" cmpd="sng" algn="ctr">
                      <a:solidFill>
                        <a:srgbClr val="D5DEE7"/>
                      </a:solidFill>
                      <a:prstDash val="solid"/>
                      <a:round/>
                      <a:headEnd type="none" w="med" len="med"/>
                      <a:tailEnd type="none" w="med" len="med"/>
                    </a:lnL>
                    <a:lnR w="6350" cap="flat" cmpd="sng" algn="ctr">
                      <a:solidFill>
                        <a:srgbClr val="D5DEE7"/>
                      </a:solidFill>
                      <a:prstDash val="solid"/>
                      <a:round/>
                      <a:headEnd type="none" w="med" len="med"/>
                      <a:tailEnd type="none" w="med" len="med"/>
                    </a:lnR>
                    <a:lnT w="6350" cap="flat" cmpd="sng" algn="ctr">
                      <a:solidFill>
                        <a:srgbClr val="D5DEE7"/>
                      </a:solidFill>
                      <a:prstDash val="solid"/>
                      <a:round/>
                      <a:headEnd type="none" w="med" len="med"/>
                      <a:tailEnd type="none" w="med" len="med"/>
                    </a:lnT>
                    <a:lnB w="6350" cap="flat" cmpd="sng" algn="ctr">
                      <a:solidFill>
                        <a:srgbClr val="D5DEE7"/>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latin typeface="Calibri" pitchFamily="34" charset="0"/>
                          <a:ea typeface="Calibri" pitchFamily="34" charset="-122"/>
                          <a:cs typeface="Calibri" pitchFamily="34" charset="-120"/>
                        </a:rPr>
                        <a:t>Lecture de l'heure ou de la date en échec</a:t>
                      </a:r>
                      <a:endParaRPr lang="en-US" sz="1300" dirty="0">
                        <a:latin typeface="Calibri" charset="0"/>
                        <a:ea typeface="Calibri" charset="0"/>
                        <a:cs typeface="Calibri" charset="0"/>
                      </a:endParaRPr>
                    </a:p>
                  </a:txBody>
                  <a:tcPr marL="91440" marR="91440" marT="27432" marB="27432" anchor="ctr">
                    <a:lnL w="6350" cap="flat" cmpd="sng" algn="ctr">
                      <a:solidFill>
                        <a:srgbClr val="D5DEE7"/>
                      </a:solidFill>
                      <a:prstDash val="solid"/>
                      <a:round/>
                      <a:headEnd type="none" w="med" len="med"/>
                      <a:tailEnd type="none" w="med" len="med"/>
                    </a:lnL>
                    <a:lnR w="6350" cap="flat" cmpd="sng" algn="ctr">
                      <a:solidFill>
                        <a:srgbClr val="D5DEE7"/>
                      </a:solidFill>
                      <a:prstDash val="solid"/>
                      <a:round/>
                      <a:headEnd type="none" w="med" len="med"/>
                      <a:tailEnd type="none" w="med" len="med"/>
                    </a:lnR>
                    <a:lnT w="6350" cap="flat" cmpd="sng" algn="ctr">
                      <a:solidFill>
                        <a:srgbClr val="D5DEE7"/>
                      </a:solidFill>
                      <a:prstDash val="solid"/>
                      <a:round/>
                      <a:headEnd type="none" w="med" len="med"/>
                      <a:tailEnd type="none" w="med" len="med"/>
                    </a:lnT>
                    <a:lnB w="6350" cap="flat" cmpd="sng" algn="ctr">
                      <a:solidFill>
                        <a:srgbClr val="D5DEE7"/>
                      </a:solidFill>
                      <a:prstDash val="solid"/>
                      <a:round/>
                      <a:headEnd type="none" w="med" len="med"/>
                      <a:tailEnd type="none" w="med" len="med"/>
                    </a:lnB>
                    <a:solidFill>
                      <a:schemeClr val="bg1"/>
                    </a:solidFill>
                  </a:tcPr>
                </a:tc>
                <a:tc>
                  <a:txBody>
                    <a:bodyPr/>
                    <a:lstStyle/>
                    <a:p>
                      <a:pPr indent="0" marL="0">
                        <a:buNone/>
                      </a:pPr>
                      <a:endParaRPr lang="en-US" sz="1300" dirty="0">
                        <a:latin typeface="Calibri" charset="0"/>
                        <a:ea typeface="Calibri" charset="0"/>
                        <a:cs typeface="Calibri" charset="0"/>
                      </a:endParaRPr>
                    </a:p>
                  </a:txBody>
                  <a:tcPr marL="91440" marR="91440" marT="27432" marB="27432" anchor="ctr">
                    <a:lnL w="6350" cap="flat" cmpd="sng" algn="ctr">
                      <a:solidFill>
                        <a:srgbClr val="D5DEE7"/>
                      </a:solidFill>
                      <a:prstDash val="solid"/>
                      <a:round/>
                      <a:headEnd type="none" w="med" len="med"/>
                      <a:tailEnd type="none" w="med" len="med"/>
                    </a:lnL>
                    <a:lnR w="6350" cap="flat" cmpd="sng" algn="ctr">
                      <a:solidFill>
                        <a:srgbClr val="D5DEE7"/>
                      </a:solidFill>
                      <a:prstDash val="solid"/>
                      <a:round/>
                      <a:headEnd type="none" w="med" len="med"/>
                      <a:tailEnd type="none" w="med" len="med"/>
                    </a:lnR>
                    <a:lnT w="6350" cap="flat" cmpd="sng" algn="ctr">
                      <a:solidFill>
                        <a:srgbClr val="D5DEE7"/>
                      </a:solidFill>
                      <a:prstDash val="solid"/>
                      <a:round/>
                      <a:headEnd type="none" w="med" len="med"/>
                      <a:tailEnd type="none" w="med" len="med"/>
                    </a:lnT>
                    <a:lnB w="6350" cap="flat" cmpd="sng" algn="ctr">
                      <a:solidFill>
                        <a:srgbClr val="D5DEE7"/>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latin typeface="Calibri" pitchFamily="34" charset="0"/>
                          <a:ea typeface="Calibri" pitchFamily="34" charset="-122"/>
                          <a:cs typeface="Calibri" pitchFamily="34" charset="-120"/>
                        </a:rPr>
                        <a:t>Erreur levée à la première lecture réussie</a:t>
                      </a:r>
                      <a:endParaRPr lang="en-US" sz="1300" dirty="0">
                        <a:latin typeface="Calibri" charset="0"/>
                        <a:ea typeface="Calibri" charset="0"/>
                        <a:cs typeface="Calibri" charset="0"/>
                      </a:endParaRPr>
                    </a:p>
                  </a:txBody>
                  <a:tcPr marL="91440" marR="91440" marT="27432" marB="27432" anchor="ctr">
                    <a:lnL w="6350" cap="flat" cmpd="sng" algn="ctr">
                      <a:solidFill>
                        <a:srgbClr val="D5DEE7"/>
                      </a:solidFill>
                      <a:prstDash val="solid"/>
                      <a:round/>
                      <a:headEnd type="none" w="med" len="med"/>
                      <a:tailEnd type="none" w="med" len="med"/>
                    </a:lnL>
                    <a:lnR w="6350" cap="flat" cmpd="sng" algn="ctr">
                      <a:solidFill>
                        <a:srgbClr val="D5DEE7"/>
                      </a:solidFill>
                      <a:prstDash val="solid"/>
                      <a:round/>
                      <a:headEnd type="none" w="med" len="med"/>
                      <a:tailEnd type="none" w="med" len="med"/>
                    </a:lnR>
                    <a:lnT w="6350" cap="flat" cmpd="sng" algn="ctr">
                      <a:solidFill>
                        <a:srgbClr val="D5DEE7"/>
                      </a:solidFill>
                      <a:prstDash val="solid"/>
                      <a:round/>
                      <a:headEnd type="none" w="med" len="med"/>
                      <a:tailEnd type="none" w="med" len="med"/>
                    </a:lnT>
                    <a:lnB w="6350" cap="flat" cmpd="sng" algn="ctr">
                      <a:solidFill>
                        <a:srgbClr val="D5DEE7"/>
                      </a:solidFill>
                      <a:prstDash val="solid"/>
                      <a:round/>
                      <a:headEnd type="none" w="med" len="med"/>
                      <a:tailEnd type="none" w="med" len="med"/>
                    </a:lnB>
                    <a:solidFill>
                      <a:schemeClr val="bg1"/>
                    </a:solidFill>
                  </a:tcPr>
                </a:tc>
              </a:tr>
              <a:tr h="548640">
                <a:tc>
                  <a:txBody>
                    <a:bodyPr/>
                    <a:lstStyle/>
                    <a:p>
                      <a:pPr indent="0" marL="0">
                        <a:buNone/>
                      </a:pPr>
                      <a:r>
                        <a:rPr lang="en-US" sz="1300" b="1" dirty="0">
                          <a:solidFill>
                            <a:schemeClr val="tx2"/>
                          </a:solidFill>
                          <a:latin typeface="Calibri" pitchFamily="34" charset="0"/>
                          <a:ea typeface="Calibri" pitchFamily="34" charset="-122"/>
                          <a:cs typeface="Calibri" pitchFamily="34" charset="-120"/>
                        </a:rPr>
                        <a:t>Capteur (DHT11, BH1750)</a:t>
                      </a:r>
                      <a:endParaRPr lang="en-US" sz="1300" dirty="0">
                        <a:latin typeface="Calibri" charset="0"/>
                        <a:ea typeface="Calibri" charset="0"/>
                        <a:cs typeface="Calibri" charset="0"/>
                      </a:endParaRPr>
                    </a:p>
                  </a:txBody>
                  <a:tcPr marL="91440" marR="91440" marT="27432" marB="27432" anchor="ctr">
                    <a:lnL w="6350" cap="flat" cmpd="sng" algn="ctr">
                      <a:solidFill>
                        <a:srgbClr val="D5DEE7"/>
                      </a:solidFill>
                      <a:prstDash val="solid"/>
                      <a:round/>
                      <a:headEnd type="none" w="med" len="med"/>
                      <a:tailEnd type="none" w="med" len="med"/>
                    </a:lnL>
                    <a:lnR w="6350" cap="flat" cmpd="sng" algn="ctr">
                      <a:solidFill>
                        <a:srgbClr val="D5DEE7"/>
                      </a:solidFill>
                      <a:prstDash val="solid"/>
                      <a:round/>
                      <a:headEnd type="none" w="med" len="med"/>
                      <a:tailEnd type="none" w="med" len="med"/>
                    </a:lnR>
                    <a:lnT w="6350" cap="flat" cmpd="sng" algn="ctr">
                      <a:solidFill>
                        <a:srgbClr val="D5DEE7"/>
                      </a:solidFill>
                      <a:prstDash val="solid"/>
                      <a:round/>
                      <a:headEnd type="none" w="med" len="med"/>
                      <a:tailEnd type="none" w="med" len="med"/>
                    </a:lnT>
                    <a:lnB w="6350" cap="flat" cmpd="sng" algn="ctr">
                      <a:solidFill>
                        <a:srgbClr val="D5DEE7"/>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latin typeface="Calibri" pitchFamily="34" charset="0"/>
                          <a:ea typeface="Calibri" pitchFamily="34" charset="-122"/>
                          <a:cs typeface="Calibri" pitchFamily="34" charset="-120"/>
                        </a:rPr>
                        <a:t>2 acquisitions consécutives en TIMEOUT</a:t>
                      </a:r>
                      <a:endParaRPr lang="en-US" sz="1300" dirty="0">
                        <a:latin typeface="Calibri" charset="0"/>
                        <a:ea typeface="Calibri" charset="0"/>
                        <a:cs typeface="Calibri" charset="0"/>
                      </a:endParaRPr>
                    </a:p>
                  </a:txBody>
                  <a:tcPr marL="91440" marR="91440" marT="27432" marB="27432" anchor="ctr">
                    <a:lnL w="6350" cap="flat" cmpd="sng" algn="ctr">
                      <a:solidFill>
                        <a:srgbClr val="D5DEE7"/>
                      </a:solidFill>
                      <a:prstDash val="solid"/>
                      <a:round/>
                      <a:headEnd type="none" w="med" len="med"/>
                      <a:tailEnd type="none" w="med" len="med"/>
                    </a:lnL>
                    <a:lnR w="6350" cap="flat" cmpd="sng" algn="ctr">
                      <a:solidFill>
                        <a:srgbClr val="D5DEE7"/>
                      </a:solidFill>
                      <a:prstDash val="solid"/>
                      <a:round/>
                      <a:headEnd type="none" w="med" len="med"/>
                      <a:tailEnd type="none" w="med" len="med"/>
                    </a:lnR>
                    <a:lnT w="6350" cap="flat" cmpd="sng" algn="ctr">
                      <a:solidFill>
                        <a:srgbClr val="D5DEE7"/>
                      </a:solidFill>
                      <a:prstDash val="solid"/>
                      <a:round/>
                      <a:headEnd type="none" w="med" len="med"/>
                      <a:tailEnd type="none" w="med" len="med"/>
                    </a:lnT>
                    <a:lnB w="6350" cap="flat" cmpd="sng" algn="ctr">
                      <a:solidFill>
                        <a:srgbClr val="D5DEE7"/>
                      </a:solidFill>
                      <a:prstDash val="solid"/>
                      <a:round/>
                      <a:headEnd type="none" w="med" len="med"/>
                      <a:tailEnd type="none" w="med" len="med"/>
                    </a:lnB>
                    <a:solidFill>
                      <a:schemeClr val="bg2"/>
                    </a:solidFill>
                  </a:tcPr>
                </a:tc>
                <a:tc>
                  <a:txBody>
                    <a:bodyPr/>
                    <a:lstStyle/>
                    <a:p>
                      <a:pPr indent="0" marL="0">
                        <a:buNone/>
                      </a:pPr>
                      <a:endParaRPr lang="en-US" sz="1300" dirty="0">
                        <a:latin typeface="Calibri" charset="0"/>
                        <a:ea typeface="Calibri" charset="0"/>
                        <a:cs typeface="Calibri" charset="0"/>
                      </a:endParaRPr>
                    </a:p>
                  </a:txBody>
                  <a:tcPr marL="91440" marR="91440" marT="27432" marB="27432" anchor="ctr">
                    <a:lnL w="6350" cap="flat" cmpd="sng" algn="ctr">
                      <a:solidFill>
                        <a:srgbClr val="D5DEE7"/>
                      </a:solidFill>
                      <a:prstDash val="solid"/>
                      <a:round/>
                      <a:headEnd type="none" w="med" len="med"/>
                      <a:tailEnd type="none" w="med" len="med"/>
                    </a:lnL>
                    <a:lnR w="6350" cap="flat" cmpd="sng" algn="ctr">
                      <a:solidFill>
                        <a:srgbClr val="D5DEE7"/>
                      </a:solidFill>
                      <a:prstDash val="solid"/>
                      <a:round/>
                      <a:headEnd type="none" w="med" len="med"/>
                      <a:tailEnd type="none" w="med" len="med"/>
                    </a:lnR>
                    <a:lnT w="6350" cap="flat" cmpd="sng" algn="ctr">
                      <a:solidFill>
                        <a:srgbClr val="D5DEE7"/>
                      </a:solidFill>
                      <a:prstDash val="solid"/>
                      <a:round/>
                      <a:headEnd type="none" w="med" len="med"/>
                      <a:tailEnd type="none" w="med" len="med"/>
                    </a:lnT>
                    <a:lnB w="6350" cap="flat" cmpd="sng" algn="ctr">
                      <a:solidFill>
                        <a:srgbClr val="D5DEE7"/>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latin typeface="Calibri" pitchFamily="34" charset="0"/>
                          <a:ea typeface="Calibri" pitchFamily="34" charset="-122"/>
                          <a:cs typeface="Calibri" pitchFamily="34" charset="-120"/>
                        </a:rPr>
                        <a:t>Valeur « NA » ; reprise dès une lecture valide</a:t>
                      </a:r>
                      <a:endParaRPr lang="en-US" sz="1300" dirty="0">
                        <a:latin typeface="Calibri" charset="0"/>
                        <a:ea typeface="Calibri" charset="0"/>
                        <a:cs typeface="Calibri" charset="0"/>
                      </a:endParaRPr>
                    </a:p>
                  </a:txBody>
                  <a:tcPr marL="91440" marR="91440" marT="27432" marB="27432" anchor="ctr">
                    <a:lnL w="6350" cap="flat" cmpd="sng" algn="ctr">
                      <a:solidFill>
                        <a:srgbClr val="D5DEE7"/>
                      </a:solidFill>
                      <a:prstDash val="solid"/>
                      <a:round/>
                      <a:headEnd type="none" w="med" len="med"/>
                      <a:tailEnd type="none" w="med" len="med"/>
                    </a:lnL>
                    <a:lnR w="6350" cap="flat" cmpd="sng" algn="ctr">
                      <a:solidFill>
                        <a:srgbClr val="D5DEE7"/>
                      </a:solidFill>
                      <a:prstDash val="solid"/>
                      <a:round/>
                      <a:headEnd type="none" w="med" len="med"/>
                      <a:tailEnd type="none" w="med" len="med"/>
                    </a:lnR>
                    <a:lnT w="6350" cap="flat" cmpd="sng" algn="ctr">
                      <a:solidFill>
                        <a:srgbClr val="D5DEE7"/>
                      </a:solidFill>
                      <a:prstDash val="solid"/>
                      <a:round/>
                      <a:headEnd type="none" w="med" len="med"/>
                      <a:tailEnd type="none" w="med" len="med"/>
                    </a:lnT>
                    <a:lnB w="6350" cap="flat" cmpd="sng" algn="ctr">
                      <a:solidFill>
                        <a:srgbClr val="D5DEE7"/>
                      </a:solidFill>
                      <a:prstDash val="solid"/>
                      <a:round/>
                      <a:headEnd type="none" w="med" len="med"/>
                      <a:tailEnd type="none" w="med" len="med"/>
                    </a:lnB>
                    <a:solidFill>
                      <a:schemeClr val="bg2"/>
                    </a:solidFill>
                  </a:tcPr>
                </a:tc>
              </a:tr>
              <a:tr h="548640">
                <a:tc>
                  <a:txBody>
                    <a:bodyPr/>
                    <a:lstStyle/>
                    <a:p>
                      <a:pPr indent="0" marL="0">
                        <a:buNone/>
                      </a:pPr>
                      <a:r>
                        <a:rPr lang="en-US" sz="1300" b="1" dirty="0">
                          <a:solidFill>
                            <a:schemeClr val="tx2"/>
                          </a:solidFill>
                          <a:latin typeface="Calibri" pitchFamily="34" charset="0"/>
                          <a:ea typeface="Calibri" pitchFamily="34" charset="-122"/>
                          <a:cs typeface="Calibri" pitchFamily="34" charset="-120"/>
                        </a:rPr>
                        <a:t>GPS</a:t>
                      </a:r>
                      <a:endParaRPr lang="en-US" sz="1300" dirty="0">
                        <a:latin typeface="Calibri" charset="0"/>
                        <a:ea typeface="Calibri" charset="0"/>
                        <a:cs typeface="Calibri" charset="0"/>
                      </a:endParaRPr>
                    </a:p>
                  </a:txBody>
                  <a:tcPr marL="91440" marR="91440" marT="27432" marB="27432" anchor="ctr">
                    <a:lnL w="6350" cap="flat" cmpd="sng" algn="ctr">
                      <a:solidFill>
                        <a:srgbClr val="D5DEE7"/>
                      </a:solidFill>
                      <a:prstDash val="solid"/>
                      <a:round/>
                      <a:headEnd type="none" w="med" len="med"/>
                      <a:tailEnd type="none" w="med" len="med"/>
                    </a:lnL>
                    <a:lnR w="6350" cap="flat" cmpd="sng" algn="ctr">
                      <a:solidFill>
                        <a:srgbClr val="D5DEE7"/>
                      </a:solidFill>
                      <a:prstDash val="solid"/>
                      <a:round/>
                      <a:headEnd type="none" w="med" len="med"/>
                      <a:tailEnd type="none" w="med" len="med"/>
                    </a:lnR>
                    <a:lnT w="6350" cap="flat" cmpd="sng" algn="ctr">
                      <a:solidFill>
                        <a:srgbClr val="D5DEE7"/>
                      </a:solidFill>
                      <a:prstDash val="solid"/>
                      <a:round/>
                      <a:headEnd type="none" w="med" len="med"/>
                      <a:tailEnd type="none" w="med" len="med"/>
                    </a:lnT>
                    <a:lnB w="6350" cap="flat" cmpd="sng" algn="ctr">
                      <a:solidFill>
                        <a:srgbClr val="D5DEE7"/>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latin typeface="Calibri" pitchFamily="34" charset="0"/>
                          <a:ea typeface="Calibri" pitchFamily="34" charset="-122"/>
                          <a:cs typeface="Calibri" pitchFamily="34" charset="-120"/>
                        </a:rPr>
                        <a:t>2 acquisitions consécutives sans trame RMC</a:t>
                      </a:r>
                      <a:endParaRPr lang="en-US" sz="1300" dirty="0">
                        <a:latin typeface="Calibri" charset="0"/>
                        <a:ea typeface="Calibri" charset="0"/>
                        <a:cs typeface="Calibri" charset="0"/>
                      </a:endParaRPr>
                    </a:p>
                  </a:txBody>
                  <a:tcPr marL="91440" marR="91440" marT="27432" marB="27432" anchor="ctr">
                    <a:lnL w="6350" cap="flat" cmpd="sng" algn="ctr">
                      <a:solidFill>
                        <a:srgbClr val="D5DEE7"/>
                      </a:solidFill>
                      <a:prstDash val="solid"/>
                      <a:round/>
                      <a:headEnd type="none" w="med" len="med"/>
                      <a:tailEnd type="none" w="med" len="med"/>
                    </a:lnL>
                    <a:lnR w="6350" cap="flat" cmpd="sng" algn="ctr">
                      <a:solidFill>
                        <a:srgbClr val="D5DEE7"/>
                      </a:solidFill>
                      <a:prstDash val="solid"/>
                      <a:round/>
                      <a:headEnd type="none" w="med" len="med"/>
                      <a:tailEnd type="none" w="med" len="med"/>
                    </a:lnR>
                    <a:lnT w="6350" cap="flat" cmpd="sng" algn="ctr">
                      <a:solidFill>
                        <a:srgbClr val="D5DEE7"/>
                      </a:solidFill>
                      <a:prstDash val="solid"/>
                      <a:round/>
                      <a:headEnd type="none" w="med" len="med"/>
                      <a:tailEnd type="none" w="med" len="med"/>
                    </a:lnT>
                    <a:lnB w="6350" cap="flat" cmpd="sng" algn="ctr">
                      <a:solidFill>
                        <a:srgbClr val="D5DEE7"/>
                      </a:solidFill>
                      <a:prstDash val="solid"/>
                      <a:round/>
                      <a:headEnd type="none" w="med" len="med"/>
                      <a:tailEnd type="none" w="med" len="med"/>
                    </a:lnB>
                    <a:solidFill>
                      <a:schemeClr val="bg1"/>
                    </a:solidFill>
                  </a:tcPr>
                </a:tc>
                <a:tc>
                  <a:txBody>
                    <a:bodyPr/>
                    <a:lstStyle/>
                    <a:p>
                      <a:pPr indent="0" marL="0">
                        <a:buNone/>
                      </a:pPr>
                      <a:endParaRPr lang="en-US" sz="1300" dirty="0">
                        <a:latin typeface="Calibri" charset="0"/>
                        <a:ea typeface="Calibri" charset="0"/>
                        <a:cs typeface="Calibri" charset="0"/>
                      </a:endParaRPr>
                    </a:p>
                  </a:txBody>
                  <a:tcPr marL="91440" marR="91440" marT="27432" marB="27432" anchor="ctr">
                    <a:lnL w="6350" cap="flat" cmpd="sng" algn="ctr">
                      <a:solidFill>
                        <a:srgbClr val="D5DEE7"/>
                      </a:solidFill>
                      <a:prstDash val="solid"/>
                      <a:round/>
                      <a:headEnd type="none" w="med" len="med"/>
                      <a:tailEnd type="none" w="med" len="med"/>
                    </a:lnL>
                    <a:lnR w="6350" cap="flat" cmpd="sng" algn="ctr">
                      <a:solidFill>
                        <a:srgbClr val="D5DEE7"/>
                      </a:solidFill>
                      <a:prstDash val="solid"/>
                      <a:round/>
                      <a:headEnd type="none" w="med" len="med"/>
                      <a:tailEnd type="none" w="med" len="med"/>
                    </a:lnR>
                    <a:lnT w="6350" cap="flat" cmpd="sng" algn="ctr">
                      <a:solidFill>
                        <a:srgbClr val="D5DEE7"/>
                      </a:solidFill>
                      <a:prstDash val="solid"/>
                      <a:round/>
                      <a:headEnd type="none" w="med" len="med"/>
                      <a:tailEnd type="none" w="med" len="med"/>
                    </a:lnT>
                    <a:lnB w="6350" cap="flat" cmpd="sng" algn="ctr">
                      <a:solidFill>
                        <a:srgbClr val="D5DEE7"/>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latin typeface="Calibri" pitchFamily="34" charset="0"/>
                          <a:ea typeface="Calibri" pitchFamily="34" charset="-122"/>
                          <a:cs typeface="Calibri" pitchFamily="34" charset="-120"/>
                        </a:rPr>
                        <a:t>Position « NA » ; reprise dès la trame suivante</a:t>
                      </a:r>
                      <a:endParaRPr lang="en-US" sz="1300" dirty="0">
                        <a:latin typeface="Calibri" charset="0"/>
                        <a:ea typeface="Calibri" charset="0"/>
                        <a:cs typeface="Calibri" charset="0"/>
                      </a:endParaRPr>
                    </a:p>
                  </a:txBody>
                  <a:tcPr marL="91440" marR="91440" marT="27432" marB="27432" anchor="ctr">
                    <a:lnL w="6350" cap="flat" cmpd="sng" algn="ctr">
                      <a:solidFill>
                        <a:srgbClr val="D5DEE7"/>
                      </a:solidFill>
                      <a:prstDash val="solid"/>
                      <a:round/>
                      <a:headEnd type="none" w="med" len="med"/>
                      <a:tailEnd type="none" w="med" len="med"/>
                    </a:lnL>
                    <a:lnR w="6350" cap="flat" cmpd="sng" algn="ctr">
                      <a:solidFill>
                        <a:srgbClr val="D5DEE7"/>
                      </a:solidFill>
                      <a:prstDash val="solid"/>
                      <a:round/>
                      <a:headEnd type="none" w="med" len="med"/>
                      <a:tailEnd type="none" w="med" len="med"/>
                    </a:lnR>
                    <a:lnT w="6350" cap="flat" cmpd="sng" algn="ctr">
                      <a:solidFill>
                        <a:srgbClr val="D5DEE7"/>
                      </a:solidFill>
                      <a:prstDash val="solid"/>
                      <a:round/>
                      <a:headEnd type="none" w="med" len="med"/>
                      <a:tailEnd type="none" w="med" len="med"/>
                    </a:lnT>
                    <a:lnB w="6350" cap="flat" cmpd="sng" algn="ctr">
                      <a:solidFill>
                        <a:srgbClr val="D5DEE7"/>
                      </a:solidFill>
                      <a:prstDash val="solid"/>
                      <a:round/>
                      <a:headEnd type="none" w="med" len="med"/>
                      <a:tailEnd type="none" w="med" len="med"/>
                    </a:lnB>
                    <a:solidFill>
                      <a:schemeClr val="bg1"/>
                    </a:solidFill>
                  </a:tcPr>
                </a:tc>
              </a:tr>
              <a:tr h="548640">
                <a:tc>
                  <a:txBody>
                    <a:bodyPr/>
                    <a:lstStyle/>
                    <a:p>
                      <a:pPr indent="0" marL="0">
                        <a:buNone/>
                      </a:pPr>
                      <a:r>
                        <a:rPr lang="en-US" sz="1300" b="1" dirty="0">
                          <a:solidFill>
                            <a:schemeClr val="tx2"/>
                          </a:solidFill>
                          <a:latin typeface="Calibri" pitchFamily="34" charset="0"/>
                          <a:ea typeface="Calibri" pitchFamily="34" charset="-122"/>
                          <a:cs typeface="Calibri" pitchFamily="34" charset="-120"/>
                        </a:rPr>
                        <a:t>Donnée incohérente</a:t>
                      </a:r>
                      <a:endParaRPr lang="en-US" sz="1300" dirty="0">
                        <a:latin typeface="Calibri" charset="0"/>
                        <a:ea typeface="Calibri" charset="0"/>
                        <a:cs typeface="Calibri" charset="0"/>
                      </a:endParaRPr>
                    </a:p>
                  </a:txBody>
                  <a:tcPr marL="91440" marR="91440" marT="27432" marB="27432" anchor="ctr">
                    <a:lnL w="6350" cap="flat" cmpd="sng" algn="ctr">
                      <a:solidFill>
                        <a:srgbClr val="D5DEE7"/>
                      </a:solidFill>
                      <a:prstDash val="solid"/>
                      <a:round/>
                      <a:headEnd type="none" w="med" len="med"/>
                      <a:tailEnd type="none" w="med" len="med"/>
                    </a:lnL>
                    <a:lnR w="6350" cap="flat" cmpd="sng" algn="ctr">
                      <a:solidFill>
                        <a:srgbClr val="D5DEE7"/>
                      </a:solidFill>
                      <a:prstDash val="solid"/>
                      <a:round/>
                      <a:headEnd type="none" w="med" len="med"/>
                      <a:tailEnd type="none" w="med" len="med"/>
                    </a:lnR>
                    <a:lnT w="6350" cap="flat" cmpd="sng" algn="ctr">
                      <a:solidFill>
                        <a:srgbClr val="D5DEE7"/>
                      </a:solidFill>
                      <a:prstDash val="solid"/>
                      <a:round/>
                      <a:headEnd type="none" w="med" len="med"/>
                      <a:tailEnd type="none" w="med" len="med"/>
                    </a:lnT>
                    <a:lnB w="6350" cap="flat" cmpd="sng" algn="ctr">
                      <a:solidFill>
                        <a:srgbClr val="D5DEE7"/>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latin typeface="Calibri" pitchFamily="34" charset="0"/>
                          <a:ea typeface="Calibri" pitchFamily="34" charset="-122"/>
                          <a:cs typeface="Calibri" pitchFamily="34" charset="-120"/>
                        </a:rPr>
                        <a:t>Température hors [MIN_TEMP_AIR ; MAX_TEMP_AIR]</a:t>
                      </a:r>
                      <a:endParaRPr lang="en-US" sz="1300" dirty="0">
                        <a:latin typeface="Calibri" charset="0"/>
                        <a:ea typeface="Calibri" charset="0"/>
                        <a:cs typeface="Calibri" charset="0"/>
                      </a:endParaRPr>
                    </a:p>
                  </a:txBody>
                  <a:tcPr marL="91440" marR="91440" marT="27432" marB="27432" anchor="ctr">
                    <a:lnL w="6350" cap="flat" cmpd="sng" algn="ctr">
                      <a:solidFill>
                        <a:srgbClr val="D5DEE7"/>
                      </a:solidFill>
                      <a:prstDash val="solid"/>
                      <a:round/>
                      <a:headEnd type="none" w="med" len="med"/>
                      <a:tailEnd type="none" w="med" len="med"/>
                    </a:lnL>
                    <a:lnR w="6350" cap="flat" cmpd="sng" algn="ctr">
                      <a:solidFill>
                        <a:srgbClr val="D5DEE7"/>
                      </a:solidFill>
                      <a:prstDash val="solid"/>
                      <a:round/>
                      <a:headEnd type="none" w="med" len="med"/>
                      <a:tailEnd type="none" w="med" len="med"/>
                    </a:lnR>
                    <a:lnT w="6350" cap="flat" cmpd="sng" algn="ctr">
                      <a:solidFill>
                        <a:srgbClr val="D5DEE7"/>
                      </a:solidFill>
                      <a:prstDash val="solid"/>
                      <a:round/>
                      <a:headEnd type="none" w="med" len="med"/>
                      <a:tailEnd type="none" w="med" len="med"/>
                    </a:lnT>
                    <a:lnB w="6350" cap="flat" cmpd="sng" algn="ctr">
                      <a:solidFill>
                        <a:srgbClr val="D5DEE7"/>
                      </a:solidFill>
                      <a:prstDash val="solid"/>
                      <a:round/>
                      <a:headEnd type="none" w="med" len="med"/>
                      <a:tailEnd type="none" w="med" len="med"/>
                    </a:lnB>
                    <a:solidFill>
                      <a:schemeClr val="bg2"/>
                    </a:solidFill>
                  </a:tcPr>
                </a:tc>
                <a:tc>
                  <a:txBody>
                    <a:bodyPr/>
                    <a:lstStyle/>
                    <a:p>
                      <a:pPr indent="0" marL="0">
                        <a:buNone/>
                      </a:pPr>
                      <a:endParaRPr lang="en-US" sz="1300" dirty="0">
                        <a:latin typeface="Calibri" charset="0"/>
                        <a:ea typeface="Calibri" charset="0"/>
                        <a:cs typeface="Calibri" charset="0"/>
                      </a:endParaRPr>
                    </a:p>
                  </a:txBody>
                  <a:tcPr marL="91440" marR="91440" marT="27432" marB="27432" anchor="ctr">
                    <a:lnL w="6350" cap="flat" cmpd="sng" algn="ctr">
                      <a:solidFill>
                        <a:srgbClr val="D5DEE7"/>
                      </a:solidFill>
                      <a:prstDash val="solid"/>
                      <a:round/>
                      <a:headEnd type="none" w="med" len="med"/>
                      <a:tailEnd type="none" w="med" len="med"/>
                    </a:lnL>
                    <a:lnR w="6350" cap="flat" cmpd="sng" algn="ctr">
                      <a:solidFill>
                        <a:srgbClr val="D5DEE7"/>
                      </a:solidFill>
                      <a:prstDash val="solid"/>
                      <a:round/>
                      <a:headEnd type="none" w="med" len="med"/>
                      <a:tailEnd type="none" w="med" len="med"/>
                    </a:lnR>
                    <a:lnT w="6350" cap="flat" cmpd="sng" algn="ctr">
                      <a:solidFill>
                        <a:srgbClr val="D5DEE7"/>
                      </a:solidFill>
                      <a:prstDash val="solid"/>
                      <a:round/>
                      <a:headEnd type="none" w="med" len="med"/>
                      <a:tailEnd type="none" w="med" len="med"/>
                    </a:lnT>
                    <a:lnB w="6350" cap="flat" cmpd="sng" algn="ctr">
                      <a:solidFill>
                        <a:srgbClr val="D5DEE7"/>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latin typeface="Calibri" pitchFamily="34" charset="0"/>
                          <a:ea typeface="Calibri" pitchFamily="34" charset="-122"/>
                          <a:cs typeface="Calibri" pitchFamily="34" charset="-120"/>
                        </a:rPr>
                        <a:t>Température « NA » ; reprise quand la valeur redevient plausible</a:t>
                      </a:r>
                      <a:endParaRPr lang="en-US" sz="1300" dirty="0">
                        <a:latin typeface="Calibri" charset="0"/>
                        <a:ea typeface="Calibri" charset="0"/>
                        <a:cs typeface="Calibri" charset="0"/>
                      </a:endParaRPr>
                    </a:p>
                  </a:txBody>
                  <a:tcPr marL="91440" marR="91440" marT="27432" marB="27432" anchor="ctr">
                    <a:lnL w="6350" cap="flat" cmpd="sng" algn="ctr">
                      <a:solidFill>
                        <a:srgbClr val="D5DEE7"/>
                      </a:solidFill>
                      <a:prstDash val="solid"/>
                      <a:round/>
                      <a:headEnd type="none" w="med" len="med"/>
                      <a:tailEnd type="none" w="med" len="med"/>
                    </a:lnL>
                    <a:lnR w="6350" cap="flat" cmpd="sng" algn="ctr">
                      <a:solidFill>
                        <a:srgbClr val="D5DEE7"/>
                      </a:solidFill>
                      <a:prstDash val="solid"/>
                      <a:round/>
                      <a:headEnd type="none" w="med" len="med"/>
                      <a:tailEnd type="none" w="med" len="med"/>
                    </a:lnR>
                    <a:lnT w="6350" cap="flat" cmpd="sng" algn="ctr">
                      <a:solidFill>
                        <a:srgbClr val="D5DEE7"/>
                      </a:solidFill>
                      <a:prstDash val="solid"/>
                      <a:round/>
                      <a:headEnd type="none" w="med" len="med"/>
                      <a:tailEnd type="none" w="med" len="med"/>
                    </a:lnT>
                    <a:lnB w="6350" cap="flat" cmpd="sng" algn="ctr">
                      <a:solidFill>
                        <a:srgbClr val="D5DEE7"/>
                      </a:solidFill>
                      <a:prstDash val="solid"/>
                      <a:round/>
                      <a:headEnd type="none" w="med" len="med"/>
                      <a:tailEnd type="none" w="med" len="med"/>
                    </a:lnB>
                    <a:solidFill>
                      <a:schemeClr val="bg2"/>
                    </a:solidFill>
                  </a:tcPr>
                </a:tc>
              </a:tr>
            </a:tbl>
          </a:graphicData>
        </a:graphic>
      </p:graphicFrame>
      <p:sp>
        <p:nvSpPr>
          <p:cNvPr id="5" name="Shape 2"/>
          <p:cNvSpPr/>
          <p:nvPr/>
        </p:nvSpPr>
        <p:spPr>
          <a:xfrm>
            <a:off x="6309360" y="2002536"/>
            <a:ext cx="335280" cy="237744"/>
          </a:xfrm>
          <a:prstGeom prst="rect">
            <a:avLst/>
          </a:prstGeom>
          <a:solidFill>
            <a:srgbClr val="D93A3A"/>
          </a:solidFill>
          <a:ln w="6350">
            <a:solidFill>
              <a:srgbClr val="9AA8B6"/>
            </a:solidFill>
            <a:prstDash val="solid"/>
          </a:ln>
        </p:spPr>
      </p:sp>
      <p:sp>
        <p:nvSpPr>
          <p:cNvPr id="6" name="Shape 3"/>
          <p:cNvSpPr/>
          <p:nvPr/>
        </p:nvSpPr>
        <p:spPr>
          <a:xfrm>
            <a:off x="6644640" y="2002536"/>
            <a:ext cx="670560" cy="237744"/>
          </a:xfrm>
          <a:prstGeom prst="rect">
            <a:avLst/>
          </a:prstGeom>
          <a:solidFill>
            <a:srgbClr val="FFFFFF"/>
          </a:solidFill>
          <a:ln w="6350">
            <a:solidFill>
              <a:srgbClr val="9AA8B6"/>
            </a:solidFill>
            <a:prstDash val="solid"/>
          </a:ln>
        </p:spPr>
      </p:sp>
      <p:sp>
        <p:nvSpPr>
          <p:cNvPr id="7" name="Shape 4"/>
          <p:cNvSpPr/>
          <p:nvPr/>
        </p:nvSpPr>
        <p:spPr>
          <a:xfrm>
            <a:off x="6309360" y="2551176"/>
            <a:ext cx="502920" cy="237744"/>
          </a:xfrm>
          <a:prstGeom prst="rect">
            <a:avLst/>
          </a:prstGeom>
          <a:solidFill>
            <a:srgbClr val="D93A3A"/>
          </a:solidFill>
          <a:ln w="6350">
            <a:solidFill>
              <a:srgbClr val="9AA8B6"/>
            </a:solidFill>
            <a:prstDash val="solid"/>
          </a:ln>
        </p:spPr>
      </p:sp>
      <p:sp>
        <p:nvSpPr>
          <p:cNvPr id="8" name="Shape 5"/>
          <p:cNvSpPr/>
          <p:nvPr/>
        </p:nvSpPr>
        <p:spPr>
          <a:xfrm>
            <a:off x="6812280" y="2551176"/>
            <a:ext cx="502920" cy="237744"/>
          </a:xfrm>
          <a:prstGeom prst="rect">
            <a:avLst/>
          </a:prstGeom>
          <a:solidFill>
            <a:srgbClr val="FFFFFF"/>
          </a:solidFill>
          <a:ln w="6350">
            <a:solidFill>
              <a:srgbClr val="9AA8B6"/>
            </a:solidFill>
            <a:prstDash val="solid"/>
          </a:ln>
        </p:spPr>
      </p:sp>
      <p:sp>
        <p:nvSpPr>
          <p:cNvPr id="9" name="Shape 6"/>
          <p:cNvSpPr/>
          <p:nvPr/>
        </p:nvSpPr>
        <p:spPr>
          <a:xfrm>
            <a:off x="6309360" y="3099816"/>
            <a:ext cx="502920" cy="237744"/>
          </a:xfrm>
          <a:prstGeom prst="rect">
            <a:avLst/>
          </a:prstGeom>
          <a:solidFill>
            <a:srgbClr val="D93A3A"/>
          </a:solidFill>
          <a:ln w="6350">
            <a:solidFill>
              <a:srgbClr val="9AA8B6"/>
            </a:solidFill>
            <a:prstDash val="solid"/>
          </a:ln>
        </p:spPr>
      </p:sp>
      <p:sp>
        <p:nvSpPr>
          <p:cNvPr id="10" name="Shape 7"/>
          <p:cNvSpPr/>
          <p:nvPr/>
        </p:nvSpPr>
        <p:spPr>
          <a:xfrm>
            <a:off x="6812280" y="3099816"/>
            <a:ext cx="502920" cy="237744"/>
          </a:xfrm>
          <a:prstGeom prst="rect">
            <a:avLst/>
          </a:prstGeom>
          <a:solidFill>
            <a:srgbClr val="2F6FD6"/>
          </a:solidFill>
          <a:ln w="6350">
            <a:solidFill>
              <a:srgbClr val="9AA8B6"/>
            </a:solidFill>
            <a:prstDash val="solid"/>
          </a:ln>
        </p:spPr>
      </p:sp>
      <p:sp>
        <p:nvSpPr>
          <p:cNvPr id="11" name="Shape 8"/>
          <p:cNvSpPr/>
          <p:nvPr/>
        </p:nvSpPr>
        <p:spPr>
          <a:xfrm>
            <a:off x="6309360" y="3648456"/>
            <a:ext cx="502920" cy="237744"/>
          </a:xfrm>
          <a:prstGeom prst="rect">
            <a:avLst/>
          </a:prstGeom>
          <a:solidFill>
            <a:srgbClr val="D93A3A"/>
          </a:solidFill>
          <a:ln w="6350">
            <a:solidFill>
              <a:srgbClr val="9AA8B6"/>
            </a:solidFill>
            <a:prstDash val="solid"/>
          </a:ln>
        </p:spPr>
      </p:sp>
      <p:sp>
        <p:nvSpPr>
          <p:cNvPr id="12" name="Shape 9"/>
          <p:cNvSpPr/>
          <p:nvPr/>
        </p:nvSpPr>
        <p:spPr>
          <a:xfrm>
            <a:off x="6812280" y="3648456"/>
            <a:ext cx="502920" cy="237744"/>
          </a:xfrm>
          <a:prstGeom prst="rect">
            <a:avLst/>
          </a:prstGeom>
          <a:solidFill>
            <a:srgbClr val="2EAD5B"/>
          </a:solidFill>
          <a:ln w="6350">
            <a:solidFill>
              <a:srgbClr val="9AA8B6"/>
            </a:solidFill>
            <a:prstDash val="solid"/>
          </a:ln>
        </p:spPr>
      </p:sp>
      <p:sp>
        <p:nvSpPr>
          <p:cNvPr id="13" name="Shape 10"/>
          <p:cNvSpPr/>
          <p:nvPr/>
        </p:nvSpPr>
        <p:spPr>
          <a:xfrm>
            <a:off x="6309360" y="4197096"/>
            <a:ext cx="502920" cy="237744"/>
          </a:xfrm>
          <a:prstGeom prst="rect">
            <a:avLst/>
          </a:prstGeom>
          <a:solidFill>
            <a:srgbClr val="D93A3A"/>
          </a:solidFill>
          <a:ln w="6350">
            <a:solidFill>
              <a:srgbClr val="9AA8B6"/>
            </a:solidFill>
            <a:prstDash val="solid"/>
          </a:ln>
        </p:spPr>
      </p:sp>
      <p:sp>
        <p:nvSpPr>
          <p:cNvPr id="14" name="Shape 11"/>
          <p:cNvSpPr/>
          <p:nvPr/>
        </p:nvSpPr>
        <p:spPr>
          <a:xfrm>
            <a:off x="6812280" y="4197096"/>
            <a:ext cx="502920" cy="237744"/>
          </a:xfrm>
          <a:prstGeom prst="rect">
            <a:avLst/>
          </a:prstGeom>
          <a:solidFill>
            <a:srgbClr val="F2C230"/>
          </a:solidFill>
          <a:ln w="6350">
            <a:solidFill>
              <a:srgbClr val="9AA8B6"/>
            </a:solidFill>
            <a:prstDash val="solid"/>
          </a:ln>
        </p:spPr>
      </p:sp>
      <p:sp>
        <p:nvSpPr>
          <p:cNvPr id="15" name="Shape 12"/>
          <p:cNvSpPr/>
          <p:nvPr/>
        </p:nvSpPr>
        <p:spPr>
          <a:xfrm>
            <a:off x="6309360" y="4745736"/>
            <a:ext cx="335280" cy="237744"/>
          </a:xfrm>
          <a:prstGeom prst="rect">
            <a:avLst/>
          </a:prstGeom>
          <a:solidFill>
            <a:srgbClr val="D93A3A"/>
          </a:solidFill>
          <a:ln w="6350">
            <a:solidFill>
              <a:srgbClr val="9AA8B6"/>
            </a:solidFill>
            <a:prstDash val="solid"/>
          </a:ln>
        </p:spPr>
      </p:sp>
      <p:sp>
        <p:nvSpPr>
          <p:cNvPr id="16" name="Shape 13"/>
          <p:cNvSpPr/>
          <p:nvPr/>
        </p:nvSpPr>
        <p:spPr>
          <a:xfrm>
            <a:off x="6644640" y="4745736"/>
            <a:ext cx="670560" cy="237744"/>
          </a:xfrm>
          <a:prstGeom prst="rect">
            <a:avLst/>
          </a:prstGeom>
          <a:solidFill>
            <a:srgbClr val="2EAD5B"/>
          </a:solidFill>
          <a:ln w="6350">
            <a:solidFill>
              <a:srgbClr val="9AA8B6"/>
            </a:solidFill>
            <a:prstDash val="solid"/>
          </a:ln>
        </p:spPr>
      </p:sp>
      <p:sp>
        <p:nvSpPr>
          <p:cNvPr id="17" name="Text 14"/>
          <p:cNvSpPr/>
          <p:nvPr/>
        </p:nvSpPr>
        <p:spPr>
          <a:xfrm>
            <a:off x="548640" y="5340096"/>
            <a:ext cx="6355080" cy="877824"/>
          </a:xfrm>
          <a:prstGeom prst="roundRect">
            <a:avLst>
              <a:gd name="adj" fmla="val 6250"/>
            </a:avLst>
          </a:prstGeom>
          <a:solidFill>
            <a:schemeClr val="accent1">
              <a:alpha val="10000"/>
            </a:schemeClr>
          </a:solidFill>
          <a:ln/>
        </p:spPr>
        <p:txBody>
          <a:bodyPr wrap="square" lIns="76200" tIns="152400" rIns="152400" bIns="76200" rtlCol="0" anchor="ctr"/>
          <a:lstStyle/>
          <a:p>
            <a:pPr indent="0" marL="0">
              <a:buNone/>
            </a:pPr>
            <a:r>
              <a:rPr lang="en-US" sz="1250" b="1" dirty="0">
                <a:solidFill>
                  <a:schemeClr val="accent1"/>
                </a:solidFill>
              </a:rPr>
              <a:t>Principe — </a:t>
            </a:r>
            <a:pPr indent="0" marL="0">
              <a:buNone/>
            </a:pPr>
            <a:r>
              <a:rPr lang="en-US" sz="1250" dirty="0">
                <a:solidFill>
                  <a:schemeClr val="tx1"/>
                </a:solidFill>
              </a:rPr>
              <a:t>clignotement à 1 Hz entre le rouge et une 2e couleur (durées 1:1 ou 1:2) ; une seule erreur affichée, la plus prioritaire ; libellé en clair sur l'écran LCD ; erreurs réévaluées à chaque acquisition.</a:t>
            </a:r>
            <a:endParaRPr lang="en-US" sz="1250" dirty="0"/>
          </a:p>
        </p:txBody>
      </p:sp>
      <p:sp>
        <p:nvSpPr>
          <p:cNvPr id="18" name="Text 15"/>
          <p:cNvSpPr/>
          <p:nvPr/>
        </p:nvSpPr>
        <p:spPr>
          <a:xfrm>
            <a:off x="7086600" y="5340096"/>
            <a:ext cx="4553712" cy="877824"/>
          </a:xfrm>
          <a:prstGeom prst="roundRect">
            <a:avLst>
              <a:gd name="adj" fmla="val 6250"/>
            </a:avLst>
          </a:prstGeom>
          <a:solidFill>
            <a:schemeClr val="accent2">
              <a:alpha val="15000"/>
            </a:schemeClr>
          </a:solidFill>
          <a:ln/>
        </p:spPr>
        <p:txBody>
          <a:bodyPr wrap="square" lIns="76200" tIns="152400" rIns="152400" bIns="76200" rtlCol="0" anchor="ctr"/>
          <a:lstStyle/>
          <a:p>
            <a:pPr indent="0" marL="0">
              <a:buNone/>
            </a:pPr>
            <a:r>
              <a:rPr lang="en-US" sz="1250" b="1" dirty="0">
                <a:solidFill>
                  <a:schemeClr val="tx2"/>
                </a:solidFill>
              </a:rPr>
              <a:t>Non couvert — </a:t>
            </a:r>
            <a:pPr indent="0" marL="0">
              <a:buNone/>
            </a:pPr>
            <a:r>
              <a:rPr lang="en-US" sz="1250" dirty="0">
                <a:solidFill>
                  <a:schemeClr val="tx1"/>
                </a:solidFill>
              </a:rPr>
              <a:t>échec d'initialisation (Error_Handler → arrêt) ; pas de chien de garde ; erreurs non journalisées sur la carte SD.</a:t>
            </a:r>
            <a:endParaRPr lang="en-US" sz="1250" dirty="0"/>
          </a:p>
        </p:txBody>
      </p:sp>
      <p:sp>
        <p:nvSpPr>
          <p:cNvPr id="25" name="Slide Number Placeholder 0"/>
          <p:cNvSpPr>
            <a:spLocks noGrp="1"/>
          </p:cNvSpPr>
          <p:nvPr>
            <p:ph type="sldNum" sz="quarter" idx="4294967295"/>
          </p:nvPr>
        </p:nvSpPr>
        <p:spPr>
          <a:xfrm>
            <a:off x="11091672" y="6455664"/>
            <a:ext cx="548640" cy="237744"/>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6"/>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9144000" cy="274320"/>
          </a:xfrm>
          <a:prstGeom prst="rect">
            <a:avLst/>
          </a:prstGeom>
          <a:noFill/>
          <a:ln/>
        </p:spPr>
        <p:txBody>
          <a:bodyPr wrap="square" lIns="0" tIns="0" rIns="0" bIns="0" rtlCol="0" anchor="t"/>
          <a:lstStyle/>
          <a:p>
            <a:pPr indent="0" marL="0">
              <a:buNone/>
            </a:pPr>
            <a:r>
              <a:rPr lang="en-US" sz="1200" b="1" spc="150" kern="0" dirty="0">
                <a:solidFill>
                  <a:schemeClr val="accent1"/>
                </a:solidFill>
              </a:rPr>
              <a:t>04 · AUTOMATISATION ET VALIDATION</a:t>
            </a:r>
            <a:endParaRPr lang="en-US" sz="1200" dirty="0"/>
          </a:p>
        </p:txBody>
      </p:sp>
      <p:sp>
        <p:nvSpPr>
          <p:cNvPr id="3" name="Text 0"/>
          <p:cNvSpPr/>
          <p:nvPr>
            <p:ph idx="101" type="title" hasCustomPrompt="1"/>
          </p:nvPr>
        </p:nvSpPr>
        <p:spPr>
          <a:xfrm>
            <a:off x="548640" y="621792"/>
            <a:ext cx="11091672" cy="640080"/>
          </a:xfrm>
          <a:prstGeom prst="rect">
            <a:avLst/>
          </a:prstGeom>
          <a:noFill/>
          <a:ln/>
        </p:spPr>
        <p:txBody>
          <a:bodyPr wrap="square" lIns="0" tIns="0" rIns="0" bIns="0" rtlCol="0" anchor="t"/>
          <a:lstStyle/>
          <a:p>
            <a:pPr algn="l" indent="0" marL="0">
              <a:buNone/>
            </a:pPr>
            <a:r>
              <a:rPr lang="en-US" sz="3000" b="1" dirty="0">
                <a:solidFill>
                  <a:schemeClr val="tx2"/>
                </a:solidFill>
              </a:rPr>
              <a:t>Script Bash : compiler puis téléverser</a:t>
            </a:r>
            <a:endParaRPr lang="en-US" sz="3000" dirty="0"/>
          </a:p>
        </p:txBody>
      </p:sp>
      <p:sp>
        <p:nvSpPr>
          <p:cNvPr id="4" name="Code Bash"/>
          <p:cNvSpPr/>
          <p:nvPr/>
        </p:nvSpPr>
        <p:spPr>
          <a:xfrm>
            <a:off x="548640" y="1463040"/>
            <a:ext cx="11091672" cy="2212848"/>
          </a:xfrm>
          <a:prstGeom prst="roundRect">
            <a:avLst>
              <a:gd name="adj" fmla="val 2066"/>
            </a:avLst>
          </a:prstGeom>
          <a:solidFill>
            <a:srgbClr val="0F1C2E"/>
          </a:solidFill>
          <a:ln/>
        </p:spPr>
      </p:sp>
      <p:sp>
        <p:nvSpPr>
          <p:cNvPr id="5" name="Text 3"/>
          <p:cNvSpPr txBox="1"/>
          <p:nvPr/>
        </p:nvSpPr>
        <p:spPr>
          <a:xfrm>
            <a:off x="777240" y="1554480"/>
            <a:ext cx="10607040" cy="256032"/>
          </a:xfrm>
          <a:prstGeom prst="rect">
            <a:avLst/>
          </a:prstGeom>
          <a:noFill/>
          <a:ln/>
        </p:spPr>
        <p:txBody>
          <a:bodyPr wrap="square" lIns="0" tIns="0" rIns="0" bIns="0" rtlCol="0" anchor="t"/>
          <a:lstStyle/>
          <a:p>
            <a:pPr indent="0" marL="0">
              <a:buNone/>
            </a:pPr>
            <a:r>
              <a:rPr lang="en-US" sz="1100" dirty="0">
                <a:solidFill>
                  <a:srgbClr val="8FA3B8"/>
                </a:solidFill>
                <a:latin typeface="Consolas" pitchFamily="34" charset="0"/>
                <a:ea typeface="Consolas" pitchFamily="34" charset="-122"/>
                <a:cs typeface="Consolas" pitchFamily="34" charset="-120"/>
              </a:rPr>
              <a:t>scripts/compiler_televerser_court.sh  —  cœur du script complet scripts/compiler_televerser.sh</a:t>
            </a:r>
            <a:endParaRPr lang="en-US" sz="1100" dirty="0"/>
          </a:p>
        </p:txBody>
      </p:sp>
      <p:sp>
        <p:nvSpPr>
          <p:cNvPr id="6" name="Text 4"/>
          <p:cNvSpPr txBox="1"/>
          <p:nvPr/>
        </p:nvSpPr>
        <p:spPr>
          <a:xfrm>
            <a:off x="1188720" y="1920240"/>
            <a:ext cx="10332720" cy="1645920"/>
          </a:xfrm>
          <a:prstGeom prst="rect">
            <a:avLst/>
          </a:prstGeom>
          <a:noFill/>
          <a:ln/>
        </p:spPr>
        <p:txBody>
          <a:bodyPr wrap="square" lIns="0" tIns="0" rIns="0" bIns="0" rtlCol="0" anchor="t"/>
          <a:lstStyle/>
          <a:p>
            <a:pPr indent="0" marL="0">
              <a:lnSpc>
                <a:spcPts val="2100"/>
              </a:lnSpc>
              <a:buNone/>
            </a:pPr>
            <a:r>
              <a:rPr lang="en-US" sz="1600" dirty="0">
                <a:solidFill>
                  <a:srgbClr val="8FA3B8"/>
                </a:solidFill>
                <a:latin typeface="Consolas" pitchFamily="34" charset="0"/>
                <a:ea typeface="Consolas" pitchFamily="34" charset="-122"/>
                <a:cs typeface="Consolas" pitchFamily="34" charset="-120"/>
              </a:rPr>
              <a:t>#!/usr/bin/env bash</a:t>
            </a:r>
            <a:endParaRPr lang="en-US" sz="1600" dirty="0"/>
          </a:p>
          <a:p>
            <a:pPr indent="0" marL="0">
              <a:lnSpc>
                <a:spcPts val="2100"/>
              </a:lnSpc>
              <a:buNone/>
            </a:pPr>
            <a:r>
              <a:rPr lang="en-US" sz="1600" dirty="0">
                <a:solidFill>
                  <a:srgbClr val="7FD1DA"/>
                </a:solidFill>
                <a:latin typeface="Consolas" pitchFamily="34" charset="0"/>
                <a:ea typeface="Consolas" pitchFamily="34" charset="-122"/>
                <a:cs typeface="Consolas" pitchFamily="34" charset="-120"/>
              </a:rPr>
              <a:t>cd </a:t>
            </a:r>
            <a:pPr indent="0" marL="0">
              <a:lnSpc>
                <a:spcPts val="2100"/>
              </a:lnSpc>
              <a:buNone/>
            </a:pPr>
            <a:r>
              <a:rPr lang="en-US" sz="1600" dirty="0">
                <a:solidFill>
                  <a:srgbClr val="F2C27B"/>
                </a:solidFill>
                <a:latin typeface="Consolas" pitchFamily="34" charset="0"/>
                <a:ea typeface="Consolas" pitchFamily="34" charset="-122"/>
                <a:cs typeface="Consolas" pitchFamily="34" charset="-120"/>
              </a:rPr>
              <a:t>"$(dirname "$0")/.."</a:t>
            </a:r>
            <a:pPr indent="0" marL="0">
              <a:lnSpc>
                <a:spcPts val="2100"/>
              </a:lnSpc>
              <a:buNone/>
            </a:pPr>
            <a:r>
              <a:rPr lang="en-US" sz="1600" dirty="0">
                <a:solidFill>
                  <a:srgbClr val="A9B7C6"/>
                </a:solidFill>
                <a:latin typeface="Consolas" pitchFamily="34" charset="0"/>
                <a:ea typeface="Consolas" pitchFamily="34" charset="-122"/>
                <a:cs typeface="Consolas" pitchFamily="34" charset="-120"/>
              </a:rPr>
              <a:t> || </a:t>
            </a:r>
            <a:pPr indent="0" marL="0">
              <a:lnSpc>
                <a:spcPts val="2100"/>
              </a:lnSpc>
              <a:buNone/>
            </a:pPr>
            <a:r>
              <a:rPr lang="en-US" sz="1600" dirty="0">
                <a:solidFill>
                  <a:srgbClr val="7FD1DA"/>
                </a:solidFill>
                <a:latin typeface="Consolas" pitchFamily="34" charset="0"/>
                <a:ea typeface="Consolas" pitchFamily="34" charset="-122"/>
                <a:cs typeface="Consolas" pitchFamily="34" charset="-120"/>
              </a:rPr>
              <a:t>exit </a:t>
            </a:r>
            <a:pPr indent="0" marL="0">
              <a:lnSpc>
                <a:spcPts val="2100"/>
              </a:lnSpc>
              <a:buNone/>
            </a:pPr>
            <a:r>
              <a:rPr lang="en-US" sz="1600" dirty="0">
                <a:solidFill>
                  <a:srgbClr val="F2C27B"/>
                </a:solidFill>
                <a:latin typeface="Consolas" pitchFamily="34" charset="0"/>
                <a:ea typeface="Consolas" pitchFamily="34" charset="-122"/>
                <a:cs typeface="Consolas" pitchFamily="34" charset="-120"/>
              </a:rPr>
              <a:t>1</a:t>
            </a:r>
            <a:endParaRPr lang="en-US" sz="1600" dirty="0"/>
          </a:p>
          <a:p>
            <a:pPr indent="0" marL="0">
              <a:lnSpc>
                <a:spcPts val="2100"/>
              </a:lnSpc>
              <a:buNone/>
            </a:pPr>
            <a:r>
              <a:rPr lang="en-US" sz="1600" dirty="0">
                <a:solidFill>
                  <a:srgbClr val="7FD1DA"/>
                </a:solidFill>
                <a:latin typeface="Consolas" pitchFamily="34" charset="0"/>
                <a:ea typeface="Consolas" pitchFamily="34" charset="-122"/>
                <a:cs typeface="Consolas" pitchFamily="34" charset="-120"/>
              </a:rPr>
              <a:t>if </a:t>
            </a:r>
            <a:pPr indent="0" marL="0">
              <a:lnSpc>
                <a:spcPts val="2100"/>
              </a:lnSpc>
              <a:buNone/>
            </a:pPr>
            <a:r>
              <a:rPr lang="en-US" sz="1600" b="1" dirty="0">
                <a:solidFill>
                  <a:srgbClr val="FFFFFF"/>
                </a:solidFill>
                <a:latin typeface="Consolas" pitchFamily="34" charset="0"/>
                <a:ea typeface="Consolas" pitchFamily="34" charset="-122"/>
                <a:cs typeface="Consolas" pitchFamily="34" charset="-120"/>
              </a:rPr>
              <a:t>cmake</a:t>
            </a:r>
            <a:pPr indent="0" marL="0">
              <a:lnSpc>
                <a:spcPts val="2100"/>
              </a:lnSpc>
              <a:buNone/>
            </a:pPr>
            <a:r>
              <a:rPr lang="en-US" sz="1600" dirty="0">
                <a:solidFill>
                  <a:srgbClr val="D5DEE7"/>
                </a:solidFill>
                <a:latin typeface="Consolas" pitchFamily="34" charset="0"/>
                <a:ea typeface="Consolas" pitchFamily="34" charset="-122"/>
                <a:cs typeface="Consolas" pitchFamily="34" charset="-120"/>
              </a:rPr>
              <a:t> --preset Debug </a:t>
            </a:r>
            <a:pPr indent="0" marL="0">
              <a:lnSpc>
                <a:spcPts val="2100"/>
              </a:lnSpc>
              <a:buNone/>
            </a:pPr>
            <a:r>
              <a:rPr lang="en-US" sz="1600" dirty="0">
                <a:solidFill>
                  <a:srgbClr val="A9B7C6"/>
                </a:solidFill>
                <a:latin typeface="Consolas" pitchFamily="34" charset="0"/>
                <a:ea typeface="Consolas" pitchFamily="34" charset="-122"/>
                <a:cs typeface="Consolas" pitchFamily="34" charset="-120"/>
              </a:rPr>
              <a:t>&amp;&amp;</a:t>
            </a:r>
            <a:pPr indent="0" marL="0">
              <a:lnSpc>
                <a:spcPts val="2100"/>
              </a:lnSpc>
              <a:buNone/>
            </a:pPr>
            <a:r>
              <a:rPr lang="en-US" sz="1600" b="1" dirty="0">
                <a:solidFill>
                  <a:srgbClr val="FFFFFF"/>
                </a:solidFill>
                <a:latin typeface="Consolas" pitchFamily="34" charset="0"/>
                <a:ea typeface="Consolas" pitchFamily="34" charset="-122"/>
                <a:cs typeface="Consolas" pitchFamily="34" charset="-120"/>
              </a:rPr>
              <a:t> cmake</a:t>
            </a:r>
            <a:pPr indent="0" marL="0">
              <a:lnSpc>
                <a:spcPts val="2100"/>
              </a:lnSpc>
              <a:buNone/>
            </a:pPr>
            <a:r>
              <a:rPr lang="en-US" sz="1600" dirty="0">
                <a:solidFill>
                  <a:srgbClr val="D5DEE7"/>
                </a:solidFill>
                <a:latin typeface="Consolas" pitchFamily="34" charset="0"/>
                <a:ea typeface="Consolas" pitchFamily="34" charset="-122"/>
                <a:cs typeface="Consolas" pitchFamily="34" charset="-120"/>
              </a:rPr>
              <a:t> --build build/Debug</a:t>
            </a:r>
            <a:pPr indent="0" marL="0">
              <a:lnSpc>
                <a:spcPts val="2100"/>
              </a:lnSpc>
              <a:buNone/>
            </a:pPr>
            <a:r>
              <a:rPr lang="en-US" sz="1600" dirty="0">
                <a:solidFill>
                  <a:srgbClr val="A9B7C6"/>
                </a:solidFill>
                <a:latin typeface="Consolas" pitchFamily="34" charset="0"/>
                <a:ea typeface="Consolas" pitchFamily="34" charset="-122"/>
                <a:cs typeface="Consolas" pitchFamily="34" charset="-120"/>
              </a:rPr>
              <a:t>; </a:t>
            </a:r>
            <a:pPr indent="0" marL="0">
              <a:lnSpc>
                <a:spcPts val="2100"/>
              </a:lnSpc>
              <a:buNone/>
            </a:pPr>
            <a:r>
              <a:rPr lang="en-US" sz="1600" dirty="0">
                <a:solidFill>
                  <a:srgbClr val="7FD1DA"/>
                </a:solidFill>
                <a:latin typeface="Consolas" pitchFamily="34" charset="0"/>
                <a:ea typeface="Consolas" pitchFamily="34" charset="-122"/>
                <a:cs typeface="Consolas" pitchFamily="34" charset="-120"/>
              </a:rPr>
              <a:t>then</a:t>
            </a:r>
            <a:endParaRPr lang="en-US" sz="1600" dirty="0"/>
          </a:p>
          <a:p>
            <a:pPr indent="0" marL="0">
              <a:lnSpc>
                <a:spcPts val="2100"/>
              </a:lnSpc>
              <a:buNone/>
            </a:pPr>
            <a:r>
              <a:rPr lang="en-US" sz="1600" b="1" dirty="0">
                <a:solidFill>
                  <a:srgbClr val="FFFFFF"/>
                </a:solidFill>
                <a:latin typeface="Consolas" pitchFamily="34" charset="0"/>
                <a:ea typeface="Consolas" pitchFamily="34" charset="-122"/>
                <a:cs typeface="Consolas" pitchFamily="34" charset="-120"/>
              </a:rPr>
              <a:t>  STM32_Programmer_CLI</a:t>
            </a:r>
            <a:pPr indent="0" marL="0">
              <a:lnSpc>
                <a:spcPts val="2100"/>
              </a:lnSpc>
              <a:buNone/>
            </a:pPr>
            <a:r>
              <a:rPr lang="en-US" sz="1600" dirty="0">
                <a:solidFill>
                  <a:srgbClr val="D5DEE7"/>
                </a:solidFill>
                <a:latin typeface="Consolas" pitchFamily="34" charset="0"/>
                <a:ea typeface="Consolas" pitchFamily="34" charset="-122"/>
                <a:cs typeface="Consolas" pitchFamily="34" charset="-120"/>
              </a:rPr>
              <a:t> -c port=SWD mode=UR reset=HWrst -w build/Debug/Aura.elf -v -rst</a:t>
            </a:r>
            <a:endParaRPr lang="en-US" sz="1600" dirty="0"/>
          </a:p>
          <a:p>
            <a:pPr indent="0" marL="0">
              <a:lnSpc>
                <a:spcPts val="2100"/>
              </a:lnSpc>
              <a:buNone/>
            </a:pPr>
            <a:r>
              <a:rPr lang="en-US" sz="1600" dirty="0">
                <a:solidFill>
                  <a:srgbClr val="7FD1DA"/>
                </a:solidFill>
                <a:latin typeface="Consolas" pitchFamily="34" charset="0"/>
                <a:ea typeface="Consolas" pitchFamily="34" charset="-122"/>
                <a:cs typeface="Consolas" pitchFamily="34" charset="-120"/>
              </a:rPr>
              <a:t>else </a:t>
            </a:r>
            <a:pPr indent="0" marL="0">
              <a:lnSpc>
                <a:spcPts val="2100"/>
              </a:lnSpc>
              <a:buNone/>
            </a:pPr>
            <a:r>
              <a:rPr lang="en-US" sz="1600" b="1" dirty="0">
                <a:solidFill>
                  <a:srgbClr val="FFFFFF"/>
                </a:solidFill>
                <a:latin typeface="Consolas" pitchFamily="34" charset="0"/>
                <a:ea typeface="Consolas" pitchFamily="34" charset="-122"/>
                <a:cs typeface="Consolas" pitchFamily="34" charset="-120"/>
              </a:rPr>
              <a:t>echo </a:t>
            </a:r>
            <a:pPr indent="0" marL="0">
              <a:lnSpc>
                <a:spcPts val="2100"/>
              </a:lnSpc>
              <a:buNone/>
            </a:pPr>
            <a:r>
              <a:rPr lang="en-US" sz="1600" dirty="0">
                <a:solidFill>
                  <a:srgbClr val="F2C27B"/>
                </a:solidFill>
                <a:latin typeface="Consolas" pitchFamily="34" charset="0"/>
                <a:ea typeface="Consolas" pitchFamily="34" charset="-122"/>
                <a:cs typeface="Consolas" pitchFamily="34" charset="-120"/>
              </a:rPr>
              <a:t>"Échec de compilation : téléversement annulé"</a:t>
            </a:r>
            <a:pPr indent="0" marL="0">
              <a:lnSpc>
                <a:spcPts val="2100"/>
              </a:lnSpc>
              <a:buNone/>
            </a:pPr>
            <a:r>
              <a:rPr lang="en-US" sz="1600" dirty="0">
                <a:solidFill>
                  <a:srgbClr val="A9B7C6"/>
                </a:solidFill>
                <a:latin typeface="Consolas" pitchFamily="34" charset="0"/>
                <a:ea typeface="Consolas" pitchFamily="34" charset="-122"/>
                <a:cs typeface="Consolas" pitchFamily="34" charset="-120"/>
              </a:rPr>
              <a:t> &gt;&amp;2; </a:t>
            </a:r>
            <a:pPr indent="0" marL="0">
              <a:lnSpc>
                <a:spcPts val="2100"/>
              </a:lnSpc>
              <a:buNone/>
            </a:pPr>
            <a:r>
              <a:rPr lang="en-US" sz="1600" dirty="0">
                <a:solidFill>
                  <a:srgbClr val="7FD1DA"/>
                </a:solidFill>
                <a:latin typeface="Consolas" pitchFamily="34" charset="0"/>
                <a:ea typeface="Consolas" pitchFamily="34" charset="-122"/>
                <a:cs typeface="Consolas" pitchFamily="34" charset="-120"/>
              </a:rPr>
              <a:t>exit </a:t>
            </a:r>
            <a:pPr indent="0" marL="0">
              <a:lnSpc>
                <a:spcPts val="2100"/>
              </a:lnSpc>
              <a:buNone/>
            </a:pPr>
            <a:r>
              <a:rPr lang="en-US" sz="1600" dirty="0">
                <a:solidFill>
                  <a:srgbClr val="F2C27B"/>
                </a:solidFill>
                <a:latin typeface="Consolas" pitchFamily="34" charset="0"/>
                <a:ea typeface="Consolas" pitchFamily="34" charset="-122"/>
                <a:cs typeface="Consolas" pitchFamily="34" charset="-120"/>
              </a:rPr>
              <a:t>1</a:t>
            </a:r>
            <a:pPr indent="0" marL="0">
              <a:lnSpc>
                <a:spcPts val="2100"/>
              </a:lnSpc>
              <a:buNone/>
            </a:pPr>
            <a:r>
              <a:rPr lang="en-US" sz="1600" dirty="0">
                <a:solidFill>
                  <a:srgbClr val="A9B7C6"/>
                </a:solidFill>
                <a:latin typeface="Consolas" pitchFamily="34" charset="0"/>
                <a:ea typeface="Consolas" pitchFamily="34" charset="-122"/>
                <a:cs typeface="Consolas" pitchFamily="34" charset="-120"/>
              </a:rPr>
              <a:t>; </a:t>
            </a:r>
            <a:pPr indent="0" marL="0">
              <a:lnSpc>
                <a:spcPts val="2100"/>
              </a:lnSpc>
              <a:buNone/>
            </a:pPr>
            <a:r>
              <a:rPr lang="en-US" sz="1600" dirty="0">
                <a:solidFill>
                  <a:srgbClr val="7FD1DA"/>
                </a:solidFill>
                <a:latin typeface="Consolas" pitchFamily="34" charset="0"/>
                <a:ea typeface="Consolas" pitchFamily="34" charset="-122"/>
                <a:cs typeface="Consolas" pitchFamily="34" charset="-120"/>
              </a:rPr>
              <a:t>fi</a:t>
            </a:r>
            <a:endParaRPr lang="en-US" sz="1600" dirty="0"/>
          </a:p>
        </p:txBody>
      </p:sp>
      <p:sp>
        <p:nvSpPr>
          <p:cNvPr id="7" name="Text 5"/>
          <p:cNvSpPr txBox="1"/>
          <p:nvPr/>
        </p:nvSpPr>
        <p:spPr>
          <a:xfrm>
            <a:off x="731520" y="1920240"/>
            <a:ext cx="320040" cy="1645920"/>
          </a:xfrm>
          <a:prstGeom prst="rect">
            <a:avLst/>
          </a:prstGeom>
          <a:noFill/>
          <a:ln/>
        </p:spPr>
        <p:txBody>
          <a:bodyPr wrap="square" lIns="0" tIns="0" rIns="0" bIns="0" rtlCol="0" anchor="t"/>
          <a:lstStyle/>
          <a:p>
            <a:pPr algn="r" indent="0" marL="0">
              <a:lnSpc>
                <a:spcPts val="2100"/>
              </a:lnSpc>
              <a:buNone/>
            </a:pPr>
            <a:r>
              <a:rPr lang="en-US" sz="1600" dirty="0">
                <a:solidFill>
                  <a:srgbClr val="5E7186"/>
                </a:solidFill>
                <a:latin typeface="Consolas" pitchFamily="34" charset="0"/>
                <a:ea typeface="Consolas" pitchFamily="34" charset="-122"/>
                <a:cs typeface="Consolas" pitchFamily="34" charset="-120"/>
              </a:rPr>
              <a:t>1</a:t>
            </a:r>
            <a:endParaRPr lang="en-US" sz="1600" dirty="0"/>
          </a:p>
          <a:p>
            <a:pPr algn="r" indent="0" marL="0">
              <a:lnSpc>
                <a:spcPts val="2100"/>
              </a:lnSpc>
              <a:buNone/>
            </a:pPr>
            <a:r>
              <a:rPr lang="en-US" sz="1600" dirty="0">
                <a:solidFill>
                  <a:srgbClr val="5E7186"/>
                </a:solidFill>
                <a:latin typeface="Consolas" pitchFamily="34" charset="0"/>
                <a:ea typeface="Consolas" pitchFamily="34" charset="-122"/>
                <a:cs typeface="Consolas" pitchFamily="34" charset="-120"/>
              </a:rPr>
              <a:t>2</a:t>
            </a:r>
            <a:endParaRPr lang="en-US" sz="1600" dirty="0"/>
          </a:p>
          <a:p>
            <a:pPr algn="r" indent="0" marL="0">
              <a:lnSpc>
                <a:spcPts val="2100"/>
              </a:lnSpc>
              <a:buNone/>
            </a:pPr>
            <a:r>
              <a:rPr lang="en-US" sz="1600" dirty="0">
                <a:solidFill>
                  <a:srgbClr val="5E7186"/>
                </a:solidFill>
                <a:latin typeface="Consolas" pitchFamily="34" charset="0"/>
                <a:ea typeface="Consolas" pitchFamily="34" charset="-122"/>
                <a:cs typeface="Consolas" pitchFamily="34" charset="-120"/>
              </a:rPr>
              <a:t>3</a:t>
            </a:r>
            <a:endParaRPr lang="en-US" sz="1600" dirty="0"/>
          </a:p>
          <a:p>
            <a:pPr algn="r" indent="0" marL="0">
              <a:lnSpc>
                <a:spcPts val="2100"/>
              </a:lnSpc>
              <a:buNone/>
            </a:pPr>
            <a:r>
              <a:rPr lang="en-US" sz="1600" dirty="0">
                <a:solidFill>
                  <a:srgbClr val="5E7186"/>
                </a:solidFill>
                <a:latin typeface="Consolas" pitchFamily="34" charset="0"/>
                <a:ea typeface="Consolas" pitchFamily="34" charset="-122"/>
                <a:cs typeface="Consolas" pitchFamily="34" charset="-120"/>
              </a:rPr>
              <a:t>4</a:t>
            </a:r>
            <a:endParaRPr lang="en-US" sz="1600" dirty="0"/>
          </a:p>
          <a:p>
            <a:pPr algn="r" indent="0" marL="0">
              <a:lnSpc>
                <a:spcPts val="2100"/>
              </a:lnSpc>
              <a:buNone/>
            </a:pPr>
            <a:r>
              <a:rPr lang="en-US" sz="1600" dirty="0">
                <a:solidFill>
                  <a:srgbClr val="5E7186"/>
                </a:solidFill>
                <a:latin typeface="Consolas" pitchFamily="34" charset="0"/>
                <a:ea typeface="Consolas" pitchFamily="34" charset="-122"/>
                <a:cs typeface="Consolas" pitchFamily="34" charset="-120"/>
              </a:rPr>
              <a:t>5</a:t>
            </a:r>
            <a:endParaRPr lang="en-US" sz="1600" dirty="0"/>
          </a:p>
        </p:txBody>
      </p:sp>
      <p:sp>
        <p:nvSpPr>
          <p:cNvPr id="8" name="Text 6"/>
          <p:cNvSpPr/>
          <p:nvPr/>
        </p:nvSpPr>
        <p:spPr>
          <a:xfrm>
            <a:off x="548640" y="3922776"/>
            <a:ext cx="310896" cy="310896"/>
          </a:xfrm>
          <a:prstGeom prst="ellipse">
            <a:avLst/>
          </a:prstGeom>
          <a:solidFill>
            <a:schemeClr val="accent6"/>
          </a:solidFill>
          <a:ln/>
        </p:spPr>
        <p:txBody>
          <a:bodyPr wrap="square" lIns="0" tIns="0" rIns="0" bIns="0" rtlCol="0" anchor="ctr"/>
          <a:lstStyle/>
          <a:p>
            <a:pPr algn="ctr" indent="0" marL="0">
              <a:buNone/>
            </a:pPr>
            <a:r>
              <a:rPr lang="en-US" sz="1200" b="1" dirty="0">
                <a:solidFill>
                  <a:schemeClr val="bg1"/>
                </a:solidFill>
              </a:rPr>
              <a:t>1</a:t>
            </a:r>
            <a:endParaRPr lang="en-US" sz="1200" dirty="0"/>
          </a:p>
        </p:txBody>
      </p:sp>
      <p:sp>
        <p:nvSpPr>
          <p:cNvPr id="9" name="Text 7"/>
          <p:cNvSpPr txBox="1"/>
          <p:nvPr/>
        </p:nvSpPr>
        <p:spPr>
          <a:xfrm>
            <a:off x="1005840" y="3886200"/>
            <a:ext cx="6035040" cy="438912"/>
          </a:xfrm>
          <a:prstGeom prst="rect">
            <a:avLst/>
          </a:prstGeom>
          <a:noFill/>
          <a:ln/>
        </p:spPr>
        <p:txBody>
          <a:bodyPr wrap="square" lIns="0" tIns="0" rIns="0" bIns="0" rtlCol="0" anchor="ctr"/>
          <a:lstStyle/>
          <a:p>
            <a:pPr indent="0" marL="0">
              <a:buNone/>
            </a:pPr>
            <a:r>
              <a:rPr lang="en-US" sz="1350" dirty="0">
                <a:solidFill>
                  <a:schemeClr val="tx1"/>
                </a:solidFill>
              </a:rPr>
              <a:t>Exécuter le script avec Bash</a:t>
            </a:r>
            <a:endParaRPr lang="en-US" sz="1350" dirty="0"/>
          </a:p>
        </p:txBody>
      </p:sp>
      <p:sp>
        <p:nvSpPr>
          <p:cNvPr id="10" name="Text 8"/>
          <p:cNvSpPr/>
          <p:nvPr/>
        </p:nvSpPr>
        <p:spPr>
          <a:xfrm>
            <a:off x="548640" y="4398264"/>
            <a:ext cx="310896" cy="310896"/>
          </a:xfrm>
          <a:prstGeom prst="ellipse">
            <a:avLst/>
          </a:prstGeom>
          <a:solidFill>
            <a:schemeClr val="accent6"/>
          </a:solidFill>
          <a:ln/>
        </p:spPr>
        <p:txBody>
          <a:bodyPr wrap="square" lIns="0" tIns="0" rIns="0" bIns="0" rtlCol="0" anchor="ctr"/>
          <a:lstStyle/>
          <a:p>
            <a:pPr algn="ctr" indent="0" marL="0">
              <a:buNone/>
            </a:pPr>
            <a:r>
              <a:rPr lang="en-US" sz="1200" b="1" dirty="0">
                <a:solidFill>
                  <a:schemeClr val="bg1"/>
                </a:solidFill>
              </a:rPr>
              <a:t>2</a:t>
            </a:r>
            <a:endParaRPr lang="en-US" sz="1200" dirty="0"/>
          </a:p>
        </p:txBody>
      </p:sp>
      <p:sp>
        <p:nvSpPr>
          <p:cNvPr id="11" name="Text 9"/>
          <p:cNvSpPr txBox="1"/>
          <p:nvPr/>
        </p:nvSpPr>
        <p:spPr>
          <a:xfrm>
            <a:off x="1005840" y="4361688"/>
            <a:ext cx="6035040" cy="438912"/>
          </a:xfrm>
          <a:prstGeom prst="rect">
            <a:avLst/>
          </a:prstGeom>
          <a:noFill/>
          <a:ln/>
        </p:spPr>
        <p:txBody>
          <a:bodyPr wrap="square" lIns="0" tIns="0" rIns="0" bIns="0" rtlCol="0" anchor="ctr"/>
          <a:lstStyle/>
          <a:p>
            <a:pPr indent="0" marL="0">
              <a:buNone/>
            </a:pPr>
            <a:r>
              <a:rPr lang="en-US" sz="1350" dirty="0">
                <a:solidFill>
                  <a:schemeClr val="tx1"/>
                </a:solidFill>
              </a:rPr>
              <a:t>Se placer à la racine du projet, d'où que le script soit lancé</a:t>
            </a:r>
            <a:endParaRPr lang="en-US" sz="1350" dirty="0"/>
          </a:p>
        </p:txBody>
      </p:sp>
      <p:sp>
        <p:nvSpPr>
          <p:cNvPr id="12" name="Text 10"/>
          <p:cNvSpPr/>
          <p:nvPr/>
        </p:nvSpPr>
        <p:spPr>
          <a:xfrm>
            <a:off x="548640" y="4873752"/>
            <a:ext cx="310896" cy="310896"/>
          </a:xfrm>
          <a:prstGeom prst="ellipse">
            <a:avLst/>
          </a:prstGeom>
          <a:solidFill>
            <a:schemeClr val="accent1"/>
          </a:solidFill>
          <a:ln/>
        </p:spPr>
        <p:txBody>
          <a:bodyPr wrap="square" lIns="0" tIns="0" rIns="0" bIns="0" rtlCol="0" anchor="ctr"/>
          <a:lstStyle/>
          <a:p>
            <a:pPr algn="ctr" indent="0" marL="0">
              <a:buNone/>
            </a:pPr>
            <a:r>
              <a:rPr lang="en-US" sz="1200" b="1" dirty="0">
                <a:solidFill>
                  <a:schemeClr val="bg1"/>
                </a:solidFill>
              </a:rPr>
              <a:t>3</a:t>
            </a:r>
            <a:endParaRPr lang="en-US" sz="1200" dirty="0"/>
          </a:p>
        </p:txBody>
      </p:sp>
      <p:sp>
        <p:nvSpPr>
          <p:cNvPr id="13" name="Text 11"/>
          <p:cNvSpPr txBox="1"/>
          <p:nvPr/>
        </p:nvSpPr>
        <p:spPr>
          <a:xfrm>
            <a:off x="1005840" y="4837176"/>
            <a:ext cx="6035040" cy="438912"/>
          </a:xfrm>
          <a:prstGeom prst="rect">
            <a:avLst/>
          </a:prstGeom>
          <a:noFill/>
          <a:ln/>
        </p:spPr>
        <p:txBody>
          <a:bodyPr wrap="square" lIns="0" tIns="0" rIns="0" bIns="0" rtlCol="0" anchor="ctr"/>
          <a:lstStyle/>
          <a:p>
            <a:pPr indent="0" marL="0">
              <a:buNone/>
            </a:pPr>
            <a:r>
              <a:rPr lang="en-US" sz="1350" dirty="0">
                <a:solidFill>
                  <a:schemeClr val="tx1"/>
                </a:solidFill>
              </a:rPr>
              <a:t>Configurer (CMake + Ninja + arm-none-eabi-gcc) puis compiler ; le if teste le code de retour</a:t>
            </a:r>
            <a:endParaRPr lang="en-US" sz="1350" dirty="0"/>
          </a:p>
        </p:txBody>
      </p:sp>
      <p:sp>
        <p:nvSpPr>
          <p:cNvPr id="14" name="Text 12"/>
          <p:cNvSpPr/>
          <p:nvPr/>
        </p:nvSpPr>
        <p:spPr>
          <a:xfrm>
            <a:off x="548640" y="5349240"/>
            <a:ext cx="310896" cy="310896"/>
          </a:xfrm>
          <a:prstGeom prst="ellipse">
            <a:avLst/>
          </a:prstGeom>
          <a:solidFill>
            <a:schemeClr val="accent1"/>
          </a:solidFill>
          <a:ln/>
        </p:spPr>
        <p:txBody>
          <a:bodyPr wrap="square" lIns="0" tIns="0" rIns="0" bIns="0" rtlCol="0" anchor="ctr"/>
          <a:lstStyle/>
          <a:p>
            <a:pPr algn="ctr" indent="0" marL="0">
              <a:buNone/>
            </a:pPr>
            <a:r>
              <a:rPr lang="en-US" sz="1200" b="1" dirty="0">
                <a:solidFill>
                  <a:schemeClr val="bg1"/>
                </a:solidFill>
              </a:rPr>
              <a:t>4</a:t>
            </a:r>
            <a:endParaRPr lang="en-US" sz="1200" dirty="0"/>
          </a:p>
        </p:txBody>
      </p:sp>
      <p:sp>
        <p:nvSpPr>
          <p:cNvPr id="15" name="Text 13"/>
          <p:cNvSpPr txBox="1"/>
          <p:nvPr/>
        </p:nvSpPr>
        <p:spPr>
          <a:xfrm>
            <a:off x="1005840" y="5312664"/>
            <a:ext cx="6035040" cy="438912"/>
          </a:xfrm>
          <a:prstGeom prst="rect">
            <a:avLst/>
          </a:prstGeom>
          <a:noFill/>
          <a:ln/>
        </p:spPr>
        <p:txBody>
          <a:bodyPr wrap="square" lIns="0" tIns="0" rIns="0" bIns="0" rtlCol="0" anchor="ctr"/>
          <a:lstStyle/>
          <a:p>
            <a:pPr indent="0" marL="0">
              <a:buNone/>
            </a:pPr>
            <a:r>
              <a:rPr lang="en-US" sz="1350" dirty="0">
                <a:solidFill>
                  <a:schemeClr val="tx1"/>
                </a:solidFill>
              </a:rPr>
              <a:t>Seulement en cas de succès : flasher Aura.elf par le ST-LINK (SWD), vérifier (-v), redémarrer (-rst)</a:t>
            </a:r>
            <a:endParaRPr lang="en-US" sz="1350" dirty="0"/>
          </a:p>
        </p:txBody>
      </p:sp>
      <p:sp>
        <p:nvSpPr>
          <p:cNvPr id="16" name="Text 14"/>
          <p:cNvSpPr/>
          <p:nvPr/>
        </p:nvSpPr>
        <p:spPr>
          <a:xfrm>
            <a:off x="548640" y="5824728"/>
            <a:ext cx="310896" cy="310896"/>
          </a:xfrm>
          <a:prstGeom prst="ellipse">
            <a:avLst/>
          </a:prstGeom>
          <a:solidFill>
            <a:schemeClr val="accent1"/>
          </a:solidFill>
          <a:ln/>
        </p:spPr>
        <p:txBody>
          <a:bodyPr wrap="square" lIns="0" tIns="0" rIns="0" bIns="0" rtlCol="0" anchor="ctr"/>
          <a:lstStyle/>
          <a:p>
            <a:pPr algn="ctr" indent="0" marL="0">
              <a:buNone/>
            </a:pPr>
            <a:r>
              <a:rPr lang="en-US" sz="1200" b="1" dirty="0">
                <a:solidFill>
                  <a:schemeClr val="bg1"/>
                </a:solidFill>
              </a:rPr>
              <a:t>5</a:t>
            </a:r>
            <a:endParaRPr lang="en-US" sz="1200" dirty="0"/>
          </a:p>
        </p:txBody>
      </p:sp>
      <p:sp>
        <p:nvSpPr>
          <p:cNvPr id="17" name="Text 15"/>
          <p:cNvSpPr txBox="1"/>
          <p:nvPr/>
        </p:nvSpPr>
        <p:spPr>
          <a:xfrm>
            <a:off x="1005840" y="5788152"/>
            <a:ext cx="6035040" cy="438912"/>
          </a:xfrm>
          <a:prstGeom prst="rect">
            <a:avLst/>
          </a:prstGeom>
          <a:noFill/>
          <a:ln/>
        </p:spPr>
        <p:txBody>
          <a:bodyPr wrap="square" lIns="0" tIns="0" rIns="0" bIns="0" rtlCol="0" anchor="ctr"/>
          <a:lstStyle/>
          <a:p>
            <a:pPr indent="0" marL="0">
              <a:buNone/>
            </a:pPr>
            <a:r>
              <a:rPr lang="en-US" sz="1350" dirty="0">
                <a:solidFill>
                  <a:schemeClr val="tx1"/>
                </a:solidFill>
              </a:rPr>
              <a:t>Sinon : message d'erreur et code de sortie 1 — la carte n'est pas touchée</a:t>
            </a:r>
            <a:endParaRPr lang="en-US" sz="1350" dirty="0"/>
          </a:p>
        </p:txBody>
      </p:sp>
      <p:sp>
        <p:nvSpPr>
          <p:cNvPr id="18" name="Text 16"/>
          <p:cNvSpPr/>
          <p:nvPr/>
        </p:nvSpPr>
        <p:spPr>
          <a:xfrm>
            <a:off x="7406640" y="3840480"/>
            <a:ext cx="1143000" cy="548640"/>
          </a:xfrm>
          <a:prstGeom prst="roundRect">
            <a:avLst>
              <a:gd name="adj" fmla="val 10000"/>
            </a:avLst>
          </a:prstGeom>
          <a:solidFill>
            <a:schemeClr val="accent3"/>
          </a:solidFill>
          <a:ln/>
        </p:spPr>
        <p:txBody>
          <a:bodyPr wrap="square" lIns="0" tIns="0" rIns="0" bIns="0" rtlCol="0" anchor="ctr"/>
          <a:lstStyle/>
          <a:p>
            <a:pPr algn="ctr" indent="0" marL="0">
              <a:buNone/>
            </a:pPr>
            <a:r>
              <a:rPr lang="en-US" sz="1300" b="1" dirty="0">
                <a:solidFill>
                  <a:schemeClr val="bg1"/>
                </a:solidFill>
              </a:rPr>
              <a:t>Compiler</a:t>
            </a:r>
            <a:endParaRPr lang="en-US" sz="1300" dirty="0"/>
          </a:p>
        </p:txBody>
      </p:sp>
      <p:sp>
        <p:nvSpPr>
          <p:cNvPr id="19" name="Shape 17"/>
          <p:cNvSpPr/>
          <p:nvPr/>
        </p:nvSpPr>
        <p:spPr>
          <a:xfrm>
            <a:off x="8549640" y="4114800"/>
            <a:ext cx="228600" cy="0"/>
          </a:xfrm>
          <a:prstGeom prst="line">
            <a:avLst/>
          </a:prstGeom>
          <a:noFill/>
          <a:ln w="22225">
            <a:solidFill>
              <a:schemeClr val="tx2"/>
            </a:solidFill>
            <a:prstDash val="solid"/>
            <a:tailEnd type="triangle"/>
          </a:ln>
        </p:spPr>
      </p:sp>
      <p:sp>
        <p:nvSpPr>
          <p:cNvPr id="20" name="Text 18"/>
          <p:cNvSpPr/>
          <p:nvPr/>
        </p:nvSpPr>
        <p:spPr>
          <a:xfrm>
            <a:off x="8778240" y="3767328"/>
            <a:ext cx="1188720" cy="694944"/>
          </a:xfrm>
          <a:prstGeom prst="diamond">
            <a:avLst/>
          </a:prstGeom>
          <a:solidFill>
            <a:schemeClr val="bg1"/>
          </a:solidFill>
          <a:ln w="19050">
            <a:solidFill>
              <a:schemeClr val="accent2"/>
            </a:solidFill>
          </a:ln>
        </p:spPr>
        <p:txBody>
          <a:bodyPr wrap="square" lIns="0" tIns="0" rIns="0" bIns="0" rtlCol="0" anchor="ctr"/>
          <a:lstStyle/>
          <a:p>
            <a:pPr algn="ctr" indent="0" marL="0">
              <a:buNone/>
            </a:pPr>
            <a:r>
              <a:rPr lang="en-US" sz="1250" b="1" dirty="0">
                <a:solidFill>
                  <a:schemeClr val="tx2"/>
                </a:solidFill>
              </a:rPr>
              <a:t>Succès ?</a:t>
            </a:r>
            <a:endParaRPr lang="en-US" sz="1250" dirty="0"/>
          </a:p>
        </p:txBody>
      </p:sp>
      <p:sp>
        <p:nvSpPr>
          <p:cNvPr id="21" name="Shape 19"/>
          <p:cNvSpPr/>
          <p:nvPr/>
        </p:nvSpPr>
        <p:spPr>
          <a:xfrm>
            <a:off x="9966960" y="4114800"/>
            <a:ext cx="274320" cy="0"/>
          </a:xfrm>
          <a:prstGeom prst="line">
            <a:avLst/>
          </a:prstGeom>
          <a:noFill/>
          <a:ln w="22225">
            <a:solidFill>
              <a:schemeClr val="accent4"/>
            </a:solidFill>
            <a:prstDash val="solid"/>
            <a:tailEnd type="triangle"/>
          </a:ln>
        </p:spPr>
      </p:sp>
      <p:sp>
        <p:nvSpPr>
          <p:cNvPr id="22" name="Text 20"/>
          <p:cNvSpPr txBox="1"/>
          <p:nvPr/>
        </p:nvSpPr>
        <p:spPr>
          <a:xfrm>
            <a:off x="9921240" y="3794760"/>
            <a:ext cx="365760" cy="228600"/>
          </a:xfrm>
          <a:prstGeom prst="rect">
            <a:avLst/>
          </a:prstGeom>
          <a:noFill/>
          <a:ln/>
        </p:spPr>
        <p:txBody>
          <a:bodyPr wrap="square" lIns="0" tIns="0" rIns="0" bIns="0" rtlCol="0" anchor="t"/>
          <a:lstStyle/>
          <a:p>
            <a:pPr indent="0" marL="0">
              <a:buNone/>
            </a:pPr>
            <a:r>
              <a:rPr lang="en-US" sz="1100" b="1" dirty="0">
                <a:solidFill>
                  <a:schemeClr val="accent4"/>
                </a:solidFill>
              </a:rPr>
              <a:t>oui</a:t>
            </a:r>
            <a:endParaRPr lang="en-US" sz="1100" dirty="0"/>
          </a:p>
        </p:txBody>
      </p:sp>
      <p:sp>
        <p:nvSpPr>
          <p:cNvPr id="23" name="Text 21"/>
          <p:cNvSpPr/>
          <p:nvPr/>
        </p:nvSpPr>
        <p:spPr>
          <a:xfrm>
            <a:off x="10241280" y="3840480"/>
            <a:ext cx="1399032" cy="548640"/>
          </a:xfrm>
          <a:prstGeom prst="roundRect">
            <a:avLst>
              <a:gd name="adj" fmla="val 10000"/>
            </a:avLst>
          </a:prstGeom>
          <a:solidFill>
            <a:schemeClr val="accent4"/>
          </a:solidFill>
          <a:ln/>
        </p:spPr>
        <p:txBody>
          <a:bodyPr wrap="square" lIns="25400" tIns="25400" rIns="25400" bIns="25400" rtlCol="0" anchor="ctr"/>
          <a:lstStyle/>
          <a:p>
            <a:pPr algn="ctr" indent="0" marL="0">
              <a:buNone/>
            </a:pPr>
            <a:r>
              <a:rPr lang="en-US" sz="1250" b="1" dirty="0">
                <a:solidFill>
                  <a:schemeClr val="bg1"/>
                </a:solidFill>
              </a:rPr>
              <a:t>Téléverser (ST-LINK)</a:t>
            </a:r>
            <a:endParaRPr lang="en-US" sz="1250" dirty="0"/>
          </a:p>
        </p:txBody>
      </p:sp>
      <p:sp>
        <p:nvSpPr>
          <p:cNvPr id="24" name="Shape 22"/>
          <p:cNvSpPr/>
          <p:nvPr/>
        </p:nvSpPr>
        <p:spPr>
          <a:xfrm>
            <a:off x="9372600" y="4462272"/>
            <a:ext cx="0" cy="274320"/>
          </a:xfrm>
          <a:prstGeom prst="line">
            <a:avLst/>
          </a:prstGeom>
          <a:noFill/>
          <a:ln w="22225">
            <a:solidFill>
              <a:srgbClr val="C0392B"/>
            </a:solidFill>
            <a:prstDash val="solid"/>
            <a:tailEnd type="triangle"/>
          </a:ln>
        </p:spPr>
      </p:sp>
      <p:sp>
        <p:nvSpPr>
          <p:cNvPr id="25" name="Text 23"/>
          <p:cNvSpPr txBox="1"/>
          <p:nvPr/>
        </p:nvSpPr>
        <p:spPr>
          <a:xfrm>
            <a:off x="9445752" y="4480560"/>
            <a:ext cx="365760" cy="228600"/>
          </a:xfrm>
          <a:prstGeom prst="rect">
            <a:avLst/>
          </a:prstGeom>
          <a:noFill/>
          <a:ln/>
        </p:spPr>
        <p:txBody>
          <a:bodyPr wrap="square" lIns="0" tIns="0" rIns="0" bIns="0" rtlCol="0" anchor="t"/>
          <a:lstStyle/>
          <a:p>
            <a:pPr indent="0" marL="0">
              <a:buNone/>
            </a:pPr>
            <a:r>
              <a:rPr lang="en-US" sz="1100" b="1" dirty="0">
                <a:solidFill>
                  <a:srgbClr val="C0392B"/>
                </a:solidFill>
              </a:rPr>
              <a:t>non</a:t>
            </a:r>
            <a:endParaRPr lang="en-US" sz="1100" dirty="0"/>
          </a:p>
        </p:txBody>
      </p:sp>
      <p:sp>
        <p:nvSpPr>
          <p:cNvPr id="26" name="Text 24"/>
          <p:cNvSpPr/>
          <p:nvPr/>
        </p:nvSpPr>
        <p:spPr>
          <a:xfrm>
            <a:off x="8366760" y="4736592"/>
            <a:ext cx="2011680" cy="457200"/>
          </a:xfrm>
          <a:prstGeom prst="roundRect">
            <a:avLst>
              <a:gd name="adj" fmla="val 12000"/>
            </a:avLst>
          </a:prstGeom>
          <a:solidFill>
            <a:srgbClr val="C0392B"/>
          </a:solidFill>
          <a:ln/>
        </p:spPr>
        <p:txBody>
          <a:bodyPr wrap="square" lIns="25400" tIns="25400" rIns="25400" bIns="25400" rtlCol="0" anchor="ctr"/>
          <a:lstStyle/>
          <a:p>
            <a:pPr algn="ctr" indent="0" marL="0">
              <a:buNone/>
            </a:pPr>
            <a:r>
              <a:rPr lang="en-US" sz="1200" b="1" dirty="0">
                <a:solidFill>
                  <a:schemeClr val="bg1"/>
                </a:solidFill>
              </a:rPr>
              <a:t>Arrêt + message, carte intacte</a:t>
            </a:r>
            <a:endParaRPr lang="en-US" sz="1200" dirty="0"/>
          </a:p>
        </p:txBody>
      </p:sp>
      <p:sp>
        <p:nvSpPr>
          <p:cNvPr id="27" name="Text 25"/>
          <p:cNvSpPr/>
          <p:nvPr/>
        </p:nvSpPr>
        <p:spPr>
          <a:xfrm>
            <a:off x="7406640" y="5376672"/>
            <a:ext cx="4233672" cy="841248"/>
          </a:xfrm>
          <a:prstGeom prst="roundRect">
            <a:avLst>
              <a:gd name="adj" fmla="val 6522"/>
            </a:avLst>
          </a:prstGeom>
          <a:solidFill>
            <a:schemeClr val="accent1">
              <a:alpha val="10000"/>
            </a:schemeClr>
          </a:solidFill>
          <a:ln/>
        </p:spPr>
        <p:txBody>
          <a:bodyPr wrap="square" lIns="63500" tIns="127000" rIns="127000" bIns="63500" rtlCol="0" anchor="ctr"/>
          <a:lstStyle/>
          <a:p>
            <a:pPr marL="152400" indent="-152400">
              <a:spcAft>
                <a:spcPts val="300"/>
              </a:spcAft>
              <a:buSzPct val="100000"/>
              <a:buChar char="•"/>
            </a:pPr>
            <a:r>
              <a:rPr lang="en-US" sz="1250" b="1" dirty="0">
                <a:solidFill>
                  <a:schemeClr val="tx1"/>
                </a:solidFill>
              </a:rPr>
              <a:t>Une seule commande </a:t>
            </a:r>
            <a:pPr indent="0" marL="0">
              <a:buNone/>
            </a:pPr>
            <a:r>
              <a:rPr lang="en-US" sz="1250" dirty="0">
                <a:solidFill>
                  <a:schemeClr val="tx1"/>
                </a:solidFill>
              </a:rPr>
              <a:t>au lieu de trois manipulations</a:t>
            </a:r>
            <a:endParaRPr lang="en-US" sz="1250" dirty="0"/>
          </a:p>
          <a:p>
            <a:pPr marL="152400" indent="-152400">
              <a:spcAft>
                <a:spcPts val="300"/>
              </a:spcAft>
              <a:buSzPct val="100000"/>
              <a:buChar char="•"/>
            </a:pPr>
            <a:r>
              <a:rPr lang="en-US" sz="1250" b="1" dirty="0">
                <a:solidFill>
                  <a:schemeClr val="tx1"/>
                </a:solidFill>
              </a:rPr>
              <a:t>Jamais de flash </a:t>
            </a:r>
            <a:pPr indent="0" marL="0">
              <a:buNone/>
            </a:pPr>
            <a:r>
              <a:rPr lang="en-US" sz="1250" dirty="0">
                <a:solidFill>
                  <a:schemeClr val="tx1"/>
                </a:solidFill>
              </a:rPr>
              <a:t>d'un binaire périmé</a:t>
            </a:r>
            <a:endParaRPr lang="en-US" sz="1250" dirty="0"/>
          </a:p>
          <a:p>
            <a:pPr marL="152400" indent="-152400">
              <a:spcAft>
                <a:spcPts val="300"/>
              </a:spcAft>
              <a:buSzPct val="100000"/>
              <a:buChar char="•"/>
            </a:pPr>
            <a:r>
              <a:rPr lang="en-US" sz="1250" b="1" dirty="0">
                <a:solidFill>
                  <a:schemeClr val="tx1"/>
                </a:solidFill>
              </a:rPr>
              <a:t>Même procédure </a:t>
            </a:r>
            <a:pPr indent="0" marL="0">
              <a:buNone/>
            </a:pPr>
            <a:r>
              <a:rPr lang="en-US" sz="1250" dirty="0">
                <a:solidFill>
                  <a:schemeClr val="tx1"/>
                </a:solidFill>
              </a:rPr>
              <a:t>sur chaque poste</a:t>
            </a:r>
            <a:endParaRPr lang="en-US" sz="1250" dirty="0"/>
          </a:p>
        </p:txBody>
      </p:sp>
      <p:sp>
        <p:nvSpPr>
          <p:cNvPr id="25" name="Slide Number Placeholder 0"/>
          <p:cNvSpPr>
            <a:spLocks noGrp="1"/>
          </p:cNvSpPr>
          <p:nvPr>
            <p:ph type="sldNum" sz="quarter" idx="4294967295"/>
          </p:nvPr>
        </p:nvSpPr>
        <p:spPr>
          <a:xfrm>
            <a:off x="11091672" y="6455664"/>
            <a:ext cx="548640" cy="237744"/>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6"/>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9144000" cy="274320"/>
          </a:xfrm>
          <a:prstGeom prst="rect">
            <a:avLst/>
          </a:prstGeom>
          <a:noFill/>
          <a:ln/>
        </p:spPr>
        <p:txBody>
          <a:bodyPr wrap="square" lIns="0" tIns="0" rIns="0" bIns="0" rtlCol="0" anchor="t"/>
          <a:lstStyle/>
          <a:p>
            <a:pPr indent="0" marL="0">
              <a:buNone/>
            </a:pPr>
            <a:r>
              <a:rPr lang="en-US" sz="1200" b="1" spc="150" kern="0" dirty="0">
                <a:solidFill>
                  <a:schemeClr val="accent1"/>
                </a:solidFill>
              </a:rPr>
              <a:t>04 · AUTOMATISATION ET VALIDATION</a:t>
            </a:r>
            <a:endParaRPr lang="en-US" sz="1200" dirty="0"/>
          </a:p>
        </p:txBody>
      </p:sp>
      <p:sp>
        <p:nvSpPr>
          <p:cNvPr id="3" name="Text 0"/>
          <p:cNvSpPr/>
          <p:nvPr>
            <p:ph idx="101" type="title" hasCustomPrompt="1"/>
          </p:nvPr>
        </p:nvSpPr>
        <p:spPr>
          <a:xfrm>
            <a:off x="548640" y="621792"/>
            <a:ext cx="11091672" cy="640080"/>
          </a:xfrm>
          <a:prstGeom prst="rect">
            <a:avLst/>
          </a:prstGeom>
          <a:noFill/>
          <a:ln/>
        </p:spPr>
        <p:txBody>
          <a:bodyPr wrap="square" lIns="0" tIns="0" rIns="0" bIns="0" rtlCol="0" anchor="t"/>
          <a:lstStyle/>
          <a:p>
            <a:pPr algn="l" indent="0" marL="0">
              <a:buNone/>
            </a:pPr>
            <a:r>
              <a:rPr lang="en-US" sz="3000" b="1" dirty="0">
                <a:solidFill>
                  <a:schemeClr val="tx2"/>
                </a:solidFill>
              </a:rPr>
              <a:t>Conformité au cahier des charges</a:t>
            </a:r>
            <a:endParaRPr lang="en-US" sz="30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11091672" cy="914400"/>
        </p:xfrm>
        <a:graphic>
          <a:graphicData uri="http://schemas.openxmlformats.org/drawingml/2006/table">
            <a:tbl>
              <a:tblPr/>
              <a:tblGrid>
                <a:gridCol w="3977640"/>
                <a:gridCol w="1691640"/>
                <a:gridCol w="5422392"/>
              </a:tblGrid>
              <a:tr h="365760">
                <a:tc>
                  <a:txBody>
                    <a:bodyPr/>
                    <a:lstStyle/>
                    <a:p>
                      <a:pPr indent="0" marL="0">
                        <a:buNone/>
                      </a:pPr>
                      <a:r>
                        <a:rPr lang="en-US" sz="1300" b="1" dirty="0">
                          <a:solidFill>
                            <a:schemeClr val="bg1"/>
                          </a:solidFill>
                          <a:latin typeface="Calibri" pitchFamily="34" charset="0"/>
                          <a:ea typeface="Calibri" pitchFamily="34" charset="-122"/>
                          <a:cs typeface="Calibri" pitchFamily="34" charset="-120"/>
                        </a:rPr>
                        <a:t>Exigence du cahier des charges</a:t>
                      </a:r>
                      <a:endParaRPr lang="en-US" sz="1300" dirty="0">
                        <a:latin typeface="Calibri" charset="0"/>
                        <a:ea typeface="Calibri" charset="0"/>
                        <a:cs typeface="Calibri" charset="0"/>
                      </a:endParaRPr>
                    </a:p>
                  </a:txBody>
                  <a:tcPr marL="91440" marR="91440" marT="18288" marB="18288" anchor="ctr">
                    <a:lnL w="6350" cap="flat" cmpd="sng" algn="ctr">
                      <a:solidFill>
                        <a:srgbClr val="D5DEE7"/>
                      </a:solidFill>
                      <a:prstDash val="solid"/>
                      <a:round/>
                      <a:headEnd type="none" w="med" len="med"/>
                      <a:tailEnd type="none" w="med" len="med"/>
                    </a:lnL>
                    <a:lnR w="6350" cap="flat" cmpd="sng" algn="ctr">
                      <a:solidFill>
                        <a:srgbClr val="D5DEE7"/>
                      </a:solidFill>
                      <a:prstDash val="solid"/>
                      <a:round/>
                      <a:headEnd type="none" w="med" len="med"/>
                      <a:tailEnd type="none" w="med" len="med"/>
                    </a:lnR>
                    <a:lnT w="6350" cap="flat" cmpd="sng" algn="ctr">
                      <a:solidFill>
                        <a:srgbClr val="D5DEE7"/>
                      </a:solidFill>
                      <a:prstDash val="solid"/>
                      <a:round/>
                      <a:headEnd type="none" w="med" len="med"/>
                      <a:tailEnd type="none" w="med" len="med"/>
                    </a:lnT>
                    <a:lnB w="6350" cap="flat" cmpd="sng" algn="ctr">
                      <a:solidFill>
                        <a:srgbClr val="D5DEE7"/>
                      </a:solidFill>
                      <a:prstDash val="solid"/>
                      <a:round/>
                      <a:headEnd type="none" w="med" len="med"/>
                      <a:tailEnd type="none" w="med" len="med"/>
                    </a:lnB>
                    <a:solidFill>
                      <a:schemeClr val="tx2"/>
                    </a:solidFill>
                  </a:tcPr>
                </a:tc>
                <a:tc>
                  <a:txBody>
                    <a:bodyPr/>
                    <a:lstStyle/>
                    <a:p>
                      <a:pPr algn="ctr" indent="0" marL="0">
                        <a:buNone/>
                      </a:pPr>
                      <a:r>
                        <a:rPr lang="en-US" sz="1300" b="1" dirty="0">
                          <a:solidFill>
                            <a:schemeClr val="bg1"/>
                          </a:solidFill>
                          <a:latin typeface="Calibri" pitchFamily="34" charset="0"/>
                          <a:ea typeface="Calibri" pitchFamily="34" charset="-122"/>
                          <a:cs typeface="Calibri" pitchFamily="34" charset="-120"/>
                        </a:rPr>
                        <a:t>Statut</a:t>
                      </a:r>
                      <a:endParaRPr lang="en-US" sz="1300" dirty="0">
                        <a:latin typeface="Calibri" charset="0"/>
                        <a:ea typeface="Calibri" charset="0"/>
                        <a:cs typeface="Calibri" charset="0"/>
                      </a:endParaRPr>
                    </a:p>
                  </a:txBody>
                  <a:tcPr marL="91440" marR="91440" marT="18288" marB="18288" anchor="ctr">
                    <a:lnL w="6350" cap="flat" cmpd="sng" algn="ctr">
                      <a:solidFill>
                        <a:srgbClr val="D5DEE7"/>
                      </a:solidFill>
                      <a:prstDash val="solid"/>
                      <a:round/>
                      <a:headEnd type="none" w="med" len="med"/>
                      <a:tailEnd type="none" w="med" len="med"/>
                    </a:lnL>
                    <a:lnR w="6350" cap="flat" cmpd="sng" algn="ctr">
                      <a:solidFill>
                        <a:srgbClr val="D5DEE7"/>
                      </a:solidFill>
                      <a:prstDash val="solid"/>
                      <a:round/>
                      <a:headEnd type="none" w="med" len="med"/>
                      <a:tailEnd type="none" w="med" len="med"/>
                    </a:lnR>
                    <a:lnT w="6350" cap="flat" cmpd="sng" algn="ctr">
                      <a:solidFill>
                        <a:srgbClr val="D5DEE7"/>
                      </a:solidFill>
                      <a:prstDash val="solid"/>
                      <a:round/>
                      <a:headEnd type="none" w="med" len="med"/>
                      <a:tailEnd type="none" w="med" len="med"/>
                    </a:lnT>
                    <a:lnB w="6350" cap="flat" cmpd="sng" algn="ctr">
                      <a:solidFill>
                        <a:srgbClr val="D5DEE7"/>
                      </a:solidFill>
                      <a:prstDash val="solid"/>
                      <a:round/>
                      <a:headEnd type="none" w="med" len="med"/>
                      <a:tailEnd type="none" w="med" len="med"/>
                    </a:lnB>
                    <a:solidFill>
                      <a:schemeClr val="tx2"/>
                    </a:solidFill>
                  </a:tcPr>
                </a:tc>
                <a:tc>
                  <a:txBody>
                    <a:bodyPr/>
                    <a:lstStyle/>
                    <a:p>
                      <a:pPr indent="0" marL="0">
                        <a:buNone/>
                      </a:pPr>
                      <a:r>
                        <a:rPr lang="en-US" sz="1300" b="1" dirty="0">
                          <a:solidFill>
                            <a:schemeClr val="bg1"/>
                          </a:solidFill>
                          <a:latin typeface="Calibri" pitchFamily="34" charset="0"/>
                          <a:ea typeface="Calibri" pitchFamily="34" charset="-122"/>
                          <a:cs typeface="Calibri" pitchFamily="34" charset="-120"/>
                        </a:rPr>
                        <a:t>Précision</a:t>
                      </a:r>
                      <a:endParaRPr lang="en-US" sz="1300" dirty="0">
                        <a:latin typeface="Calibri" charset="0"/>
                        <a:ea typeface="Calibri" charset="0"/>
                        <a:cs typeface="Calibri" charset="0"/>
                      </a:endParaRPr>
                    </a:p>
                  </a:txBody>
                  <a:tcPr marL="91440" marR="91440" marT="18288" marB="18288" anchor="ctr">
                    <a:lnL w="6350" cap="flat" cmpd="sng" algn="ctr">
                      <a:solidFill>
                        <a:srgbClr val="D5DEE7"/>
                      </a:solidFill>
                      <a:prstDash val="solid"/>
                      <a:round/>
                      <a:headEnd type="none" w="med" len="med"/>
                      <a:tailEnd type="none" w="med" len="med"/>
                    </a:lnL>
                    <a:lnR w="6350" cap="flat" cmpd="sng" algn="ctr">
                      <a:solidFill>
                        <a:srgbClr val="D5DEE7"/>
                      </a:solidFill>
                      <a:prstDash val="solid"/>
                      <a:round/>
                      <a:headEnd type="none" w="med" len="med"/>
                      <a:tailEnd type="none" w="med" len="med"/>
                    </a:lnR>
                    <a:lnT w="6350" cap="flat" cmpd="sng" algn="ctr">
                      <a:solidFill>
                        <a:srgbClr val="D5DEE7"/>
                      </a:solidFill>
                      <a:prstDash val="solid"/>
                      <a:round/>
                      <a:headEnd type="none" w="med" len="med"/>
                      <a:tailEnd type="none" w="med" len="med"/>
                    </a:lnT>
                    <a:lnB w="6350" cap="flat" cmpd="sng" algn="ctr">
                      <a:solidFill>
                        <a:srgbClr val="D5DEE7"/>
                      </a:solidFill>
                      <a:prstDash val="solid"/>
                      <a:round/>
                      <a:headEnd type="none" w="med" len="med"/>
                      <a:tailEnd type="none" w="med" len="med"/>
                    </a:lnB>
                    <a:solidFill>
                      <a:schemeClr val="tx2"/>
                    </a:solidFill>
                  </a:tcPr>
                </a:tc>
              </a:tr>
              <a:tr h="365760">
                <a:tc>
                  <a:txBody>
                    <a:bodyPr/>
                    <a:lstStyle/>
                    <a:p>
                      <a:pPr indent="0" marL="0">
                        <a:buNone/>
                      </a:pPr>
                      <a:r>
                        <a:rPr lang="en-US" sz="1300" b="1" dirty="0">
                          <a:solidFill>
                            <a:schemeClr val="tx2"/>
                          </a:solidFill>
                          <a:latin typeface="Calibri" pitchFamily="34" charset="0"/>
                          <a:ea typeface="Calibri" pitchFamily="34" charset="-122"/>
                          <a:cs typeface="Calibri" pitchFamily="34" charset="-120"/>
                        </a:rPr>
                        <a:t>Mesure périodique, ligne horodatée sur carte SD</a:t>
                      </a:r>
                      <a:endParaRPr lang="en-US" sz="1300" dirty="0">
                        <a:latin typeface="Calibri" charset="0"/>
                        <a:ea typeface="Calibri" charset="0"/>
                        <a:cs typeface="Calibri" charset="0"/>
                      </a:endParaRPr>
                    </a:p>
                  </a:txBody>
                  <a:tcPr marL="91440" marR="91440" marT="18288" marB="18288" anchor="ctr">
                    <a:lnL w="6350" cap="flat" cmpd="sng" algn="ctr">
                      <a:solidFill>
                        <a:srgbClr val="D5DEE7"/>
                      </a:solidFill>
                      <a:prstDash val="solid"/>
                      <a:round/>
                      <a:headEnd type="none" w="med" len="med"/>
                      <a:tailEnd type="none" w="med" len="med"/>
                    </a:lnL>
                    <a:lnR w="6350" cap="flat" cmpd="sng" algn="ctr">
                      <a:solidFill>
                        <a:srgbClr val="D5DEE7"/>
                      </a:solidFill>
                      <a:prstDash val="solid"/>
                      <a:round/>
                      <a:headEnd type="none" w="med" len="med"/>
                      <a:tailEnd type="none" w="med" len="med"/>
                    </a:lnR>
                    <a:lnT w="6350" cap="flat" cmpd="sng" algn="ctr">
                      <a:solidFill>
                        <a:srgbClr val="D5DEE7"/>
                      </a:solidFill>
                      <a:prstDash val="solid"/>
                      <a:round/>
                      <a:headEnd type="none" w="med" len="med"/>
                      <a:tailEnd type="none" w="med" len="med"/>
                    </a:lnT>
                    <a:lnB w="6350" cap="flat" cmpd="sng" algn="ctr">
                      <a:solidFill>
                        <a:srgbClr val="D5DEE7"/>
                      </a:solidFill>
                      <a:prstDash val="solid"/>
                      <a:round/>
                      <a:headEnd type="none" w="med" len="med"/>
                      <a:tailEnd type="none" w="med" len="med"/>
                    </a:lnB>
                    <a:solidFill>
                      <a:schemeClr val="bg1"/>
                    </a:solidFill>
                  </a:tcPr>
                </a:tc>
                <a:tc>
                  <a:txBody>
                    <a:bodyPr/>
                    <a:lstStyle/>
                    <a:p>
                      <a:pPr algn="ctr" indent="0" marL="0">
                        <a:buNone/>
                      </a:pPr>
                      <a:r>
                        <a:rPr lang="en-US" sz="1250" b="1" dirty="0">
                          <a:solidFill>
                            <a:schemeClr val="accent4"/>
                          </a:solidFill>
                          <a:latin typeface="Calibri" pitchFamily="34" charset="0"/>
                          <a:ea typeface="Calibri" pitchFamily="34" charset="-122"/>
                          <a:cs typeface="Calibri" pitchFamily="34" charset="-120"/>
                        </a:rPr>
                        <a:t>Implémenté</a:t>
                      </a:r>
                      <a:endParaRPr lang="en-US" sz="1250" dirty="0">
                        <a:latin typeface="Calibri" charset="0"/>
                        <a:ea typeface="Calibri" charset="0"/>
                        <a:cs typeface="Calibri" charset="0"/>
                      </a:endParaRPr>
                    </a:p>
                  </a:txBody>
                  <a:tcPr marL="91440" marR="91440" marT="18288" marB="18288" anchor="ctr">
                    <a:lnL w="6350" cap="flat" cmpd="sng" algn="ctr">
                      <a:solidFill>
                        <a:srgbClr val="D5DEE7"/>
                      </a:solidFill>
                      <a:prstDash val="solid"/>
                      <a:round/>
                      <a:headEnd type="none" w="med" len="med"/>
                      <a:tailEnd type="none" w="med" len="med"/>
                    </a:lnL>
                    <a:lnR w="6350" cap="flat" cmpd="sng" algn="ctr">
                      <a:solidFill>
                        <a:srgbClr val="D5DEE7"/>
                      </a:solidFill>
                      <a:prstDash val="solid"/>
                      <a:round/>
                      <a:headEnd type="none" w="med" len="med"/>
                      <a:tailEnd type="none" w="med" len="med"/>
                    </a:lnR>
                    <a:lnT w="6350" cap="flat" cmpd="sng" algn="ctr">
                      <a:solidFill>
                        <a:srgbClr val="D5DEE7"/>
                      </a:solidFill>
                      <a:prstDash val="solid"/>
                      <a:round/>
                      <a:headEnd type="none" w="med" len="med"/>
                      <a:tailEnd type="none" w="med" len="med"/>
                    </a:lnT>
                    <a:lnB w="6350" cap="flat" cmpd="sng" algn="ctr">
                      <a:solidFill>
                        <a:srgbClr val="D5DEE7"/>
                      </a:solidFill>
                      <a:prstDash val="solid"/>
                      <a:round/>
                      <a:headEnd type="none" w="med" len="med"/>
                      <a:tailEnd type="none" w="med" len="med"/>
                    </a:lnB>
                    <a:solidFill>
                      <a:srgbClr val="DFF2E6"/>
                    </a:solidFill>
                  </a:tcPr>
                </a:tc>
                <a:tc>
                  <a:txBody>
                    <a:bodyPr/>
                    <a:lstStyle/>
                    <a:p>
                      <a:pPr indent="0" marL="0">
                        <a:buNone/>
                      </a:pPr>
                      <a:r>
                        <a:rPr lang="en-US" sz="1300" dirty="0">
                          <a:solidFill>
                            <a:schemeClr val="tx1"/>
                          </a:solidFill>
                          <a:latin typeface="Calibri" pitchFamily="34" charset="0"/>
                          <a:ea typeface="Calibri" pitchFamily="34" charset="-122"/>
                          <a:cs typeface="Calibri" pitchFamily="34" charset="-120"/>
                        </a:rPr>
                        <a:t>Format CSV « ; » ; valeur absente = NA</a:t>
                      </a:r>
                      <a:endParaRPr lang="en-US" sz="1300" dirty="0">
                        <a:latin typeface="Calibri" charset="0"/>
                        <a:ea typeface="Calibri" charset="0"/>
                        <a:cs typeface="Calibri" charset="0"/>
                      </a:endParaRPr>
                    </a:p>
                  </a:txBody>
                  <a:tcPr marL="91440" marR="91440" marT="18288" marB="18288" anchor="ctr">
                    <a:lnL w="6350" cap="flat" cmpd="sng" algn="ctr">
                      <a:solidFill>
                        <a:srgbClr val="D5DEE7"/>
                      </a:solidFill>
                      <a:prstDash val="solid"/>
                      <a:round/>
                      <a:headEnd type="none" w="med" len="med"/>
                      <a:tailEnd type="none" w="med" len="med"/>
                    </a:lnL>
                    <a:lnR w="6350" cap="flat" cmpd="sng" algn="ctr">
                      <a:solidFill>
                        <a:srgbClr val="D5DEE7"/>
                      </a:solidFill>
                      <a:prstDash val="solid"/>
                      <a:round/>
                      <a:headEnd type="none" w="med" len="med"/>
                      <a:tailEnd type="none" w="med" len="med"/>
                    </a:lnR>
                    <a:lnT w="6350" cap="flat" cmpd="sng" algn="ctr">
                      <a:solidFill>
                        <a:srgbClr val="D5DEE7"/>
                      </a:solidFill>
                      <a:prstDash val="solid"/>
                      <a:round/>
                      <a:headEnd type="none" w="med" len="med"/>
                      <a:tailEnd type="none" w="med" len="med"/>
                    </a:lnT>
                    <a:lnB w="6350" cap="flat" cmpd="sng" algn="ctr">
                      <a:solidFill>
                        <a:srgbClr val="D5DEE7"/>
                      </a:solidFill>
                      <a:prstDash val="solid"/>
                      <a:round/>
                      <a:headEnd type="none" w="med" len="med"/>
                      <a:tailEnd type="none" w="med" len="med"/>
                    </a:lnB>
                    <a:solidFill>
                      <a:schemeClr val="bg1"/>
                    </a:solidFill>
                  </a:tcPr>
                </a:tc>
              </a:tr>
              <a:tr h="365760">
                <a:tc>
                  <a:txBody>
                    <a:bodyPr/>
                    <a:lstStyle/>
                    <a:p>
                      <a:pPr indent="0" marL="0">
                        <a:buNone/>
                      </a:pPr>
                      <a:r>
                        <a:rPr lang="en-US" sz="1300" b="1" dirty="0">
                          <a:solidFill>
                            <a:schemeClr val="tx2"/>
                          </a:solidFill>
                          <a:latin typeface="Calibri" pitchFamily="34" charset="0"/>
                          <a:ea typeface="Calibri" pitchFamily="34" charset="-122"/>
                          <a:cs typeface="Calibri" pitchFamily="34" charset="-120"/>
                        </a:rPr>
                        <a:t>Fichiers AAMMJJ_n.LOG et archivage</a:t>
                      </a:r>
                      <a:endParaRPr lang="en-US" sz="1300" dirty="0">
                        <a:latin typeface="Calibri" charset="0"/>
                        <a:ea typeface="Calibri" charset="0"/>
                        <a:cs typeface="Calibri" charset="0"/>
                      </a:endParaRPr>
                    </a:p>
                  </a:txBody>
                  <a:tcPr marL="91440" marR="91440" marT="18288" marB="18288" anchor="ctr">
                    <a:lnL w="6350" cap="flat" cmpd="sng" algn="ctr">
                      <a:solidFill>
                        <a:srgbClr val="D5DEE7"/>
                      </a:solidFill>
                      <a:prstDash val="solid"/>
                      <a:round/>
                      <a:headEnd type="none" w="med" len="med"/>
                      <a:tailEnd type="none" w="med" len="med"/>
                    </a:lnL>
                    <a:lnR w="6350" cap="flat" cmpd="sng" algn="ctr">
                      <a:solidFill>
                        <a:srgbClr val="D5DEE7"/>
                      </a:solidFill>
                      <a:prstDash val="solid"/>
                      <a:round/>
                      <a:headEnd type="none" w="med" len="med"/>
                      <a:tailEnd type="none" w="med" len="med"/>
                    </a:lnR>
                    <a:lnT w="6350" cap="flat" cmpd="sng" algn="ctr">
                      <a:solidFill>
                        <a:srgbClr val="D5DEE7"/>
                      </a:solidFill>
                      <a:prstDash val="solid"/>
                      <a:round/>
                      <a:headEnd type="none" w="med" len="med"/>
                      <a:tailEnd type="none" w="med" len="med"/>
                    </a:lnT>
                    <a:lnB w="6350" cap="flat" cmpd="sng" algn="ctr">
                      <a:solidFill>
                        <a:srgbClr val="D5DEE7"/>
                      </a:solidFill>
                      <a:prstDash val="solid"/>
                      <a:round/>
                      <a:headEnd type="none" w="med" len="med"/>
                      <a:tailEnd type="none" w="med" len="med"/>
                    </a:lnB>
                    <a:solidFill>
                      <a:schemeClr val="bg2"/>
                    </a:solidFill>
                  </a:tcPr>
                </a:tc>
                <a:tc>
                  <a:txBody>
                    <a:bodyPr/>
                    <a:lstStyle/>
                    <a:p>
                      <a:pPr algn="ctr" indent="0" marL="0">
                        <a:buNone/>
                      </a:pPr>
                      <a:r>
                        <a:rPr lang="en-US" sz="1250" b="1" dirty="0">
                          <a:solidFill>
                            <a:schemeClr val="accent4"/>
                          </a:solidFill>
                          <a:latin typeface="Calibri" pitchFamily="34" charset="0"/>
                          <a:ea typeface="Calibri" pitchFamily="34" charset="-122"/>
                          <a:cs typeface="Calibri" pitchFamily="34" charset="-120"/>
                        </a:rPr>
                        <a:t>Implémenté</a:t>
                      </a:r>
                      <a:endParaRPr lang="en-US" sz="1250" dirty="0">
                        <a:latin typeface="Calibri" charset="0"/>
                        <a:ea typeface="Calibri" charset="0"/>
                        <a:cs typeface="Calibri" charset="0"/>
                      </a:endParaRPr>
                    </a:p>
                  </a:txBody>
                  <a:tcPr marL="91440" marR="91440" marT="18288" marB="18288" anchor="ctr">
                    <a:lnL w="6350" cap="flat" cmpd="sng" algn="ctr">
                      <a:solidFill>
                        <a:srgbClr val="D5DEE7"/>
                      </a:solidFill>
                      <a:prstDash val="solid"/>
                      <a:round/>
                      <a:headEnd type="none" w="med" len="med"/>
                      <a:tailEnd type="none" w="med" len="med"/>
                    </a:lnL>
                    <a:lnR w="6350" cap="flat" cmpd="sng" algn="ctr">
                      <a:solidFill>
                        <a:srgbClr val="D5DEE7"/>
                      </a:solidFill>
                      <a:prstDash val="solid"/>
                      <a:round/>
                      <a:headEnd type="none" w="med" len="med"/>
                      <a:tailEnd type="none" w="med" len="med"/>
                    </a:lnR>
                    <a:lnT w="6350" cap="flat" cmpd="sng" algn="ctr">
                      <a:solidFill>
                        <a:srgbClr val="D5DEE7"/>
                      </a:solidFill>
                      <a:prstDash val="solid"/>
                      <a:round/>
                      <a:headEnd type="none" w="med" len="med"/>
                      <a:tailEnd type="none" w="med" len="med"/>
                    </a:lnT>
                    <a:lnB w="6350" cap="flat" cmpd="sng" algn="ctr">
                      <a:solidFill>
                        <a:srgbClr val="D5DEE7"/>
                      </a:solidFill>
                      <a:prstDash val="solid"/>
                      <a:round/>
                      <a:headEnd type="none" w="med" len="med"/>
                      <a:tailEnd type="none" w="med" len="med"/>
                    </a:lnB>
                    <a:solidFill>
                      <a:srgbClr val="DFF2E6"/>
                    </a:solidFill>
                  </a:tcPr>
                </a:tc>
                <a:tc>
                  <a:txBody>
                    <a:bodyPr/>
                    <a:lstStyle/>
                    <a:p>
                      <a:pPr indent="0" marL="0">
                        <a:buNone/>
                      </a:pPr>
                      <a:r>
                        <a:rPr lang="en-US" sz="1300" dirty="0">
                          <a:solidFill>
                            <a:schemeClr val="tx1"/>
                          </a:solidFill>
                          <a:latin typeface="Calibri" pitchFamily="34" charset="0"/>
                          <a:ea typeface="Calibri" pitchFamily="34" charset="-122"/>
                          <a:cs typeface="Calibri" pitchFamily="34" charset="-120"/>
                        </a:rPr>
                        <a:t>10 Ko par défaut (CDC : 2 Ko) ; 9 archives / jour max.</a:t>
                      </a:r>
                      <a:endParaRPr lang="en-US" sz="1300" dirty="0">
                        <a:latin typeface="Calibri" charset="0"/>
                        <a:ea typeface="Calibri" charset="0"/>
                        <a:cs typeface="Calibri" charset="0"/>
                      </a:endParaRPr>
                    </a:p>
                  </a:txBody>
                  <a:tcPr marL="91440" marR="91440" marT="18288" marB="18288" anchor="ctr">
                    <a:lnL w="6350" cap="flat" cmpd="sng" algn="ctr">
                      <a:solidFill>
                        <a:srgbClr val="D5DEE7"/>
                      </a:solidFill>
                      <a:prstDash val="solid"/>
                      <a:round/>
                      <a:headEnd type="none" w="med" len="med"/>
                      <a:tailEnd type="none" w="med" len="med"/>
                    </a:lnL>
                    <a:lnR w="6350" cap="flat" cmpd="sng" algn="ctr">
                      <a:solidFill>
                        <a:srgbClr val="D5DEE7"/>
                      </a:solidFill>
                      <a:prstDash val="solid"/>
                      <a:round/>
                      <a:headEnd type="none" w="med" len="med"/>
                      <a:tailEnd type="none" w="med" len="med"/>
                    </a:lnR>
                    <a:lnT w="6350" cap="flat" cmpd="sng" algn="ctr">
                      <a:solidFill>
                        <a:srgbClr val="D5DEE7"/>
                      </a:solidFill>
                      <a:prstDash val="solid"/>
                      <a:round/>
                      <a:headEnd type="none" w="med" len="med"/>
                      <a:tailEnd type="none" w="med" len="med"/>
                    </a:lnT>
                    <a:lnB w="6350" cap="flat" cmpd="sng" algn="ctr">
                      <a:solidFill>
                        <a:srgbClr val="D5DEE7"/>
                      </a:solidFill>
                      <a:prstDash val="solid"/>
                      <a:round/>
                      <a:headEnd type="none" w="med" len="med"/>
                      <a:tailEnd type="none" w="med" len="med"/>
                    </a:lnB>
                    <a:solidFill>
                      <a:schemeClr val="bg2"/>
                    </a:solidFill>
                  </a:tcPr>
                </a:tc>
              </a:tr>
              <a:tr h="365760">
                <a:tc>
                  <a:txBody>
                    <a:bodyPr/>
                    <a:lstStyle/>
                    <a:p>
                      <a:pPr indent="0" marL="0">
                        <a:buNone/>
                      </a:pPr>
                      <a:r>
                        <a:rPr lang="en-US" sz="1300" b="1" dirty="0">
                          <a:solidFill>
                            <a:schemeClr val="tx2"/>
                          </a:solidFill>
                          <a:latin typeface="Calibri" pitchFamily="34" charset="0"/>
                          <a:ea typeface="Calibri" pitchFamily="34" charset="-122"/>
                          <a:cs typeface="Calibri" pitchFamily="34" charset="-120"/>
                        </a:rPr>
                        <a:t>4 modes et transitions par boutons</a:t>
                      </a:r>
                      <a:endParaRPr lang="en-US" sz="1300" dirty="0">
                        <a:latin typeface="Calibri" charset="0"/>
                        <a:ea typeface="Calibri" charset="0"/>
                        <a:cs typeface="Calibri" charset="0"/>
                      </a:endParaRPr>
                    </a:p>
                  </a:txBody>
                  <a:tcPr marL="91440" marR="91440" marT="18288" marB="18288" anchor="ctr">
                    <a:lnL w="6350" cap="flat" cmpd="sng" algn="ctr">
                      <a:solidFill>
                        <a:srgbClr val="D5DEE7"/>
                      </a:solidFill>
                      <a:prstDash val="solid"/>
                      <a:round/>
                      <a:headEnd type="none" w="med" len="med"/>
                      <a:tailEnd type="none" w="med" len="med"/>
                    </a:lnL>
                    <a:lnR w="6350" cap="flat" cmpd="sng" algn="ctr">
                      <a:solidFill>
                        <a:srgbClr val="D5DEE7"/>
                      </a:solidFill>
                      <a:prstDash val="solid"/>
                      <a:round/>
                      <a:headEnd type="none" w="med" len="med"/>
                      <a:tailEnd type="none" w="med" len="med"/>
                    </a:lnR>
                    <a:lnT w="6350" cap="flat" cmpd="sng" algn="ctr">
                      <a:solidFill>
                        <a:srgbClr val="D5DEE7"/>
                      </a:solidFill>
                      <a:prstDash val="solid"/>
                      <a:round/>
                      <a:headEnd type="none" w="med" len="med"/>
                      <a:tailEnd type="none" w="med" len="med"/>
                    </a:lnT>
                    <a:lnB w="6350" cap="flat" cmpd="sng" algn="ctr">
                      <a:solidFill>
                        <a:srgbClr val="D5DEE7"/>
                      </a:solidFill>
                      <a:prstDash val="solid"/>
                      <a:round/>
                      <a:headEnd type="none" w="med" len="med"/>
                      <a:tailEnd type="none" w="med" len="med"/>
                    </a:lnB>
                    <a:solidFill>
                      <a:schemeClr val="bg1"/>
                    </a:solidFill>
                  </a:tcPr>
                </a:tc>
                <a:tc>
                  <a:txBody>
                    <a:bodyPr/>
                    <a:lstStyle/>
                    <a:p>
                      <a:pPr algn="ctr" indent="0" marL="0">
                        <a:buNone/>
                      </a:pPr>
                      <a:r>
                        <a:rPr lang="en-US" sz="1250" b="1" dirty="0">
                          <a:solidFill>
                            <a:schemeClr val="accent4"/>
                          </a:solidFill>
                          <a:latin typeface="Calibri" pitchFamily="34" charset="0"/>
                          <a:ea typeface="Calibri" pitchFamily="34" charset="-122"/>
                          <a:cs typeface="Calibri" pitchFamily="34" charset="-120"/>
                        </a:rPr>
                        <a:t>Implémenté</a:t>
                      </a:r>
                      <a:endParaRPr lang="en-US" sz="1250" dirty="0">
                        <a:latin typeface="Calibri" charset="0"/>
                        <a:ea typeface="Calibri" charset="0"/>
                        <a:cs typeface="Calibri" charset="0"/>
                      </a:endParaRPr>
                    </a:p>
                  </a:txBody>
                  <a:tcPr marL="91440" marR="91440" marT="18288" marB="18288" anchor="ctr">
                    <a:lnL w="6350" cap="flat" cmpd="sng" algn="ctr">
                      <a:solidFill>
                        <a:srgbClr val="D5DEE7"/>
                      </a:solidFill>
                      <a:prstDash val="solid"/>
                      <a:round/>
                      <a:headEnd type="none" w="med" len="med"/>
                      <a:tailEnd type="none" w="med" len="med"/>
                    </a:lnL>
                    <a:lnR w="6350" cap="flat" cmpd="sng" algn="ctr">
                      <a:solidFill>
                        <a:srgbClr val="D5DEE7"/>
                      </a:solidFill>
                      <a:prstDash val="solid"/>
                      <a:round/>
                      <a:headEnd type="none" w="med" len="med"/>
                      <a:tailEnd type="none" w="med" len="med"/>
                    </a:lnR>
                    <a:lnT w="6350" cap="flat" cmpd="sng" algn="ctr">
                      <a:solidFill>
                        <a:srgbClr val="D5DEE7"/>
                      </a:solidFill>
                      <a:prstDash val="solid"/>
                      <a:round/>
                      <a:headEnd type="none" w="med" len="med"/>
                      <a:tailEnd type="none" w="med" len="med"/>
                    </a:lnT>
                    <a:lnB w="6350" cap="flat" cmpd="sng" algn="ctr">
                      <a:solidFill>
                        <a:srgbClr val="D5DEE7"/>
                      </a:solidFill>
                      <a:prstDash val="solid"/>
                      <a:round/>
                      <a:headEnd type="none" w="med" len="med"/>
                      <a:tailEnd type="none" w="med" len="med"/>
                    </a:lnB>
                    <a:solidFill>
                      <a:srgbClr val="DFF2E6"/>
                    </a:solidFill>
                  </a:tcPr>
                </a:tc>
                <a:tc>
                  <a:txBody>
                    <a:bodyPr/>
                    <a:lstStyle/>
                    <a:p>
                      <a:pPr indent="0" marL="0">
                        <a:buNone/>
                      </a:pPr>
                      <a:r>
                        <a:rPr lang="en-US" sz="1300" dirty="0">
                          <a:solidFill>
                            <a:schemeClr val="tx1"/>
                          </a:solidFill>
                          <a:latin typeface="Calibri" pitchFamily="34" charset="0"/>
                          <a:ea typeface="Calibri" pitchFamily="34" charset="-122"/>
                          <a:cs typeface="Calibri" pitchFamily="34" charset="-120"/>
                        </a:rPr>
                        <a:t>Depuis ÉCO, rouge 5 s → STANDARD (ambiguïté du CDC)</a:t>
                      </a:r>
                      <a:endParaRPr lang="en-US" sz="1300" dirty="0">
                        <a:latin typeface="Calibri" charset="0"/>
                        <a:ea typeface="Calibri" charset="0"/>
                        <a:cs typeface="Calibri" charset="0"/>
                      </a:endParaRPr>
                    </a:p>
                  </a:txBody>
                  <a:tcPr marL="91440" marR="91440" marT="18288" marB="18288" anchor="ctr">
                    <a:lnL w="6350" cap="flat" cmpd="sng" algn="ctr">
                      <a:solidFill>
                        <a:srgbClr val="D5DEE7"/>
                      </a:solidFill>
                      <a:prstDash val="solid"/>
                      <a:round/>
                      <a:headEnd type="none" w="med" len="med"/>
                      <a:tailEnd type="none" w="med" len="med"/>
                    </a:lnL>
                    <a:lnR w="6350" cap="flat" cmpd="sng" algn="ctr">
                      <a:solidFill>
                        <a:srgbClr val="D5DEE7"/>
                      </a:solidFill>
                      <a:prstDash val="solid"/>
                      <a:round/>
                      <a:headEnd type="none" w="med" len="med"/>
                      <a:tailEnd type="none" w="med" len="med"/>
                    </a:lnR>
                    <a:lnT w="6350" cap="flat" cmpd="sng" algn="ctr">
                      <a:solidFill>
                        <a:srgbClr val="D5DEE7"/>
                      </a:solidFill>
                      <a:prstDash val="solid"/>
                      <a:round/>
                      <a:headEnd type="none" w="med" len="med"/>
                      <a:tailEnd type="none" w="med" len="med"/>
                    </a:lnT>
                    <a:lnB w="6350" cap="flat" cmpd="sng" algn="ctr">
                      <a:solidFill>
                        <a:srgbClr val="D5DEE7"/>
                      </a:solidFill>
                      <a:prstDash val="solid"/>
                      <a:round/>
                      <a:headEnd type="none" w="med" len="med"/>
                      <a:tailEnd type="none" w="med" len="med"/>
                    </a:lnB>
                    <a:solidFill>
                      <a:schemeClr val="bg1"/>
                    </a:solidFill>
                  </a:tcPr>
                </a:tc>
              </a:tr>
              <a:tr h="365760">
                <a:tc>
                  <a:txBody>
                    <a:bodyPr/>
                    <a:lstStyle/>
                    <a:p>
                      <a:pPr indent="0" marL="0">
                        <a:buNone/>
                      </a:pPr>
                      <a:r>
                        <a:rPr lang="en-US" sz="1300" b="1" dirty="0">
                          <a:solidFill>
                            <a:schemeClr val="tx2"/>
                          </a:solidFill>
                          <a:latin typeface="Calibri" pitchFamily="34" charset="0"/>
                          <a:ea typeface="Calibri" pitchFamily="34" charset="-122"/>
                          <a:cs typeface="Calibri" pitchFamily="34" charset="-120"/>
                        </a:rPr>
                        <a:t>Code LED : 4 modes et 6 erreurs</a:t>
                      </a:r>
                      <a:endParaRPr lang="en-US" sz="1300" dirty="0">
                        <a:latin typeface="Calibri" charset="0"/>
                        <a:ea typeface="Calibri" charset="0"/>
                        <a:cs typeface="Calibri" charset="0"/>
                      </a:endParaRPr>
                    </a:p>
                  </a:txBody>
                  <a:tcPr marL="91440" marR="91440" marT="18288" marB="18288" anchor="ctr">
                    <a:lnL w="6350" cap="flat" cmpd="sng" algn="ctr">
                      <a:solidFill>
                        <a:srgbClr val="D5DEE7"/>
                      </a:solidFill>
                      <a:prstDash val="solid"/>
                      <a:round/>
                      <a:headEnd type="none" w="med" len="med"/>
                      <a:tailEnd type="none" w="med" len="med"/>
                    </a:lnL>
                    <a:lnR w="6350" cap="flat" cmpd="sng" algn="ctr">
                      <a:solidFill>
                        <a:srgbClr val="D5DEE7"/>
                      </a:solidFill>
                      <a:prstDash val="solid"/>
                      <a:round/>
                      <a:headEnd type="none" w="med" len="med"/>
                      <a:tailEnd type="none" w="med" len="med"/>
                    </a:lnR>
                    <a:lnT w="6350" cap="flat" cmpd="sng" algn="ctr">
                      <a:solidFill>
                        <a:srgbClr val="D5DEE7"/>
                      </a:solidFill>
                      <a:prstDash val="solid"/>
                      <a:round/>
                      <a:headEnd type="none" w="med" len="med"/>
                      <a:tailEnd type="none" w="med" len="med"/>
                    </a:lnT>
                    <a:lnB w="6350" cap="flat" cmpd="sng" algn="ctr">
                      <a:solidFill>
                        <a:srgbClr val="D5DEE7"/>
                      </a:solidFill>
                      <a:prstDash val="solid"/>
                      <a:round/>
                      <a:headEnd type="none" w="med" len="med"/>
                      <a:tailEnd type="none" w="med" len="med"/>
                    </a:lnB>
                    <a:solidFill>
                      <a:schemeClr val="bg2"/>
                    </a:solidFill>
                  </a:tcPr>
                </a:tc>
                <a:tc>
                  <a:txBody>
                    <a:bodyPr/>
                    <a:lstStyle/>
                    <a:p>
                      <a:pPr algn="ctr" indent="0" marL="0">
                        <a:buNone/>
                      </a:pPr>
                      <a:r>
                        <a:rPr lang="en-US" sz="1250" b="1" dirty="0">
                          <a:solidFill>
                            <a:schemeClr val="accent4"/>
                          </a:solidFill>
                          <a:latin typeface="Calibri" pitchFamily="34" charset="0"/>
                          <a:ea typeface="Calibri" pitchFamily="34" charset="-122"/>
                          <a:cs typeface="Calibri" pitchFamily="34" charset="-120"/>
                        </a:rPr>
                        <a:t>Implémenté</a:t>
                      </a:r>
                      <a:endParaRPr lang="en-US" sz="1250" dirty="0">
                        <a:latin typeface="Calibri" charset="0"/>
                        <a:ea typeface="Calibri" charset="0"/>
                        <a:cs typeface="Calibri" charset="0"/>
                      </a:endParaRPr>
                    </a:p>
                  </a:txBody>
                  <a:tcPr marL="91440" marR="91440" marT="18288" marB="18288" anchor="ctr">
                    <a:lnL w="6350" cap="flat" cmpd="sng" algn="ctr">
                      <a:solidFill>
                        <a:srgbClr val="D5DEE7"/>
                      </a:solidFill>
                      <a:prstDash val="solid"/>
                      <a:round/>
                      <a:headEnd type="none" w="med" len="med"/>
                      <a:tailEnd type="none" w="med" len="med"/>
                    </a:lnL>
                    <a:lnR w="6350" cap="flat" cmpd="sng" algn="ctr">
                      <a:solidFill>
                        <a:srgbClr val="D5DEE7"/>
                      </a:solidFill>
                      <a:prstDash val="solid"/>
                      <a:round/>
                      <a:headEnd type="none" w="med" len="med"/>
                      <a:tailEnd type="none" w="med" len="med"/>
                    </a:lnR>
                    <a:lnT w="6350" cap="flat" cmpd="sng" algn="ctr">
                      <a:solidFill>
                        <a:srgbClr val="D5DEE7"/>
                      </a:solidFill>
                      <a:prstDash val="solid"/>
                      <a:round/>
                      <a:headEnd type="none" w="med" len="med"/>
                      <a:tailEnd type="none" w="med" len="med"/>
                    </a:lnT>
                    <a:lnB w="6350" cap="flat" cmpd="sng" algn="ctr">
                      <a:solidFill>
                        <a:srgbClr val="D5DEE7"/>
                      </a:solidFill>
                      <a:prstDash val="solid"/>
                      <a:round/>
                      <a:headEnd type="none" w="med" len="med"/>
                      <a:tailEnd type="none" w="med" len="med"/>
                    </a:lnB>
                    <a:solidFill>
                      <a:srgbClr val="DFF2E6"/>
                    </a:solidFill>
                  </a:tcPr>
                </a:tc>
                <a:tc>
                  <a:txBody>
                    <a:bodyPr/>
                    <a:lstStyle/>
                    <a:p>
                      <a:pPr indent="0" marL="0">
                        <a:buNone/>
                      </a:pPr>
                      <a:r>
                        <a:rPr lang="en-US" sz="1300" dirty="0">
                          <a:solidFill>
                            <a:schemeClr val="tx1"/>
                          </a:solidFill>
                          <a:latin typeface="Calibri" pitchFamily="34" charset="0"/>
                          <a:ea typeface="Calibri" pitchFamily="34" charset="-122"/>
                          <a:cs typeface="Calibri" pitchFamily="34" charset="-120"/>
                        </a:rPr>
                        <a:t>Clignotement 1 Hz, rapports 1:1 et 1:2</a:t>
                      </a:r>
                      <a:endParaRPr lang="en-US" sz="1300" dirty="0">
                        <a:latin typeface="Calibri" charset="0"/>
                        <a:ea typeface="Calibri" charset="0"/>
                        <a:cs typeface="Calibri" charset="0"/>
                      </a:endParaRPr>
                    </a:p>
                  </a:txBody>
                  <a:tcPr marL="91440" marR="91440" marT="18288" marB="18288" anchor="ctr">
                    <a:lnL w="6350" cap="flat" cmpd="sng" algn="ctr">
                      <a:solidFill>
                        <a:srgbClr val="D5DEE7"/>
                      </a:solidFill>
                      <a:prstDash val="solid"/>
                      <a:round/>
                      <a:headEnd type="none" w="med" len="med"/>
                      <a:tailEnd type="none" w="med" len="med"/>
                    </a:lnL>
                    <a:lnR w="6350" cap="flat" cmpd="sng" algn="ctr">
                      <a:solidFill>
                        <a:srgbClr val="D5DEE7"/>
                      </a:solidFill>
                      <a:prstDash val="solid"/>
                      <a:round/>
                      <a:headEnd type="none" w="med" len="med"/>
                      <a:tailEnd type="none" w="med" len="med"/>
                    </a:lnR>
                    <a:lnT w="6350" cap="flat" cmpd="sng" algn="ctr">
                      <a:solidFill>
                        <a:srgbClr val="D5DEE7"/>
                      </a:solidFill>
                      <a:prstDash val="solid"/>
                      <a:round/>
                      <a:headEnd type="none" w="med" len="med"/>
                      <a:tailEnd type="none" w="med" len="med"/>
                    </a:lnT>
                    <a:lnB w="6350" cap="flat" cmpd="sng" algn="ctr">
                      <a:solidFill>
                        <a:srgbClr val="D5DEE7"/>
                      </a:solidFill>
                      <a:prstDash val="solid"/>
                      <a:round/>
                      <a:headEnd type="none" w="med" len="med"/>
                      <a:tailEnd type="none" w="med" len="med"/>
                    </a:lnB>
                    <a:solidFill>
                      <a:schemeClr val="bg2"/>
                    </a:solidFill>
                  </a:tcPr>
                </a:tc>
              </a:tr>
              <a:tr h="365760">
                <a:tc>
                  <a:txBody>
                    <a:bodyPr/>
                    <a:lstStyle/>
                    <a:p>
                      <a:pPr indent="0" marL="0">
                        <a:buNone/>
                      </a:pPr>
                      <a:r>
                        <a:rPr lang="en-US" sz="1300" b="1" dirty="0">
                          <a:solidFill>
                            <a:schemeClr val="tx2"/>
                          </a:solidFill>
                          <a:latin typeface="Calibri" pitchFamily="34" charset="0"/>
                          <a:ea typeface="Calibri" pitchFamily="34" charset="-122"/>
                          <a:cs typeface="Calibri" pitchFamily="34" charset="-120"/>
                        </a:rPr>
                        <a:t>Configuration par la liaison série</a:t>
                      </a:r>
                      <a:endParaRPr lang="en-US" sz="1300" dirty="0">
                        <a:latin typeface="Calibri" charset="0"/>
                        <a:ea typeface="Calibri" charset="0"/>
                        <a:cs typeface="Calibri" charset="0"/>
                      </a:endParaRPr>
                    </a:p>
                  </a:txBody>
                  <a:tcPr marL="91440" marR="91440" marT="18288" marB="18288" anchor="ctr">
                    <a:lnL w="6350" cap="flat" cmpd="sng" algn="ctr">
                      <a:solidFill>
                        <a:srgbClr val="D5DEE7"/>
                      </a:solidFill>
                      <a:prstDash val="solid"/>
                      <a:round/>
                      <a:headEnd type="none" w="med" len="med"/>
                      <a:tailEnd type="none" w="med" len="med"/>
                    </a:lnL>
                    <a:lnR w="6350" cap="flat" cmpd="sng" algn="ctr">
                      <a:solidFill>
                        <a:srgbClr val="D5DEE7"/>
                      </a:solidFill>
                      <a:prstDash val="solid"/>
                      <a:round/>
                      <a:headEnd type="none" w="med" len="med"/>
                      <a:tailEnd type="none" w="med" len="med"/>
                    </a:lnR>
                    <a:lnT w="6350" cap="flat" cmpd="sng" algn="ctr">
                      <a:solidFill>
                        <a:srgbClr val="D5DEE7"/>
                      </a:solidFill>
                      <a:prstDash val="solid"/>
                      <a:round/>
                      <a:headEnd type="none" w="med" len="med"/>
                      <a:tailEnd type="none" w="med" len="med"/>
                    </a:lnT>
                    <a:lnB w="6350" cap="flat" cmpd="sng" algn="ctr">
                      <a:solidFill>
                        <a:srgbClr val="D5DEE7"/>
                      </a:solidFill>
                      <a:prstDash val="solid"/>
                      <a:round/>
                      <a:headEnd type="none" w="med" len="med"/>
                      <a:tailEnd type="none" w="med" len="med"/>
                    </a:lnB>
                    <a:solidFill>
                      <a:schemeClr val="bg1"/>
                    </a:solidFill>
                  </a:tcPr>
                </a:tc>
                <a:tc>
                  <a:txBody>
                    <a:bodyPr/>
                    <a:lstStyle/>
                    <a:p>
                      <a:pPr algn="ctr" indent="0" marL="0">
                        <a:buNone/>
                      </a:pPr>
                      <a:r>
                        <a:rPr lang="en-US" sz="1250" b="1" dirty="0">
                          <a:solidFill>
                            <a:schemeClr val="accent4"/>
                          </a:solidFill>
                          <a:latin typeface="Calibri" pitchFamily="34" charset="0"/>
                          <a:ea typeface="Calibri" pitchFamily="34" charset="-122"/>
                          <a:cs typeface="Calibri" pitchFamily="34" charset="-120"/>
                        </a:rPr>
                        <a:t>Implémenté</a:t>
                      </a:r>
                      <a:endParaRPr lang="en-US" sz="1250" dirty="0">
                        <a:latin typeface="Calibri" charset="0"/>
                        <a:ea typeface="Calibri" charset="0"/>
                        <a:cs typeface="Calibri" charset="0"/>
                      </a:endParaRPr>
                    </a:p>
                  </a:txBody>
                  <a:tcPr marL="91440" marR="91440" marT="18288" marB="18288" anchor="ctr">
                    <a:lnL w="6350" cap="flat" cmpd="sng" algn="ctr">
                      <a:solidFill>
                        <a:srgbClr val="D5DEE7"/>
                      </a:solidFill>
                      <a:prstDash val="solid"/>
                      <a:round/>
                      <a:headEnd type="none" w="med" len="med"/>
                      <a:tailEnd type="none" w="med" len="med"/>
                    </a:lnL>
                    <a:lnR w="6350" cap="flat" cmpd="sng" algn="ctr">
                      <a:solidFill>
                        <a:srgbClr val="D5DEE7"/>
                      </a:solidFill>
                      <a:prstDash val="solid"/>
                      <a:round/>
                      <a:headEnd type="none" w="med" len="med"/>
                      <a:tailEnd type="none" w="med" len="med"/>
                    </a:lnR>
                    <a:lnT w="6350" cap="flat" cmpd="sng" algn="ctr">
                      <a:solidFill>
                        <a:srgbClr val="D5DEE7"/>
                      </a:solidFill>
                      <a:prstDash val="solid"/>
                      <a:round/>
                      <a:headEnd type="none" w="med" len="med"/>
                      <a:tailEnd type="none" w="med" len="med"/>
                    </a:lnT>
                    <a:lnB w="6350" cap="flat" cmpd="sng" algn="ctr">
                      <a:solidFill>
                        <a:srgbClr val="D5DEE7"/>
                      </a:solidFill>
                      <a:prstDash val="solid"/>
                      <a:round/>
                      <a:headEnd type="none" w="med" len="med"/>
                      <a:tailEnd type="none" w="med" len="med"/>
                    </a:lnB>
                    <a:solidFill>
                      <a:srgbClr val="DFF2E6"/>
                    </a:solidFill>
                  </a:tcPr>
                </a:tc>
                <a:tc>
                  <a:txBody>
                    <a:bodyPr/>
                    <a:lstStyle/>
                    <a:p>
                      <a:pPr indent="0" marL="0">
                        <a:buNone/>
                      </a:pPr>
                      <a:r>
                        <a:rPr lang="en-US" sz="1300" dirty="0">
                          <a:solidFill>
                            <a:schemeClr val="tx1"/>
                          </a:solidFill>
                          <a:latin typeface="Calibri" pitchFamily="34" charset="0"/>
                          <a:ea typeface="Calibri" pitchFamily="34" charset="-122"/>
                          <a:cs typeface="Calibri" pitchFamily="34" charset="-120"/>
                        </a:rPr>
                        <a:t>17 commandes du CDC + 3 ajouts, sauvegardées en Flash</a:t>
                      </a:r>
                      <a:endParaRPr lang="en-US" sz="1300" dirty="0">
                        <a:latin typeface="Calibri" charset="0"/>
                        <a:ea typeface="Calibri" charset="0"/>
                        <a:cs typeface="Calibri" charset="0"/>
                      </a:endParaRPr>
                    </a:p>
                  </a:txBody>
                  <a:tcPr marL="91440" marR="91440" marT="18288" marB="18288" anchor="ctr">
                    <a:lnL w="6350" cap="flat" cmpd="sng" algn="ctr">
                      <a:solidFill>
                        <a:srgbClr val="D5DEE7"/>
                      </a:solidFill>
                      <a:prstDash val="solid"/>
                      <a:round/>
                      <a:headEnd type="none" w="med" len="med"/>
                      <a:tailEnd type="none" w="med" len="med"/>
                    </a:lnL>
                    <a:lnR w="6350" cap="flat" cmpd="sng" algn="ctr">
                      <a:solidFill>
                        <a:srgbClr val="D5DEE7"/>
                      </a:solidFill>
                      <a:prstDash val="solid"/>
                      <a:round/>
                      <a:headEnd type="none" w="med" len="med"/>
                      <a:tailEnd type="none" w="med" len="med"/>
                    </a:lnR>
                    <a:lnT w="6350" cap="flat" cmpd="sng" algn="ctr">
                      <a:solidFill>
                        <a:srgbClr val="D5DEE7"/>
                      </a:solidFill>
                      <a:prstDash val="solid"/>
                      <a:round/>
                      <a:headEnd type="none" w="med" len="med"/>
                      <a:tailEnd type="none" w="med" len="med"/>
                    </a:lnT>
                    <a:lnB w="6350" cap="flat" cmpd="sng" algn="ctr">
                      <a:solidFill>
                        <a:srgbClr val="D5DEE7"/>
                      </a:solidFill>
                      <a:prstDash val="solid"/>
                      <a:round/>
                      <a:headEnd type="none" w="med" len="med"/>
                      <a:tailEnd type="none" w="med" len="med"/>
                    </a:lnB>
                    <a:solidFill>
                      <a:schemeClr val="bg1"/>
                    </a:solidFill>
                  </a:tcPr>
                </a:tc>
              </a:tr>
              <a:tr h="365760">
                <a:tc>
                  <a:txBody>
                    <a:bodyPr/>
                    <a:lstStyle/>
                    <a:p>
                      <a:pPr indent="0" marL="0">
                        <a:buNone/>
                      </a:pPr>
                      <a:r>
                        <a:rPr lang="en-US" sz="1300" b="1" dirty="0">
                          <a:solidFill>
                            <a:schemeClr val="tx2"/>
                          </a:solidFill>
                          <a:latin typeface="Calibri" pitchFamily="34" charset="0"/>
                          <a:ea typeface="Calibri" pitchFamily="34" charset="-122"/>
                          <a:cs typeface="Calibri" pitchFamily="34" charset="-120"/>
                        </a:rPr>
                        <a:t>TIMEOUT et erreur après 2 échecs</a:t>
                      </a:r>
                      <a:endParaRPr lang="en-US" sz="1300" dirty="0">
                        <a:latin typeface="Calibri" charset="0"/>
                        <a:ea typeface="Calibri" charset="0"/>
                        <a:cs typeface="Calibri" charset="0"/>
                      </a:endParaRPr>
                    </a:p>
                  </a:txBody>
                  <a:tcPr marL="91440" marR="91440" marT="18288" marB="18288" anchor="ctr">
                    <a:lnL w="6350" cap="flat" cmpd="sng" algn="ctr">
                      <a:solidFill>
                        <a:srgbClr val="D5DEE7"/>
                      </a:solidFill>
                      <a:prstDash val="solid"/>
                      <a:round/>
                      <a:headEnd type="none" w="med" len="med"/>
                      <a:tailEnd type="none" w="med" len="med"/>
                    </a:lnL>
                    <a:lnR w="6350" cap="flat" cmpd="sng" algn="ctr">
                      <a:solidFill>
                        <a:srgbClr val="D5DEE7"/>
                      </a:solidFill>
                      <a:prstDash val="solid"/>
                      <a:round/>
                      <a:headEnd type="none" w="med" len="med"/>
                      <a:tailEnd type="none" w="med" len="med"/>
                    </a:lnR>
                    <a:lnT w="6350" cap="flat" cmpd="sng" algn="ctr">
                      <a:solidFill>
                        <a:srgbClr val="D5DEE7"/>
                      </a:solidFill>
                      <a:prstDash val="solid"/>
                      <a:round/>
                      <a:headEnd type="none" w="med" len="med"/>
                      <a:tailEnd type="none" w="med" len="med"/>
                    </a:lnT>
                    <a:lnB w="6350" cap="flat" cmpd="sng" algn="ctr">
                      <a:solidFill>
                        <a:srgbClr val="D5DEE7"/>
                      </a:solidFill>
                      <a:prstDash val="solid"/>
                      <a:round/>
                      <a:headEnd type="none" w="med" len="med"/>
                      <a:tailEnd type="none" w="med" len="med"/>
                    </a:lnB>
                    <a:solidFill>
                      <a:schemeClr val="bg2"/>
                    </a:solidFill>
                  </a:tcPr>
                </a:tc>
                <a:tc>
                  <a:txBody>
                    <a:bodyPr/>
                    <a:lstStyle/>
                    <a:p>
                      <a:pPr algn="ctr" indent="0" marL="0">
                        <a:buNone/>
                      </a:pPr>
                      <a:r>
                        <a:rPr lang="en-US" sz="1250" b="1" dirty="0">
                          <a:solidFill>
                            <a:schemeClr val="accent4"/>
                          </a:solidFill>
                          <a:latin typeface="Calibri" pitchFamily="34" charset="0"/>
                          <a:ea typeface="Calibri" pitchFamily="34" charset="-122"/>
                          <a:cs typeface="Calibri" pitchFamily="34" charset="-120"/>
                        </a:rPr>
                        <a:t>Implémenté</a:t>
                      </a:r>
                      <a:endParaRPr lang="en-US" sz="1250" dirty="0">
                        <a:latin typeface="Calibri" charset="0"/>
                        <a:ea typeface="Calibri" charset="0"/>
                        <a:cs typeface="Calibri" charset="0"/>
                      </a:endParaRPr>
                    </a:p>
                  </a:txBody>
                  <a:tcPr marL="91440" marR="91440" marT="18288" marB="18288" anchor="ctr">
                    <a:lnL w="6350" cap="flat" cmpd="sng" algn="ctr">
                      <a:solidFill>
                        <a:srgbClr val="D5DEE7"/>
                      </a:solidFill>
                      <a:prstDash val="solid"/>
                      <a:round/>
                      <a:headEnd type="none" w="med" len="med"/>
                      <a:tailEnd type="none" w="med" len="med"/>
                    </a:lnL>
                    <a:lnR w="6350" cap="flat" cmpd="sng" algn="ctr">
                      <a:solidFill>
                        <a:srgbClr val="D5DEE7"/>
                      </a:solidFill>
                      <a:prstDash val="solid"/>
                      <a:round/>
                      <a:headEnd type="none" w="med" len="med"/>
                      <a:tailEnd type="none" w="med" len="med"/>
                    </a:lnR>
                    <a:lnT w="6350" cap="flat" cmpd="sng" algn="ctr">
                      <a:solidFill>
                        <a:srgbClr val="D5DEE7"/>
                      </a:solidFill>
                      <a:prstDash val="solid"/>
                      <a:round/>
                      <a:headEnd type="none" w="med" len="med"/>
                      <a:tailEnd type="none" w="med" len="med"/>
                    </a:lnT>
                    <a:lnB w="6350" cap="flat" cmpd="sng" algn="ctr">
                      <a:solidFill>
                        <a:srgbClr val="D5DEE7"/>
                      </a:solidFill>
                      <a:prstDash val="solid"/>
                      <a:round/>
                      <a:headEnd type="none" w="med" len="med"/>
                      <a:tailEnd type="none" w="med" len="med"/>
                    </a:lnB>
                    <a:solidFill>
                      <a:srgbClr val="DFF2E6"/>
                    </a:solidFill>
                  </a:tcPr>
                </a:tc>
                <a:tc>
                  <a:txBody>
                    <a:bodyPr/>
                    <a:lstStyle/>
                    <a:p>
                      <a:pPr indent="0" marL="0">
                        <a:buNone/>
                      </a:pPr>
                      <a:r>
                        <a:rPr lang="en-US" sz="1300" dirty="0">
                          <a:solidFill>
                            <a:schemeClr val="tx1"/>
                          </a:solidFill>
                          <a:latin typeface="Calibri" pitchFamily="34" charset="0"/>
                          <a:ea typeface="Calibri" pitchFamily="34" charset="-122"/>
                          <a:cs typeface="Calibri" pitchFamily="34" charset="-120"/>
                        </a:rPr>
                        <a:t>Compteur par capteur ; NA en cas d'absence</a:t>
                      </a:r>
                      <a:endParaRPr lang="en-US" sz="1300" dirty="0">
                        <a:latin typeface="Calibri" charset="0"/>
                        <a:ea typeface="Calibri" charset="0"/>
                        <a:cs typeface="Calibri" charset="0"/>
                      </a:endParaRPr>
                    </a:p>
                  </a:txBody>
                  <a:tcPr marL="91440" marR="91440" marT="18288" marB="18288" anchor="ctr">
                    <a:lnL w="6350" cap="flat" cmpd="sng" algn="ctr">
                      <a:solidFill>
                        <a:srgbClr val="D5DEE7"/>
                      </a:solidFill>
                      <a:prstDash val="solid"/>
                      <a:round/>
                      <a:headEnd type="none" w="med" len="med"/>
                      <a:tailEnd type="none" w="med" len="med"/>
                    </a:lnL>
                    <a:lnR w="6350" cap="flat" cmpd="sng" algn="ctr">
                      <a:solidFill>
                        <a:srgbClr val="D5DEE7"/>
                      </a:solidFill>
                      <a:prstDash val="solid"/>
                      <a:round/>
                      <a:headEnd type="none" w="med" len="med"/>
                      <a:tailEnd type="none" w="med" len="med"/>
                    </a:lnR>
                    <a:lnT w="6350" cap="flat" cmpd="sng" algn="ctr">
                      <a:solidFill>
                        <a:srgbClr val="D5DEE7"/>
                      </a:solidFill>
                      <a:prstDash val="solid"/>
                      <a:round/>
                      <a:headEnd type="none" w="med" len="med"/>
                      <a:tailEnd type="none" w="med" len="med"/>
                    </a:lnT>
                    <a:lnB w="6350" cap="flat" cmpd="sng" algn="ctr">
                      <a:solidFill>
                        <a:srgbClr val="D5DEE7"/>
                      </a:solidFill>
                      <a:prstDash val="solid"/>
                      <a:round/>
                      <a:headEnd type="none" w="med" len="med"/>
                      <a:tailEnd type="none" w="med" len="med"/>
                    </a:lnB>
                    <a:solidFill>
                      <a:schemeClr val="bg2"/>
                    </a:solidFill>
                  </a:tcPr>
                </a:tc>
              </a:tr>
              <a:tr h="365760">
                <a:tc>
                  <a:txBody>
                    <a:bodyPr/>
                    <a:lstStyle/>
                    <a:p>
                      <a:pPr indent="0" marL="0">
                        <a:buNone/>
                      </a:pPr>
                      <a:r>
                        <a:rPr lang="en-US" sz="1300" b="1" dirty="0">
                          <a:solidFill>
                            <a:schemeClr val="tx2"/>
                          </a:solidFill>
                          <a:latin typeface="Calibri" pitchFamily="34" charset="0"/>
                          <a:ea typeface="Calibri" pitchFamily="34" charset="-122"/>
                          <a:cs typeface="Calibri" pitchFamily="34" charset="-120"/>
                        </a:rPr>
                        <a:t>Température de l'air et hygrométrie</a:t>
                      </a:r>
                      <a:endParaRPr lang="en-US" sz="1300" dirty="0">
                        <a:latin typeface="Calibri" charset="0"/>
                        <a:ea typeface="Calibri" charset="0"/>
                        <a:cs typeface="Calibri" charset="0"/>
                      </a:endParaRPr>
                    </a:p>
                  </a:txBody>
                  <a:tcPr marL="91440" marR="91440" marT="18288" marB="18288" anchor="ctr">
                    <a:lnL w="6350" cap="flat" cmpd="sng" algn="ctr">
                      <a:solidFill>
                        <a:srgbClr val="D5DEE7"/>
                      </a:solidFill>
                      <a:prstDash val="solid"/>
                      <a:round/>
                      <a:headEnd type="none" w="med" len="med"/>
                      <a:tailEnd type="none" w="med" len="med"/>
                    </a:lnL>
                    <a:lnR w="6350" cap="flat" cmpd="sng" algn="ctr">
                      <a:solidFill>
                        <a:srgbClr val="D5DEE7"/>
                      </a:solidFill>
                      <a:prstDash val="solid"/>
                      <a:round/>
                      <a:headEnd type="none" w="med" len="med"/>
                      <a:tailEnd type="none" w="med" len="med"/>
                    </a:lnR>
                    <a:lnT w="6350" cap="flat" cmpd="sng" algn="ctr">
                      <a:solidFill>
                        <a:srgbClr val="D5DEE7"/>
                      </a:solidFill>
                      <a:prstDash val="solid"/>
                      <a:round/>
                      <a:headEnd type="none" w="med" len="med"/>
                      <a:tailEnd type="none" w="med" len="med"/>
                    </a:lnT>
                    <a:lnB w="6350" cap="flat" cmpd="sng" algn="ctr">
                      <a:solidFill>
                        <a:srgbClr val="D5DEE7"/>
                      </a:solidFill>
                      <a:prstDash val="solid"/>
                      <a:round/>
                      <a:headEnd type="none" w="med" len="med"/>
                      <a:tailEnd type="none" w="med" len="med"/>
                    </a:lnB>
                    <a:solidFill>
                      <a:schemeClr val="bg1"/>
                    </a:solidFill>
                  </a:tcPr>
                </a:tc>
                <a:tc>
                  <a:txBody>
                    <a:bodyPr/>
                    <a:lstStyle/>
                    <a:p>
                      <a:pPr algn="ctr" indent="0" marL="0">
                        <a:buNone/>
                      </a:pPr>
                      <a:r>
                        <a:rPr lang="en-US" sz="1250" b="1" dirty="0">
                          <a:solidFill>
                            <a:schemeClr val="accent4"/>
                          </a:solidFill>
                          <a:latin typeface="Calibri" pitchFamily="34" charset="0"/>
                          <a:ea typeface="Calibri" pitchFamily="34" charset="-122"/>
                          <a:cs typeface="Calibri" pitchFamily="34" charset="-120"/>
                        </a:rPr>
                        <a:t>Implémenté</a:t>
                      </a:r>
                      <a:endParaRPr lang="en-US" sz="1250" dirty="0">
                        <a:latin typeface="Calibri" charset="0"/>
                        <a:ea typeface="Calibri" charset="0"/>
                        <a:cs typeface="Calibri" charset="0"/>
                      </a:endParaRPr>
                    </a:p>
                  </a:txBody>
                  <a:tcPr marL="91440" marR="91440" marT="18288" marB="18288" anchor="ctr">
                    <a:lnL w="6350" cap="flat" cmpd="sng" algn="ctr">
                      <a:solidFill>
                        <a:srgbClr val="D5DEE7"/>
                      </a:solidFill>
                      <a:prstDash val="solid"/>
                      <a:round/>
                      <a:headEnd type="none" w="med" len="med"/>
                      <a:tailEnd type="none" w="med" len="med"/>
                    </a:lnL>
                    <a:lnR w="6350" cap="flat" cmpd="sng" algn="ctr">
                      <a:solidFill>
                        <a:srgbClr val="D5DEE7"/>
                      </a:solidFill>
                      <a:prstDash val="solid"/>
                      <a:round/>
                      <a:headEnd type="none" w="med" len="med"/>
                      <a:tailEnd type="none" w="med" len="med"/>
                    </a:lnR>
                    <a:lnT w="6350" cap="flat" cmpd="sng" algn="ctr">
                      <a:solidFill>
                        <a:srgbClr val="D5DEE7"/>
                      </a:solidFill>
                      <a:prstDash val="solid"/>
                      <a:round/>
                      <a:headEnd type="none" w="med" len="med"/>
                      <a:tailEnd type="none" w="med" len="med"/>
                    </a:lnT>
                    <a:lnB w="6350" cap="flat" cmpd="sng" algn="ctr">
                      <a:solidFill>
                        <a:srgbClr val="D5DEE7"/>
                      </a:solidFill>
                      <a:prstDash val="solid"/>
                      <a:round/>
                      <a:headEnd type="none" w="med" len="med"/>
                      <a:tailEnd type="none" w="med" len="med"/>
                    </a:lnB>
                    <a:solidFill>
                      <a:srgbClr val="DFF2E6"/>
                    </a:solidFill>
                  </a:tcPr>
                </a:tc>
                <a:tc>
                  <a:txBody>
                    <a:bodyPr/>
                    <a:lstStyle/>
                    <a:p>
                      <a:pPr indent="0" marL="0">
                        <a:buNone/>
                      </a:pPr>
                      <a:r>
                        <a:rPr lang="en-US" sz="1300" dirty="0">
                          <a:solidFill>
                            <a:schemeClr val="tx1"/>
                          </a:solidFill>
                          <a:latin typeface="Calibri" pitchFamily="34" charset="0"/>
                          <a:ea typeface="Calibri" pitchFamily="34" charset="-122"/>
                          <a:cs typeface="Calibri" pitchFamily="34" charset="-120"/>
                        </a:rPr>
                        <a:t>DHT11 ; valeurs entières</a:t>
                      </a:r>
                      <a:endParaRPr lang="en-US" sz="1300" dirty="0">
                        <a:latin typeface="Calibri" charset="0"/>
                        <a:ea typeface="Calibri" charset="0"/>
                        <a:cs typeface="Calibri" charset="0"/>
                      </a:endParaRPr>
                    </a:p>
                  </a:txBody>
                  <a:tcPr marL="91440" marR="91440" marT="18288" marB="18288" anchor="ctr">
                    <a:lnL w="6350" cap="flat" cmpd="sng" algn="ctr">
                      <a:solidFill>
                        <a:srgbClr val="D5DEE7"/>
                      </a:solidFill>
                      <a:prstDash val="solid"/>
                      <a:round/>
                      <a:headEnd type="none" w="med" len="med"/>
                      <a:tailEnd type="none" w="med" len="med"/>
                    </a:lnL>
                    <a:lnR w="6350" cap="flat" cmpd="sng" algn="ctr">
                      <a:solidFill>
                        <a:srgbClr val="D5DEE7"/>
                      </a:solidFill>
                      <a:prstDash val="solid"/>
                      <a:round/>
                      <a:headEnd type="none" w="med" len="med"/>
                      <a:tailEnd type="none" w="med" len="med"/>
                    </a:lnR>
                    <a:lnT w="6350" cap="flat" cmpd="sng" algn="ctr">
                      <a:solidFill>
                        <a:srgbClr val="D5DEE7"/>
                      </a:solidFill>
                      <a:prstDash val="solid"/>
                      <a:round/>
                      <a:headEnd type="none" w="med" len="med"/>
                      <a:tailEnd type="none" w="med" len="med"/>
                    </a:lnT>
                    <a:lnB w="6350" cap="flat" cmpd="sng" algn="ctr">
                      <a:solidFill>
                        <a:srgbClr val="D5DEE7"/>
                      </a:solidFill>
                      <a:prstDash val="solid"/>
                      <a:round/>
                      <a:headEnd type="none" w="med" len="med"/>
                      <a:tailEnd type="none" w="med" len="med"/>
                    </a:lnB>
                    <a:solidFill>
                      <a:schemeClr val="bg1"/>
                    </a:solidFill>
                  </a:tcPr>
                </a:tc>
              </a:tr>
              <a:tr h="365760">
                <a:tc>
                  <a:txBody>
                    <a:bodyPr/>
                    <a:lstStyle/>
                    <a:p>
                      <a:pPr indent="0" marL="0">
                        <a:buNone/>
                      </a:pPr>
                      <a:r>
                        <a:rPr lang="en-US" sz="1300" b="1" dirty="0">
                          <a:solidFill>
                            <a:schemeClr val="tx2"/>
                          </a:solidFill>
                          <a:latin typeface="Calibri" pitchFamily="34" charset="0"/>
                          <a:ea typeface="Calibri" pitchFamily="34" charset="-122"/>
                          <a:cs typeface="Calibri" pitchFamily="34" charset="-120"/>
                        </a:rPr>
                        <a:t>Luminosité</a:t>
                      </a:r>
                      <a:endParaRPr lang="en-US" sz="1300" dirty="0">
                        <a:latin typeface="Calibri" charset="0"/>
                        <a:ea typeface="Calibri" charset="0"/>
                        <a:cs typeface="Calibri" charset="0"/>
                      </a:endParaRPr>
                    </a:p>
                  </a:txBody>
                  <a:tcPr marL="91440" marR="91440" marT="18288" marB="18288" anchor="ctr">
                    <a:lnL w="6350" cap="flat" cmpd="sng" algn="ctr">
                      <a:solidFill>
                        <a:srgbClr val="D5DEE7"/>
                      </a:solidFill>
                      <a:prstDash val="solid"/>
                      <a:round/>
                      <a:headEnd type="none" w="med" len="med"/>
                      <a:tailEnd type="none" w="med" len="med"/>
                    </a:lnL>
                    <a:lnR w="6350" cap="flat" cmpd="sng" algn="ctr">
                      <a:solidFill>
                        <a:srgbClr val="D5DEE7"/>
                      </a:solidFill>
                      <a:prstDash val="solid"/>
                      <a:round/>
                      <a:headEnd type="none" w="med" len="med"/>
                      <a:tailEnd type="none" w="med" len="med"/>
                    </a:lnR>
                    <a:lnT w="6350" cap="flat" cmpd="sng" algn="ctr">
                      <a:solidFill>
                        <a:srgbClr val="D5DEE7"/>
                      </a:solidFill>
                      <a:prstDash val="solid"/>
                      <a:round/>
                      <a:headEnd type="none" w="med" len="med"/>
                      <a:tailEnd type="none" w="med" len="med"/>
                    </a:lnT>
                    <a:lnB w="6350" cap="flat" cmpd="sng" algn="ctr">
                      <a:solidFill>
                        <a:srgbClr val="D5DEE7"/>
                      </a:solidFill>
                      <a:prstDash val="solid"/>
                      <a:round/>
                      <a:headEnd type="none" w="med" len="med"/>
                      <a:tailEnd type="none" w="med" len="med"/>
                    </a:lnB>
                    <a:solidFill>
                      <a:schemeClr val="bg2"/>
                    </a:solidFill>
                  </a:tcPr>
                </a:tc>
                <a:tc>
                  <a:txBody>
                    <a:bodyPr/>
                    <a:lstStyle/>
                    <a:p>
                      <a:pPr algn="ctr" indent="0" marL="0">
                        <a:buNone/>
                      </a:pPr>
                      <a:r>
                        <a:rPr lang="en-US" sz="1250" b="1" dirty="0">
                          <a:solidFill>
                            <a:srgbClr val="B86A1E"/>
                          </a:solidFill>
                          <a:latin typeface="Calibri" pitchFamily="34" charset="0"/>
                          <a:ea typeface="Calibri" pitchFamily="34" charset="-122"/>
                          <a:cs typeface="Calibri" pitchFamily="34" charset="-120"/>
                        </a:rPr>
                        <a:t>Adapté</a:t>
                      </a:r>
                      <a:endParaRPr lang="en-US" sz="1250" dirty="0">
                        <a:latin typeface="Calibri" charset="0"/>
                        <a:ea typeface="Calibri" charset="0"/>
                        <a:cs typeface="Calibri" charset="0"/>
                      </a:endParaRPr>
                    </a:p>
                  </a:txBody>
                  <a:tcPr marL="91440" marR="91440" marT="18288" marB="18288" anchor="ctr">
                    <a:lnL w="6350" cap="flat" cmpd="sng" algn="ctr">
                      <a:solidFill>
                        <a:srgbClr val="D5DEE7"/>
                      </a:solidFill>
                      <a:prstDash val="solid"/>
                      <a:round/>
                      <a:headEnd type="none" w="med" len="med"/>
                      <a:tailEnd type="none" w="med" len="med"/>
                    </a:lnL>
                    <a:lnR w="6350" cap="flat" cmpd="sng" algn="ctr">
                      <a:solidFill>
                        <a:srgbClr val="D5DEE7"/>
                      </a:solidFill>
                      <a:prstDash val="solid"/>
                      <a:round/>
                      <a:headEnd type="none" w="med" len="med"/>
                      <a:tailEnd type="none" w="med" len="med"/>
                    </a:lnR>
                    <a:lnT w="6350" cap="flat" cmpd="sng" algn="ctr">
                      <a:solidFill>
                        <a:srgbClr val="D5DEE7"/>
                      </a:solidFill>
                      <a:prstDash val="solid"/>
                      <a:round/>
                      <a:headEnd type="none" w="med" len="med"/>
                      <a:tailEnd type="none" w="med" len="med"/>
                    </a:lnT>
                    <a:lnB w="6350" cap="flat" cmpd="sng" algn="ctr">
                      <a:solidFill>
                        <a:srgbClr val="D5DEE7"/>
                      </a:solidFill>
                      <a:prstDash val="solid"/>
                      <a:round/>
                      <a:headEnd type="none" w="med" len="med"/>
                      <a:tailEnd type="none" w="med" len="med"/>
                    </a:lnB>
                    <a:solidFill>
                      <a:srgbClr val="FCEBD9"/>
                    </a:solidFill>
                  </a:tcPr>
                </a:tc>
                <a:tc>
                  <a:txBody>
                    <a:bodyPr/>
                    <a:lstStyle/>
                    <a:p>
                      <a:pPr indent="0" marL="0">
                        <a:buNone/>
                      </a:pPr>
                      <a:r>
                        <a:rPr lang="en-US" sz="1300" dirty="0">
                          <a:solidFill>
                            <a:schemeClr val="tx1"/>
                          </a:solidFill>
                          <a:latin typeface="Calibri" pitchFamily="34" charset="0"/>
                          <a:ea typeface="Calibri" pitchFamily="34" charset="-122"/>
                          <a:cs typeface="Calibri" pitchFamily="34" charset="-120"/>
                        </a:rPr>
                        <a:t>BH1750 numérique (I2C) au lieu d'un capteur analogique</a:t>
                      </a:r>
                      <a:endParaRPr lang="en-US" sz="1300" dirty="0">
                        <a:latin typeface="Calibri" charset="0"/>
                        <a:ea typeface="Calibri" charset="0"/>
                        <a:cs typeface="Calibri" charset="0"/>
                      </a:endParaRPr>
                    </a:p>
                  </a:txBody>
                  <a:tcPr marL="91440" marR="91440" marT="18288" marB="18288" anchor="ctr">
                    <a:lnL w="6350" cap="flat" cmpd="sng" algn="ctr">
                      <a:solidFill>
                        <a:srgbClr val="D5DEE7"/>
                      </a:solidFill>
                      <a:prstDash val="solid"/>
                      <a:round/>
                      <a:headEnd type="none" w="med" len="med"/>
                      <a:tailEnd type="none" w="med" len="med"/>
                    </a:lnL>
                    <a:lnR w="6350" cap="flat" cmpd="sng" algn="ctr">
                      <a:solidFill>
                        <a:srgbClr val="D5DEE7"/>
                      </a:solidFill>
                      <a:prstDash val="solid"/>
                      <a:round/>
                      <a:headEnd type="none" w="med" len="med"/>
                      <a:tailEnd type="none" w="med" len="med"/>
                    </a:lnR>
                    <a:lnT w="6350" cap="flat" cmpd="sng" algn="ctr">
                      <a:solidFill>
                        <a:srgbClr val="D5DEE7"/>
                      </a:solidFill>
                      <a:prstDash val="solid"/>
                      <a:round/>
                      <a:headEnd type="none" w="med" len="med"/>
                      <a:tailEnd type="none" w="med" len="med"/>
                    </a:lnT>
                    <a:lnB w="6350" cap="flat" cmpd="sng" algn="ctr">
                      <a:solidFill>
                        <a:srgbClr val="D5DEE7"/>
                      </a:solidFill>
                      <a:prstDash val="solid"/>
                      <a:round/>
                      <a:headEnd type="none" w="med" len="med"/>
                      <a:tailEnd type="none" w="med" len="med"/>
                    </a:lnB>
                    <a:solidFill>
                      <a:schemeClr val="bg2"/>
                    </a:solidFill>
                  </a:tcPr>
                </a:tc>
              </a:tr>
              <a:tr h="365760">
                <a:tc>
                  <a:txBody>
                    <a:bodyPr/>
                    <a:lstStyle/>
                    <a:p>
                      <a:pPr indent="0" marL="0">
                        <a:buNone/>
                      </a:pPr>
                      <a:r>
                        <a:rPr lang="en-US" sz="1300" b="1" dirty="0">
                          <a:solidFill>
                            <a:schemeClr val="tx2"/>
                          </a:solidFill>
                          <a:latin typeface="Calibri" pitchFamily="34" charset="0"/>
                          <a:ea typeface="Calibri" pitchFamily="34" charset="-122"/>
                          <a:cs typeface="Calibri" pitchFamily="34" charset="-120"/>
                        </a:rPr>
                        <a:t>Position GPS</a:t>
                      </a:r>
                      <a:endParaRPr lang="en-US" sz="1300" dirty="0">
                        <a:latin typeface="Calibri" charset="0"/>
                        <a:ea typeface="Calibri" charset="0"/>
                        <a:cs typeface="Calibri" charset="0"/>
                      </a:endParaRPr>
                    </a:p>
                  </a:txBody>
                  <a:tcPr marL="91440" marR="91440" marT="18288" marB="18288" anchor="ctr">
                    <a:lnL w="6350" cap="flat" cmpd="sng" algn="ctr">
                      <a:solidFill>
                        <a:srgbClr val="D5DEE7"/>
                      </a:solidFill>
                      <a:prstDash val="solid"/>
                      <a:round/>
                      <a:headEnd type="none" w="med" len="med"/>
                      <a:tailEnd type="none" w="med" len="med"/>
                    </a:lnL>
                    <a:lnR w="6350" cap="flat" cmpd="sng" algn="ctr">
                      <a:solidFill>
                        <a:srgbClr val="D5DEE7"/>
                      </a:solidFill>
                      <a:prstDash val="solid"/>
                      <a:round/>
                      <a:headEnd type="none" w="med" len="med"/>
                      <a:tailEnd type="none" w="med" len="med"/>
                    </a:lnR>
                    <a:lnT w="6350" cap="flat" cmpd="sng" algn="ctr">
                      <a:solidFill>
                        <a:srgbClr val="D5DEE7"/>
                      </a:solidFill>
                      <a:prstDash val="solid"/>
                      <a:round/>
                      <a:headEnd type="none" w="med" len="med"/>
                      <a:tailEnd type="none" w="med" len="med"/>
                    </a:lnT>
                    <a:lnB w="6350" cap="flat" cmpd="sng" algn="ctr">
                      <a:solidFill>
                        <a:srgbClr val="D5DEE7"/>
                      </a:solidFill>
                      <a:prstDash val="solid"/>
                      <a:round/>
                      <a:headEnd type="none" w="med" len="med"/>
                      <a:tailEnd type="none" w="med" len="med"/>
                    </a:lnB>
                    <a:solidFill>
                      <a:schemeClr val="bg1"/>
                    </a:solidFill>
                  </a:tcPr>
                </a:tc>
                <a:tc>
                  <a:txBody>
                    <a:bodyPr/>
                    <a:lstStyle/>
                    <a:p>
                      <a:pPr algn="ctr" indent="0" marL="0">
                        <a:buNone/>
                      </a:pPr>
                      <a:r>
                        <a:rPr lang="en-US" sz="1250" b="1" dirty="0">
                          <a:solidFill>
                            <a:schemeClr val="accent4"/>
                          </a:solidFill>
                          <a:latin typeface="Calibri" pitchFamily="34" charset="0"/>
                          <a:ea typeface="Calibri" pitchFamily="34" charset="-122"/>
                          <a:cs typeface="Calibri" pitchFamily="34" charset="-120"/>
                        </a:rPr>
                        <a:t>Implémenté</a:t>
                      </a:r>
                      <a:endParaRPr lang="en-US" sz="1250" dirty="0">
                        <a:latin typeface="Calibri" charset="0"/>
                        <a:ea typeface="Calibri" charset="0"/>
                        <a:cs typeface="Calibri" charset="0"/>
                      </a:endParaRPr>
                    </a:p>
                  </a:txBody>
                  <a:tcPr marL="91440" marR="91440" marT="18288" marB="18288" anchor="ctr">
                    <a:lnL w="6350" cap="flat" cmpd="sng" algn="ctr">
                      <a:solidFill>
                        <a:srgbClr val="D5DEE7"/>
                      </a:solidFill>
                      <a:prstDash val="solid"/>
                      <a:round/>
                      <a:headEnd type="none" w="med" len="med"/>
                      <a:tailEnd type="none" w="med" len="med"/>
                    </a:lnL>
                    <a:lnR w="6350" cap="flat" cmpd="sng" algn="ctr">
                      <a:solidFill>
                        <a:srgbClr val="D5DEE7"/>
                      </a:solidFill>
                      <a:prstDash val="solid"/>
                      <a:round/>
                      <a:headEnd type="none" w="med" len="med"/>
                      <a:tailEnd type="none" w="med" len="med"/>
                    </a:lnR>
                    <a:lnT w="6350" cap="flat" cmpd="sng" algn="ctr">
                      <a:solidFill>
                        <a:srgbClr val="D5DEE7"/>
                      </a:solidFill>
                      <a:prstDash val="solid"/>
                      <a:round/>
                      <a:headEnd type="none" w="med" len="med"/>
                      <a:tailEnd type="none" w="med" len="med"/>
                    </a:lnT>
                    <a:lnB w="6350" cap="flat" cmpd="sng" algn="ctr">
                      <a:solidFill>
                        <a:srgbClr val="D5DEE7"/>
                      </a:solidFill>
                      <a:prstDash val="solid"/>
                      <a:round/>
                      <a:headEnd type="none" w="med" len="med"/>
                      <a:tailEnd type="none" w="med" len="med"/>
                    </a:lnB>
                    <a:solidFill>
                      <a:srgbClr val="DFF2E6"/>
                    </a:solidFill>
                  </a:tcPr>
                </a:tc>
                <a:tc>
                  <a:txBody>
                    <a:bodyPr/>
                    <a:lstStyle/>
                    <a:p>
                      <a:pPr indent="0" marL="0">
                        <a:buNone/>
                      </a:pPr>
                      <a:r>
                        <a:rPr lang="en-US" sz="1300" dirty="0">
                          <a:solidFill>
                            <a:schemeClr val="tx1"/>
                          </a:solidFill>
                          <a:latin typeface="Calibri" pitchFamily="34" charset="0"/>
                          <a:ea typeface="Calibri" pitchFamily="34" charset="-122"/>
                          <a:cs typeface="Calibri" pitchFamily="34" charset="-120"/>
                        </a:rPr>
                        <a:t>Degrés décimaux ; horloge recalée sur le GPS</a:t>
                      </a:r>
                      <a:endParaRPr lang="en-US" sz="1300" dirty="0">
                        <a:latin typeface="Calibri" charset="0"/>
                        <a:ea typeface="Calibri" charset="0"/>
                        <a:cs typeface="Calibri" charset="0"/>
                      </a:endParaRPr>
                    </a:p>
                  </a:txBody>
                  <a:tcPr marL="91440" marR="91440" marT="18288" marB="18288" anchor="ctr">
                    <a:lnL w="6350" cap="flat" cmpd="sng" algn="ctr">
                      <a:solidFill>
                        <a:srgbClr val="D5DEE7"/>
                      </a:solidFill>
                      <a:prstDash val="solid"/>
                      <a:round/>
                      <a:headEnd type="none" w="med" len="med"/>
                      <a:tailEnd type="none" w="med" len="med"/>
                    </a:lnL>
                    <a:lnR w="6350" cap="flat" cmpd="sng" algn="ctr">
                      <a:solidFill>
                        <a:srgbClr val="D5DEE7"/>
                      </a:solidFill>
                      <a:prstDash val="solid"/>
                      <a:round/>
                      <a:headEnd type="none" w="med" len="med"/>
                      <a:tailEnd type="none" w="med" len="med"/>
                    </a:lnR>
                    <a:lnT w="6350" cap="flat" cmpd="sng" algn="ctr">
                      <a:solidFill>
                        <a:srgbClr val="D5DEE7"/>
                      </a:solidFill>
                      <a:prstDash val="solid"/>
                      <a:round/>
                      <a:headEnd type="none" w="med" len="med"/>
                      <a:tailEnd type="none" w="med" len="med"/>
                    </a:lnT>
                    <a:lnB w="6350" cap="flat" cmpd="sng" algn="ctr">
                      <a:solidFill>
                        <a:srgbClr val="D5DEE7"/>
                      </a:solidFill>
                      <a:prstDash val="solid"/>
                      <a:round/>
                      <a:headEnd type="none" w="med" len="med"/>
                      <a:tailEnd type="none" w="med" len="med"/>
                    </a:lnB>
                    <a:solidFill>
                      <a:schemeClr val="bg1"/>
                    </a:solidFill>
                  </a:tcPr>
                </a:tc>
              </a:tr>
              <a:tr h="365760">
                <a:tc>
                  <a:txBody>
                    <a:bodyPr/>
                    <a:lstStyle/>
                    <a:p>
                      <a:pPr indent="0" marL="0">
                        <a:buNone/>
                      </a:pPr>
                      <a:r>
                        <a:rPr lang="en-US" sz="1300" b="1" dirty="0">
                          <a:solidFill>
                            <a:schemeClr val="tx2"/>
                          </a:solidFill>
                          <a:latin typeface="Calibri" pitchFamily="34" charset="0"/>
                          <a:ea typeface="Calibri" pitchFamily="34" charset="-122"/>
                          <a:cs typeface="Calibri" pitchFamily="34" charset="-120"/>
                        </a:rPr>
                        <a:t>Pression atmosphérique</a:t>
                      </a:r>
                      <a:endParaRPr lang="en-US" sz="1300" dirty="0">
                        <a:latin typeface="Calibri" charset="0"/>
                        <a:ea typeface="Calibri" charset="0"/>
                        <a:cs typeface="Calibri" charset="0"/>
                      </a:endParaRPr>
                    </a:p>
                  </a:txBody>
                  <a:tcPr marL="91440" marR="91440" marT="18288" marB="18288" anchor="ctr">
                    <a:lnL w="6350" cap="flat" cmpd="sng" algn="ctr">
                      <a:solidFill>
                        <a:srgbClr val="D5DEE7"/>
                      </a:solidFill>
                      <a:prstDash val="solid"/>
                      <a:round/>
                      <a:headEnd type="none" w="med" len="med"/>
                      <a:tailEnd type="none" w="med" len="med"/>
                    </a:lnL>
                    <a:lnR w="6350" cap="flat" cmpd="sng" algn="ctr">
                      <a:solidFill>
                        <a:srgbClr val="D5DEE7"/>
                      </a:solidFill>
                      <a:prstDash val="solid"/>
                      <a:round/>
                      <a:headEnd type="none" w="med" len="med"/>
                      <a:tailEnd type="none" w="med" len="med"/>
                    </a:lnR>
                    <a:lnT w="6350" cap="flat" cmpd="sng" algn="ctr">
                      <a:solidFill>
                        <a:srgbClr val="D5DEE7"/>
                      </a:solidFill>
                      <a:prstDash val="solid"/>
                      <a:round/>
                      <a:headEnd type="none" w="med" len="med"/>
                      <a:tailEnd type="none" w="med" len="med"/>
                    </a:lnT>
                    <a:lnB w="6350" cap="flat" cmpd="sng" algn="ctr">
                      <a:solidFill>
                        <a:srgbClr val="D5DEE7"/>
                      </a:solidFill>
                      <a:prstDash val="solid"/>
                      <a:round/>
                      <a:headEnd type="none" w="med" len="med"/>
                      <a:tailEnd type="none" w="med" len="med"/>
                    </a:lnB>
                    <a:solidFill>
                      <a:schemeClr val="bg2"/>
                    </a:solidFill>
                  </a:tcPr>
                </a:tc>
                <a:tc>
                  <a:txBody>
                    <a:bodyPr/>
                    <a:lstStyle/>
                    <a:p>
                      <a:pPr algn="ctr" indent="0" marL="0">
                        <a:buNone/>
                      </a:pPr>
                      <a:r>
                        <a:rPr lang="en-US" sz="1250" b="1" dirty="0">
                          <a:solidFill>
                            <a:srgbClr val="C0392B"/>
                          </a:solidFill>
                          <a:latin typeface="Calibri" pitchFamily="34" charset="0"/>
                          <a:ea typeface="Calibri" pitchFamily="34" charset="-122"/>
                          <a:cs typeface="Calibri" pitchFamily="34" charset="-120"/>
                        </a:rPr>
                        <a:t>Non implémenté</a:t>
                      </a:r>
                      <a:endParaRPr lang="en-US" sz="1250" dirty="0">
                        <a:latin typeface="Calibri" charset="0"/>
                        <a:ea typeface="Calibri" charset="0"/>
                        <a:cs typeface="Calibri" charset="0"/>
                      </a:endParaRPr>
                    </a:p>
                  </a:txBody>
                  <a:tcPr marL="91440" marR="91440" marT="18288" marB="18288" anchor="ctr">
                    <a:lnL w="6350" cap="flat" cmpd="sng" algn="ctr">
                      <a:solidFill>
                        <a:srgbClr val="D5DEE7"/>
                      </a:solidFill>
                      <a:prstDash val="solid"/>
                      <a:round/>
                      <a:headEnd type="none" w="med" len="med"/>
                      <a:tailEnd type="none" w="med" len="med"/>
                    </a:lnL>
                    <a:lnR w="6350" cap="flat" cmpd="sng" algn="ctr">
                      <a:solidFill>
                        <a:srgbClr val="D5DEE7"/>
                      </a:solidFill>
                      <a:prstDash val="solid"/>
                      <a:round/>
                      <a:headEnd type="none" w="med" len="med"/>
                      <a:tailEnd type="none" w="med" len="med"/>
                    </a:lnR>
                    <a:lnT w="6350" cap="flat" cmpd="sng" algn="ctr">
                      <a:solidFill>
                        <a:srgbClr val="D5DEE7"/>
                      </a:solidFill>
                      <a:prstDash val="solid"/>
                      <a:round/>
                      <a:headEnd type="none" w="med" len="med"/>
                      <a:tailEnd type="none" w="med" len="med"/>
                    </a:lnT>
                    <a:lnB w="6350" cap="flat" cmpd="sng" algn="ctr">
                      <a:solidFill>
                        <a:srgbClr val="D5DEE7"/>
                      </a:solidFill>
                      <a:prstDash val="solid"/>
                      <a:round/>
                      <a:headEnd type="none" w="med" len="med"/>
                      <a:tailEnd type="none" w="med" len="med"/>
                    </a:lnB>
                    <a:solidFill>
                      <a:srgbClr val="F8DEDB"/>
                    </a:solidFill>
                  </a:tcPr>
                </a:tc>
                <a:tc>
                  <a:txBody>
                    <a:bodyPr/>
                    <a:lstStyle/>
                    <a:p>
                      <a:pPr indent="0" marL="0">
                        <a:buNone/>
                      </a:pPr>
                      <a:r>
                        <a:rPr lang="en-US" sz="1300" dirty="0">
                          <a:solidFill>
                            <a:schemeClr val="tx1"/>
                          </a:solidFill>
                          <a:latin typeface="Calibri" pitchFamily="34" charset="0"/>
                          <a:ea typeface="Calibri" pitchFamily="34" charset="-122"/>
                          <a:cs typeface="Calibri" pitchFamily="34" charset="-120"/>
                        </a:rPr>
                        <a:t>Capteur absent du kit ; commandes PRESSURE signalées</a:t>
                      </a:r>
                      <a:endParaRPr lang="en-US" sz="1300" dirty="0">
                        <a:latin typeface="Calibri" charset="0"/>
                        <a:ea typeface="Calibri" charset="0"/>
                        <a:cs typeface="Calibri" charset="0"/>
                      </a:endParaRPr>
                    </a:p>
                  </a:txBody>
                  <a:tcPr marL="91440" marR="91440" marT="18288" marB="18288" anchor="ctr">
                    <a:lnL w="6350" cap="flat" cmpd="sng" algn="ctr">
                      <a:solidFill>
                        <a:srgbClr val="D5DEE7"/>
                      </a:solidFill>
                      <a:prstDash val="solid"/>
                      <a:round/>
                      <a:headEnd type="none" w="med" len="med"/>
                      <a:tailEnd type="none" w="med" len="med"/>
                    </a:lnL>
                    <a:lnR w="6350" cap="flat" cmpd="sng" algn="ctr">
                      <a:solidFill>
                        <a:srgbClr val="D5DEE7"/>
                      </a:solidFill>
                      <a:prstDash val="solid"/>
                      <a:round/>
                      <a:headEnd type="none" w="med" len="med"/>
                      <a:tailEnd type="none" w="med" len="med"/>
                    </a:lnR>
                    <a:lnT w="6350" cap="flat" cmpd="sng" algn="ctr">
                      <a:solidFill>
                        <a:srgbClr val="D5DEE7"/>
                      </a:solidFill>
                      <a:prstDash val="solid"/>
                      <a:round/>
                      <a:headEnd type="none" w="med" len="med"/>
                      <a:tailEnd type="none" w="med" len="med"/>
                    </a:lnT>
                    <a:lnB w="6350" cap="flat" cmpd="sng" algn="ctr">
                      <a:solidFill>
                        <a:srgbClr val="D5DEE7"/>
                      </a:solidFill>
                      <a:prstDash val="solid"/>
                      <a:round/>
                      <a:headEnd type="none" w="med" len="med"/>
                      <a:tailEnd type="none" w="med" len="med"/>
                    </a:lnB>
                    <a:solidFill>
                      <a:schemeClr val="bg2"/>
                    </a:solidFill>
                  </a:tcPr>
                </a:tc>
              </a:tr>
              <a:tr h="365760">
                <a:tc>
                  <a:txBody>
                    <a:bodyPr/>
                    <a:lstStyle/>
                    <a:p>
                      <a:pPr indent="0" marL="0">
                        <a:buNone/>
                      </a:pPr>
                      <a:r>
                        <a:rPr lang="en-US" sz="1300" b="1" dirty="0">
                          <a:solidFill>
                            <a:schemeClr val="tx2"/>
                          </a:solidFill>
                          <a:latin typeface="Calibri" pitchFamily="34" charset="0"/>
                          <a:ea typeface="Calibri" pitchFamily="34" charset="-122"/>
                          <a:cs typeface="Calibri" pitchFamily="34" charset="-120"/>
                        </a:rPr>
                        <a:t>Modules complémentaires (eau, vent…)</a:t>
                      </a:r>
                      <a:endParaRPr lang="en-US" sz="1300" dirty="0">
                        <a:latin typeface="Calibri" charset="0"/>
                        <a:ea typeface="Calibri" charset="0"/>
                        <a:cs typeface="Calibri" charset="0"/>
                      </a:endParaRPr>
                    </a:p>
                  </a:txBody>
                  <a:tcPr marL="91440" marR="91440" marT="18288" marB="18288" anchor="ctr">
                    <a:lnL w="6350" cap="flat" cmpd="sng" algn="ctr">
                      <a:solidFill>
                        <a:srgbClr val="D5DEE7"/>
                      </a:solidFill>
                      <a:prstDash val="solid"/>
                      <a:round/>
                      <a:headEnd type="none" w="med" len="med"/>
                      <a:tailEnd type="none" w="med" len="med"/>
                    </a:lnL>
                    <a:lnR w="6350" cap="flat" cmpd="sng" algn="ctr">
                      <a:solidFill>
                        <a:srgbClr val="D5DEE7"/>
                      </a:solidFill>
                      <a:prstDash val="solid"/>
                      <a:round/>
                      <a:headEnd type="none" w="med" len="med"/>
                      <a:tailEnd type="none" w="med" len="med"/>
                    </a:lnR>
                    <a:lnT w="6350" cap="flat" cmpd="sng" algn="ctr">
                      <a:solidFill>
                        <a:srgbClr val="D5DEE7"/>
                      </a:solidFill>
                      <a:prstDash val="solid"/>
                      <a:round/>
                      <a:headEnd type="none" w="med" len="med"/>
                      <a:tailEnd type="none" w="med" len="med"/>
                    </a:lnT>
                    <a:lnB w="6350" cap="flat" cmpd="sng" algn="ctr">
                      <a:solidFill>
                        <a:srgbClr val="D5DEE7"/>
                      </a:solidFill>
                      <a:prstDash val="solid"/>
                      <a:round/>
                      <a:headEnd type="none" w="med" len="med"/>
                      <a:tailEnd type="none" w="med" len="med"/>
                    </a:lnB>
                    <a:solidFill>
                      <a:schemeClr val="bg1"/>
                    </a:solidFill>
                  </a:tcPr>
                </a:tc>
                <a:tc>
                  <a:txBody>
                    <a:bodyPr/>
                    <a:lstStyle/>
                    <a:p>
                      <a:pPr algn="ctr" indent="0" marL="0">
                        <a:buNone/>
                      </a:pPr>
                      <a:r>
                        <a:rPr lang="en-US" sz="1250" b="1" dirty="0">
                          <a:solidFill>
                            <a:schemeClr val="accent6"/>
                          </a:solidFill>
                          <a:latin typeface="Calibri" pitchFamily="34" charset="0"/>
                          <a:ea typeface="Calibri" pitchFamily="34" charset="-122"/>
                          <a:cs typeface="Calibri" pitchFamily="34" charset="-120"/>
                        </a:rPr>
                        <a:t>Hors périmètre</a:t>
                      </a:r>
                      <a:endParaRPr lang="en-US" sz="1250" dirty="0">
                        <a:latin typeface="Calibri" charset="0"/>
                        <a:ea typeface="Calibri" charset="0"/>
                        <a:cs typeface="Calibri" charset="0"/>
                      </a:endParaRPr>
                    </a:p>
                  </a:txBody>
                  <a:tcPr marL="91440" marR="91440" marT="18288" marB="18288" anchor="ctr">
                    <a:lnL w="6350" cap="flat" cmpd="sng" algn="ctr">
                      <a:solidFill>
                        <a:srgbClr val="D5DEE7"/>
                      </a:solidFill>
                      <a:prstDash val="solid"/>
                      <a:round/>
                      <a:headEnd type="none" w="med" len="med"/>
                      <a:tailEnd type="none" w="med" len="med"/>
                    </a:lnL>
                    <a:lnR w="6350" cap="flat" cmpd="sng" algn="ctr">
                      <a:solidFill>
                        <a:srgbClr val="D5DEE7"/>
                      </a:solidFill>
                      <a:prstDash val="solid"/>
                      <a:round/>
                      <a:headEnd type="none" w="med" len="med"/>
                      <a:tailEnd type="none" w="med" len="med"/>
                    </a:lnR>
                    <a:lnT w="6350" cap="flat" cmpd="sng" algn="ctr">
                      <a:solidFill>
                        <a:srgbClr val="D5DEE7"/>
                      </a:solidFill>
                      <a:prstDash val="solid"/>
                      <a:round/>
                      <a:headEnd type="none" w="med" len="med"/>
                      <a:tailEnd type="none" w="med" len="med"/>
                    </a:lnT>
                    <a:lnB w="6350" cap="flat" cmpd="sng" algn="ctr">
                      <a:solidFill>
                        <a:srgbClr val="D5DEE7"/>
                      </a:solidFill>
                      <a:prstDash val="solid"/>
                      <a:round/>
                      <a:headEnd type="none" w="med" len="med"/>
                      <a:tailEnd type="none" w="med" len="med"/>
                    </a:lnB>
                    <a:solidFill>
                      <a:srgbClr val="E6EBF0"/>
                    </a:solidFill>
                  </a:tcPr>
                </a:tc>
                <a:tc>
                  <a:txBody>
                    <a:bodyPr/>
                    <a:lstStyle/>
                    <a:p>
                      <a:pPr indent="0" marL="0">
                        <a:buNone/>
                      </a:pPr>
                      <a:r>
                        <a:rPr lang="en-US" sz="1300" dirty="0">
                          <a:solidFill>
                            <a:schemeClr val="tx1"/>
                          </a:solidFill>
                          <a:latin typeface="Calibri" pitchFamily="34" charset="0"/>
                          <a:ea typeface="Calibri" pitchFamily="34" charset="-122"/>
                          <a:cs typeface="Calibri" pitchFamily="34" charset="-120"/>
                        </a:rPr>
                        <a:t>Prévus « par la suite » dans le CDC</a:t>
                      </a:r>
                      <a:endParaRPr lang="en-US" sz="1300" dirty="0">
                        <a:latin typeface="Calibri" charset="0"/>
                        <a:ea typeface="Calibri" charset="0"/>
                        <a:cs typeface="Calibri" charset="0"/>
                      </a:endParaRPr>
                    </a:p>
                  </a:txBody>
                  <a:tcPr marL="91440" marR="91440" marT="18288" marB="18288" anchor="ctr">
                    <a:lnL w="6350" cap="flat" cmpd="sng" algn="ctr">
                      <a:solidFill>
                        <a:srgbClr val="D5DEE7"/>
                      </a:solidFill>
                      <a:prstDash val="solid"/>
                      <a:round/>
                      <a:headEnd type="none" w="med" len="med"/>
                      <a:tailEnd type="none" w="med" len="med"/>
                    </a:lnL>
                    <a:lnR w="6350" cap="flat" cmpd="sng" algn="ctr">
                      <a:solidFill>
                        <a:srgbClr val="D5DEE7"/>
                      </a:solidFill>
                      <a:prstDash val="solid"/>
                      <a:round/>
                      <a:headEnd type="none" w="med" len="med"/>
                      <a:tailEnd type="none" w="med" len="med"/>
                    </a:lnR>
                    <a:lnT w="6350" cap="flat" cmpd="sng" algn="ctr">
                      <a:solidFill>
                        <a:srgbClr val="D5DEE7"/>
                      </a:solidFill>
                      <a:prstDash val="solid"/>
                      <a:round/>
                      <a:headEnd type="none" w="med" len="med"/>
                      <a:tailEnd type="none" w="med" len="med"/>
                    </a:lnT>
                    <a:lnB w="6350" cap="flat" cmpd="sng" algn="ctr">
                      <a:solidFill>
                        <a:srgbClr val="D5DEE7"/>
                      </a:solidFill>
                      <a:prstDash val="solid"/>
                      <a:round/>
                      <a:headEnd type="none" w="med" len="med"/>
                      <a:tailEnd type="none" w="med" len="med"/>
                    </a:lnB>
                    <a:solidFill>
                      <a:schemeClr val="bg1"/>
                    </a:solidFill>
                  </a:tcPr>
                </a:tc>
              </a:tr>
            </a:tbl>
          </a:graphicData>
        </a:graphic>
      </p:graphicFrame>
      <p:sp>
        <p:nvSpPr>
          <p:cNvPr id="5" name="Text 2"/>
          <p:cNvSpPr txBox="1"/>
          <p:nvPr/>
        </p:nvSpPr>
        <p:spPr>
          <a:xfrm>
            <a:off x="548640" y="5943600"/>
            <a:ext cx="11091672" cy="274320"/>
          </a:xfrm>
          <a:prstGeom prst="rect">
            <a:avLst/>
          </a:prstGeom>
          <a:noFill/>
          <a:ln/>
        </p:spPr>
        <p:txBody>
          <a:bodyPr wrap="square" lIns="0" tIns="0" rIns="0" bIns="0" rtlCol="0" anchor="t"/>
          <a:lstStyle/>
          <a:p>
            <a:pPr indent="0" marL="0">
              <a:buNone/>
            </a:pPr>
            <a:r>
              <a:rPr lang="en-US" sz="1200" i="1" dirty="0">
                <a:solidFill>
                  <a:schemeClr val="accent6"/>
                </a:solidFill>
              </a:rPr>
              <a:t>« Implémenté » = présent dans le code, compilé sans erreur le 23/10/2026. Le fonctionnement sur carte est montré en démonstration.</a:t>
            </a:r>
            <a:endParaRPr lang="en-US" sz="1200" dirty="0"/>
          </a:p>
        </p:txBody>
      </p:sp>
      <p:sp>
        <p:nvSpPr>
          <p:cNvPr id="25" name="Slide Number Placeholder 0"/>
          <p:cNvSpPr>
            <a:spLocks noGrp="1"/>
          </p:cNvSpPr>
          <p:nvPr>
            <p:ph type="sldNum" sz="quarter" idx="4294967295"/>
          </p:nvPr>
        </p:nvSpPr>
        <p:spPr>
          <a:xfrm>
            <a:off x="11091672" y="6455664"/>
            <a:ext cx="548640" cy="237744"/>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6"/>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9144000" cy="274320"/>
          </a:xfrm>
          <a:prstGeom prst="rect">
            <a:avLst/>
          </a:prstGeom>
          <a:noFill/>
          <a:ln/>
        </p:spPr>
        <p:txBody>
          <a:bodyPr wrap="square" lIns="0" tIns="0" rIns="0" bIns="0" rtlCol="0" anchor="t"/>
          <a:lstStyle/>
          <a:p>
            <a:pPr indent="0" marL="0">
              <a:buNone/>
            </a:pPr>
            <a:r>
              <a:rPr lang="en-US" sz="1200" b="1" spc="150" kern="0" dirty="0">
                <a:solidFill>
                  <a:schemeClr val="accent1"/>
                </a:solidFill>
              </a:rPr>
              <a:t>04 · AUTOMATISATION ET VALIDATION</a:t>
            </a:r>
            <a:endParaRPr lang="en-US" sz="1200" dirty="0"/>
          </a:p>
        </p:txBody>
      </p:sp>
      <p:sp>
        <p:nvSpPr>
          <p:cNvPr id="3" name="Text 0"/>
          <p:cNvSpPr/>
          <p:nvPr>
            <p:ph idx="101" type="title" hasCustomPrompt="1"/>
          </p:nvPr>
        </p:nvSpPr>
        <p:spPr>
          <a:xfrm>
            <a:off x="548640" y="621792"/>
            <a:ext cx="11091672" cy="640080"/>
          </a:xfrm>
          <a:prstGeom prst="rect">
            <a:avLst/>
          </a:prstGeom>
          <a:noFill/>
          <a:ln/>
        </p:spPr>
        <p:txBody>
          <a:bodyPr wrap="square" lIns="0" tIns="0" rIns="0" bIns="0" rtlCol="0" anchor="t"/>
          <a:lstStyle/>
          <a:p>
            <a:pPr algn="l" indent="0" marL="0">
              <a:buNone/>
            </a:pPr>
            <a:r>
              <a:rPr lang="en-US" sz="3000" b="1" dirty="0">
                <a:solidFill>
                  <a:schemeClr val="tx2"/>
                </a:solidFill>
              </a:rPr>
              <a:t>Validation : démarche et corrections</a:t>
            </a:r>
            <a:endParaRPr lang="en-US" sz="3000" dirty="0"/>
          </a:p>
        </p:txBody>
      </p:sp>
      <p:sp>
        <p:nvSpPr>
          <p:cNvPr id="4" name="Text 2"/>
          <p:cNvSpPr txBox="1"/>
          <p:nvPr/>
        </p:nvSpPr>
        <p:spPr>
          <a:xfrm>
            <a:off x="548640" y="1463040"/>
            <a:ext cx="4846320" cy="320040"/>
          </a:xfrm>
          <a:prstGeom prst="rect">
            <a:avLst/>
          </a:prstGeom>
          <a:noFill/>
          <a:ln/>
        </p:spPr>
        <p:txBody>
          <a:bodyPr wrap="square" lIns="0" tIns="0" rIns="0" bIns="0" rtlCol="0" anchor="t"/>
          <a:lstStyle/>
          <a:p>
            <a:pPr indent="0" marL="0">
              <a:buNone/>
            </a:pPr>
            <a:r>
              <a:rPr lang="en-US" sz="1700" b="1" dirty="0">
                <a:solidFill>
                  <a:schemeClr val="tx2"/>
                </a:solidFill>
              </a:rPr>
              <a:t>Démarche de test</a:t>
            </a:r>
            <a:endParaRPr lang="en-US" sz="1700" dirty="0"/>
          </a:p>
        </p:txBody>
      </p:sp>
      <p:sp>
        <p:nvSpPr>
          <p:cNvPr id="5" name="Text 3"/>
          <p:cNvSpPr/>
          <p:nvPr/>
        </p:nvSpPr>
        <p:spPr>
          <a:xfrm>
            <a:off x="548640" y="1956816"/>
            <a:ext cx="402336" cy="402336"/>
          </a:xfrm>
          <a:prstGeom prst="ellipse">
            <a:avLst/>
          </a:prstGeom>
          <a:solidFill>
            <a:schemeClr val="accent1"/>
          </a:solid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6" name="Text 4"/>
          <p:cNvSpPr txBox="1"/>
          <p:nvPr/>
        </p:nvSpPr>
        <p:spPr>
          <a:xfrm>
            <a:off x="1097280" y="1920240"/>
            <a:ext cx="4343400" cy="731520"/>
          </a:xfrm>
          <a:prstGeom prst="rect">
            <a:avLst/>
          </a:prstGeom>
          <a:noFill/>
          <a:ln/>
        </p:spPr>
        <p:txBody>
          <a:bodyPr wrap="square" lIns="0" tIns="0" rIns="0" bIns="0" rtlCol="0" anchor="t"/>
          <a:lstStyle/>
          <a:p>
            <a:pPr indent="0" marL="0">
              <a:buNone/>
            </a:pPr>
            <a:r>
              <a:rPr lang="en-US" sz="1300" b="1" dirty="0">
                <a:solidFill>
                  <a:schemeClr val="tx2"/>
                </a:solidFill>
              </a:rPr>
              <a:t>Tests unitaires</a:t>
            </a:r>
            <a:endParaRPr lang="en-US" sz="1300" dirty="0"/>
          </a:p>
          <a:p>
            <a:pPr indent="0" marL="0">
              <a:buNone/>
            </a:pPr>
            <a:r>
              <a:rPr lang="en-US" sz="1300" dirty="0">
                <a:solidFill>
                  <a:schemeClr val="tx1"/>
                </a:solidFill>
              </a:rPr>
              <a:t>Chaque composant seul, suivi sur le moniteur série</a:t>
            </a:r>
            <a:endParaRPr lang="en-US" sz="1300" dirty="0"/>
          </a:p>
        </p:txBody>
      </p:sp>
      <p:sp>
        <p:nvSpPr>
          <p:cNvPr id="7" name="Text 5"/>
          <p:cNvSpPr/>
          <p:nvPr/>
        </p:nvSpPr>
        <p:spPr>
          <a:xfrm>
            <a:off x="548640" y="2743200"/>
            <a:ext cx="402336" cy="402336"/>
          </a:xfrm>
          <a:prstGeom prst="ellipse">
            <a:avLst/>
          </a:prstGeom>
          <a:solidFill>
            <a:schemeClr val="accent1"/>
          </a:solid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8" name="Text 6"/>
          <p:cNvSpPr txBox="1"/>
          <p:nvPr/>
        </p:nvSpPr>
        <p:spPr>
          <a:xfrm>
            <a:off x="1097280" y="2706624"/>
            <a:ext cx="4343400" cy="731520"/>
          </a:xfrm>
          <a:prstGeom prst="rect">
            <a:avLst/>
          </a:prstGeom>
          <a:noFill/>
          <a:ln/>
        </p:spPr>
        <p:txBody>
          <a:bodyPr wrap="square" lIns="0" tIns="0" rIns="0" bIns="0" rtlCol="0" anchor="t"/>
          <a:lstStyle/>
          <a:p>
            <a:pPr indent="0" marL="0">
              <a:buNone/>
            </a:pPr>
            <a:r>
              <a:rPr lang="en-US" sz="1300" b="1" dirty="0">
                <a:solidFill>
                  <a:schemeClr val="tx2"/>
                </a:solidFill>
              </a:rPr>
              <a:t>Diagnostic intégré</a:t>
            </a:r>
            <a:endParaRPr lang="en-US" sz="1300" dirty="0"/>
          </a:p>
          <a:p>
            <a:pPr indent="0" marL="0">
              <a:buNone/>
            </a:pPr>
            <a:r>
              <a:rPr lang="en-US" sz="1300" dirty="0">
                <a:solidFill>
                  <a:schemeClr val="tx1"/>
                </a:solidFill>
              </a:rPr>
              <a:t>B1 maintenu au reset : 9 tests (LED, boutons, DHT11, I2C, RTC, SD, GPS, LCD) et bilan</a:t>
            </a:r>
            <a:endParaRPr lang="en-US" sz="1300" dirty="0"/>
          </a:p>
        </p:txBody>
      </p:sp>
      <p:sp>
        <p:nvSpPr>
          <p:cNvPr id="9" name="Text 7"/>
          <p:cNvSpPr/>
          <p:nvPr/>
        </p:nvSpPr>
        <p:spPr>
          <a:xfrm>
            <a:off x="548640" y="3529584"/>
            <a:ext cx="402336" cy="402336"/>
          </a:xfrm>
          <a:prstGeom prst="ellipse">
            <a:avLst/>
          </a:prstGeom>
          <a:solidFill>
            <a:schemeClr val="accent1"/>
          </a:solid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10" name="Text 8"/>
          <p:cNvSpPr txBox="1"/>
          <p:nvPr/>
        </p:nvSpPr>
        <p:spPr>
          <a:xfrm>
            <a:off x="1097280" y="3493008"/>
            <a:ext cx="4343400" cy="731520"/>
          </a:xfrm>
          <a:prstGeom prst="rect">
            <a:avLst/>
          </a:prstGeom>
          <a:noFill/>
          <a:ln/>
        </p:spPr>
        <p:txBody>
          <a:bodyPr wrap="square" lIns="0" tIns="0" rIns="0" bIns="0" rtlCol="0" anchor="t"/>
          <a:lstStyle/>
          <a:p>
            <a:pPr indent="0" marL="0">
              <a:buNone/>
            </a:pPr>
            <a:r>
              <a:rPr lang="en-US" sz="1300" b="1" dirty="0">
                <a:solidFill>
                  <a:schemeClr val="tx2"/>
                </a:solidFill>
              </a:rPr>
              <a:t>Intégration</a:t>
            </a:r>
            <a:endParaRPr lang="en-US" sz="1300" dirty="0"/>
          </a:p>
          <a:p>
            <a:pPr indent="0" marL="0">
              <a:buNone/>
            </a:pPr>
            <a:r>
              <a:rPr lang="en-US" sz="1300" dirty="0">
                <a:solidFill>
                  <a:schemeClr val="tx1"/>
                </a:solidFill>
              </a:rPr>
              <a:t>LOG_INTERVAL=20S pour accélérer les cycles ; suivi sur la console</a:t>
            </a:r>
            <a:endParaRPr lang="en-US" sz="1300" dirty="0"/>
          </a:p>
        </p:txBody>
      </p:sp>
      <p:sp>
        <p:nvSpPr>
          <p:cNvPr id="11" name="Text 9"/>
          <p:cNvSpPr/>
          <p:nvPr/>
        </p:nvSpPr>
        <p:spPr>
          <a:xfrm>
            <a:off x="548640" y="4315968"/>
            <a:ext cx="402336" cy="402336"/>
          </a:xfrm>
          <a:prstGeom prst="ellipse">
            <a:avLst/>
          </a:prstGeom>
          <a:solidFill>
            <a:schemeClr val="accent1"/>
          </a:solidFill>
          <a:ln/>
        </p:spPr>
        <p:txBody>
          <a:bodyPr wrap="square" lIns="0" tIns="0" rIns="0" bIns="0" rtlCol="0" anchor="ctr"/>
          <a:lstStyle/>
          <a:p>
            <a:pPr algn="ctr" indent="0" marL="0">
              <a:buNone/>
            </a:pPr>
            <a:r>
              <a:rPr lang="en-US" sz="1400" b="1" dirty="0">
                <a:solidFill>
                  <a:schemeClr val="bg1"/>
                </a:solidFill>
              </a:rPr>
              <a:t>4</a:t>
            </a:r>
            <a:endParaRPr lang="en-US" sz="1400" dirty="0"/>
          </a:p>
        </p:txBody>
      </p:sp>
      <p:sp>
        <p:nvSpPr>
          <p:cNvPr id="12" name="Text 10"/>
          <p:cNvSpPr txBox="1"/>
          <p:nvPr/>
        </p:nvSpPr>
        <p:spPr>
          <a:xfrm>
            <a:off x="1097280" y="4279392"/>
            <a:ext cx="4343400" cy="731520"/>
          </a:xfrm>
          <a:prstGeom prst="rect">
            <a:avLst/>
          </a:prstGeom>
          <a:noFill/>
          <a:ln/>
        </p:spPr>
        <p:txBody>
          <a:bodyPr wrap="square" lIns="0" tIns="0" rIns="0" bIns="0" rtlCol="0" anchor="t"/>
          <a:lstStyle/>
          <a:p>
            <a:pPr indent="0" marL="0">
              <a:buNone/>
            </a:pPr>
            <a:r>
              <a:rPr lang="en-US" sz="1300" b="1" dirty="0">
                <a:solidFill>
                  <a:schemeClr val="tx2"/>
                </a:solidFill>
              </a:rPr>
              <a:t>Contrôle des fichiers</a:t>
            </a:r>
            <a:endParaRPr lang="en-US" sz="1300" dirty="0"/>
          </a:p>
          <a:p>
            <a:pPr indent="0" marL="0">
              <a:buNone/>
            </a:pPr>
            <a:r>
              <a:rPr lang="en-US" sz="1300" dirty="0">
                <a:solidFill>
                  <a:schemeClr val="tx1"/>
                </a:solidFill>
              </a:rPr>
              <a:t>Lecture des fichiers .LOG sur PC</a:t>
            </a:r>
            <a:endParaRPr lang="en-US" sz="1300" dirty="0"/>
          </a:p>
        </p:txBody>
      </p:sp>
      <p:sp>
        <p:nvSpPr>
          <p:cNvPr id="13" name="Text 11"/>
          <p:cNvSpPr txBox="1"/>
          <p:nvPr/>
        </p:nvSpPr>
        <p:spPr>
          <a:xfrm>
            <a:off x="5760720" y="1463040"/>
            <a:ext cx="5852160" cy="320040"/>
          </a:xfrm>
          <a:prstGeom prst="rect">
            <a:avLst/>
          </a:prstGeom>
          <a:noFill/>
          <a:ln/>
        </p:spPr>
        <p:txBody>
          <a:bodyPr wrap="square" lIns="0" tIns="0" rIns="0" bIns="0" rtlCol="0" anchor="t"/>
          <a:lstStyle/>
          <a:p>
            <a:pPr indent="0" marL="0">
              <a:buNone/>
            </a:pPr>
            <a:r>
              <a:rPr lang="en-US" sz="1700" b="1" dirty="0">
                <a:solidFill>
                  <a:schemeClr val="tx2"/>
                </a:solidFill>
              </a:rPr>
              <a:t>Problèmes rencontrés et corrections</a:t>
            </a:r>
            <a:endParaRPr lang="en-US" sz="17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5760720" y="1874520"/>
          <a:ext cx="5879592" cy="914400"/>
        </p:xfrm>
        <a:graphic>
          <a:graphicData uri="http://schemas.openxmlformats.org/drawingml/2006/table">
            <a:tbl>
              <a:tblPr/>
              <a:tblGrid>
                <a:gridCol w="3044952"/>
                <a:gridCol w="2834640"/>
              </a:tblGrid>
              <a:tr h="365760">
                <a:tc>
                  <a:txBody>
                    <a:bodyPr/>
                    <a:lstStyle/>
                    <a:p>
                      <a:pPr indent="0" marL="0">
                        <a:buNone/>
                      </a:pPr>
                      <a:r>
                        <a:rPr lang="en-US" sz="1300" b="1" dirty="0">
                          <a:solidFill>
                            <a:schemeClr val="bg1"/>
                          </a:solidFill>
                          <a:latin typeface="Calibri" pitchFamily="34" charset="0"/>
                          <a:ea typeface="Calibri" pitchFamily="34" charset="-122"/>
                          <a:cs typeface="Calibri" pitchFamily="34" charset="-120"/>
                        </a:rPr>
                        <a:t>Constat</a:t>
                      </a:r>
                      <a:endParaRPr lang="en-US" sz="1300" dirty="0">
                        <a:latin typeface="Calibri" charset="0"/>
                        <a:ea typeface="Calibri" charset="0"/>
                        <a:cs typeface="Calibri" charset="0"/>
                      </a:endParaRPr>
                    </a:p>
                  </a:txBody>
                  <a:tcPr marL="91440" marR="91440" marT="27432" marB="27432" anchor="ctr">
                    <a:lnL w="6350" cap="flat" cmpd="sng" algn="ctr">
                      <a:solidFill>
                        <a:srgbClr val="D5DEE7"/>
                      </a:solidFill>
                      <a:prstDash val="solid"/>
                      <a:round/>
                      <a:headEnd type="none" w="med" len="med"/>
                      <a:tailEnd type="none" w="med" len="med"/>
                    </a:lnL>
                    <a:lnR w="6350" cap="flat" cmpd="sng" algn="ctr">
                      <a:solidFill>
                        <a:srgbClr val="D5DEE7"/>
                      </a:solidFill>
                      <a:prstDash val="solid"/>
                      <a:round/>
                      <a:headEnd type="none" w="med" len="med"/>
                      <a:tailEnd type="none" w="med" len="med"/>
                    </a:lnR>
                    <a:lnT w="6350" cap="flat" cmpd="sng" algn="ctr">
                      <a:solidFill>
                        <a:srgbClr val="D5DEE7"/>
                      </a:solidFill>
                      <a:prstDash val="solid"/>
                      <a:round/>
                      <a:headEnd type="none" w="med" len="med"/>
                      <a:tailEnd type="none" w="med" len="med"/>
                    </a:lnT>
                    <a:lnB w="6350" cap="flat" cmpd="sng" algn="ctr">
                      <a:solidFill>
                        <a:srgbClr val="D5DEE7"/>
                      </a:solidFill>
                      <a:prstDash val="solid"/>
                      <a:round/>
                      <a:headEnd type="none" w="med" len="med"/>
                      <a:tailEnd type="none" w="med" len="med"/>
                    </a:lnB>
                    <a:solidFill>
                      <a:schemeClr val="tx2"/>
                    </a:solidFill>
                  </a:tcPr>
                </a:tc>
                <a:tc>
                  <a:txBody>
                    <a:bodyPr/>
                    <a:lstStyle/>
                    <a:p>
                      <a:pPr indent="0" marL="0">
                        <a:buNone/>
                      </a:pPr>
                      <a:r>
                        <a:rPr lang="en-US" sz="1300" b="1" dirty="0">
                          <a:solidFill>
                            <a:schemeClr val="bg1"/>
                          </a:solidFill>
                          <a:latin typeface="Calibri" pitchFamily="34" charset="0"/>
                          <a:ea typeface="Calibri" pitchFamily="34" charset="-122"/>
                          <a:cs typeface="Calibri" pitchFamily="34" charset="-120"/>
                        </a:rPr>
                        <a:t>Correction</a:t>
                      </a:r>
                      <a:endParaRPr lang="en-US" sz="1300" dirty="0">
                        <a:latin typeface="Calibri" charset="0"/>
                        <a:ea typeface="Calibri" charset="0"/>
                        <a:cs typeface="Calibri" charset="0"/>
                      </a:endParaRPr>
                    </a:p>
                  </a:txBody>
                  <a:tcPr marL="91440" marR="91440" marT="27432" marB="27432" anchor="ctr">
                    <a:lnL w="6350" cap="flat" cmpd="sng" algn="ctr">
                      <a:solidFill>
                        <a:srgbClr val="D5DEE7"/>
                      </a:solidFill>
                      <a:prstDash val="solid"/>
                      <a:round/>
                      <a:headEnd type="none" w="med" len="med"/>
                      <a:tailEnd type="none" w="med" len="med"/>
                    </a:lnL>
                    <a:lnR w="6350" cap="flat" cmpd="sng" algn="ctr">
                      <a:solidFill>
                        <a:srgbClr val="D5DEE7"/>
                      </a:solidFill>
                      <a:prstDash val="solid"/>
                      <a:round/>
                      <a:headEnd type="none" w="med" len="med"/>
                      <a:tailEnd type="none" w="med" len="med"/>
                    </a:lnR>
                    <a:lnT w="6350" cap="flat" cmpd="sng" algn="ctr">
                      <a:solidFill>
                        <a:srgbClr val="D5DEE7"/>
                      </a:solidFill>
                      <a:prstDash val="solid"/>
                      <a:round/>
                      <a:headEnd type="none" w="med" len="med"/>
                      <a:tailEnd type="none" w="med" len="med"/>
                    </a:lnT>
                    <a:lnB w="6350" cap="flat" cmpd="sng" algn="ctr">
                      <a:solidFill>
                        <a:srgbClr val="D5DEE7"/>
                      </a:solidFill>
                      <a:prstDash val="solid"/>
                      <a:round/>
                      <a:headEnd type="none" w="med" len="med"/>
                      <a:tailEnd type="none" w="med" len="med"/>
                    </a:lnB>
                    <a:solidFill>
                      <a:schemeClr val="tx2"/>
                    </a:solidFill>
                  </a:tcPr>
                </a:tc>
              </a:tr>
              <a:tr h="512064">
                <a:tc>
                  <a:txBody>
                    <a:bodyPr/>
                    <a:lstStyle/>
                    <a:p>
                      <a:pPr indent="0" marL="0">
                        <a:buNone/>
                      </a:pPr>
                      <a:r>
                        <a:rPr lang="en-US" sz="1300" dirty="0">
                          <a:solidFill>
                            <a:schemeClr val="tx1"/>
                          </a:solidFill>
                          <a:latin typeface="Calibri" pitchFamily="34" charset="0"/>
                          <a:ea typeface="Calibri" pitchFamily="34" charset="-122"/>
                          <a:cs typeface="Calibri" pitchFamily="34" charset="-120"/>
                        </a:rPr>
                        <a:t>DHT11 : tous les bits lus à 0 en Debug</a:t>
                      </a:r>
                      <a:endParaRPr lang="en-US" sz="1300" dirty="0">
                        <a:latin typeface="Calibri" charset="0"/>
                        <a:ea typeface="Calibri" charset="0"/>
                        <a:cs typeface="Calibri" charset="0"/>
                      </a:endParaRPr>
                    </a:p>
                  </a:txBody>
                  <a:tcPr marL="91440" marR="91440" marT="27432" marB="27432" anchor="ctr">
                    <a:lnL w="6350" cap="flat" cmpd="sng" algn="ctr">
                      <a:solidFill>
                        <a:srgbClr val="D5DEE7"/>
                      </a:solidFill>
                      <a:prstDash val="solid"/>
                      <a:round/>
                      <a:headEnd type="none" w="med" len="med"/>
                      <a:tailEnd type="none" w="med" len="med"/>
                    </a:lnL>
                    <a:lnR w="6350" cap="flat" cmpd="sng" algn="ctr">
                      <a:solidFill>
                        <a:srgbClr val="D5DEE7"/>
                      </a:solidFill>
                      <a:prstDash val="solid"/>
                      <a:round/>
                      <a:headEnd type="none" w="med" len="med"/>
                      <a:tailEnd type="none" w="med" len="med"/>
                    </a:lnR>
                    <a:lnT w="6350" cap="flat" cmpd="sng" algn="ctr">
                      <a:solidFill>
                        <a:srgbClr val="D5DEE7"/>
                      </a:solidFill>
                      <a:prstDash val="solid"/>
                      <a:round/>
                      <a:headEnd type="none" w="med" len="med"/>
                      <a:tailEnd type="none" w="med" len="med"/>
                    </a:lnT>
                    <a:lnB w="6350" cap="flat" cmpd="sng" algn="ctr">
                      <a:solidFill>
                        <a:srgbClr val="D5DEE7"/>
                      </a:solidFill>
                      <a:prstDash val="solid"/>
                      <a:round/>
                      <a:headEnd type="none" w="med" len="med"/>
                      <a:tailEnd type="none" w="med" len="med"/>
                    </a:lnB>
                    <a:solidFill>
                      <a:schemeClr val="bg1"/>
                    </a:solidFill>
                  </a:tcPr>
                </a:tc>
                <a:tc>
                  <a:txBody>
                    <a:bodyPr/>
                    <a:lstStyle/>
                    <a:p>
                      <a:pPr indent="0" marL="0">
                        <a:buNone/>
                      </a:pPr>
                      <a:r>
                        <a:rPr lang="en-US" sz="1300" b="1" dirty="0">
                          <a:solidFill>
                            <a:schemeClr val="accent1"/>
                          </a:solidFill>
                          <a:latin typeface="Calibri" pitchFamily="34" charset="0"/>
                          <a:ea typeface="Calibri" pitchFamily="34" charset="-122"/>
                          <a:cs typeface="Calibri" pitchFamily="34" charset="-120"/>
                        </a:rPr>
                        <a:t>Durées mesurées par le compteur de cycles DWT</a:t>
                      </a:r>
                      <a:endParaRPr lang="en-US" sz="1300" dirty="0">
                        <a:latin typeface="Calibri" charset="0"/>
                        <a:ea typeface="Calibri" charset="0"/>
                        <a:cs typeface="Calibri" charset="0"/>
                      </a:endParaRPr>
                    </a:p>
                  </a:txBody>
                  <a:tcPr marL="91440" marR="91440" marT="27432" marB="27432" anchor="ctr">
                    <a:lnL w="6350" cap="flat" cmpd="sng" algn="ctr">
                      <a:solidFill>
                        <a:srgbClr val="D5DEE7"/>
                      </a:solidFill>
                      <a:prstDash val="solid"/>
                      <a:round/>
                      <a:headEnd type="none" w="med" len="med"/>
                      <a:tailEnd type="none" w="med" len="med"/>
                    </a:lnL>
                    <a:lnR w="6350" cap="flat" cmpd="sng" algn="ctr">
                      <a:solidFill>
                        <a:srgbClr val="D5DEE7"/>
                      </a:solidFill>
                      <a:prstDash val="solid"/>
                      <a:round/>
                      <a:headEnd type="none" w="med" len="med"/>
                      <a:tailEnd type="none" w="med" len="med"/>
                    </a:lnR>
                    <a:lnT w="6350" cap="flat" cmpd="sng" algn="ctr">
                      <a:solidFill>
                        <a:srgbClr val="D5DEE7"/>
                      </a:solidFill>
                      <a:prstDash val="solid"/>
                      <a:round/>
                      <a:headEnd type="none" w="med" len="med"/>
                      <a:tailEnd type="none" w="med" len="med"/>
                    </a:lnT>
                    <a:lnB w="6350" cap="flat" cmpd="sng" algn="ctr">
                      <a:solidFill>
                        <a:srgbClr val="D5DEE7"/>
                      </a:solidFill>
                      <a:prstDash val="solid"/>
                      <a:round/>
                      <a:headEnd type="none" w="med" len="med"/>
                      <a:tailEnd type="none" w="med" len="med"/>
                    </a:lnB>
                    <a:solidFill>
                      <a:schemeClr val="bg1"/>
                    </a:solidFill>
                  </a:tcPr>
                </a:tc>
              </a:tr>
              <a:tr h="512064">
                <a:tc>
                  <a:txBody>
                    <a:bodyPr/>
                    <a:lstStyle/>
                    <a:p>
                      <a:pPr indent="0" marL="0">
                        <a:buNone/>
                      </a:pPr>
                      <a:r>
                        <a:rPr lang="en-US" sz="1300" dirty="0">
                          <a:solidFill>
                            <a:schemeClr val="tx1"/>
                          </a:solidFill>
                          <a:latin typeface="Calibri" pitchFamily="34" charset="0"/>
                          <a:ea typeface="Calibri" pitchFamily="34" charset="-122"/>
                          <a:cs typeface="Calibri" pitchFamily="34" charset="-120"/>
                        </a:rPr>
                        <a:t>Trame DHT11 nulle acceptée par le checksum</a:t>
                      </a:r>
                      <a:endParaRPr lang="en-US" sz="1300" dirty="0">
                        <a:latin typeface="Calibri" charset="0"/>
                        <a:ea typeface="Calibri" charset="0"/>
                        <a:cs typeface="Calibri" charset="0"/>
                      </a:endParaRPr>
                    </a:p>
                  </a:txBody>
                  <a:tcPr marL="91440" marR="91440" marT="27432" marB="27432" anchor="ctr">
                    <a:lnL w="6350" cap="flat" cmpd="sng" algn="ctr">
                      <a:solidFill>
                        <a:srgbClr val="D5DEE7"/>
                      </a:solidFill>
                      <a:prstDash val="solid"/>
                      <a:round/>
                      <a:headEnd type="none" w="med" len="med"/>
                      <a:tailEnd type="none" w="med" len="med"/>
                    </a:lnL>
                    <a:lnR w="6350" cap="flat" cmpd="sng" algn="ctr">
                      <a:solidFill>
                        <a:srgbClr val="D5DEE7"/>
                      </a:solidFill>
                      <a:prstDash val="solid"/>
                      <a:round/>
                      <a:headEnd type="none" w="med" len="med"/>
                      <a:tailEnd type="none" w="med" len="med"/>
                    </a:lnR>
                    <a:lnT w="6350" cap="flat" cmpd="sng" algn="ctr">
                      <a:solidFill>
                        <a:srgbClr val="D5DEE7"/>
                      </a:solidFill>
                      <a:prstDash val="solid"/>
                      <a:round/>
                      <a:headEnd type="none" w="med" len="med"/>
                      <a:tailEnd type="none" w="med" len="med"/>
                    </a:lnT>
                    <a:lnB w="6350" cap="flat" cmpd="sng" algn="ctr">
                      <a:solidFill>
                        <a:srgbClr val="D5DEE7"/>
                      </a:solidFill>
                      <a:prstDash val="solid"/>
                      <a:round/>
                      <a:headEnd type="none" w="med" len="med"/>
                      <a:tailEnd type="none" w="med" len="med"/>
                    </a:lnB>
                    <a:solidFill>
                      <a:schemeClr val="bg2"/>
                    </a:solidFill>
                  </a:tcPr>
                </a:tc>
                <a:tc>
                  <a:txBody>
                    <a:bodyPr/>
                    <a:lstStyle/>
                    <a:p>
                      <a:pPr indent="0" marL="0">
                        <a:buNone/>
                      </a:pPr>
                      <a:r>
                        <a:rPr lang="en-US" sz="1300" b="1" dirty="0">
                          <a:solidFill>
                            <a:schemeClr val="accent1"/>
                          </a:solidFill>
                          <a:latin typeface="Calibri" pitchFamily="34" charset="0"/>
                          <a:ea typeface="Calibri" pitchFamily="34" charset="-122"/>
                          <a:cs typeface="Calibri" pitchFamily="34" charset="-120"/>
                        </a:rPr>
                        <a:t>Trame rejetée explicitement</a:t>
                      </a:r>
                      <a:endParaRPr lang="en-US" sz="1300" dirty="0">
                        <a:latin typeface="Calibri" charset="0"/>
                        <a:ea typeface="Calibri" charset="0"/>
                        <a:cs typeface="Calibri" charset="0"/>
                      </a:endParaRPr>
                    </a:p>
                  </a:txBody>
                  <a:tcPr marL="91440" marR="91440" marT="27432" marB="27432" anchor="ctr">
                    <a:lnL w="6350" cap="flat" cmpd="sng" algn="ctr">
                      <a:solidFill>
                        <a:srgbClr val="D5DEE7"/>
                      </a:solidFill>
                      <a:prstDash val="solid"/>
                      <a:round/>
                      <a:headEnd type="none" w="med" len="med"/>
                      <a:tailEnd type="none" w="med" len="med"/>
                    </a:lnL>
                    <a:lnR w="6350" cap="flat" cmpd="sng" algn="ctr">
                      <a:solidFill>
                        <a:srgbClr val="D5DEE7"/>
                      </a:solidFill>
                      <a:prstDash val="solid"/>
                      <a:round/>
                      <a:headEnd type="none" w="med" len="med"/>
                      <a:tailEnd type="none" w="med" len="med"/>
                    </a:lnR>
                    <a:lnT w="6350" cap="flat" cmpd="sng" algn="ctr">
                      <a:solidFill>
                        <a:srgbClr val="D5DEE7"/>
                      </a:solidFill>
                      <a:prstDash val="solid"/>
                      <a:round/>
                      <a:headEnd type="none" w="med" len="med"/>
                      <a:tailEnd type="none" w="med" len="med"/>
                    </a:lnT>
                    <a:lnB w="6350" cap="flat" cmpd="sng" algn="ctr">
                      <a:solidFill>
                        <a:srgbClr val="D5DEE7"/>
                      </a:solidFill>
                      <a:prstDash val="solid"/>
                      <a:round/>
                      <a:headEnd type="none" w="med" len="med"/>
                      <a:tailEnd type="none" w="med" len="med"/>
                    </a:lnB>
                    <a:solidFill>
                      <a:schemeClr val="bg2"/>
                    </a:solidFill>
                  </a:tcPr>
                </a:tc>
              </a:tr>
              <a:tr h="512064">
                <a:tc>
                  <a:txBody>
                    <a:bodyPr/>
                    <a:lstStyle/>
                    <a:p>
                      <a:pPr indent="0" marL="0">
                        <a:buNone/>
                      </a:pPr>
                      <a:r>
                        <a:rPr lang="en-US" sz="1300" dirty="0">
                          <a:solidFill>
                            <a:schemeClr val="tx1"/>
                          </a:solidFill>
                          <a:latin typeface="Calibri" pitchFamily="34" charset="0"/>
                          <a:ea typeface="Calibri" pitchFamily="34" charset="-122"/>
                          <a:cs typeface="Calibri" pitchFamily="34" charset="-120"/>
                        </a:rPr>
                        <a:t>LED RGB à anode commune</a:t>
                      </a:r>
                      <a:endParaRPr lang="en-US" sz="1300" dirty="0">
                        <a:latin typeface="Calibri" charset="0"/>
                        <a:ea typeface="Calibri" charset="0"/>
                        <a:cs typeface="Calibri" charset="0"/>
                      </a:endParaRPr>
                    </a:p>
                  </a:txBody>
                  <a:tcPr marL="91440" marR="91440" marT="27432" marB="27432" anchor="ctr">
                    <a:lnL w="6350" cap="flat" cmpd="sng" algn="ctr">
                      <a:solidFill>
                        <a:srgbClr val="D5DEE7"/>
                      </a:solidFill>
                      <a:prstDash val="solid"/>
                      <a:round/>
                      <a:headEnd type="none" w="med" len="med"/>
                      <a:tailEnd type="none" w="med" len="med"/>
                    </a:lnL>
                    <a:lnR w="6350" cap="flat" cmpd="sng" algn="ctr">
                      <a:solidFill>
                        <a:srgbClr val="D5DEE7"/>
                      </a:solidFill>
                      <a:prstDash val="solid"/>
                      <a:round/>
                      <a:headEnd type="none" w="med" len="med"/>
                      <a:tailEnd type="none" w="med" len="med"/>
                    </a:lnR>
                    <a:lnT w="6350" cap="flat" cmpd="sng" algn="ctr">
                      <a:solidFill>
                        <a:srgbClr val="D5DEE7"/>
                      </a:solidFill>
                      <a:prstDash val="solid"/>
                      <a:round/>
                      <a:headEnd type="none" w="med" len="med"/>
                      <a:tailEnd type="none" w="med" len="med"/>
                    </a:lnT>
                    <a:lnB w="6350" cap="flat" cmpd="sng" algn="ctr">
                      <a:solidFill>
                        <a:srgbClr val="D5DEE7"/>
                      </a:solidFill>
                      <a:prstDash val="solid"/>
                      <a:round/>
                      <a:headEnd type="none" w="med" len="med"/>
                      <a:tailEnd type="none" w="med" len="med"/>
                    </a:lnB>
                    <a:solidFill>
                      <a:schemeClr val="bg1"/>
                    </a:solidFill>
                  </a:tcPr>
                </a:tc>
                <a:tc>
                  <a:txBody>
                    <a:bodyPr/>
                    <a:lstStyle/>
                    <a:p>
                      <a:pPr indent="0" marL="0">
                        <a:buNone/>
                      </a:pPr>
                      <a:r>
                        <a:rPr lang="en-US" sz="1300" b="1" dirty="0">
                          <a:solidFill>
                            <a:schemeClr val="accent1"/>
                          </a:solidFill>
                          <a:latin typeface="Calibri" pitchFamily="34" charset="0"/>
                          <a:ea typeface="Calibri" pitchFamily="34" charset="-122"/>
                          <a:cs typeface="Calibri" pitchFamily="34" charset="-120"/>
                        </a:rPr>
                        <a:t>Logique de commande inversée</a:t>
                      </a:r>
                      <a:endParaRPr lang="en-US" sz="1300" dirty="0">
                        <a:latin typeface="Calibri" charset="0"/>
                        <a:ea typeface="Calibri" charset="0"/>
                        <a:cs typeface="Calibri" charset="0"/>
                      </a:endParaRPr>
                    </a:p>
                  </a:txBody>
                  <a:tcPr marL="91440" marR="91440" marT="27432" marB="27432" anchor="ctr">
                    <a:lnL w="6350" cap="flat" cmpd="sng" algn="ctr">
                      <a:solidFill>
                        <a:srgbClr val="D5DEE7"/>
                      </a:solidFill>
                      <a:prstDash val="solid"/>
                      <a:round/>
                      <a:headEnd type="none" w="med" len="med"/>
                      <a:tailEnd type="none" w="med" len="med"/>
                    </a:lnL>
                    <a:lnR w="6350" cap="flat" cmpd="sng" algn="ctr">
                      <a:solidFill>
                        <a:srgbClr val="D5DEE7"/>
                      </a:solidFill>
                      <a:prstDash val="solid"/>
                      <a:round/>
                      <a:headEnd type="none" w="med" len="med"/>
                      <a:tailEnd type="none" w="med" len="med"/>
                    </a:lnR>
                    <a:lnT w="6350" cap="flat" cmpd="sng" algn="ctr">
                      <a:solidFill>
                        <a:srgbClr val="D5DEE7"/>
                      </a:solidFill>
                      <a:prstDash val="solid"/>
                      <a:round/>
                      <a:headEnd type="none" w="med" len="med"/>
                      <a:tailEnd type="none" w="med" len="med"/>
                    </a:lnT>
                    <a:lnB w="6350" cap="flat" cmpd="sng" algn="ctr">
                      <a:solidFill>
                        <a:srgbClr val="D5DEE7"/>
                      </a:solidFill>
                      <a:prstDash val="solid"/>
                      <a:round/>
                      <a:headEnd type="none" w="med" len="med"/>
                      <a:tailEnd type="none" w="med" len="med"/>
                    </a:lnB>
                    <a:solidFill>
                      <a:schemeClr val="bg1"/>
                    </a:solidFill>
                  </a:tcPr>
                </a:tc>
              </a:tr>
              <a:tr h="512064">
                <a:tc>
                  <a:txBody>
                    <a:bodyPr/>
                    <a:lstStyle/>
                    <a:p>
                      <a:pPr indent="0" marL="0">
                        <a:buNone/>
                      </a:pPr>
                      <a:r>
                        <a:rPr lang="en-US" sz="1300" dirty="0">
                          <a:solidFill>
                            <a:schemeClr val="tx1"/>
                          </a:solidFill>
                          <a:latin typeface="Calibri" pitchFamily="34" charset="0"/>
                          <a:ea typeface="Calibri" pitchFamily="34" charset="-122"/>
                          <a:cs typeface="Calibri" pitchFamily="34" charset="-120"/>
                        </a:rPr>
                        <a:t>PA5 partagée : LED LD2 et horloge SPI de la SD</a:t>
                      </a:r>
                      <a:endParaRPr lang="en-US" sz="1300" dirty="0">
                        <a:latin typeface="Calibri" charset="0"/>
                        <a:ea typeface="Calibri" charset="0"/>
                        <a:cs typeface="Calibri" charset="0"/>
                      </a:endParaRPr>
                    </a:p>
                  </a:txBody>
                  <a:tcPr marL="91440" marR="91440" marT="27432" marB="27432" anchor="ctr">
                    <a:lnL w="6350" cap="flat" cmpd="sng" algn="ctr">
                      <a:solidFill>
                        <a:srgbClr val="D5DEE7"/>
                      </a:solidFill>
                      <a:prstDash val="solid"/>
                      <a:round/>
                      <a:headEnd type="none" w="med" len="med"/>
                      <a:tailEnd type="none" w="med" len="med"/>
                    </a:lnL>
                    <a:lnR w="6350" cap="flat" cmpd="sng" algn="ctr">
                      <a:solidFill>
                        <a:srgbClr val="D5DEE7"/>
                      </a:solidFill>
                      <a:prstDash val="solid"/>
                      <a:round/>
                      <a:headEnd type="none" w="med" len="med"/>
                      <a:tailEnd type="none" w="med" len="med"/>
                    </a:lnR>
                    <a:lnT w="6350" cap="flat" cmpd="sng" algn="ctr">
                      <a:solidFill>
                        <a:srgbClr val="D5DEE7"/>
                      </a:solidFill>
                      <a:prstDash val="solid"/>
                      <a:round/>
                      <a:headEnd type="none" w="med" len="med"/>
                      <a:tailEnd type="none" w="med" len="med"/>
                    </a:lnT>
                    <a:lnB w="6350" cap="flat" cmpd="sng" algn="ctr">
                      <a:solidFill>
                        <a:srgbClr val="D5DEE7"/>
                      </a:solidFill>
                      <a:prstDash val="solid"/>
                      <a:round/>
                      <a:headEnd type="none" w="med" len="med"/>
                      <a:tailEnd type="none" w="med" len="med"/>
                    </a:lnB>
                    <a:solidFill>
                      <a:schemeClr val="bg2"/>
                    </a:solidFill>
                  </a:tcPr>
                </a:tc>
                <a:tc>
                  <a:txBody>
                    <a:bodyPr/>
                    <a:lstStyle/>
                    <a:p>
                      <a:pPr indent="0" marL="0">
                        <a:buNone/>
                      </a:pPr>
                      <a:r>
                        <a:rPr lang="en-US" sz="1300" b="1" dirty="0">
                          <a:solidFill>
                            <a:schemeClr val="accent1"/>
                          </a:solidFill>
                          <a:latin typeface="Calibri" pitchFamily="34" charset="0"/>
                          <a:ea typeface="Calibri" pitchFamily="34" charset="-122"/>
                          <a:cs typeface="Calibri" pitchFamily="34" charset="-120"/>
                        </a:rPr>
                        <a:t>LD2 abandonnée, broche rendue au SPI1</a:t>
                      </a:r>
                      <a:endParaRPr lang="en-US" sz="1300" dirty="0">
                        <a:latin typeface="Calibri" charset="0"/>
                        <a:ea typeface="Calibri" charset="0"/>
                        <a:cs typeface="Calibri" charset="0"/>
                      </a:endParaRPr>
                    </a:p>
                  </a:txBody>
                  <a:tcPr marL="91440" marR="91440" marT="27432" marB="27432" anchor="ctr">
                    <a:lnL w="6350" cap="flat" cmpd="sng" algn="ctr">
                      <a:solidFill>
                        <a:srgbClr val="D5DEE7"/>
                      </a:solidFill>
                      <a:prstDash val="solid"/>
                      <a:round/>
                      <a:headEnd type="none" w="med" len="med"/>
                      <a:tailEnd type="none" w="med" len="med"/>
                    </a:lnL>
                    <a:lnR w="6350" cap="flat" cmpd="sng" algn="ctr">
                      <a:solidFill>
                        <a:srgbClr val="D5DEE7"/>
                      </a:solidFill>
                      <a:prstDash val="solid"/>
                      <a:round/>
                      <a:headEnd type="none" w="med" len="med"/>
                      <a:tailEnd type="none" w="med" len="med"/>
                    </a:lnR>
                    <a:lnT w="6350" cap="flat" cmpd="sng" algn="ctr">
                      <a:solidFill>
                        <a:srgbClr val="D5DEE7"/>
                      </a:solidFill>
                      <a:prstDash val="solid"/>
                      <a:round/>
                      <a:headEnd type="none" w="med" len="med"/>
                      <a:tailEnd type="none" w="med" len="med"/>
                    </a:lnT>
                    <a:lnB w="6350" cap="flat" cmpd="sng" algn="ctr">
                      <a:solidFill>
                        <a:srgbClr val="D5DEE7"/>
                      </a:solidFill>
                      <a:prstDash val="solid"/>
                      <a:round/>
                      <a:headEnd type="none" w="med" len="med"/>
                      <a:tailEnd type="none" w="med" len="med"/>
                    </a:lnB>
                    <a:solidFill>
                      <a:schemeClr val="bg2"/>
                    </a:solidFill>
                  </a:tcPr>
                </a:tc>
              </a:tr>
              <a:tr h="512064">
                <a:tc>
                  <a:txBody>
                    <a:bodyPr/>
                    <a:lstStyle/>
                    <a:p>
                      <a:pPr indent="0" marL="0">
                        <a:buNone/>
                      </a:pPr>
                      <a:r>
                        <a:rPr lang="en-US" sz="1300" dirty="0">
                          <a:solidFill>
                            <a:schemeClr val="tx1"/>
                          </a:solidFill>
                          <a:latin typeface="Calibri" pitchFamily="34" charset="0"/>
                          <a:ea typeface="Calibri" pitchFamily="34" charset="-122"/>
                          <a:cs typeface="Calibri" pitchFamily="34" charset="-120"/>
                        </a:rPr>
                        <a:t>Octets I2C perdus vers l'écran LCD</a:t>
                      </a:r>
                      <a:endParaRPr lang="en-US" sz="1300" dirty="0">
                        <a:latin typeface="Calibri" charset="0"/>
                        <a:ea typeface="Calibri" charset="0"/>
                        <a:cs typeface="Calibri" charset="0"/>
                      </a:endParaRPr>
                    </a:p>
                  </a:txBody>
                  <a:tcPr marL="91440" marR="91440" marT="27432" marB="27432" anchor="ctr">
                    <a:lnL w="6350" cap="flat" cmpd="sng" algn="ctr">
                      <a:solidFill>
                        <a:srgbClr val="D5DEE7"/>
                      </a:solidFill>
                      <a:prstDash val="solid"/>
                      <a:round/>
                      <a:headEnd type="none" w="med" len="med"/>
                      <a:tailEnd type="none" w="med" len="med"/>
                    </a:lnL>
                    <a:lnR w="6350" cap="flat" cmpd="sng" algn="ctr">
                      <a:solidFill>
                        <a:srgbClr val="D5DEE7"/>
                      </a:solidFill>
                      <a:prstDash val="solid"/>
                      <a:round/>
                      <a:headEnd type="none" w="med" len="med"/>
                      <a:tailEnd type="none" w="med" len="med"/>
                    </a:lnR>
                    <a:lnT w="6350" cap="flat" cmpd="sng" algn="ctr">
                      <a:solidFill>
                        <a:srgbClr val="D5DEE7"/>
                      </a:solidFill>
                      <a:prstDash val="solid"/>
                      <a:round/>
                      <a:headEnd type="none" w="med" len="med"/>
                      <a:tailEnd type="none" w="med" len="med"/>
                    </a:lnT>
                    <a:lnB w="6350" cap="flat" cmpd="sng" algn="ctr">
                      <a:solidFill>
                        <a:srgbClr val="D5DEE7"/>
                      </a:solidFill>
                      <a:prstDash val="solid"/>
                      <a:round/>
                      <a:headEnd type="none" w="med" len="med"/>
                      <a:tailEnd type="none" w="med" len="med"/>
                    </a:lnB>
                    <a:solidFill>
                      <a:schemeClr val="bg1"/>
                    </a:solidFill>
                  </a:tcPr>
                </a:tc>
                <a:tc>
                  <a:txBody>
                    <a:bodyPr/>
                    <a:lstStyle/>
                    <a:p>
                      <a:pPr indent="0" marL="0">
                        <a:buNone/>
                      </a:pPr>
                      <a:r>
                        <a:rPr lang="en-US" sz="1300" b="1" dirty="0">
                          <a:solidFill>
                            <a:schemeClr val="accent1"/>
                          </a:solidFill>
                          <a:latin typeface="Calibri" pitchFamily="34" charset="0"/>
                          <a:ea typeface="Calibri" pitchFamily="34" charset="-122"/>
                          <a:cs typeface="Calibri" pitchFamily="34" charset="-120"/>
                        </a:rPr>
                        <a:t>Resynchronisation et réinitialisation automatiques</a:t>
                      </a:r>
                      <a:endParaRPr lang="en-US" sz="1300" dirty="0">
                        <a:latin typeface="Calibri" charset="0"/>
                        <a:ea typeface="Calibri" charset="0"/>
                        <a:cs typeface="Calibri" charset="0"/>
                      </a:endParaRPr>
                    </a:p>
                  </a:txBody>
                  <a:tcPr marL="91440" marR="91440" marT="27432" marB="27432" anchor="ctr">
                    <a:lnL w="6350" cap="flat" cmpd="sng" algn="ctr">
                      <a:solidFill>
                        <a:srgbClr val="D5DEE7"/>
                      </a:solidFill>
                      <a:prstDash val="solid"/>
                      <a:round/>
                      <a:headEnd type="none" w="med" len="med"/>
                      <a:tailEnd type="none" w="med" len="med"/>
                    </a:lnL>
                    <a:lnR w="6350" cap="flat" cmpd="sng" algn="ctr">
                      <a:solidFill>
                        <a:srgbClr val="D5DEE7"/>
                      </a:solidFill>
                      <a:prstDash val="solid"/>
                      <a:round/>
                      <a:headEnd type="none" w="med" len="med"/>
                      <a:tailEnd type="none" w="med" len="med"/>
                    </a:lnR>
                    <a:lnT w="6350" cap="flat" cmpd="sng" algn="ctr">
                      <a:solidFill>
                        <a:srgbClr val="D5DEE7"/>
                      </a:solidFill>
                      <a:prstDash val="solid"/>
                      <a:round/>
                      <a:headEnd type="none" w="med" len="med"/>
                      <a:tailEnd type="none" w="med" len="med"/>
                    </a:lnT>
                    <a:lnB w="6350" cap="flat" cmpd="sng" algn="ctr">
                      <a:solidFill>
                        <a:srgbClr val="D5DEE7"/>
                      </a:solidFill>
                      <a:prstDash val="solid"/>
                      <a:round/>
                      <a:headEnd type="none" w="med" len="med"/>
                      <a:tailEnd type="none" w="med" len="med"/>
                    </a:lnB>
                    <a:solidFill>
                      <a:schemeClr val="bg1"/>
                    </a:solidFill>
                  </a:tcPr>
                </a:tc>
              </a:tr>
            </a:tbl>
          </a:graphicData>
        </a:graphic>
      </p:graphicFrame>
      <p:sp>
        <p:nvSpPr>
          <p:cNvPr id="15" name="Shape 12"/>
          <p:cNvSpPr/>
          <p:nvPr/>
        </p:nvSpPr>
        <p:spPr>
          <a:xfrm>
            <a:off x="548640" y="5166360"/>
            <a:ext cx="3575304" cy="1051560"/>
          </a:xfrm>
          <a:prstGeom prst="roundRect">
            <a:avLst>
              <a:gd name="adj" fmla="val 6957"/>
            </a:avLst>
          </a:prstGeom>
          <a:solidFill>
            <a:schemeClr val="bg2"/>
          </a:solidFill>
          <a:ln/>
        </p:spPr>
      </p:sp>
      <p:sp>
        <p:nvSpPr>
          <p:cNvPr id="16" name="Text 13"/>
          <p:cNvSpPr txBox="1"/>
          <p:nvPr/>
        </p:nvSpPr>
        <p:spPr>
          <a:xfrm>
            <a:off x="731520" y="5230368"/>
            <a:ext cx="1554480" cy="896112"/>
          </a:xfrm>
          <a:prstGeom prst="rect">
            <a:avLst/>
          </a:prstGeom>
          <a:noFill/>
          <a:ln/>
        </p:spPr>
        <p:txBody>
          <a:bodyPr wrap="square" lIns="0" tIns="0" rIns="0" bIns="0" rtlCol="0" anchor="ctr"/>
          <a:lstStyle/>
          <a:p>
            <a:pPr indent="0" marL="0">
              <a:buNone/>
            </a:pPr>
            <a:r>
              <a:rPr lang="en-US" sz="2800" b="1" dirty="0">
                <a:solidFill>
                  <a:schemeClr val="accent1"/>
                </a:solidFill>
              </a:rPr>
              <a:t>OK</a:t>
            </a:r>
            <a:endParaRPr lang="en-US" sz="2800" dirty="0"/>
          </a:p>
        </p:txBody>
      </p:sp>
      <p:sp>
        <p:nvSpPr>
          <p:cNvPr id="17" name="Text 14"/>
          <p:cNvSpPr txBox="1"/>
          <p:nvPr/>
        </p:nvSpPr>
        <p:spPr>
          <a:xfrm>
            <a:off x="2286000" y="5230368"/>
            <a:ext cx="1737360" cy="896112"/>
          </a:xfrm>
          <a:prstGeom prst="rect">
            <a:avLst/>
          </a:prstGeom>
          <a:noFill/>
          <a:ln/>
        </p:spPr>
        <p:txBody>
          <a:bodyPr wrap="square" lIns="0" tIns="0" rIns="0" bIns="0" rtlCol="0" anchor="ctr"/>
          <a:lstStyle/>
          <a:p>
            <a:pPr indent="0" marL="0">
              <a:buNone/>
            </a:pPr>
            <a:r>
              <a:rPr lang="en-US" sz="1250" dirty="0">
                <a:solidFill>
                  <a:schemeClr val="tx1"/>
                </a:solidFill>
              </a:rPr>
              <a:t>Compilation sans erreur (23/10/2026)</a:t>
            </a:r>
            <a:endParaRPr lang="en-US" sz="1250" dirty="0"/>
          </a:p>
        </p:txBody>
      </p:sp>
      <p:sp>
        <p:nvSpPr>
          <p:cNvPr id="18" name="Shape 15"/>
          <p:cNvSpPr/>
          <p:nvPr/>
        </p:nvSpPr>
        <p:spPr>
          <a:xfrm>
            <a:off x="4306824" y="5166360"/>
            <a:ext cx="3575304" cy="1051560"/>
          </a:xfrm>
          <a:prstGeom prst="roundRect">
            <a:avLst>
              <a:gd name="adj" fmla="val 6957"/>
            </a:avLst>
          </a:prstGeom>
          <a:solidFill>
            <a:schemeClr val="bg2"/>
          </a:solidFill>
          <a:ln/>
        </p:spPr>
      </p:sp>
      <p:sp>
        <p:nvSpPr>
          <p:cNvPr id="19" name="Text 16"/>
          <p:cNvSpPr txBox="1"/>
          <p:nvPr/>
        </p:nvSpPr>
        <p:spPr>
          <a:xfrm>
            <a:off x="4489704" y="5230368"/>
            <a:ext cx="1554480" cy="896112"/>
          </a:xfrm>
          <a:prstGeom prst="rect">
            <a:avLst/>
          </a:prstGeom>
          <a:noFill/>
          <a:ln/>
        </p:spPr>
        <p:txBody>
          <a:bodyPr wrap="square" lIns="0" tIns="0" rIns="0" bIns="0" rtlCol="0" anchor="ctr"/>
          <a:lstStyle/>
          <a:p>
            <a:pPr indent="0" marL="0">
              <a:buNone/>
            </a:pPr>
            <a:r>
              <a:rPr lang="en-US" sz="2400" b="1" dirty="0">
                <a:solidFill>
                  <a:schemeClr val="accent1"/>
                </a:solidFill>
              </a:rPr>
              <a:t>73 336 o</a:t>
            </a:r>
            <a:endParaRPr lang="en-US" sz="2400" dirty="0"/>
          </a:p>
        </p:txBody>
      </p:sp>
      <p:sp>
        <p:nvSpPr>
          <p:cNvPr id="20" name="Text 17"/>
          <p:cNvSpPr txBox="1"/>
          <p:nvPr/>
        </p:nvSpPr>
        <p:spPr>
          <a:xfrm>
            <a:off x="6044184" y="5230368"/>
            <a:ext cx="1737360" cy="896112"/>
          </a:xfrm>
          <a:prstGeom prst="rect">
            <a:avLst/>
          </a:prstGeom>
          <a:noFill/>
          <a:ln/>
        </p:spPr>
        <p:txBody>
          <a:bodyPr wrap="square" lIns="0" tIns="0" rIns="0" bIns="0" rtlCol="0" anchor="ctr"/>
          <a:lstStyle/>
          <a:p>
            <a:pPr indent="0" marL="0">
              <a:buNone/>
            </a:pPr>
            <a:r>
              <a:rPr lang="en-US" sz="1250" dirty="0">
                <a:solidFill>
                  <a:schemeClr val="tx1"/>
                </a:solidFill>
              </a:rPr>
              <a:t>Flash occupée : 7 % de 1 Mo (build Debug)</a:t>
            </a:r>
            <a:endParaRPr lang="en-US" sz="1250" dirty="0"/>
          </a:p>
        </p:txBody>
      </p:sp>
      <p:sp>
        <p:nvSpPr>
          <p:cNvPr id="21" name="Shape 18"/>
          <p:cNvSpPr/>
          <p:nvPr/>
        </p:nvSpPr>
        <p:spPr>
          <a:xfrm>
            <a:off x="8065008" y="5166360"/>
            <a:ext cx="3575304" cy="1051560"/>
          </a:xfrm>
          <a:prstGeom prst="roundRect">
            <a:avLst>
              <a:gd name="adj" fmla="val 6957"/>
            </a:avLst>
          </a:prstGeom>
          <a:solidFill>
            <a:schemeClr val="bg2"/>
          </a:solidFill>
          <a:ln/>
        </p:spPr>
      </p:sp>
      <p:sp>
        <p:nvSpPr>
          <p:cNvPr id="22" name="Text 19"/>
          <p:cNvSpPr txBox="1"/>
          <p:nvPr/>
        </p:nvSpPr>
        <p:spPr>
          <a:xfrm>
            <a:off x="8247888" y="5230368"/>
            <a:ext cx="1554480" cy="896112"/>
          </a:xfrm>
          <a:prstGeom prst="rect">
            <a:avLst/>
          </a:prstGeom>
          <a:noFill/>
          <a:ln/>
        </p:spPr>
        <p:txBody>
          <a:bodyPr wrap="square" lIns="0" tIns="0" rIns="0" bIns="0" rtlCol="0" anchor="ctr"/>
          <a:lstStyle/>
          <a:p>
            <a:pPr indent="0" marL="0">
              <a:buNone/>
            </a:pPr>
            <a:r>
              <a:rPr lang="en-US" sz="2400" b="1" dirty="0">
                <a:solidFill>
                  <a:schemeClr val="accent1"/>
                </a:solidFill>
              </a:rPr>
              <a:t>4 936 o</a:t>
            </a:r>
            <a:endParaRPr lang="en-US" sz="2400" dirty="0"/>
          </a:p>
        </p:txBody>
      </p:sp>
      <p:sp>
        <p:nvSpPr>
          <p:cNvPr id="23" name="Text 20"/>
          <p:cNvSpPr txBox="1"/>
          <p:nvPr/>
        </p:nvSpPr>
        <p:spPr>
          <a:xfrm>
            <a:off x="9802368" y="5230368"/>
            <a:ext cx="1737360" cy="896112"/>
          </a:xfrm>
          <a:prstGeom prst="rect">
            <a:avLst/>
          </a:prstGeom>
          <a:noFill/>
          <a:ln/>
        </p:spPr>
        <p:txBody>
          <a:bodyPr wrap="square" lIns="0" tIns="0" rIns="0" bIns="0" rtlCol="0" anchor="ctr"/>
          <a:lstStyle/>
          <a:p>
            <a:pPr indent="0" marL="0">
              <a:buNone/>
            </a:pPr>
            <a:r>
              <a:rPr lang="en-US" sz="1250" dirty="0">
                <a:solidFill>
                  <a:schemeClr val="tx1"/>
                </a:solidFill>
              </a:rPr>
              <a:t>RAM occupée : 5 % de 96 Ko (build Debug)</a:t>
            </a:r>
            <a:endParaRPr lang="en-US" sz="1250" dirty="0"/>
          </a:p>
        </p:txBody>
      </p:sp>
      <p:sp>
        <p:nvSpPr>
          <p:cNvPr id="25" name="Slide Number Placeholder 0"/>
          <p:cNvSpPr>
            <a:spLocks noGrp="1"/>
          </p:cNvSpPr>
          <p:nvPr>
            <p:ph type="sldNum" sz="quarter" idx="4294967295"/>
          </p:nvPr>
        </p:nvSpPr>
        <p:spPr>
          <a:xfrm>
            <a:off x="11091672" y="6455664"/>
            <a:ext cx="548640" cy="237744"/>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6"/>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9144000" cy="274320"/>
          </a:xfrm>
          <a:prstGeom prst="rect">
            <a:avLst/>
          </a:prstGeom>
          <a:noFill/>
          <a:ln/>
        </p:spPr>
        <p:txBody>
          <a:bodyPr wrap="square" lIns="0" tIns="0" rIns="0" bIns="0" rtlCol="0" anchor="t"/>
          <a:lstStyle/>
          <a:p>
            <a:pPr indent="0" marL="0">
              <a:buNone/>
            </a:pPr>
            <a:r>
              <a:rPr lang="en-US" sz="1200" b="1" spc="150" kern="0" dirty="0">
                <a:solidFill>
                  <a:schemeClr val="accent1"/>
                </a:solidFill>
              </a:rPr>
              <a:t>05 · DÉMONSTRATION ET CONCLUSION</a:t>
            </a:r>
            <a:endParaRPr lang="en-US" sz="1200" dirty="0"/>
          </a:p>
        </p:txBody>
      </p:sp>
      <p:sp>
        <p:nvSpPr>
          <p:cNvPr id="3" name="Text 0"/>
          <p:cNvSpPr/>
          <p:nvPr>
            <p:ph idx="101" type="title" hasCustomPrompt="1"/>
          </p:nvPr>
        </p:nvSpPr>
        <p:spPr>
          <a:xfrm>
            <a:off x="548640" y="621792"/>
            <a:ext cx="11091672" cy="640080"/>
          </a:xfrm>
          <a:prstGeom prst="rect">
            <a:avLst/>
          </a:prstGeom>
          <a:noFill/>
          <a:ln/>
        </p:spPr>
        <p:txBody>
          <a:bodyPr wrap="square" lIns="0" tIns="0" rIns="0" bIns="0" rtlCol="0" anchor="t"/>
          <a:lstStyle/>
          <a:p>
            <a:pPr algn="l" indent="0" marL="0">
              <a:buNone/>
            </a:pPr>
            <a:r>
              <a:rPr lang="en-US" sz="3000" b="1" dirty="0">
                <a:solidFill>
                  <a:schemeClr val="tx2"/>
                </a:solidFill>
              </a:rPr>
              <a:t>Démonstration : le scénario</a:t>
            </a:r>
            <a:endParaRPr lang="en-US" sz="3000" dirty="0"/>
          </a:p>
        </p:txBody>
      </p:sp>
      <p:sp>
        <p:nvSpPr>
          <p:cNvPr id="4" name="Shape 2"/>
          <p:cNvSpPr/>
          <p:nvPr/>
        </p:nvSpPr>
        <p:spPr>
          <a:xfrm>
            <a:off x="1325880" y="2560320"/>
            <a:ext cx="9537192" cy="0"/>
          </a:xfrm>
          <a:prstGeom prst="line">
            <a:avLst/>
          </a:prstGeom>
          <a:noFill/>
          <a:ln w="25400">
            <a:solidFill>
              <a:srgbClr val="B8C5D2"/>
            </a:solidFill>
            <a:prstDash val="solid"/>
          </a:ln>
        </p:spPr>
      </p:sp>
      <p:sp>
        <p:nvSpPr>
          <p:cNvPr id="5" name="Text 3"/>
          <p:cNvSpPr txBox="1"/>
          <p:nvPr/>
        </p:nvSpPr>
        <p:spPr>
          <a:xfrm>
            <a:off x="594360" y="1737360"/>
            <a:ext cx="1463040" cy="256032"/>
          </a:xfrm>
          <a:prstGeom prst="rect">
            <a:avLst/>
          </a:prstGeom>
          <a:noFill/>
          <a:ln/>
        </p:spPr>
        <p:txBody>
          <a:bodyPr wrap="square" lIns="0" tIns="0" rIns="0" bIns="0" rtlCol="0" anchor="t"/>
          <a:lstStyle/>
          <a:p>
            <a:pPr algn="ctr" indent="0" marL="0">
              <a:buNone/>
            </a:pPr>
            <a:r>
              <a:rPr lang="en-US" sz="1250" b="1" dirty="0">
                <a:solidFill>
                  <a:schemeClr val="accent6"/>
                </a:solidFill>
              </a:rPr>
              <a:t>2 min</a:t>
            </a:r>
            <a:endParaRPr lang="en-US" sz="1250" dirty="0"/>
          </a:p>
        </p:txBody>
      </p:sp>
      <p:sp>
        <p:nvSpPr>
          <p:cNvPr id="6" name="Text 4"/>
          <p:cNvSpPr/>
          <p:nvPr/>
        </p:nvSpPr>
        <p:spPr>
          <a:xfrm>
            <a:off x="1042416" y="2276856"/>
            <a:ext cx="566928" cy="566928"/>
          </a:xfrm>
          <a:prstGeom prst="ellipse">
            <a:avLst/>
          </a:prstGeom>
          <a:solidFill>
            <a:schemeClr val="accent1"/>
          </a:solidFill>
          <a:ln/>
        </p:spPr>
        <p:txBody>
          <a:bodyPr wrap="square" lIns="0" tIns="0" rIns="0" bIns="0" rtlCol="0" anchor="ctr"/>
          <a:lstStyle/>
          <a:p>
            <a:pPr algn="ctr" indent="0" marL="0">
              <a:buNone/>
            </a:pPr>
            <a:r>
              <a:rPr lang="en-US" sz="1800" b="1" dirty="0">
                <a:solidFill>
                  <a:schemeClr val="bg1"/>
                </a:solidFill>
              </a:rPr>
              <a:t>1</a:t>
            </a:r>
            <a:endParaRPr lang="en-US" sz="1800" dirty="0"/>
          </a:p>
        </p:txBody>
      </p:sp>
      <p:sp>
        <p:nvSpPr>
          <p:cNvPr id="7" name="Text 5"/>
          <p:cNvSpPr txBox="1"/>
          <p:nvPr/>
        </p:nvSpPr>
        <p:spPr>
          <a:xfrm>
            <a:off x="576072" y="3017520"/>
            <a:ext cx="1499616" cy="502920"/>
          </a:xfrm>
          <a:prstGeom prst="rect">
            <a:avLst/>
          </a:prstGeom>
          <a:noFill/>
          <a:ln/>
        </p:spPr>
        <p:txBody>
          <a:bodyPr wrap="square" lIns="0" tIns="0" rIns="0" bIns="0" rtlCol="0" anchor="t"/>
          <a:lstStyle/>
          <a:p>
            <a:pPr algn="ctr" indent="0" marL="0">
              <a:buNone/>
            </a:pPr>
            <a:r>
              <a:rPr lang="en-US" sz="1400" b="1" dirty="0">
                <a:solidFill>
                  <a:schemeClr val="tx2"/>
                </a:solidFill>
              </a:rPr>
              <a:t>Script</a:t>
            </a:r>
            <a:endParaRPr lang="en-US" sz="1400" dirty="0"/>
          </a:p>
        </p:txBody>
      </p:sp>
      <p:sp>
        <p:nvSpPr>
          <p:cNvPr id="8" name="Text 6"/>
          <p:cNvSpPr txBox="1"/>
          <p:nvPr/>
        </p:nvSpPr>
        <p:spPr>
          <a:xfrm>
            <a:off x="576072" y="3520440"/>
            <a:ext cx="1499616" cy="1371600"/>
          </a:xfrm>
          <a:prstGeom prst="rect">
            <a:avLst/>
          </a:prstGeom>
          <a:noFill/>
          <a:ln/>
        </p:spPr>
        <p:txBody>
          <a:bodyPr wrap="square" lIns="0" tIns="0" rIns="0" bIns="0" rtlCol="0" anchor="t"/>
          <a:lstStyle/>
          <a:p>
            <a:pPr algn="ctr" indent="0" marL="0">
              <a:buNone/>
            </a:pPr>
            <a:r>
              <a:rPr lang="en-US" sz="1300" dirty="0">
                <a:solidFill>
                  <a:schemeClr val="tx1"/>
                </a:solidFill>
              </a:rPr>
              <a:t>Compilation puis téléversement en une commande</a:t>
            </a:r>
            <a:endParaRPr lang="en-US" sz="1300" dirty="0"/>
          </a:p>
        </p:txBody>
      </p:sp>
      <p:sp>
        <p:nvSpPr>
          <p:cNvPr id="9" name="Text 7"/>
          <p:cNvSpPr txBox="1"/>
          <p:nvPr/>
        </p:nvSpPr>
        <p:spPr>
          <a:xfrm>
            <a:off x="2183892" y="1737360"/>
            <a:ext cx="1463040" cy="256032"/>
          </a:xfrm>
          <a:prstGeom prst="rect">
            <a:avLst/>
          </a:prstGeom>
          <a:noFill/>
          <a:ln/>
        </p:spPr>
        <p:txBody>
          <a:bodyPr wrap="square" lIns="0" tIns="0" rIns="0" bIns="0" rtlCol="0" anchor="t"/>
          <a:lstStyle/>
          <a:p>
            <a:pPr algn="ctr" indent="0" marL="0">
              <a:buNone/>
            </a:pPr>
            <a:r>
              <a:rPr lang="en-US" sz="1250" b="1" dirty="0">
                <a:solidFill>
                  <a:schemeClr val="accent6"/>
                </a:solidFill>
              </a:rPr>
              <a:t>3 min</a:t>
            </a:r>
            <a:endParaRPr lang="en-US" sz="1250" dirty="0"/>
          </a:p>
        </p:txBody>
      </p:sp>
      <p:sp>
        <p:nvSpPr>
          <p:cNvPr id="10" name="Text 8"/>
          <p:cNvSpPr/>
          <p:nvPr/>
        </p:nvSpPr>
        <p:spPr>
          <a:xfrm>
            <a:off x="2631948" y="2276856"/>
            <a:ext cx="566928" cy="566928"/>
          </a:xfrm>
          <a:prstGeom prst="ellipse">
            <a:avLst/>
          </a:prstGeom>
          <a:solidFill>
            <a:schemeClr val="accent1"/>
          </a:solidFill>
          <a:ln/>
        </p:spPr>
        <p:txBody>
          <a:bodyPr wrap="square" lIns="0" tIns="0" rIns="0" bIns="0" rtlCol="0" anchor="ctr"/>
          <a:lstStyle/>
          <a:p>
            <a:pPr algn="ctr" indent="0" marL="0">
              <a:buNone/>
            </a:pPr>
            <a:r>
              <a:rPr lang="en-US" sz="1800" b="1" dirty="0">
                <a:solidFill>
                  <a:schemeClr val="bg1"/>
                </a:solidFill>
              </a:rPr>
              <a:t>2</a:t>
            </a:r>
            <a:endParaRPr lang="en-US" sz="1800" dirty="0"/>
          </a:p>
        </p:txBody>
      </p:sp>
      <p:sp>
        <p:nvSpPr>
          <p:cNvPr id="11" name="Text 9"/>
          <p:cNvSpPr txBox="1"/>
          <p:nvPr/>
        </p:nvSpPr>
        <p:spPr>
          <a:xfrm>
            <a:off x="2165604" y="3017520"/>
            <a:ext cx="1499616" cy="502920"/>
          </a:xfrm>
          <a:prstGeom prst="rect">
            <a:avLst/>
          </a:prstGeom>
          <a:noFill/>
          <a:ln/>
        </p:spPr>
        <p:txBody>
          <a:bodyPr wrap="square" lIns="0" tIns="0" rIns="0" bIns="0" rtlCol="0" anchor="t"/>
          <a:lstStyle/>
          <a:p>
            <a:pPr algn="ctr" indent="0" marL="0">
              <a:buNone/>
            </a:pPr>
            <a:r>
              <a:rPr lang="en-US" sz="1400" b="1" dirty="0">
                <a:solidFill>
                  <a:schemeClr val="tx2"/>
                </a:solidFill>
              </a:rPr>
              <a:t>Diagnostic</a:t>
            </a:r>
            <a:endParaRPr lang="en-US" sz="1400" dirty="0"/>
          </a:p>
        </p:txBody>
      </p:sp>
      <p:sp>
        <p:nvSpPr>
          <p:cNvPr id="12" name="Text 10"/>
          <p:cNvSpPr txBox="1"/>
          <p:nvPr/>
        </p:nvSpPr>
        <p:spPr>
          <a:xfrm>
            <a:off x="2165604" y="3520440"/>
            <a:ext cx="1499616" cy="1371600"/>
          </a:xfrm>
          <a:prstGeom prst="rect">
            <a:avLst/>
          </a:prstGeom>
          <a:noFill/>
          <a:ln/>
        </p:spPr>
        <p:txBody>
          <a:bodyPr wrap="square" lIns="0" tIns="0" rIns="0" bIns="0" rtlCol="0" anchor="t"/>
          <a:lstStyle/>
          <a:p>
            <a:pPr algn="ctr" indent="0" marL="0">
              <a:buNone/>
            </a:pPr>
            <a:r>
              <a:rPr lang="en-US" sz="1300" dirty="0">
                <a:solidFill>
                  <a:schemeClr val="tx1"/>
                </a:solidFill>
              </a:rPr>
              <a:t>B1 maintenu au reset : 9 tests et bilan</a:t>
            </a:r>
            <a:endParaRPr lang="en-US" sz="1300" dirty="0"/>
          </a:p>
        </p:txBody>
      </p:sp>
      <p:sp>
        <p:nvSpPr>
          <p:cNvPr id="13" name="Text 11"/>
          <p:cNvSpPr txBox="1"/>
          <p:nvPr/>
        </p:nvSpPr>
        <p:spPr>
          <a:xfrm>
            <a:off x="3773424" y="1737360"/>
            <a:ext cx="1463040" cy="256032"/>
          </a:xfrm>
          <a:prstGeom prst="rect">
            <a:avLst/>
          </a:prstGeom>
          <a:noFill/>
          <a:ln/>
        </p:spPr>
        <p:txBody>
          <a:bodyPr wrap="square" lIns="0" tIns="0" rIns="0" bIns="0" rtlCol="0" anchor="t"/>
          <a:lstStyle/>
          <a:p>
            <a:pPr algn="ctr" indent="0" marL="0">
              <a:buNone/>
            </a:pPr>
            <a:r>
              <a:rPr lang="en-US" sz="1250" b="1" dirty="0">
                <a:solidFill>
                  <a:schemeClr val="accent6"/>
                </a:solidFill>
              </a:rPr>
              <a:t>3 min</a:t>
            </a:r>
            <a:endParaRPr lang="en-US" sz="1250" dirty="0"/>
          </a:p>
        </p:txBody>
      </p:sp>
      <p:sp>
        <p:nvSpPr>
          <p:cNvPr id="14" name="Text 12"/>
          <p:cNvSpPr/>
          <p:nvPr/>
        </p:nvSpPr>
        <p:spPr>
          <a:xfrm>
            <a:off x="4221480" y="2276856"/>
            <a:ext cx="566928" cy="566928"/>
          </a:xfrm>
          <a:prstGeom prst="ellipse">
            <a:avLst/>
          </a:prstGeom>
          <a:solidFill>
            <a:schemeClr val="accent1"/>
          </a:solidFill>
          <a:ln/>
        </p:spPr>
        <p:txBody>
          <a:bodyPr wrap="square" lIns="0" tIns="0" rIns="0" bIns="0" rtlCol="0" anchor="ctr"/>
          <a:lstStyle/>
          <a:p>
            <a:pPr algn="ctr" indent="0" marL="0">
              <a:buNone/>
            </a:pPr>
            <a:r>
              <a:rPr lang="en-US" sz="1800" b="1" dirty="0">
                <a:solidFill>
                  <a:schemeClr val="bg1"/>
                </a:solidFill>
              </a:rPr>
              <a:t>3</a:t>
            </a:r>
            <a:endParaRPr lang="en-US" sz="1800" dirty="0"/>
          </a:p>
        </p:txBody>
      </p:sp>
      <p:sp>
        <p:nvSpPr>
          <p:cNvPr id="15" name="Text 13"/>
          <p:cNvSpPr txBox="1"/>
          <p:nvPr/>
        </p:nvSpPr>
        <p:spPr>
          <a:xfrm>
            <a:off x="3755136" y="3017520"/>
            <a:ext cx="1499616" cy="502920"/>
          </a:xfrm>
          <a:prstGeom prst="rect">
            <a:avLst/>
          </a:prstGeom>
          <a:noFill/>
          <a:ln/>
        </p:spPr>
        <p:txBody>
          <a:bodyPr wrap="square" lIns="0" tIns="0" rIns="0" bIns="0" rtlCol="0" anchor="t"/>
          <a:lstStyle/>
          <a:p>
            <a:pPr algn="ctr" indent="0" marL="0">
              <a:buNone/>
            </a:pPr>
            <a:r>
              <a:rPr lang="en-US" sz="1400" b="1" dirty="0">
                <a:solidFill>
                  <a:schemeClr val="tx2"/>
                </a:solidFill>
              </a:rPr>
              <a:t>Configuration</a:t>
            </a:r>
            <a:endParaRPr lang="en-US" sz="1400" dirty="0"/>
          </a:p>
        </p:txBody>
      </p:sp>
      <p:sp>
        <p:nvSpPr>
          <p:cNvPr id="16" name="Text 14"/>
          <p:cNvSpPr txBox="1"/>
          <p:nvPr/>
        </p:nvSpPr>
        <p:spPr>
          <a:xfrm>
            <a:off x="3755136" y="3520440"/>
            <a:ext cx="1499616" cy="1371600"/>
          </a:xfrm>
          <a:prstGeom prst="rect">
            <a:avLst/>
          </a:prstGeom>
          <a:noFill/>
          <a:ln/>
        </p:spPr>
        <p:txBody>
          <a:bodyPr wrap="square" lIns="0" tIns="0" rIns="0" bIns="0" rtlCol="0" anchor="t"/>
          <a:lstStyle/>
          <a:p>
            <a:pPr algn="ctr" indent="0" marL="0">
              <a:buNone/>
            </a:pPr>
            <a:r>
              <a:rPr lang="en-US" sz="1300" dirty="0">
                <a:solidFill>
                  <a:schemeClr val="tx1"/>
                </a:solidFill>
              </a:rPr>
              <a:t>Démarrage rouge maintenu : VERSION, LOG_INTERVAL=20S, CLOCK, DATE</a:t>
            </a:r>
            <a:endParaRPr lang="en-US" sz="1300" dirty="0"/>
          </a:p>
        </p:txBody>
      </p:sp>
      <p:sp>
        <p:nvSpPr>
          <p:cNvPr id="17" name="Text 15"/>
          <p:cNvSpPr txBox="1"/>
          <p:nvPr/>
        </p:nvSpPr>
        <p:spPr>
          <a:xfrm>
            <a:off x="5362956" y="1737360"/>
            <a:ext cx="1463040" cy="256032"/>
          </a:xfrm>
          <a:prstGeom prst="rect">
            <a:avLst/>
          </a:prstGeom>
          <a:noFill/>
          <a:ln/>
        </p:spPr>
        <p:txBody>
          <a:bodyPr wrap="square" lIns="0" tIns="0" rIns="0" bIns="0" rtlCol="0" anchor="t"/>
          <a:lstStyle/>
          <a:p>
            <a:pPr algn="ctr" indent="0" marL="0">
              <a:buNone/>
            </a:pPr>
            <a:r>
              <a:rPr lang="en-US" sz="1250" b="1" dirty="0">
                <a:solidFill>
                  <a:schemeClr val="accent6"/>
                </a:solidFill>
              </a:rPr>
              <a:t>3 min</a:t>
            </a:r>
            <a:endParaRPr lang="en-US" sz="1250" dirty="0"/>
          </a:p>
        </p:txBody>
      </p:sp>
      <p:sp>
        <p:nvSpPr>
          <p:cNvPr id="18" name="Text 16"/>
          <p:cNvSpPr/>
          <p:nvPr/>
        </p:nvSpPr>
        <p:spPr>
          <a:xfrm>
            <a:off x="5811012" y="2276856"/>
            <a:ext cx="566928" cy="566928"/>
          </a:xfrm>
          <a:prstGeom prst="ellipse">
            <a:avLst/>
          </a:prstGeom>
          <a:solidFill>
            <a:schemeClr val="accent1"/>
          </a:solidFill>
          <a:ln/>
        </p:spPr>
        <p:txBody>
          <a:bodyPr wrap="square" lIns="0" tIns="0" rIns="0" bIns="0" rtlCol="0" anchor="ctr"/>
          <a:lstStyle/>
          <a:p>
            <a:pPr algn="ctr" indent="0" marL="0">
              <a:buNone/>
            </a:pPr>
            <a:r>
              <a:rPr lang="en-US" sz="1800" b="1" dirty="0">
                <a:solidFill>
                  <a:schemeClr val="bg1"/>
                </a:solidFill>
              </a:rPr>
              <a:t>4</a:t>
            </a:r>
            <a:endParaRPr lang="en-US" sz="1800" dirty="0"/>
          </a:p>
        </p:txBody>
      </p:sp>
      <p:sp>
        <p:nvSpPr>
          <p:cNvPr id="19" name="Text 17"/>
          <p:cNvSpPr txBox="1"/>
          <p:nvPr/>
        </p:nvSpPr>
        <p:spPr>
          <a:xfrm>
            <a:off x="5344668" y="3017520"/>
            <a:ext cx="1499616" cy="502920"/>
          </a:xfrm>
          <a:prstGeom prst="rect">
            <a:avLst/>
          </a:prstGeom>
          <a:noFill/>
          <a:ln/>
        </p:spPr>
        <p:txBody>
          <a:bodyPr wrap="square" lIns="0" tIns="0" rIns="0" bIns="0" rtlCol="0" anchor="t"/>
          <a:lstStyle/>
          <a:p>
            <a:pPr algn="ctr" indent="0" marL="0">
              <a:buNone/>
            </a:pPr>
            <a:r>
              <a:rPr lang="en-US" sz="1400" b="1" dirty="0">
                <a:solidFill>
                  <a:schemeClr val="tx2"/>
                </a:solidFill>
              </a:rPr>
              <a:t>Standard</a:t>
            </a:r>
            <a:endParaRPr lang="en-US" sz="1400" dirty="0"/>
          </a:p>
        </p:txBody>
      </p:sp>
      <p:sp>
        <p:nvSpPr>
          <p:cNvPr id="20" name="Text 18"/>
          <p:cNvSpPr txBox="1"/>
          <p:nvPr/>
        </p:nvSpPr>
        <p:spPr>
          <a:xfrm>
            <a:off x="5344668" y="3520440"/>
            <a:ext cx="1499616" cy="1371600"/>
          </a:xfrm>
          <a:prstGeom prst="rect">
            <a:avLst/>
          </a:prstGeom>
          <a:noFill/>
          <a:ln/>
        </p:spPr>
        <p:txBody>
          <a:bodyPr wrap="square" lIns="0" tIns="0" rIns="0" bIns="0" rtlCol="0" anchor="t"/>
          <a:lstStyle/>
          <a:p>
            <a:pPr algn="ctr" indent="0" marL="0">
              <a:buNone/>
            </a:pPr>
            <a:r>
              <a:rPr lang="en-US" sz="1300" dirty="0">
                <a:solidFill>
                  <a:schemeClr val="tx1"/>
                </a:solidFill>
              </a:rPr>
              <a:t>LED verte, mesures sur la console et l'écran, ligne écrite sur SD</a:t>
            </a:r>
            <a:endParaRPr lang="en-US" sz="1300" dirty="0"/>
          </a:p>
        </p:txBody>
      </p:sp>
      <p:sp>
        <p:nvSpPr>
          <p:cNvPr id="21" name="Text 19"/>
          <p:cNvSpPr txBox="1"/>
          <p:nvPr/>
        </p:nvSpPr>
        <p:spPr>
          <a:xfrm>
            <a:off x="6952488" y="1737360"/>
            <a:ext cx="1463040" cy="256032"/>
          </a:xfrm>
          <a:prstGeom prst="rect">
            <a:avLst/>
          </a:prstGeom>
          <a:noFill/>
          <a:ln/>
        </p:spPr>
        <p:txBody>
          <a:bodyPr wrap="square" lIns="0" tIns="0" rIns="0" bIns="0" rtlCol="0" anchor="t"/>
          <a:lstStyle/>
          <a:p>
            <a:pPr algn="ctr" indent="0" marL="0">
              <a:buNone/>
            </a:pPr>
            <a:r>
              <a:rPr lang="en-US" sz="1250" b="1" dirty="0">
                <a:solidFill>
                  <a:schemeClr val="accent6"/>
                </a:solidFill>
              </a:rPr>
              <a:t>4 min</a:t>
            </a:r>
            <a:endParaRPr lang="en-US" sz="1250" dirty="0"/>
          </a:p>
        </p:txBody>
      </p:sp>
      <p:sp>
        <p:nvSpPr>
          <p:cNvPr id="22" name="Text 20"/>
          <p:cNvSpPr/>
          <p:nvPr/>
        </p:nvSpPr>
        <p:spPr>
          <a:xfrm>
            <a:off x="7400544" y="2276856"/>
            <a:ext cx="566928" cy="566928"/>
          </a:xfrm>
          <a:prstGeom prst="ellipse">
            <a:avLst/>
          </a:prstGeom>
          <a:solidFill>
            <a:schemeClr val="accent1"/>
          </a:solidFill>
          <a:ln/>
        </p:spPr>
        <p:txBody>
          <a:bodyPr wrap="square" lIns="0" tIns="0" rIns="0" bIns="0" rtlCol="0" anchor="ctr"/>
          <a:lstStyle/>
          <a:p>
            <a:pPr algn="ctr" indent="0" marL="0">
              <a:buNone/>
            </a:pPr>
            <a:r>
              <a:rPr lang="en-US" sz="1800" b="1" dirty="0">
                <a:solidFill>
                  <a:schemeClr val="bg1"/>
                </a:solidFill>
              </a:rPr>
              <a:t>5</a:t>
            </a:r>
            <a:endParaRPr lang="en-US" sz="1800" dirty="0"/>
          </a:p>
        </p:txBody>
      </p:sp>
      <p:sp>
        <p:nvSpPr>
          <p:cNvPr id="23" name="Text 21"/>
          <p:cNvSpPr txBox="1"/>
          <p:nvPr/>
        </p:nvSpPr>
        <p:spPr>
          <a:xfrm>
            <a:off x="6934200" y="3017520"/>
            <a:ext cx="1499616" cy="502920"/>
          </a:xfrm>
          <a:prstGeom prst="rect">
            <a:avLst/>
          </a:prstGeom>
          <a:noFill/>
          <a:ln/>
        </p:spPr>
        <p:txBody>
          <a:bodyPr wrap="square" lIns="0" tIns="0" rIns="0" bIns="0" rtlCol="0" anchor="t"/>
          <a:lstStyle/>
          <a:p>
            <a:pPr algn="ctr" indent="0" marL="0">
              <a:buNone/>
            </a:pPr>
            <a:r>
              <a:rPr lang="en-US" sz="1400" b="1" dirty="0">
                <a:solidFill>
                  <a:schemeClr val="tx2"/>
                </a:solidFill>
              </a:rPr>
              <a:t>Éco et maintenance</a:t>
            </a:r>
            <a:endParaRPr lang="en-US" sz="1400" dirty="0"/>
          </a:p>
        </p:txBody>
      </p:sp>
      <p:sp>
        <p:nvSpPr>
          <p:cNvPr id="24" name="Text 22"/>
          <p:cNvSpPr txBox="1"/>
          <p:nvPr/>
        </p:nvSpPr>
        <p:spPr>
          <a:xfrm>
            <a:off x="6934200" y="3520440"/>
            <a:ext cx="1499616" cy="1371600"/>
          </a:xfrm>
          <a:prstGeom prst="rect">
            <a:avLst/>
          </a:prstGeom>
          <a:noFill/>
          <a:ln/>
        </p:spPr>
        <p:txBody>
          <a:bodyPr wrap="square" lIns="0" tIns="0" rIns="0" bIns="0" rtlCol="0" anchor="t"/>
          <a:lstStyle/>
          <a:p>
            <a:pPr algn="ctr" indent="0" marL="0">
              <a:buNone/>
            </a:pPr>
            <a:r>
              <a:rPr lang="en-US" sz="1300" dirty="0">
                <a:solidFill>
                  <a:schemeClr val="tx1"/>
                </a:solidFill>
              </a:rPr>
              <a:t>LED bleue puis orange ; retrait de la carte SD en sécurité</a:t>
            </a:r>
            <a:endParaRPr lang="en-US" sz="1300" dirty="0"/>
          </a:p>
        </p:txBody>
      </p:sp>
      <p:sp>
        <p:nvSpPr>
          <p:cNvPr id="25" name="Text 23"/>
          <p:cNvSpPr txBox="1"/>
          <p:nvPr/>
        </p:nvSpPr>
        <p:spPr>
          <a:xfrm>
            <a:off x="8542020" y="1737360"/>
            <a:ext cx="1463040" cy="256032"/>
          </a:xfrm>
          <a:prstGeom prst="rect">
            <a:avLst/>
          </a:prstGeom>
          <a:noFill/>
          <a:ln/>
        </p:spPr>
        <p:txBody>
          <a:bodyPr wrap="square" lIns="0" tIns="0" rIns="0" bIns="0" rtlCol="0" anchor="t"/>
          <a:lstStyle/>
          <a:p>
            <a:pPr algn="ctr" indent="0" marL="0">
              <a:buNone/>
            </a:pPr>
            <a:r>
              <a:rPr lang="en-US" sz="1250" b="1" dirty="0">
                <a:solidFill>
                  <a:schemeClr val="accent6"/>
                </a:solidFill>
              </a:rPr>
              <a:t>3 min</a:t>
            </a:r>
            <a:endParaRPr lang="en-US" sz="1250" dirty="0"/>
          </a:p>
        </p:txBody>
      </p:sp>
      <p:sp>
        <p:nvSpPr>
          <p:cNvPr id="26" name="Text 24"/>
          <p:cNvSpPr/>
          <p:nvPr/>
        </p:nvSpPr>
        <p:spPr>
          <a:xfrm>
            <a:off x="8990076" y="2276856"/>
            <a:ext cx="566928" cy="566928"/>
          </a:xfrm>
          <a:prstGeom prst="ellipse">
            <a:avLst/>
          </a:prstGeom>
          <a:solidFill>
            <a:schemeClr val="accent1"/>
          </a:solidFill>
          <a:ln/>
        </p:spPr>
        <p:txBody>
          <a:bodyPr wrap="square" lIns="0" tIns="0" rIns="0" bIns="0" rtlCol="0" anchor="ctr"/>
          <a:lstStyle/>
          <a:p>
            <a:pPr algn="ctr" indent="0" marL="0">
              <a:buNone/>
            </a:pPr>
            <a:r>
              <a:rPr lang="en-US" sz="1800" b="1" dirty="0">
                <a:solidFill>
                  <a:schemeClr val="bg1"/>
                </a:solidFill>
              </a:rPr>
              <a:t>6</a:t>
            </a:r>
            <a:endParaRPr lang="en-US" sz="1800" dirty="0"/>
          </a:p>
        </p:txBody>
      </p:sp>
      <p:sp>
        <p:nvSpPr>
          <p:cNvPr id="27" name="Text 25"/>
          <p:cNvSpPr txBox="1"/>
          <p:nvPr/>
        </p:nvSpPr>
        <p:spPr>
          <a:xfrm>
            <a:off x="8523732" y="3017520"/>
            <a:ext cx="1499616" cy="502920"/>
          </a:xfrm>
          <a:prstGeom prst="rect">
            <a:avLst/>
          </a:prstGeom>
          <a:noFill/>
          <a:ln/>
        </p:spPr>
        <p:txBody>
          <a:bodyPr wrap="square" lIns="0" tIns="0" rIns="0" bIns="0" rtlCol="0" anchor="t"/>
          <a:lstStyle/>
          <a:p>
            <a:pPr algn="ctr" indent="0" marL="0">
              <a:buNone/>
            </a:pPr>
            <a:r>
              <a:rPr lang="en-US" sz="1400" b="1" dirty="0">
                <a:solidFill>
                  <a:schemeClr val="tx2"/>
                </a:solidFill>
              </a:rPr>
              <a:t>Erreurs provoquées</a:t>
            </a:r>
            <a:endParaRPr lang="en-US" sz="1400" dirty="0"/>
          </a:p>
        </p:txBody>
      </p:sp>
      <p:sp>
        <p:nvSpPr>
          <p:cNvPr id="28" name="Text 26"/>
          <p:cNvSpPr txBox="1"/>
          <p:nvPr/>
        </p:nvSpPr>
        <p:spPr>
          <a:xfrm>
            <a:off x="8523732" y="3520440"/>
            <a:ext cx="1499616" cy="1371600"/>
          </a:xfrm>
          <a:prstGeom prst="rect">
            <a:avLst/>
          </a:prstGeom>
          <a:noFill/>
          <a:ln/>
        </p:spPr>
        <p:txBody>
          <a:bodyPr wrap="square" lIns="0" tIns="0" rIns="0" bIns="0" rtlCol="0" anchor="t"/>
          <a:lstStyle/>
          <a:p>
            <a:pPr algn="ctr" indent="0" marL="0">
              <a:buNone/>
            </a:pPr>
            <a:r>
              <a:rPr lang="en-US" sz="1300" dirty="0">
                <a:solidFill>
                  <a:schemeClr val="tx1"/>
                </a:solidFill>
              </a:rPr>
              <a:t>Capteur débranché, carte SD retirée : signal LED puis reprise</a:t>
            </a:r>
            <a:endParaRPr lang="en-US" sz="1300" dirty="0"/>
          </a:p>
        </p:txBody>
      </p:sp>
      <p:sp>
        <p:nvSpPr>
          <p:cNvPr id="29" name="Text 27"/>
          <p:cNvSpPr txBox="1"/>
          <p:nvPr/>
        </p:nvSpPr>
        <p:spPr>
          <a:xfrm>
            <a:off x="10131552" y="1737360"/>
            <a:ext cx="1463040" cy="256032"/>
          </a:xfrm>
          <a:prstGeom prst="rect">
            <a:avLst/>
          </a:prstGeom>
          <a:noFill/>
          <a:ln/>
        </p:spPr>
        <p:txBody>
          <a:bodyPr wrap="square" lIns="0" tIns="0" rIns="0" bIns="0" rtlCol="0" anchor="t"/>
          <a:lstStyle/>
          <a:p>
            <a:pPr algn="ctr" indent="0" marL="0">
              <a:buNone/>
            </a:pPr>
            <a:r>
              <a:rPr lang="en-US" sz="1250" b="1" dirty="0">
                <a:solidFill>
                  <a:schemeClr val="accent6"/>
                </a:solidFill>
              </a:rPr>
              <a:t>2 min</a:t>
            </a:r>
            <a:endParaRPr lang="en-US" sz="1250" dirty="0"/>
          </a:p>
        </p:txBody>
      </p:sp>
      <p:sp>
        <p:nvSpPr>
          <p:cNvPr id="30" name="Text 28"/>
          <p:cNvSpPr/>
          <p:nvPr/>
        </p:nvSpPr>
        <p:spPr>
          <a:xfrm>
            <a:off x="10579608" y="2276856"/>
            <a:ext cx="566928" cy="566928"/>
          </a:xfrm>
          <a:prstGeom prst="ellipse">
            <a:avLst/>
          </a:prstGeom>
          <a:solidFill>
            <a:schemeClr val="accent1"/>
          </a:solidFill>
          <a:ln/>
        </p:spPr>
        <p:txBody>
          <a:bodyPr wrap="square" lIns="0" tIns="0" rIns="0" bIns="0" rtlCol="0" anchor="ctr"/>
          <a:lstStyle/>
          <a:p>
            <a:pPr algn="ctr" indent="0" marL="0">
              <a:buNone/>
            </a:pPr>
            <a:r>
              <a:rPr lang="en-US" sz="1800" b="1" dirty="0">
                <a:solidFill>
                  <a:schemeClr val="bg1"/>
                </a:solidFill>
              </a:rPr>
              <a:t>7</a:t>
            </a:r>
            <a:endParaRPr lang="en-US" sz="1800" dirty="0"/>
          </a:p>
        </p:txBody>
      </p:sp>
      <p:sp>
        <p:nvSpPr>
          <p:cNvPr id="31" name="Text 29"/>
          <p:cNvSpPr txBox="1"/>
          <p:nvPr/>
        </p:nvSpPr>
        <p:spPr>
          <a:xfrm>
            <a:off x="10113264" y="3017520"/>
            <a:ext cx="1499616" cy="502920"/>
          </a:xfrm>
          <a:prstGeom prst="rect">
            <a:avLst/>
          </a:prstGeom>
          <a:noFill/>
          <a:ln/>
        </p:spPr>
        <p:txBody>
          <a:bodyPr wrap="square" lIns="0" tIns="0" rIns="0" bIns="0" rtlCol="0" anchor="t"/>
          <a:lstStyle/>
          <a:p>
            <a:pPr algn="ctr" indent="0" marL="0">
              <a:buNone/>
            </a:pPr>
            <a:r>
              <a:rPr lang="en-US" sz="1400" b="1" dirty="0">
                <a:solidFill>
                  <a:schemeClr val="tx2"/>
                </a:solidFill>
              </a:rPr>
              <a:t>Fichier .LOG</a:t>
            </a:r>
            <a:endParaRPr lang="en-US" sz="1400" dirty="0"/>
          </a:p>
        </p:txBody>
      </p:sp>
      <p:sp>
        <p:nvSpPr>
          <p:cNvPr id="32" name="Text 30"/>
          <p:cNvSpPr txBox="1"/>
          <p:nvPr/>
        </p:nvSpPr>
        <p:spPr>
          <a:xfrm>
            <a:off x="10113264" y="3520440"/>
            <a:ext cx="1499616" cy="1371600"/>
          </a:xfrm>
          <a:prstGeom prst="rect">
            <a:avLst/>
          </a:prstGeom>
          <a:noFill/>
          <a:ln/>
        </p:spPr>
        <p:txBody>
          <a:bodyPr wrap="square" lIns="0" tIns="0" rIns="0" bIns="0" rtlCol="0" anchor="t"/>
          <a:lstStyle/>
          <a:p>
            <a:pPr algn="ctr" indent="0" marL="0">
              <a:buNone/>
            </a:pPr>
            <a:r>
              <a:rPr lang="en-US" sz="1300" dirty="0">
                <a:solidFill>
                  <a:schemeClr val="tx1"/>
                </a:solidFill>
              </a:rPr>
              <a:t>Ouverture du fichier enregistré sur PC</a:t>
            </a:r>
            <a:endParaRPr lang="en-US" sz="1300" dirty="0"/>
          </a:p>
        </p:txBody>
      </p:sp>
      <p:sp>
        <p:nvSpPr>
          <p:cNvPr id="33" name="Text 31"/>
          <p:cNvSpPr/>
          <p:nvPr/>
        </p:nvSpPr>
        <p:spPr>
          <a:xfrm>
            <a:off x="548640" y="4983480"/>
            <a:ext cx="11091672" cy="868680"/>
          </a:xfrm>
          <a:prstGeom prst="roundRect">
            <a:avLst>
              <a:gd name="adj" fmla="val 8421"/>
            </a:avLst>
          </a:prstGeom>
          <a:solidFill>
            <a:schemeClr val="tx2"/>
          </a:solidFill>
          <a:ln/>
        </p:spPr>
        <p:txBody>
          <a:bodyPr wrap="square" lIns="101600" tIns="228600" rIns="228600" bIns="101600" rtlCol="0" anchor="ctr"/>
          <a:lstStyle/>
          <a:p>
            <a:pPr indent="0" marL="0">
              <a:buNone/>
            </a:pPr>
            <a:r>
              <a:rPr lang="en-US" sz="1600" b="1" dirty="0">
                <a:solidFill>
                  <a:schemeClr val="accent5"/>
                </a:solidFill>
              </a:rPr>
              <a:t>Objectif de la démonstration — </a:t>
            </a:r>
            <a:pPr indent="0" marL="0">
              <a:buNone/>
            </a:pPr>
            <a:r>
              <a:rPr lang="en-US" sz="1600" dirty="0">
                <a:solidFill>
                  <a:schemeClr val="bg1"/>
                </a:solidFill>
              </a:rPr>
              <a:t>prouver chaque mode et chaque transition, la signalisation des erreurs et la reprise, ainsi que l'enregistrement sur carte SD.</a:t>
            </a:r>
            <a:endParaRPr lang="en-US" sz="1600" dirty="0"/>
          </a:p>
        </p:txBody>
      </p:sp>
      <p:sp>
        <p:nvSpPr>
          <p:cNvPr id="34" name="Text 32"/>
          <p:cNvSpPr txBox="1"/>
          <p:nvPr/>
        </p:nvSpPr>
        <p:spPr>
          <a:xfrm>
            <a:off x="548640" y="5943600"/>
            <a:ext cx="11091672" cy="256032"/>
          </a:xfrm>
          <a:prstGeom prst="rect">
            <a:avLst/>
          </a:prstGeom>
          <a:noFill/>
          <a:ln/>
        </p:spPr>
        <p:txBody>
          <a:bodyPr wrap="square" lIns="0" tIns="0" rIns="0" bIns="0" rtlCol="0" anchor="t"/>
          <a:lstStyle/>
          <a:p>
            <a:pPr indent="0" marL="0">
              <a:buNone/>
            </a:pPr>
            <a:r>
              <a:rPr lang="en-US" sz="1200" i="1" dirty="0">
                <a:solidFill>
                  <a:schemeClr val="accent6"/>
                </a:solidFill>
              </a:rPr>
              <a:t>Scénario proposé, durées indicatives (20 min au total)</a:t>
            </a:r>
            <a:endParaRPr lang="en-US" sz="1200" dirty="0"/>
          </a:p>
        </p:txBody>
      </p:sp>
      <p:sp>
        <p:nvSpPr>
          <p:cNvPr id="25" name="Slide Number Placeholder 0"/>
          <p:cNvSpPr>
            <a:spLocks noGrp="1"/>
          </p:cNvSpPr>
          <p:nvPr>
            <p:ph type="sldNum" sz="quarter" idx="4294967295"/>
          </p:nvPr>
        </p:nvSpPr>
        <p:spPr>
          <a:xfrm>
            <a:off x="11091672" y="6455664"/>
            <a:ext cx="548640" cy="237744"/>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6"/>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9144000" cy="274320"/>
          </a:xfrm>
          <a:prstGeom prst="rect">
            <a:avLst/>
          </a:prstGeom>
          <a:noFill/>
          <a:ln/>
        </p:spPr>
        <p:txBody>
          <a:bodyPr wrap="square" lIns="0" tIns="0" rIns="0" bIns="0" rtlCol="0" anchor="t"/>
          <a:lstStyle/>
          <a:p>
            <a:pPr indent="0" marL="0">
              <a:buNone/>
            </a:pPr>
            <a:r>
              <a:rPr lang="en-US" sz="1200" b="1" spc="150" kern="0" dirty="0">
                <a:solidFill>
                  <a:schemeClr val="accent5"/>
                </a:solidFill>
              </a:rPr>
              <a:t>05 · DÉMONSTRATION ET CONCLUSION</a:t>
            </a:r>
            <a:endParaRPr lang="en-US" sz="1200" dirty="0"/>
          </a:p>
        </p:txBody>
      </p:sp>
      <p:sp>
        <p:nvSpPr>
          <p:cNvPr id="3" name="Text 0"/>
          <p:cNvSpPr/>
          <p:nvPr>
            <p:ph idx="101" type="title" hasCustomPrompt="1"/>
          </p:nvPr>
        </p:nvSpPr>
        <p:spPr>
          <a:xfrm>
            <a:off x="548640" y="621792"/>
            <a:ext cx="11091672" cy="640080"/>
          </a:xfrm>
          <a:prstGeom prst="rect">
            <a:avLst/>
          </a:prstGeom>
          <a:noFill/>
          <a:ln/>
        </p:spPr>
        <p:txBody>
          <a:bodyPr wrap="square" lIns="0" tIns="0" rIns="0" bIns="0" rtlCol="0" anchor="t"/>
          <a:lstStyle/>
          <a:p>
            <a:pPr algn="l" indent="0" marL="0">
              <a:buNone/>
            </a:pPr>
            <a:r>
              <a:rPr lang="en-US" sz="3000" b="1" dirty="0">
                <a:solidFill>
                  <a:schemeClr val="bg1"/>
                </a:solidFill>
              </a:rPr>
              <a:t>Conclusion et perspectives</a:t>
            </a:r>
            <a:endParaRPr lang="en-US" sz="3000" dirty="0"/>
          </a:p>
        </p:txBody>
      </p:sp>
      <p:sp>
        <p:nvSpPr>
          <p:cNvPr id="4" name="Text 2"/>
          <p:cNvSpPr txBox="1"/>
          <p:nvPr/>
        </p:nvSpPr>
        <p:spPr>
          <a:xfrm>
            <a:off x="548640" y="1371600"/>
            <a:ext cx="11091672" cy="640080"/>
          </a:xfrm>
          <a:prstGeom prst="rect">
            <a:avLst/>
          </a:prstGeom>
          <a:noFill/>
          <a:ln/>
        </p:spPr>
        <p:txBody>
          <a:bodyPr wrap="square" lIns="0" tIns="0" rIns="0" bIns="0" rtlCol="0" anchor="t"/>
          <a:lstStyle/>
          <a:p>
            <a:pPr indent="0" marL="0">
              <a:buNone/>
            </a:pPr>
            <a:r>
              <a:rPr lang="en-US" sz="1700" dirty="0">
                <a:solidFill>
                  <a:schemeClr val="bg2"/>
                </a:solidFill>
              </a:rPr>
              <a:t>AURA mesure, horodate, enregistre et signale son état, avec quatre modes pilotables par deux boutons et un script qui automatise la mise à jour de la carte.</a:t>
            </a:r>
            <a:endParaRPr lang="en-US" sz="1700" dirty="0"/>
          </a:p>
        </p:txBody>
      </p:sp>
      <p:sp>
        <p:nvSpPr>
          <p:cNvPr id="5" name="Shape 3"/>
          <p:cNvSpPr/>
          <p:nvPr/>
        </p:nvSpPr>
        <p:spPr>
          <a:xfrm>
            <a:off x="548640" y="2194560"/>
            <a:ext cx="3575304" cy="3246120"/>
          </a:xfrm>
          <a:prstGeom prst="roundRect">
            <a:avLst>
              <a:gd name="adj" fmla="val 2254"/>
            </a:avLst>
          </a:prstGeom>
          <a:solidFill>
            <a:schemeClr val="accent3"/>
          </a:solidFill>
          <a:ln/>
        </p:spPr>
      </p:sp>
      <p:sp>
        <p:nvSpPr>
          <p:cNvPr id="6" name="Text 4"/>
          <p:cNvSpPr txBox="1"/>
          <p:nvPr/>
        </p:nvSpPr>
        <p:spPr>
          <a:xfrm>
            <a:off x="822960" y="2359152"/>
            <a:ext cx="3017520" cy="384048"/>
          </a:xfrm>
          <a:prstGeom prst="rect">
            <a:avLst/>
          </a:prstGeom>
          <a:noFill/>
          <a:ln/>
        </p:spPr>
        <p:txBody>
          <a:bodyPr wrap="square" lIns="0" tIns="0" rIns="0" bIns="0" rtlCol="0" anchor="t"/>
          <a:lstStyle/>
          <a:p>
            <a:pPr indent="0" marL="0">
              <a:buNone/>
            </a:pPr>
            <a:r>
              <a:rPr lang="en-US" sz="1900" b="1" dirty="0">
                <a:solidFill>
                  <a:schemeClr val="accent5"/>
                </a:solidFill>
              </a:rPr>
              <a:t>Réalisé</a:t>
            </a:r>
            <a:endParaRPr lang="en-US" sz="1900" dirty="0"/>
          </a:p>
        </p:txBody>
      </p:sp>
      <p:sp>
        <p:nvSpPr>
          <p:cNvPr id="7" name="Text 5"/>
          <p:cNvSpPr txBox="1"/>
          <p:nvPr/>
        </p:nvSpPr>
        <p:spPr>
          <a:xfrm>
            <a:off x="822960" y="2852928"/>
            <a:ext cx="3063240" cy="2514600"/>
          </a:xfrm>
          <a:prstGeom prst="rect">
            <a:avLst/>
          </a:prstGeom>
          <a:noFill/>
          <a:ln/>
        </p:spPr>
        <p:txBody>
          <a:bodyPr wrap="square" lIns="0" tIns="0" rIns="0" bIns="0" rtlCol="0" anchor="t"/>
          <a:lstStyle/>
          <a:p>
            <a:pPr marL="177800" indent="-177800">
              <a:spcAft>
                <a:spcPts val="800"/>
              </a:spcAft>
              <a:buSzPct val="100000"/>
              <a:buChar char="•"/>
            </a:pPr>
            <a:r>
              <a:rPr lang="en-US" sz="1400" dirty="0">
                <a:solidFill>
                  <a:schemeClr val="bg1"/>
                </a:solidFill>
              </a:rPr>
              <a:t>Firmware C complet sur STM32L476RG</a:t>
            </a:r>
            <a:endParaRPr lang="en-US" sz="1400" dirty="0"/>
          </a:p>
          <a:p>
            <a:pPr marL="177800" indent="-177800">
              <a:spcAft>
                <a:spcPts val="800"/>
              </a:spcAft>
              <a:buSzPct val="100000"/>
              <a:buChar char="•"/>
            </a:pPr>
            <a:r>
              <a:rPr lang="en-US" sz="1400" dirty="0">
                <a:solidFill>
                  <a:schemeClr val="bg1"/>
                </a:solidFill>
              </a:rPr>
              <a:t>4 modes, 6 erreurs signalées, configuration persistante</a:t>
            </a:r>
            <a:endParaRPr lang="en-US" sz="1400" dirty="0"/>
          </a:p>
          <a:p>
            <a:pPr marL="177800" indent="-177800">
              <a:spcAft>
                <a:spcPts val="800"/>
              </a:spcAft>
              <a:buSzPct val="100000"/>
              <a:buChar char="•"/>
            </a:pPr>
            <a:r>
              <a:rPr lang="en-US" sz="1400" dirty="0">
                <a:solidFill>
                  <a:schemeClr val="bg1"/>
                </a:solidFill>
              </a:rPr>
              <a:t>Enregistrement SD avec archivage des fichiers</a:t>
            </a:r>
            <a:endParaRPr lang="en-US" sz="1400" dirty="0"/>
          </a:p>
          <a:p>
            <a:pPr marL="177800" indent="-177800">
              <a:spcAft>
                <a:spcPts val="800"/>
              </a:spcAft>
              <a:buSzPct val="100000"/>
              <a:buChar char="•"/>
            </a:pPr>
            <a:r>
              <a:rPr lang="en-US" sz="1400" dirty="0">
                <a:solidFill>
                  <a:schemeClr val="bg1"/>
                </a:solidFill>
              </a:rPr>
              <a:t>Script unique de compilation et de téléversement</a:t>
            </a:r>
            <a:endParaRPr lang="en-US" sz="1400" dirty="0"/>
          </a:p>
        </p:txBody>
      </p:sp>
      <p:sp>
        <p:nvSpPr>
          <p:cNvPr id="8" name="Shape 6"/>
          <p:cNvSpPr/>
          <p:nvPr/>
        </p:nvSpPr>
        <p:spPr>
          <a:xfrm>
            <a:off x="4306824" y="2194560"/>
            <a:ext cx="3575304" cy="3246120"/>
          </a:xfrm>
          <a:prstGeom prst="roundRect">
            <a:avLst>
              <a:gd name="adj" fmla="val 2254"/>
            </a:avLst>
          </a:prstGeom>
          <a:solidFill>
            <a:schemeClr val="accent3"/>
          </a:solidFill>
          <a:ln/>
        </p:spPr>
      </p:sp>
      <p:sp>
        <p:nvSpPr>
          <p:cNvPr id="9" name="Text 7"/>
          <p:cNvSpPr txBox="1"/>
          <p:nvPr/>
        </p:nvSpPr>
        <p:spPr>
          <a:xfrm>
            <a:off x="4581144" y="2359152"/>
            <a:ext cx="3017520" cy="384048"/>
          </a:xfrm>
          <a:prstGeom prst="rect">
            <a:avLst/>
          </a:prstGeom>
          <a:noFill/>
          <a:ln/>
        </p:spPr>
        <p:txBody>
          <a:bodyPr wrap="square" lIns="0" tIns="0" rIns="0" bIns="0" rtlCol="0" anchor="t"/>
          <a:lstStyle/>
          <a:p>
            <a:pPr indent="0" marL="0">
              <a:buNone/>
            </a:pPr>
            <a:r>
              <a:rPr lang="en-US" sz="1900" b="1" dirty="0">
                <a:solidFill>
                  <a:schemeClr val="accent2"/>
                </a:solidFill>
              </a:rPr>
              <a:t>Limites</a:t>
            </a:r>
            <a:endParaRPr lang="en-US" sz="1900" dirty="0"/>
          </a:p>
        </p:txBody>
      </p:sp>
      <p:sp>
        <p:nvSpPr>
          <p:cNvPr id="10" name="Text 8"/>
          <p:cNvSpPr txBox="1"/>
          <p:nvPr/>
        </p:nvSpPr>
        <p:spPr>
          <a:xfrm>
            <a:off x="4581144" y="2852928"/>
            <a:ext cx="3063240" cy="2514600"/>
          </a:xfrm>
          <a:prstGeom prst="rect">
            <a:avLst/>
          </a:prstGeom>
          <a:noFill/>
          <a:ln/>
        </p:spPr>
        <p:txBody>
          <a:bodyPr wrap="square" lIns="0" tIns="0" rIns="0" bIns="0" rtlCol="0" anchor="t"/>
          <a:lstStyle/>
          <a:p>
            <a:pPr marL="177800" indent="-177800">
              <a:spcAft>
                <a:spcPts val="800"/>
              </a:spcAft>
              <a:buSzPct val="100000"/>
              <a:buChar char="•"/>
            </a:pPr>
            <a:r>
              <a:rPr lang="en-US" sz="1400" dirty="0">
                <a:solidFill>
                  <a:schemeClr val="bg1"/>
                </a:solidFill>
              </a:rPr>
              <a:t>Pas de capteur de pression (absent du kit)</a:t>
            </a:r>
            <a:endParaRPr lang="en-US" sz="1400" dirty="0"/>
          </a:p>
          <a:p>
            <a:pPr marL="177800" indent="-177800">
              <a:spcAft>
                <a:spcPts val="800"/>
              </a:spcAft>
              <a:buSzPct val="100000"/>
              <a:buChar char="•"/>
            </a:pPr>
            <a:r>
              <a:rPr lang="en-US" sz="1400" dirty="0">
                <a:solidFill>
                  <a:schemeClr val="bg1"/>
                </a:solidFill>
              </a:rPr>
              <a:t>DHT11 : valeurs entières, précision limitée</a:t>
            </a:r>
            <a:endParaRPr lang="en-US" sz="1400" dirty="0"/>
          </a:p>
          <a:p>
            <a:pPr marL="177800" indent="-177800">
              <a:spcAft>
                <a:spcPts val="800"/>
              </a:spcAft>
              <a:buSzPct val="100000"/>
              <a:buChar char="•"/>
            </a:pPr>
            <a:r>
              <a:rPr lang="en-US" sz="1400" dirty="0">
                <a:solidFill>
                  <a:schemeClr val="bg1"/>
                </a:solidFill>
              </a:rPr>
              <a:t>RTC sur oscillateur interne, recalée par le GPS</a:t>
            </a:r>
            <a:endParaRPr lang="en-US" sz="1400" dirty="0"/>
          </a:p>
          <a:p>
            <a:pPr marL="177800" indent="-177800">
              <a:spcAft>
                <a:spcPts val="800"/>
              </a:spcAft>
              <a:buSzPct val="100000"/>
              <a:buChar char="•"/>
            </a:pPr>
            <a:r>
              <a:rPr lang="en-US" sz="1400" dirty="0">
                <a:solidFill>
                  <a:schemeClr val="bg1"/>
                </a:solidFill>
              </a:rPr>
              <a:t>Prototype sur breadboard, alimenté en USB ; consommation non mesurée</a:t>
            </a:r>
            <a:endParaRPr lang="en-US" sz="1400" dirty="0"/>
          </a:p>
        </p:txBody>
      </p:sp>
      <p:sp>
        <p:nvSpPr>
          <p:cNvPr id="11" name="Shape 9"/>
          <p:cNvSpPr/>
          <p:nvPr/>
        </p:nvSpPr>
        <p:spPr>
          <a:xfrm>
            <a:off x="8065008" y="2194560"/>
            <a:ext cx="3575304" cy="3246120"/>
          </a:xfrm>
          <a:prstGeom prst="roundRect">
            <a:avLst>
              <a:gd name="adj" fmla="val 2254"/>
            </a:avLst>
          </a:prstGeom>
          <a:solidFill>
            <a:schemeClr val="accent3"/>
          </a:solidFill>
          <a:ln/>
        </p:spPr>
      </p:sp>
      <p:sp>
        <p:nvSpPr>
          <p:cNvPr id="12" name="Text 10"/>
          <p:cNvSpPr txBox="1"/>
          <p:nvPr/>
        </p:nvSpPr>
        <p:spPr>
          <a:xfrm>
            <a:off x="8339328" y="2359152"/>
            <a:ext cx="3017520" cy="384048"/>
          </a:xfrm>
          <a:prstGeom prst="rect">
            <a:avLst/>
          </a:prstGeom>
          <a:noFill/>
          <a:ln/>
        </p:spPr>
        <p:txBody>
          <a:bodyPr wrap="square" lIns="0" tIns="0" rIns="0" bIns="0" rtlCol="0" anchor="t"/>
          <a:lstStyle/>
          <a:p>
            <a:pPr indent="0" marL="0">
              <a:buNone/>
            </a:pPr>
            <a:r>
              <a:rPr lang="en-US" sz="1900" b="1" dirty="0">
                <a:solidFill>
                  <a:schemeClr val="bg1"/>
                </a:solidFill>
              </a:rPr>
              <a:t>Perspectives</a:t>
            </a:r>
            <a:endParaRPr lang="en-US" sz="1900" dirty="0"/>
          </a:p>
        </p:txBody>
      </p:sp>
      <p:sp>
        <p:nvSpPr>
          <p:cNvPr id="13" name="Text 11"/>
          <p:cNvSpPr txBox="1"/>
          <p:nvPr/>
        </p:nvSpPr>
        <p:spPr>
          <a:xfrm>
            <a:off x="8339328" y="2852928"/>
            <a:ext cx="3063240" cy="2514600"/>
          </a:xfrm>
          <a:prstGeom prst="rect">
            <a:avLst/>
          </a:prstGeom>
          <a:noFill/>
          <a:ln/>
        </p:spPr>
        <p:txBody>
          <a:bodyPr wrap="square" lIns="0" tIns="0" rIns="0" bIns="0" rtlCol="0" anchor="t"/>
          <a:lstStyle/>
          <a:p>
            <a:pPr marL="177800" indent="-177800">
              <a:spcAft>
                <a:spcPts val="800"/>
              </a:spcAft>
              <a:buSzPct val="100000"/>
              <a:buChar char="•"/>
            </a:pPr>
            <a:r>
              <a:rPr lang="en-US" sz="1400" dirty="0">
                <a:solidFill>
                  <a:schemeClr val="bg1"/>
                </a:solidFill>
              </a:rPr>
              <a:t>Capteur de pression et modules complémentaires</a:t>
            </a:r>
            <a:endParaRPr lang="en-US" sz="1400" dirty="0"/>
          </a:p>
          <a:p>
            <a:pPr marL="177800" indent="-177800">
              <a:spcAft>
                <a:spcPts val="800"/>
              </a:spcAft>
              <a:buSzPct val="100000"/>
              <a:buChar char="•"/>
            </a:pPr>
            <a:r>
              <a:rPr lang="en-US" sz="1400" dirty="0">
                <a:solidFill>
                  <a:schemeClr val="bg1"/>
                </a:solidFill>
              </a:rPr>
              <a:t>Modes basse consommation du STM32L4 et batterie</a:t>
            </a:r>
            <a:endParaRPr lang="en-US" sz="1400" dirty="0"/>
          </a:p>
          <a:p>
            <a:pPr marL="177800" indent="-177800">
              <a:spcAft>
                <a:spcPts val="800"/>
              </a:spcAft>
              <a:buSzPct val="100000"/>
              <a:buChar char="•"/>
            </a:pPr>
            <a:r>
              <a:rPr lang="en-US" sz="1400" dirty="0">
                <a:solidFill>
                  <a:schemeClr val="bg1"/>
                </a:solidFill>
              </a:rPr>
              <a:t>Chien de garde et journal des erreurs</a:t>
            </a:r>
            <a:endParaRPr lang="en-US" sz="1400" dirty="0"/>
          </a:p>
          <a:p>
            <a:pPr marL="177800" indent="-177800">
              <a:spcAft>
                <a:spcPts val="800"/>
              </a:spcAft>
              <a:buSzPct val="100000"/>
              <a:buChar char="•"/>
            </a:pPr>
            <a:r>
              <a:rPr lang="en-US" sz="1400" dirty="0">
                <a:solidFill>
                  <a:schemeClr val="bg1"/>
                </a:solidFill>
              </a:rPr>
              <a:t>Boîtier étanche, puis partage des données entre navires</a:t>
            </a:r>
            <a:endParaRPr lang="en-US" sz="1400" dirty="0"/>
          </a:p>
        </p:txBody>
      </p:sp>
      <p:sp>
        <p:nvSpPr>
          <p:cNvPr id="14" name="Text 12"/>
          <p:cNvSpPr txBox="1"/>
          <p:nvPr/>
        </p:nvSpPr>
        <p:spPr>
          <a:xfrm>
            <a:off x="548640" y="5669280"/>
            <a:ext cx="11091672" cy="457200"/>
          </a:xfrm>
          <a:prstGeom prst="rect">
            <a:avLst/>
          </a:prstGeom>
          <a:noFill/>
          <a:ln/>
        </p:spPr>
        <p:txBody>
          <a:bodyPr wrap="square" lIns="0" tIns="0" rIns="0" bIns="0" rtlCol="0" anchor="t"/>
          <a:lstStyle/>
          <a:p>
            <a:pPr indent="0" marL="0">
              <a:buNone/>
            </a:pPr>
            <a:r>
              <a:rPr lang="en-US" sz="2200" b="1" dirty="0">
                <a:solidFill>
                  <a:schemeClr val="bg1"/>
                </a:solidFill>
              </a:rPr>
              <a:t>Merci de votre attention — place à la démonstration</a:t>
            </a:r>
            <a:endParaRPr lang="en-US" sz="2200" dirty="0"/>
          </a:p>
        </p:txBody>
      </p:sp>
      <p:sp>
        <p:nvSpPr>
          <p:cNvPr id="25" name="Slide Number Placeholder 0"/>
          <p:cNvSpPr>
            <a:spLocks noGrp="1"/>
          </p:cNvSpPr>
          <p:nvPr>
            <p:ph type="sldNum" sz="quarter" idx="4294967295"/>
          </p:nvPr>
        </p:nvSpPr>
        <p:spPr>
          <a:xfrm>
            <a:off x="11091672" y="6455664"/>
            <a:ext cx="548640" cy="237744"/>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5"/>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9144000" cy="274320"/>
          </a:xfrm>
          <a:prstGeom prst="rect">
            <a:avLst/>
          </a:prstGeom>
          <a:noFill/>
          <a:ln/>
        </p:spPr>
        <p:txBody>
          <a:bodyPr wrap="square" lIns="0" tIns="0" rIns="0" bIns="0" rtlCol="0" anchor="t"/>
          <a:lstStyle/>
          <a:p>
            <a:pPr indent="0" marL="0">
              <a:buNone/>
            </a:pPr>
            <a:r>
              <a:rPr lang="en-US" sz="1200" b="1" spc="150" kern="0" dirty="0">
                <a:solidFill>
                  <a:schemeClr val="accent1"/>
                </a:solidFill>
              </a:rPr>
              <a:t>ANNEXE · RÉSERVE POUR LES QUESTIONS</a:t>
            </a:r>
            <a:endParaRPr lang="en-US" sz="1200" dirty="0"/>
          </a:p>
        </p:txBody>
      </p:sp>
      <p:sp>
        <p:nvSpPr>
          <p:cNvPr id="3" name="Text 0"/>
          <p:cNvSpPr/>
          <p:nvPr>
            <p:ph idx="101" type="title" hasCustomPrompt="1"/>
          </p:nvPr>
        </p:nvSpPr>
        <p:spPr>
          <a:xfrm>
            <a:off x="548640" y="621792"/>
            <a:ext cx="11091672" cy="640080"/>
          </a:xfrm>
          <a:prstGeom prst="rect">
            <a:avLst/>
          </a:prstGeom>
          <a:noFill/>
          <a:ln/>
        </p:spPr>
        <p:txBody>
          <a:bodyPr wrap="square" lIns="0" tIns="0" rIns="0" bIns="0" rtlCol="0" anchor="t"/>
          <a:lstStyle/>
          <a:p>
            <a:pPr algn="l" indent="0" marL="0">
              <a:buNone/>
            </a:pPr>
            <a:r>
              <a:rPr lang="en-US" sz="3000" b="1" dirty="0">
                <a:solidFill>
                  <a:schemeClr val="tx2"/>
                </a:solidFill>
              </a:rPr>
              <a:t>Brochage et paramètres de configuration</a:t>
            </a:r>
            <a:endParaRPr lang="en-US" sz="30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548640" y="1463040"/>
          <a:ext cx="5394960" cy="914400"/>
        </p:xfrm>
        <a:graphic>
          <a:graphicData uri="http://schemas.openxmlformats.org/drawingml/2006/table">
            <a:tbl>
              <a:tblPr/>
              <a:tblGrid>
                <a:gridCol w="1783080"/>
                <a:gridCol w="2057400"/>
                <a:gridCol w="1554480"/>
              </a:tblGrid>
              <a:tr h="384048">
                <a:tc>
                  <a:txBody>
                    <a:bodyPr/>
                    <a:lstStyle/>
                    <a:p>
                      <a:pPr indent="0" marL="0">
                        <a:buNone/>
                      </a:pPr>
                      <a:r>
                        <a:rPr lang="en-US" sz="1250" b="1" dirty="0">
                          <a:solidFill>
                            <a:schemeClr val="bg1"/>
                          </a:solidFill>
                          <a:latin typeface="Calibri" pitchFamily="34" charset="0"/>
                          <a:ea typeface="Calibri" pitchFamily="34" charset="-122"/>
                          <a:cs typeface="Calibri" pitchFamily="34" charset="-120"/>
                        </a:rPr>
                        <a:t>Fonction</a:t>
                      </a:r>
                      <a:endParaRPr lang="en-US" sz="1250" dirty="0">
                        <a:latin typeface="Calibri" charset="0"/>
                        <a:ea typeface="Calibri" charset="0"/>
                        <a:cs typeface="Calibri" charset="0"/>
                      </a:endParaRPr>
                    </a:p>
                  </a:txBody>
                  <a:tcPr marL="73152" marR="73152" marT="27432" marB="27432" anchor="ctr">
                    <a:lnL w="6350" cap="flat" cmpd="sng" algn="ctr">
                      <a:solidFill>
                        <a:srgbClr val="D5DEE7"/>
                      </a:solidFill>
                      <a:prstDash val="solid"/>
                      <a:round/>
                      <a:headEnd type="none" w="med" len="med"/>
                      <a:tailEnd type="none" w="med" len="med"/>
                    </a:lnL>
                    <a:lnR w="6350" cap="flat" cmpd="sng" algn="ctr">
                      <a:solidFill>
                        <a:srgbClr val="D5DEE7"/>
                      </a:solidFill>
                      <a:prstDash val="solid"/>
                      <a:round/>
                      <a:headEnd type="none" w="med" len="med"/>
                      <a:tailEnd type="none" w="med" len="med"/>
                    </a:lnR>
                    <a:lnT w="6350" cap="flat" cmpd="sng" algn="ctr">
                      <a:solidFill>
                        <a:srgbClr val="D5DEE7"/>
                      </a:solidFill>
                      <a:prstDash val="solid"/>
                      <a:round/>
                      <a:headEnd type="none" w="med" len="med"/>
                      <a:tailEnd type="none" w="med" len="med"/>
                    </a:lnT>
                    <a:lnB w="6350" cap="flat" cmpd="sng" algn="ctr">
                      <a:solidFill>
                        <a:srgbClr val="D5DEE7"/>
                      </a:solidFill>
                      <a:prstDash val="solid"/>
                      <a:round/>
                      <a:headEnd type="none" w="med" len="med"/>
                      <a:tailEnd type="none" w="med" len="med"/>
                    </a:lnB>
                    <a:solidFill>
                      <a:schemeClr val="tx2"/>
                    </a:solidFill>
                  </a:tcPr>
                </a:tc>
                <a:tc>
                  <a:txBody>
                    <a:bodyPr/>
                    <a:lstStyle/>
                    <a:p>
                      <a:pPr indent="0" marL="0">
                        <a:buNone/>
                      </a:pPr>
                      <a:r>
                        <a:rPr lang="en-US" sz="1250" b="1" dirty="0">
                          <a:solidFill>
                            <a:schemeClr val="bg1"/>
                          </a:solidFill>
                          <a:latin typeface="Calibri" pitchFamily="34" charset="0"/>
                          <a:ea typeface="Calibri" pitchFamily="34" charset="-122"/>
                          <a:cs typeface="Calibri" pitchFamily="34" charset="-120"/>
                        </a:rPr>
                        <a:t>Broches</a:t>
                      </a:r>
                      <a:endParaRPr lang="en-US" sz="1250" dirty="0">
                        <a:latin typeface="Calibri" charset="0"/>
                        <a:ea typeface="Calibri" charset="0"/>
                        <a:cs typeface="Calibri" charset="0"/>
                      </a:endParaRPr>
                    </a:p>
                  </a:txBody>
                  <a:tcPr marL="73152" marR="73152" marT="27432" marB="27432" anchor="ctr">
                    <a:lnL w="6350" cap="flat" cmpd="sng" algn="ctr">
                      <a:solidFill>
                        <a:srgbClr val="D5DEE7"/>
                      </a:solidFill>
                      <a:prstDash val="solid"/>
                      <a:round/>
                      <a:headEnd type="none" w="med" len="med"/>
                      <a:tailEnd type="none" w="med" len="med"/>
                    </a:lnL>
                    <a:lnR w="6350" cap="flat" cmpd="sng" algn="ctr">
                      <a:solidFill>
                        <a:srgbClr val="D5DEE7"/>
                      </a:solidFill>
                      <a:prstDash val="solid"/>
                      <a:round/>
                      <a:headEnd type="none" w="med" len="med"/>
                      <a:tailEnd type="none" w="med" len="med"/>
                    </a:lnR>
                    <a:lnT w="6350" cap="flat" cmpd="sng" algn="ctr">
                      <a:solidFill>
                        <a:srgbClr val="D5DEE7"/>
                      </a:solidFill>
                      <a:prstDash val="solid"/>
                      <a:round/>
                      <a:headEnd type="none" w="med" len="med"/>
                      <a:tailEnd type="none" w="med" len="med"/>
                    </a:lnT>
                    <a:lnB w="6350" cap="flat" cmpd="sng" algn="ctr">
                      <a:solidFill>
                        <a:srgbClr val="D5DEE7"/>
                      </a:solidFill>
                      <a:prstDash val="solid"/>
                      <a:round/>
                      <a:headEnd type="none" w="med" len="med"/>
                      <a:tailEnd type="none" w="med" len="med"/>
                    </a:lnB>
                    <a:solidFill>
                      <a:schemeClr val="tx2"/>
                    </a:solidFill>
                  </a:tcPr>
                </a:tc>
                <a:tc>
                  <a:txBody>
                    <a:bodyPr/>
                    <a:lstStyle/>
                    <a:p>
                      <a:pPr indent="0" marL="0">
                        <a:buNone/>
                      </a:pPr>
                      <a:r>
                        <a:rPr lang="en-US" sz="1250" b="1" dirty="0">
                          <a:solidFill>
                            <a:schemeClr val="bg1"/>
                          </a:solidFill>
                          <a:latin typeface="Calibri" pitchFamily="34" charset="0"/>
                          <a:ea typeface="Calibri" pitchFamily="34" charset="-122"/>
                          <a:cs typeface="Calibri" pitchFamily="34" charset="-120"/>
                        </a:rPr>
                        <a:t>Périphérique</a:t>
                      </a:r>
                      <a:endParaRPr lang="en-US" sz="1250" dirty="0">
                        <a:latin typeface="Calibri" charset="0"/>
                        <a:ea typeface="Calibri" charset="0"/>
                        <a:cs typeface="Calibri" charset="0"/>
                      </a:endParaRPr>
                    </a:p>
                  </a:txBody>
                  <a:tcPr marL="73152" marR="73152" marT="27432" marB="27432" anchor="ctr">
                    <a:lnL w="6350" cap="flat" cmpd="sng" algn="ctr">
                      <a:solidFill>
                        <a:srgbClr val="D5DEE7"/>
                      </a:solidFill>
                      <a:prstDash val="solid"/>
                      <a:round/>
                      <a:headEnd type="none" w="med" len="med"/>
                      <a:tailEnd type="none" w="med" len="med"/>
                    </a:lnL>
                    <a:lnR w="6350" cap="flat" cmpd="sng" algn="ctr">
                      <a:solidFill>
                        <a:srgbClr val="D5DEE7"/>
                      </a:solidFill>
                      <a:prstDash val="solid"/>
                      <a:round/>
                      <a:headEnd type="none" w="med" len="med"/>
                      <a:tailEnd type="none" w="med" len="med"/>
                    </a:lnR>
                    <a:lnT w="6350" cap="flat" cmpd="sng" algn="ctr">
                      <a:solidFill>
                        <a:srgbClr val="D5DEE7"/>
                      </a:solidFill>
                      <a:prstDash val="solid"/>
                      <a:round/>
                      <a:headEnd type="none" w="med" len="med"/>
                      <a:tailEnd type="none" w="med" len="med"/>
                    </a:lnT>
                    <a:lnB w="6350" cap="flat" cmpd="sng" algn="ctr">
                      <a:solidFill>
                        <a:srgbClr val="D5DEE7"/>
                      </a:solidFill>
                      <a:prstDash val="solid"/>
                      <a:round/>
                      <a:headEnd type="none" w="med" len="med"/>
                      <a:tailEnd type="none" w="med" len="med"/>
                    </a:lnB>
                    <a:solidFill>
                      <a:schemeClr val="tx2"/>
                    </a:solidFill>
                  </a:tcPr>
                </a:tc>
              </a:tr>
              <a:tr h="384048">
                <a:tc>
                  <a:txBody>
                    <a:bodyPr/>
                    <a:lstStyle/>
                    <a:p>
                      <a:pPr indent="0" marL="0">
                        <a:buNone/>
                      </a:pPr>
                      <a:r>
                        <a:rPr lang="en-US" sz="1250" b="1" dirty="0">
                          <a:solidFill>
                            <a:schemeClr val="tx2"/>
                          </a:solidFill>
                          <a:latin typeface="Calibri" pitchFamily="34" charset="0"/>
                          <a:ea typeface="Calibri" pitchFamily="34" charset="-122"/>
                          <a:cs typeface="Calibri" pitchFamily="34" charset="-120"/>
                        </a:rPr>
                        <a:t>LED RGB (R, V, B)</a:t>
                      </a:r>
                      <a:endParaRPr lang="en-US" sz="1250" dirty="0">
                        <a:latin typeface="Calibri" charset="0"/>
                        <a:ea typeface="Calibri" charset="0"/>
                        <a:cs typeface="Calibri" charset="0"/>
                      </a:endParaRPr>
                    </a:p>
                  </a:txBody>
                  <a:tcPr marL="73152" marR="73152" marT="27432" marB="27432" anchor="ctr">
                    <a:lnL w="6350" cap="flat" cmpd="sng" algn="ctr">
                      <a:solidFill>
                        <a:srgbClr val="D5DEE7"/>
                      </a:solidFill>
                      <a:prstDash val="solid"/>
                      <a:round/>
                      <a:headEnd type="none" w="med" len="med"/>
                      <a:tailEnd type="none" w="med" len="med"/>
                    </a:lnL>
                    <a:lnR w="6350" cap="flat" cmpd="sng" algn="ctr">
                      <a:solidFill>
                        <a:srgbClr val="D5DEE7"/>
                      </a:solidFill>
                      <a:prstDash val="solid"/>
                      <a:round/>
                      <a:headEnd type="none" w="med" len="med"/>
                      <a:tailEnd type="none" w="med" len="med"/>
                    </a:lnR>
                    <a:lnT w="6350" cap="flat" cmpd="sng" algn="ctr">
                      <a:solidFill>
                        <a:srgbClr val="D5DEE7"/>
                      </a:solidFill>
                      <a:prstDash val="solid"/>
                      <a:round/>
                      <a:headEnd type="none" w="med" len="med"/>
                      <a:tailEnd type="none" w="med" len="med"/>
                    </a:lnT>
                    <a:lnB w="6350" cap="flat" cmpd="sng" algn="ctr">
                      <a:solidFill>
                        <a:srgbClr val="D5DEE7"/>
                      </a:solidFill>
                      <a:prstDash val="solid"/>
                      <a:round/>
                      <a:headEnd type="none" w="med" len="med"/>
                      <a:tailEnd type="none" w="med" len="med"/>
                    </a:lnB>
                    <a:solidFill>
                      <a:schemeClr val="bg1"/>
                    </a:solidFill>
                  </a:tcPr>
                </a:tc>
                <a:tc>
                  <a:txBody>
                    <a:bodyPr/>
                    <a:lstStyle/>
                    <a:p>
                      <a:pPr indent="0" marL="0">
                        <a:buNone/>
                      </a:pPr>
                      <a:r>
                        <a:rPr lang="en-US" sz="1250" dirty="0">
                          <a:solidFill>
                            <a:schemeClr val="tx1"/>
                          </a:solidFill>
                          <a:latin typeface="Calibri" pitchFamily="34" charset="0"/>
                          <a:ea typeface="Calibri" pitchFamily="34" charset="-122"/>
                          <a:cs typeface="Calibri" pitchFamily="34" charset="-120"/>
                        </a:rPr>
                        <a:t>PA0 · PA1 · PA4</a:t>
                      </a:r>
                      <a:endParaRPr lang="en-US" sz="1250" dirty="0">
                        <a:latin typeface="Calibri" charset="0"/>
                        <a:ea typeface="Calibri" charset="0"/>
                        <a:cs typeface="Calibri" charset="0"/>
                      </a:endParaRPr>
                    </a:p>
                  </a:txBody>
                  <a:tcPr marL="73152" marR="73152" marT="27432" marB="27432" anchor="ctr">
                    <a:lnL w="6350" cap="flat" cmpd="sng" algn="ctr">
                      <a:solidFill>
                        <a:srgbClr val="D5DEE7"/>
                      </a:solidFill>
                      <a:prstDash val="solid"/>
                      <a:round/>
                      <a:headEnd type="none" w="med" len="med"/>
                      <a:tailEnd type="none" w="med" len="med"/>
                    </a:lnL>
                    <a:lnR w="6350" cap="flat" cmpd="sng" algn="ctr">
                      <a:solidFill>
                        <a:srgbClr val="D5DEE7"/>
                      </a:solidFill>
                      <a:prstDash val="solid"/>
                      <a:round/>
                      <a:headEnd type="none" w="med" len="med"/>
                      <a:tailEnd type="none" w="med" len="med"/>
                    </a:lnR>
                    <a:lnT w="6350" cap="flat" cmpd="sng" algn="ctr">
                      <a:solidFill>
                        <a:srgbClr val="D5DEE7"/>
                      </a:solidFill>
                      <a:prstDash val="solid"/>
                      <a:round/>
                      <a:headEnd type="none" w="med" len="med"/>
                      <a:tailEnd type="none" w="med" len="med"/>
                    </a:lnT>
                    <a:lnB w="6350" cap="flat" cmpd="sng" algn="ctr">
                      <a:solidFill>
                        <a:srgbClr val="D5DEE7"/>
                      </a:solidFill>
                      <a:prstDash val="solid"/>
                      <a:round/>
                      <a:headEnd type="none" w="med" len="med"/>
                      <a:tailEnd type="none" w="med" len="med"/>
                    </a:lnB>
                    <a:solidFill>
                      <a:schemeClr val="bg1"/>
                    </a:solidFill>
                  </a:tcPr>
                </a:tc>
                <a:tc>
                  <a:txBody>
                    <a:bodyPr/>
                    <a:lstStyle/>
                    <a:p>
                      <a:pPr indent="0" marL="0">
                        <a:buNone/>
                      </a:pPr>
                      <a:r>
                        <a:rPr lang="en-US" sz="1250" dirty="0">
                          <a:solidFill>
                            <a:schemeClr val="tx1"/>
                          </a:solidFill>
                          <a:latin typeface="Calibri" pitchFamily="34" charset="0"/>
                          <a:ea typeface="Calibri" pitchFamily="34" charset="-122"/>
                          <a:cs typeface="Calibri" pitchFamily="34" charset="-120"/>
                        </a:rPr>
                        <a:t>GPIO</a:t>
                      </a:r>
                      <a:endParaRPr lang="en-US" sz="1250" dirty="0">
                        <a:latin typeface="Calibri" charset="0"/>
                        <a:ea typeface="Calibri" charset="0"/>
                        <a:cs typeface="Calibri" charset="0"/>
                      </a:endParaRPr>
                    </a:p>
                  </a:txBody>
                  <a:tcPr marL="73152" marR="73152" marT="27432" marB="27432" anchor="ctr">
                    <a:lnL w="6350" cap="flat" cmpd="sng" algn="ctr">
                      <a:solidFill>
                        <a:srgbClr val="D5DEE7"/>
                      </a:solidFill>
                      <a:prstDash val="solid"/>
                      <a:round/>
                      <a:headEnd type="none" w="med" len="med"/>
                      <a:tailEnd type="none" w="med" len="med"/>
                    </a:lnL>
                    <a:lnR w="6350" cap="flat" cmpd="sng" algn="ctr">
                      <a:solidFill>
                        <a:srgbClr val="D5DEE7"/>
                      </a:solidFill>
                      <a:prstDash val="solid"/>
                      <a:round/>
                      <a:headEnd type="none" w="med" len="med"/>
                      <a:tailEnd type="none" w="med" len="med"/>
                    </a:lnR>
                    <a:lnT w="6350" cap="flat" cmpd="sng" algn="ctr">
                      <a:solidFill>
                        <a:srgbClr val="D5DEE7"/>
                      </a:solidFill>
                      <a:prstDash val="solid"/>
                      <a:round/>
                      <a:headEnd type="none" w="med" len="med"/>
                      <a:tailEnd type="none" w="med" len="med"/>
                    </a:lnT>
                    <a:lnB w="6350" cap="flat" cmpd="sng" algn="ctr">
                      <a:solidFill>
                        <a:srgbClr val="D5DEE7"/>
                      </a:solidFill>
                      <a:prstDash val="solid"/>
                      <a:round/>
                      <a:headEnd type="none" w="med" len="med"/>
                      <a:tailEnd type="none" w="med" len="med"/>
                    </a:lnB>
                    <a:solidFill>
                      <a:schemeClr val="bg1"/>
                    </a:solidFill>
                  </a:tcPr>
                </a:tc>
              </a:tr>
              <a:tr h="384048">
                <a:tc>
                  <a:txBody>
                    <a:bodyPr/>
                    <a:lstStyle/>
                    <a:p>
                      <a:pPr indent="0" marL="0">
                        <a:buNone/>
                      </a:pPr>
                      <a:r>
                        <a:rPr lang="en-US" sz="1250" b="1" dirty="0">
                          <a:solidFill>
                            <a:schemeClr val="tx2"/>
                          </a:solidFill>
                          <a:latin typeface="Calibri" pitchFamily="34" charset="0"/>
                          <a:ea typeface="Calibri" pitchFamily="34" charset="-122"/>
                          <a:cs typeface="Calibri" pitchFamily="34" charset="-120"/>
                        </a:rPr>
                        <a:t>Bouton rouge</a:t>
                      </a:r>
                      <a:endParaRPr lang="en-US" sz="1250" dirty="0">
                        <a:latin typeface="Calibri" charset="0"/>
                        <a:ea typeface="Calibri" charset="0"/>
                        <a:cs typeface="Calibri" charset="0"/>
                      </a:endParaRPr>
                    </a:p>
                  </a:txBody>
                  <a:tcPr marL="73152" marR="73152" marT="27432" marB="27432" anchor="ctr">
                    <a:lnL w="6350" cap="flat" cmpd="sng" algn="ctr">
                      <a:solidFill>
                        <a:srgbClr val="D5DEE7"/>
                      </a:solidFill>
                      <a:prstDash val="solid"/>
                      <a:round/>
                      <a:headEnd type="none" w="med" len="med"/>
                      <a:tailEnd type="none" w="med" len="med"/>
                    </a:lnL>
                    <a:lnR w="6350" cap="flat" cmpd="sng" algn="ctr">
                      <a:solidFill>
                        <a:srgbClr val="D5DEE7"/>
                      </a:solidFill>
                      <a:prstDash val="solid"/>
                      <a:round/>
                      <a:headEnd type="none" w="med" len="med"/>
                      <a:tailEnd type="none" w="med" len="med"/>
                    </a:lnR>
                    <a:lnT w="6350" cap="flat" cmpd="sng" algn="ctr">
                      <a:solidFill>
                        <a:srgbClr val="D5DEE7"/>
                      </a:solidFill>
                      <a:prstDash val="solid"/>
                      <a:round/>
                      <a:headEnd type="none" w="med" len="med"/>
                      <a:tailEnd type="none" w="med" len="med"/>
                    </a:lnT>
                    <a:lnB w="6350" cap="flat" cmpd="sng" algn="ctr">
                      <a:solidFill>
                        <a:srgbClr val="D5DEE7"/>
                      </a:solidFill>
                      <a:prstDash val="solid"/>
                      <a:round/>
                      <a:headEnd type="none" w="med" len="med"/>
                      <a:tailEnd type="none" w="med" len="med"/>
                    </a:lnB>
                    <a:solidFill>
                      <a:schemeClr val="bg2"/>
                    </a:solidFill>
                  </a:tcPr>
                </a:tc>
                <a:tc>
                  <a:txBody>
                    <a:bodyPr/>
                    <a:lstStyle/>
                    <a:p>
                      <a:pPr indent="0" marL="0">
                        <a:buNone/>
                      </a:pPr>
                      <a:r>
                        <a:rPr lang="en-US" sz="1250" dirty="0">
                          <a:solidFill>
                            <a:schemeClr val="tx1"/>
                          </a:solidFill>
                          <a:latin typeface="Calibri" pitchFamily="34" charset="0"/>
                          <a:ea typeface="Calibri" pitchFamily="34" charset="-122"/>
                          <a:cs typeface="Calibri" pitchFamily="34" charset="-120"/>
                        </a:rPr>
                        <a:t>PC3</a:t>
                      </a:r>
                      <a:endParaRPr lang="en-US" sz="1250" dirty="0">
                        <a:latin typeface="Calibri" charset="0"/>
                        <a:ea typeface="Calibri" charset="0"/>
                        <a:cs typeface="Calibri" charset="0"/>
                      </a:endParaRPr>
                    </a:p>
                  </a:txBody>
                  <a:tcPr marL="73152" marR="73152" marT="27432" marB="27432" anchor="ctr">
                    <a:lnL w="6350" cap="flat" cmpd="sng" algn="ctr">
                      <a:solidFill>
                        <a:srgbClr val="D5DEE7"/>
                      </a:solidFill>
                      <a:prstDash val="solid"/>
                      <a:round/>
                      <a:headEnd type="none" w="med" len="med"/>
                      <a:tailEnd type="none" w="med" len="med"/>
                    </a:lnL>
                    <a:lnR w="6350" cap="flat" cmpd="sng" algn="ctr">
                      <a:solidFill>
                        <a:srgbClr val="D5DEE7"/>
                      </a:solidFill>
                      <a:prstDash val="solid"/>
                      <a:round/>
                      <a:headEnd type="none" w="med" len="med"/>
                      <a:tailEnd type="none" w="med" len="med"/>
                    </a:lnR>
                    <a:lnT w="6350" cap="flat" cmpd="sng" algn="ctr">
                      <a:solidFill>
                        <a:srgbClr val="D5DEE7"/>
                      </a:solidFill>
                      <a:prstDash val="solid"/>
                      <a:round/>
                      <a:headEnd type="none" w="med" len="med"/>
                      <a:tailEnd type="none" w="med" len="med"/>
                    </a:lnT>
                    <a:lnB w="6350" cap="flat" cmpd="sng" algn="ctr">
                      <a:solidFill>
                        <a:srgbClr val="D5DEE7"/>
                      </a:solidFill>
                      <a:prstDash val="solid"/>
                      <a:round/>
                      <a:headEnd type="none" w="med" len="med"/>
                      <a:tailEnd type="none" w="med" len="med"/>
                    </a:lnB>
                    <a:solidFill>
                      <a:schemeClr val="bg2"/>
                    </a:solidFill>
                  </a:tcPr>
                </a:tc>
                <a:tc>
                  <a:txBody>
                    <a:bodyPr/>
                    <a:lstStyle/>
                    <a:p>
                      <a:pPr indent="0" marL="0">
                        <a:buNone/>
                      </a:pPr>
                      <a:r>
                        <a:rPr lang="en-US" sz="1250" dirty="0">
                          <a:solidFill>
                            <a:schemeClr val="tx1"/>
                          </a:solidFill>
                          <a:latin typeface="Calibri" pitchFamily="34" charset="0"/>
                          <a:ea typeface="Calibri" pitchFamily="34" charset="-122"/>
                          <a:cs typeface="Calibri" pitchFamily="34" charset="-120"/>
                        </a:rPr>
                        <a:t>EXTI3, pull-up</a:t>
                      </a:r>
                      <a:endParaRPr lang="en-US" sz="1250" dirty="0">
                        <a:latin typeface="Calibri" charset="0"/>
                        <a:ea typeface="Calibri" charset="0"/>
                        <a:cs typeface="Calibri" charset="0"/>
                      </a:endParaRPr>
                    </a:p>
                  </a:txBody>
                  <a:tcPr marL="73152" marR="73152" marT="27432" marB="27432" anchor="ctr">
                    <a:lnL w="6350" cap="flat" cmpd="sng" algn="ctr">
                      <a:solidFill>
                        <a:srgbClr val="D5DEE7"/>
                      </a:solidFill>
                      <a:prstDash val="solid"/>
                      <a:round/>
                      <a:headEnd type="none" w="med" len="med"/>
                      <a:tailEnd type="none" w="med" len="med"/>
                    </a:lnL>
                    <a:lnR w="6350" cap="flat" cmpd="sng" algn="ctr">
                      <a:solidFill>
                        <a:srgbClr val="D5DEE7"/>
                      </a:solidFill>
                      <a:prstDash val="solid"/>
                      <a:round/>
                      <a:headEnd type="none" w="med" len="med"/>
                      <a:tailEnd type="none" w="med" len="med"/>
                    </a:lnR>
                    <a:lnT w="6350" cap="flat" cmpd="sng" algn="ctr">
                      <a:solidFill>
                        <a:srgbClr val="D5DEE7"/>
                      </a:solidFill>
                      <a:prstDash val="solid"/>
                      <a:round/>
                      <a:headEnd type="none" w="med" len="med"/>
                      <a:tailEnd type="none" w="med" len="med"/>
                    </a:lnT>
                    <a:lnB w="6350" cap="flat" cmpd="sng" algn="ctr">
                      <a:solidFill>
                        <a:srgbClr val="D5DEE7"/>
                      </a:solidFill>
                      <a:prstDash val="solid"/>
                      <a:round/>
                      <a:headEnd type="none" w="med" len="med"/>
                      <a:tailEnd type="none" w="med" len="med"/>
                    </a:lnB>
                    <a:solidFill>
                      <a:schemeClr val="bg2"/>
                    </a:solidFill>
                  </a:tcPr>
                </a:tc>
              </a:tr>
              <a:tr h="384048">
                <a:tc>
                  <a:txBody>
                    <a:bodyPr/>
                    <a:lstStyle/>
                    <a:p>
                      <a:pPr indent="0" marL="0">
                        <a:buNone/>
                      </a:pPr>
                      <a:r>
                        <a:rPr lang="en-US" sz="1250" b="1" dirty="0">
                          <a:solidFill>
                            <a:schemeClr val="tx2"/>
                          </a:solidFill>
                          <a:latin typeface="Calibri" pitchFamily="34" charset="0"/>
                          <a:ea typeface="Calibri" pitchFamily="34" charset="-122"/>
                          <a:cs typeface="Calibri" pitchFamily="34" charset="-120"/>
                        </a:rPr>
                        <a:t>Bouton vert (B1)</a:t>
                      </a:r>
                      <a:endParaRPr lang="en-US" sz="1250" dirty="0">
                        <a:latin typeface="Calibri" charset="0"/>
                        <a:ea typeface="Calibri" charset="0"/>
                        <a:cs typeface="Calibri" charset="0"/>
                      </a:endParaRPr>
                    </a:p>
                  </a:txBody>
                  <a:tcPr marL="73152" marR="73152" marT="27432" marB="27432" anchor="ctr">
                    <a:lnL w="6350" cap="flat" cmpd="sng" algn="ctr">
                      <a:solidFill>
                        <a:srgbClr val="D5DEE7"/>
                      </a:solidFill>
                      <a:prstDash val="solid"/>
                      <a:round/>
                      <a:headEnd type="none" w="med" len="med"/>
                      <a:tailEnd type="none" w="med" len="med"/>
                    </a:lnL>
                    <a:lnR w="6350" cap="flat" cmpd="sng" algn="ctr">
                      <a:solidFill>
                        <a:srgbClr val="D5DEE7"/>
                      </a:solidFill>
                      <a:prstDash val="solid"/>
                      <a:round/>
                      <a:headEnd type="none" w="med" len="med"/>
                      <a:tailEnd type="none" w="med" len="med"/>
                    </a:lnR>
                    <a:lnT w="6350" cap="flat" cmpd="sng" algn="ctr">
                      <a:solidFill>
                        <a:srgbClr val="D5DEE7"/>
                      </a:solidFill>
                      <a:prstDash val="solid"/>
                      <a:round/>
                      <a:headEnd type="none" w="med" len="med"/>
                      <a:tailEnd type="none" w="med" len="med"/>
                    </a:lnT>
                    <a:lnB w="6350" cap="flat" cmpd="sng" algn="ctr">
                      <a:solidFill>
                        <a:srgbClr val="D5DEE7"/>
                      </a:solidFill>
                      <a:prstDash val="solid"/>
                      <a:round/>
                      <a:headEnd type="none" w="med" len="med"/>
                      <a:tailEnd type="none" w="med" len="med"/>
                    </a:lnB>
                    <a:solidFill>
                      <a:schemeClr val="bg1"/>
                    </a:solidFill>
                  </a:tcPr>
                </a:tc>
                <a:tc>
                  <a:txBody>
                    <a:bodyPr/>
                    <a:lstStyle/>
                    <a:p>
                      <a:pPr indent="0" marL="0">
                        <a:buNone/>
                      </a:pPr>
                      <a:r>
                        <a:rPr lang="en-US" sz="1250" dirty="0">
                          <a:solidFill>
                            <a:schemeClr val="tx1"/>
                          </a:solidFill>
                          <a:latin typeface="Calibri" pitchFamily="34" charset="0"/>
                          <a:ea typeface="Calibri" pitchFamily="34" charset="-122"/>
                          <a:cs typeface="Calibri" pitchFamily="34" charset="-120"/>
                        </a:rPr>
                        <a:t>PC13</a:t>
                      </a:r>
                      <a:endParaRPr lang="en-US" sz="1250" dirty="0">
                        <a:latin typeface="Calibri" charset="0"/>
                        <a:ea typeface="Calibri" charset="0"/>
                        <a:cs typeface="Calibri" charset="0"/>
                      </a:endParaRPr>
                    </a:p>
                  </a:txBody>
                  <a:tcPr marL="73152" marR="73152" marT="27432" marB="27432" anchor="ctr">
                    <a:lnL w="6350" cap="flat" cmpd="sng" algn="ctr">
                      <a:solidFill>
                        <a:srgbClr val="D5DEE7"/>
                      </a:solidFill>
                      <a:prstDash val="solid"/>
                      <a:round/>
                      <a:headEnd type="none" w="med" len="med"/>
                      <a:tailEnd type="none" w="med" len="med"/>
                    </a:lnL>
                    <a:lnR w="6350" cap="flat" cmpd="sng" algn="ctr">
                      <a:solidFill>
                        <a:srgbClr val="D5DEE7"/>
                      </a:solidFill>
                      <a:prstDash val="solid"/>
                      <a:round/>
                      <a:headEnd type="none" w="med" len="med"/>
                      <a:tailEnd type="none" w="med" len="med"/>
                    </a:lnR>
                    <a:lnT w="6350" cap="flat" cmpd="sng" algn="ctr">
                      <a:solidFill>
                        <a:srgbClr val="D5DEE7"/>
                      </a:solidFill>
                      <a:prstDash val="solid"/>
                      <a:round/>
                      <a:headEnd type="none" w="med" len="med"/>
                      <a:tailEnd type="none" w="med" len="med"/>
                    </a:lnT>
                    <a:lnB w="6350" cap="flat" cmpd="sng" algn="ctr">
                      <a:solidFill>
                        <a:srgbClr val="D5DEE7"/>
                      </a:solidFill>
                      <a:prstDash val="solid"/>
                      <a:round/>
                      <a:headEnd type="none" w="med" len="med"/>
                      <a:tailEnd type="none" w="med" len="med"/>
                    </a:lnB>
                    <a:solidFill>
                      <a:schemeClr val="bg1"/>
                    </a:solidFill>
                  </a:tcPr>
                </a:tc>
                <a:tc>
                  <a:txBody>
                    <a:bodyPr/>
                    <a:lstStyle/>
                    <a:p>
                      <a:pPr indent="0" marL="0">
                        <a:buNone/>
                      </a:pPr>
                      <a:r>
                        <a:rPr lang="en-US" sz="1250" dirty="0">
                          <a:solidFill>
                            <a:schemeClr val="tx1"/>
                          </a:solidFill>
                          <a:latin typeface="Calibri" pitchFamily="34" charset="0"/>
                          <a:ea typeface="Calibri" pitchFamily="34" charset="-122"/>
                          <a:cs typeface="Calibri" pitchFamily="34" charset="-120"/>
                        </a:rPr>
                        <a:t>EXTI15_10</a:t>
                      </a:r>
                      <a:endParaRPr lang="en-US" sz="1250" dirty="0">
                        <a:latin typeface="Calibri" charset="0"/>
                        <a:ea typeface="Calibri" charset="0"/>
                        <a:cs typeface="Calibri" charset="0"/>
                      </a:endParaRPr>
                    </a:p>
                  </a:txBody>
                  <a:tcPr marL="73152" marR="73152" marT="27432" marB="27432" anchor="ctr">
                    <a:lnL w="6350" cap="flat" cmpd="sng" algn="ctr">
                      <a:solidFill>
                        <a:srgbClr val="D5DEE7"/>
                      </a:solidFill>
                      <a:prstDash val="solid"/>
                      <a:round/>
                      <a:headEnd type="none" w="med" len="med"/>
                      <a:tailEnd type="none" w="med" len="med"/>
                    </a:lnL>
                    <a:lnR w="6350" cap="flat" cmpd="sng" algn="ctr">
                      <a:solidFill>
                        <a:srgbClr val="D5DEE7"/>
                      </a:solidFill>
                      <a:prstDash val="solid"/>
                      <a:round/>
                      <a:headEnd type="none" w="med" len="med"/>
                      <a:tailEnd type="none" w="med" len="med"/>
                    </a:lnR>
                    <a:lnT w="6350" cap="flat" cmpd="sng" algn="ctr">
                      <a:solidFill>
                        <a:srgbClr val="D5DEE7"/>
                      </a:solidFill>
                      <a:prstDash val="solid"/>
                      <a:round/>
                      <a:headEnd type="none" w="med" len="med"/>
                      <a:tailEnd type="none" w="med" len="med"/>
                    </a:lnT>
                    <a:lnB w="6350" cap="flat" cmpd="sng" algn="ctr">
                      <a:solidFill>
                        <a:srgbClr val="D5DEE7"/>
                      </a:solidFill>
                      <a:prstDash val="solid"/>
                      <a:round/>
                      <a:headEnd type="none" w="med" len="med"/>
                      <a:tailEnd type="none" w="med" len="med"/>
                    </a:lnB>
                    <a:solidFill>
                      <a:schemeClr val="bg1"/>
                    </a:solidFill>
                  </a:tcPr>
                </a:tc>
              </a:tr>
              <a:tr h="384048">
                <a:tc>
                  <a:txBody>
                    <a:bodyPr/>
                    <a:lstStyle/>
                    <a:p>
                      <a:pPr indent="0" marL="0">
                        <a:buNone/>
                      </a:pPr>
                      <a:r>
                        <a:rPr lang="en-US" sz="1250" b="1" dirty="0">
                          <a:solidFill>
                            <a:schemeClr val="tx2"/>
                          </a:solidFill>
                          <a:latin typeface="Calibri" pitchFamily="34" charset="0"/>
                          <a:ea typeface="Calibri" pitchFamily="34" charset="-122"/>
                          <a:cs typeface="Calibri" pitchFamily="34" charset="-120"/>
                        </a:rPr>
                        <a:t>DHT11</a:t>
                      </a:r>
                      <a:endParaRPr lang="en-US" sz="1250" dirty="0">
                        <a:latin typeface="Calibri" charset="0"/>
                        <a:ea typeface="Calibri" charset="0"/>
                        <a:cs typeface="Calibri" charset="0"/>
                      </a:endParaRPr>
                    </a:p>
                  </a:txBody>
                  <a:tcPr marL="73152" marR="73152" marT="27432" marB="27432" anchor="ctr">
                    <a:lnL w="6350" cap="flat" cmpd="sng" algn="ctr">
                      <a:solidFill>
                        <a:srgbClr val="D5DEE7"/>
                      </a:solidFill>
                      <a:prstDash val="solid"/>
                      <a:round/>
                      <a:headEnd type="none" w="med" len="med"/>
                      <a:tailEnd type="none" w="med" len="med"/>
                    </a:lnL>
                    <a:lnR w="6350" cap="flat" cmpd="sng" algn="ctr">
                      <a:solidFill>
                        <a:srgbClr val="D5DEE7"/>
                      </a:solidFill>
                      <a:prstDash val="solid"/>
                      <a:round/>
                      <a:headEnd type="none" w="med" len="med"/>
                      <a:tailEnd type="none" w="med" len="med"/>
                    </a:lnR>
                    <a:lnT w="6350" cap="flat" cmpd="sng" algn="ctr">
                      <a:solidFill>
                        <a:srgbClr val="D5DEE7"/>
                      </a:solidFill>
                      <a:prstDash val="solid"/>
                      <a:round/>
                      <a:headEnd type="none" w="med" len="med"/>
                      <a:tailEnd type="none" w="med" len="med"/>
                    </a:lnT>
                    <a:lnB w="6350" cap="flat" cmpd="sng" algn="ctr">
                      <a:solidFill>
                        <a:srgbClr val="D5DEE7"/>
                      </a:solidFill>
                      <a:prstDash val="solid"/>
                      <a:round/>
                      <a:headEnd type="none" w="med" len="med"/>
                      <a:tailEnd type="none" w="med" len="med"/>
                    </a:lnB>
                    <a:solidFill>
                      <a:schemeClr val="bg2"/>
                    </a:solidFill>
                  </a:tcPr>
                </a:tc>
                <a:tc>
                  <a:txBody>
                    <a:bodyPr/>
                    <a:lstStyle/>
                    <a:p>
                      <a:pPr indent="0" marL="0">
                        <a:buNone/>
                      </a:pPr>
                      <a:r>
                        <a:rPr lang="en-US" sz="1250" dirty="0">
                          <a:solidFill>
                            <a:schemeClr val="tx1"/>
                          </a:solidFill>
                          <a:latin typeface="Calibri" pitchFamily="34" charset="0"/>
                          <a:ea typeface="Calibri" pitchFamily="34" charset="-122"/>
                          <a:cs typeface="Calibri" pitchFamily="34" charset="-120"/>
                        </a:rPr>
                        <a:t>PB0</a:t>
                      </a:r>
                      <a:endParaRPr lang="en-US" sz="1250" dirty="0">
                        <a:latin typeface="Calibri" charset="0"/>
                        <a:ea typeface="Calibri" charset="0"/>
                        <a:cs typeface="Calibri" charset="0"/>
                      </a:endParaRPr>
                    </a:p>
                  </a:txBody>
                  <a:tcPr marL="73152" marR="73152" marT="27432" marB="27432" anchor="ctr">
                    <a:lnL w="6350" cap="flat" cmpd="sng" algn="ctr">
                      <a:solidFill>
                        <a:srgbClr val="D5DEE7"/>
                      </a:solidFill>
                      <a:prstDash val="solid"/>
                      <a:round/>
                      <a:headEnd type="none" w="med" len="med"/>
                      <a:tailEnd type="none" w="med" len="med"/>
                    </a:lnL>
                    <a:lnR w="6350" cap="flat" cmpd="sng" algn="ctr">
                      <a:solidFill>
                        <a:srgbClr val="D5DEE7"/>
                      </a:solidFill>
                      <a:prstDash val="solid"/>
                      <a:round/>
                      <a:headEnd type="none" w="med" len="med"/>
                      <a:tailEnd type="none" w="med" len="med"/>
                    </a:lnR>
                    <a:lnT w="6350" cap="flat" cmpd="sng" algn="ctr">
                      <a:solidFill>
                        <a:srgbClr val="D5DEE7"/>
                      </a:solidFill>
                      <a:prstDash val="solid"/>
                      <a:round/>
                      <a:headEnd type="none" w="med" len="med"/>
                      <a:tailEnd type="none" w="med" len="med"/>
                    </a:lnT>
                    <a:lnB w="6350" cap="flat" cmpd="sng" algn="ctr">
                      <a:solidFill>
                        <a:srgbClr val="D5DEE7"/>
                      </a:solidFill>
                      <a:prstDash val="solid"/>
                      <a:round/>
                      <a:headEnd type="none" w="med" len="med"/>
                      <a:tailEnd type="none" w="med" len="med"/>
                    </a:lnB>
                    <a:solidFill>
                      <a:schemeClr val="bg2"/>
                    </a:solidFill>
                  </a:tcPr>
                </a:tc>
                <a:tc>
                  <a:txBody>
                    <a:bodyPr/>
                    <a:lstStyle/>
                    <a:p>
                      <a:pPr indent="0" marL="0">
                        <a:buNone/>
                      </a:pPr>
                      <a:r>
                        <a:rPr lang="en-US" sz="1250" dirty="0">
                          <a:solidFill>
                            <a:schemeClr val="tx1"/>
                          </a:solidFill>
                          <a:latin typeface="Calibri" pitchFamily="34" charset="0"/>
                          <a:ea typeface="Calibri" pitchFamily="34" charset="-122"/>
                          <a:cs typeface="Calibri" pitchFamily="34" charset="-120"/>
                        </a:rPr>
                        <a:t>GPIO bidirectionnel</a:t>
                      </a:r>
                      <a:endParaRPr lang="en-US" sz="1250" dirty="0">
                        <a:latin typeface="Calibri" charset="0"/>
                        <a:ea typeface="Calibri" charset="0"/>
                        <a:cs typeface="Calibri" charset="0"/>
                      </a:endParaRPr>
                    </a:p>
                  </a:txBody>
                  <a:tcPr marL="73152" marR="73152" marT="27432" marB="27432" anchor="ctr">
                    <a:lnL w="6350" cap="flat" cmpd="sng" algn="ctr">
                      <a:solidFill>
                        <a:srgbClr val="D5DEE7"/>
                      </a:solidFill>
                      <a:prstDash val="solid"/>
                      <a:round/>
                      <a:headEnd type="none" w="med" len="med"/>
                      <a:tailEnd type="none" w="med" len="med"/>
                    </a:lnL>
                    <a:lnR w="6350" cap="flat" cmpd="sng" algn="ctr">
                      <a:solidFill>
                        <a:srgbClr val="D5DEE7"/>
                      </a:solidFill>
                      <a:prstDash val="solid"/>
                      <a:round/>
                      <a:headEnd type="none" w="med" len="med"/>
                      <a:tailEnd type="none" w="med" len="med"/>
                    </a:lnR>
                    <a:lnT w="6350" cap="flat" cmpd="sng" algn="ctr">
                      <a:solidFill>
                        <a:srgbClr val="D5DEE7"/>
                      </a:solidFill>
                      <a:prstDash val="solid"/>
                      <a:round/>
                      <a:headEnd type="none" w="med" len="med"/>
                      <a:tailEnd type="none" w="med" len="med"/>
                    </a:lnT>
                    <a:lnB w="6350" cap="flat" cmpd="sng" algn="ctr">
                      <a:solidFill>
                        <a:srgbClr val="D5DEE7"/>
                      </a:solidFill>
                      <a:prstDash val="solid"/>
                      <a:round/>
                      <a:headEnd type="none" w="med" len="med"/>
                      <a:tailEnd type="none" w="med" len="med"/>
                    </a:lnB>
                    <a:solidFill>
                      <a:schemeClr val="bg2"/>
                    </a:solidFill>
                  </a:tcPr>
                </a:tc>
              </a:tr>
              <a:tr h="384048">
                <a:tc>
                  <a:txBody>
                    <a:bodyPr/>
                    <a:lstStyle/>
                    <a:p>
                      <a:pPr indent="0" marL="0">
                        <a:buNone/>
                      </a:pPr>
                      <a:r>
                        <a:rPr lang="en-US" sz="1250" b="1" dirty="0">
                          <a:solidFill>
                            <a:schemeClr val="tx2"/>
                          </a:solidFill>
                          <a:latin typeface="Calibri" pitchFamily="34" charset="0"/>
                          <a:ea typeface="Calibri" pitchFamily="34" charset="-122"/>
                          <a:cs typeface="Calibri" pitchFamily="34" charset="-120"/>
                        </a:rPr>
                        <a:t>BH1750 + écran LCD</a:t>
                      </a:r>
                      <a:endParaRPr lang="en-US" sz="1250" dirty="0">
                        <a:latin typeface="Calibri" charset="0"/>
                        <a:ea typeface="Calibri" charset="0"/>
                        <a:cs typeface="Calibri" charset="0"/>
                      </a:endParaRPr>
                    </a:p>
                  </a:txBody>
                  <a:tcPr marL="73152" marR="73152" marT="27432" marB="27432" anchor="ctr">
                    <a:lnL w="6350" cap="flat" cmpd="sng" algn="ctr">
                      <a:solidFill>
                        <a:srgbClr val="D5DEE7"/>
                      </a:solidFill>
                      <a:prstDash val="solid"/>
                      <a:round/>
                      <a:headEnd type="none" w="med" len="med"/>
                      <a:tailEnd type="none" w="med" len="med"/>
                    </a:lnL>
                    <a:lnR w="6350" cap="flat" cmpd="sng" algn="ctr">
                      <a:solidFill>
                        <a:srgbClr val="D5DEE7"/>
                      </a:solidFill>
                      <a:prstDash val="solid"/>
                      <a:round/>
                      <a:headEnd type="none" w="med" len="med"/>
                      <a:tailEnd type="none" w="med" len="med"/>
                    </a:lnR>
                    <a:lnT w="6350" cap="flat" cmpd="sng" algn="ctr">
                      <a:solidFill>
                        <a:srgbClr val="D5DEE7"/>
                      </a:solidFill>
                      <a:prstDash val="solid"/>
                      <a:round/>
                      <a:headEnd type="none" w="med" len="med"/>
                      <a:tailEnd type="none" w="med" len="med"/>
                    </a:lnT>
                    <a:lnB w="6350" cap="flat" cmpd="sng" algn="ctr">
                      <a:solidFill>
                        <a:srgbClr val="D5DEE7"/>
                      </a:solidFill>
                      <a:prstDash val="solid"/>
                      <a:round/>
                      <a:headEnd type="none" w="med" len="med"/>
                      <a:tailEnd type="none" w="med" len="med"/>
                    </a:lnB>
                    <a:solidFill>
                      <a:schemeClr val="bg1"/>
                    </a:solidFill>
                  </a:tcPr>
                </a:tc>
                <a:tc>
                  <a:txBody>
                    <a:bodyPr/>
                    <a:lstStyle/>
                    <a:p>
                      <a:pPr indent="0" marL="0">
                        <a:buNone/>
                      </a:pPr>
                      <a:r>
                        <a:rPr lang="en-US" sz="1250" dirty="0">
                          <a:solidFill>
                            <a:schemeClr val="tx1"/>
                          </a:solidFill>
                          <a:latin typeface="Calibri" pitchFamily="34" charset="0"/>
                          <a:ea typeface="Calibri" pitchFamily="34" charset="-122"/>
                          <a:cs typeface="Calibri" pitchFamily="34" charset="-120"/>
                        </a:rPr>
                        <a:t>PB8 (SCL) · PB9 (SDA)</a:t>
                      </a:r>
                      <a:endParaRPr lang="en-US" sz="1250" dirty="0">
                        <a:latin typeface="Calibri" charset="0"/>
                        <a:ea typeface="Calibri" charset="0"/>
                        <a:cs typeface="Calibri" charset="0"/>
                      </a:endParaRPr>
                    </a:p>
                  </a:txBody>
                  <a:tcPr marL="73152" marR="73152" marT="27432" marB="27432" anchor="ctr">
                    <a:lnL w="6350" cap="flat" cmpd="sng" algn="ctr">
                      <a:solidFill>
                        <a:srgbClr val="D5DEE7"/>
                      </a:solidFill>
                      <a:prstDash val="solid"/>
                      <a:round/>
                      <a:headEnd type="none" w="med" len="med"/>
                      <a:tailEnd type="none" w="med" len="med"/>
                    </a:lnL>
                    <a:lnR w="6350" cap="flat" cmpd="sng" algn="ctr">
                      <a:solidFill>
                        <a:srgbClr val="D5DEE7"/>
                      </a:solidFill>
                      <a:prstDash val="solid"/>
                      <a:round/>
                      <a:headEnd type="none" w="med" len="med"/>
                      <a:tailEnd type="none" w="med" len="med"/>
                    </a:lnR>
                    <a:lnT w="6350" cap="flat" cmpd="sng" algn="ctr">
                      <a:solidFill>
                        <a:srgbClr val="D5DEE7"/>
                      </a:solidFill>
                      <a:prstDash val="solid"/>
                      <a:round/>
                      <a:headEnd type="none" w="med" len="med"/>
                      <a:tailEnd type="none" w="med" len="med"/>
                    </a:lnT>
                    <a:lnB w="6350" cap="flat" cmpd="sng" algn="ctr">
                      <a:solidFill>
                        <a:srgbClr val="D5DEE7"/>
                      </a:solidFill>
                      <a:prstDash val="solid"/>
                      <a:round/>
                      <a:headEnd type="none" w="med" len="med"/>
                      <a:tailEnd type="none" w="med" len="med"/>
                    </a:lnB>
                    <a:solidFill>
                      <a:schemeClr val="bg1"/>
                    </a:solidFill>
                  </a:tcPr>
                </a:tc>
                <a:tc>
                  <a:txBody>
                    <a:bodyPr/>
                    <a:lstStyle/>
                    <a:p>
                      <a:pPr indent="0" marL="0">
                        <a:buNone/>
                      </a:pPr>
                      <a:r>
                        <a:rPr lang="en-US" sz="1250" dirty="0">
                          <a:solidFill>
                            <a:schemeClr val="tx1"/>
                          </a:solidFill>
                          <a:latin typeface="Calibri" pitchFamily="34" charset="0"/>
                          <a:ea typeface="Calibri" pitchFamily="34" charset="-122"/>
                          <a:cs typeface="Calibri" pitchFamily="34" charset="-120"/>
                        </a:rPr>
                        <a:t>I2C1, 100 kHz</a:t>
                      </a:r>
                      <a:endParaRPr lang="en-US" sz="1250" dirty="0">
                        <a:latin typeface="Calibri" charset="0"/>
                        <a:ea typeface="Calibri" charset="0"/>
                        <a:cs typeface="Calibri" charset="0"/>
                      </a:endParaRPr>
                    </a:p>
                  </a:txBody>
                  <a:tcPr marL="73152" marR="73152" marT="27432" marB="27432" anchor="ctr">
                    <a:lnL w="6350" cap="flat" cmpd="sng" algn="ctr">
                      <a:solidFill>
                        <a:srgbClr val="D5DEE7"/>
                      </a:solidFill>
                      <a:prstDash val="solid"/>
                      <a:round/>
                      <a:headEnd type="none" w="med" len="med"/>
                      <a:tailEnd type="none" w="med" len="med"/>
                    </a:lnL>
                    <a:lnR w="6350" cap="flat" cmpd="sng" algn="ctr">
                      <a:solidFill>
                        <a:srgbClr val="D5DEE7"/>
                      </a:solidFill>
                      <a:prstDash val="solid"/>
                      <a:round/>
                      <a:headEnd type="none" w="med" len="med"/>
                      <a:tailEnd type="none" w="med" len="med"/>
                    </a:lnR>
                    <a:lnT w="6350" cap="flat" cmpd="sng" algn="ctr">
                      <a:solidFill>
                        <a:srgbClr val="D5DEE7"/>
                      </a:solidFill>
                      <a:prstDash val="solid"/>
                      <a:round/>
                      <a:headEnd type="none" w="med" len="med"/>
                      <a:tailEnd type="none" w="med" len="med"/>
                    </a:lnT>
                    <a:lnB w="6350" cap="flat" cmpd="sng" algn="ctr">
                      <a:solidFill>
                        <a:srgbClr val="D5DEE7"/>
                      </a:solidFill>
                      <a:prstDash val="solid"/>
                      <a:round/>
                      <a:headEnd type="none" w="med" len="med"/>
                      <a:tailEnd type="none" w="med" len="med"/>
                    </a:lnB>
                    <a:solidFill>
                      <a:schemeClr val="bg1"/>
                    </a:solidFill>
                  </a:tcPr>
                </a:tc>
              </a:tr>
              <a:tr h="384048">
                <a:tc>
                  <a:txBody>
                    <a:bodyPr/>
                    <a:lstStyle/>
                    <a:p>
                      <a:pPr indent="0" marL="0">
                        <a:buNone/>
                      </a:pPr>
                      <a:r>
                        <a:rPr lang="en-US" sz="1250" b="1" dirty="0">
                          <a:solidFill>
                            <a:schemeClr val="tx2"/>
                          </a:solidFill>
                          <a:latin typeface="Calibri" pitchFamily="34" charset="0"/>
                          <a:ea typeface="Calibri" pitchFamily="34" charset="-122"/>
                          <a:cs typeface="Calibri" pitchFamily="34" charset="-120"/>
                        </a:rPr>
                        <a:t>Carte SD</a:t>
                      </a:r>
                      <a:endParaRPr lang="en-US" sz="1250" dirty="0">
                        <a:latin typeface="Calibri" charset="0"/>
                        <a:ea typeface="Calibri" charset="0"/>
                        <a:cs typeface="Calibri" charset="0"/>
                      </a:endParaRPr>
                    </a:p>
                  </a:txBody>
                  <a:tcPr marL="73152" marR="73152" marT="27432" marB="27432" anchor="ctr">
                    <a:lnL w="6350" cap="flat" cmpd="sng" algn="ctr">
                      <a:solidFill>
                        <a:srgbClr val="D5DEE7"/>
                      </a:solidFill>
                      <a:prstDash val="solid"/>
                      <a:round/>
                      <a:headEnd type="none" w="med" len="med"/>
                      <a:tailEnd type="none" w="med" len="med"/>
                    </a:lnL>
                    <a:lnR w="6350" cap="flat" cmpd="sng" algn="ctr">
                      <a:solidFill>
                        <a:srgbClr val="D5DEE7"/>
                      </a:solidFill>
                      <a:prstDash val="solid"/>
                      <a:round/>
                      <a:headEnd type="none" w="med" len="med"/>
                      <a:tailEnd type="none" w="med" len="med"/>
                    </a:lnR>
                    <a:lnT w="6350" cap="flat" cmpd="sng" algn="ctr">
                      <a:solidFill>
                        <a:srgbClr val="D5DEE7"/>
                      </a:solidFill>
                      <a:prstDash val="solid"/>
                      <a:round/>
                      <a:headEnd type="none" w="med" len="med"/>
                      <a:tailEnd type="none" w="med" len="med"/>
                    </a:lnT>
                    <a:lnB w="6350" cap="flat" cmpd="sng" algn="ctr">
                      <a:solidFill>
                        <a:srgbClr val="D5DEE7"/>
                      </a:solidFill>
                      <a:prstDash val="solid"/>
                      <a:round/>
                      <a:headEnd type="none" w="med" len="med"/>
                      <a:tailEnd type="none" w="med" len="med"/>
                    </a:lnB>
                    <a:solidFill>
                      <a:schemeClr val="bg2"/>
                    </a:solidFill>
                  </a:tcPr>
                </a:tc>
                <a:tc>
                  <a:txBody>
                    <a:bodyPr/>
                    <a:lstStyle/>
                    <a:p>
                      <a:pPr indent="0" marL="0">
                        <a:buNone/>
                      </a:pPr>
                      <a:r>
                        <a:rPr lang="en-US" sz="1250" dirty="0">
                          <a:solidFill>
                            <a:schemeClr val="tx1"/>
                          </a:solidFill>
                          <a:latin typeface="Calibri" pitchFamily="34" charset="0"/>
                          <a:ea typeface="Calibri" pitchFamily="34" charset="-122"/>
                          <a:cs typeface="Calibri" pitchFamily="34" charset="-120"/>
                        </a:rPr>
                        <a:t>PA5 · PA6 · PA7 · CS PB6</a:t>
                      </a:r>
                      <a:endParaRPr lang="en-US" sz="1250" dirty="0">
                        <a:latin typeface="Calibri" charset="0"/>
                        <a:ea typeface="Calibri" charset="0"/>
                        <a:cs typeface="Calibri" charset="0"/>
                      </a:endParaRPr>
                    </a:p>
                  </a:txBody>
                  <a:tcPr marL="73152" marR="73152" marT="27432" marB="27432" anchor="ctr">
                    <a:lnL w="6350" cap="flat" cmpd="sng" algn="ctr">
                      <a:solidFill>
                        <a:srgbClr val="D5DEE7"/>
                      </a:solidFill>
                      <a:prstDash val="solid"/>
                      <a:round/>
                      <a:headEnd type="none" w="med" len="med"/>
                      <a:tailEnd type="none" w="med" len="med"/>
                    </a:lnL>
                    <a:lnR w="6350" cap="flat" cmpd="sng" algn="ctr">
                      <a:solidFill>
                        <a:srgbClr val="D5DEE7"/>
                      </a:solidFill>
                      <a:prstDash val="solid"/>
                      <a:round/>
                      <a:headEnd type="none" w="med" len="med"/>
                      <a:tailEnd type="none" w="med" len="med"/>
                    </a:lnR>
                    <a:lnT w="6350" cap="flat" cmpd="sng" algn="ctr">
                      <a:solidFill>
                        <a:srgbClr val="D5DEE7"/>
                      </a:solidFill>
                      <a:prstDash val="solid"/>
                      <a:round/>
                      <a:headEnd type="none" w="med" len="med"/>
                      <a:tailEnd type="none" w="med" len="med"/>
                    </a:lnT>
                    <a:lnB w="6350" cap="flat" cmpd="sng" algn="ctr">
                      <a:solidFill>
                        <a:srgbClr val="D5DEE7"/>
                      </a:solidFill>
                      <a:prstDash val="solid"/>
                      <a:round/>
                      <a:headEnd type="none" w="med" len="med"/>
                      <a:tailEnd type="none" w="med" len="med"/>
                    </a:lnB>
                    <a:solidFill>
                      <a:schemeClr val="bg2"/>
                    </a:solidFill>
                  </a:tcPr>
                </a:tc>
                <a:tc>
                  <a:txBody>
                    <a:bodyPr/>
                    <a:lstStyle/>
                    <a:p>
                      <a:pPr indent="0" marL="0">
                        <a:buNone/>
                      </a:pPr>
                      <a:r>
                        <a:rPr lang="en-US" sz="1250" dirty="0">
                          <a:solidFill>
                            <a:schemeClr val="tx1"/>
                          </a:solidFill>
                          <a:latin typeface="Calibri" pitchFamily="34" charset="0"/>
                          <a:ea typeface="Calibri" pitchFamily="34" charset="-122"/>
                          <a:cs typeface="Calibri" pitchFamily="34" charset="-120"/>
                        </a:rPr>
                        <a:t>SPI1 + FatFS</a:t>
                      </a:r>
                      <a:endParaRPr lang="en-US" sz="1250" dirty="0">
                        <a:latin typeface="Calibri" charset="0"/>
                        <a:ea typeface="Calibri" charset="0"/>
                        <a:cs typeface="Calibri" charset="0"/>
                      </a:endParaRPr>
                    </a:p>
                  </a:txBody>
                  <a:tcPr marL="73152" marR="73152" marT="27432" marB="27432" anchor="ctr">
                    <a:lnL w="6350" cap="flat" cmpd="sng" algn="ctr">
                      <a:solidFill>
                        <a:srgbClr val="D5DEE7"/>
                      </a:solidFill>
                      <a:prstDash val="solid"/>
                      <a:round/>
                      <a:headEnd type="none" w="med" len="med"/>
                      <a:tailEnd type="none" w="med" len="med"/>
                    </a:lnL>
                    <a:lnR w="6350" cap="flat" cmpd="sng" algn="ctr">
                      <a:solidFill>
                        <a:srgbClr val="D5DEE7"/>
                      </a:solidFill>
                      <a:prstDash val="solid"/>
                      <a:round/>
                      <a:headEnd type="none" w="med" len="med"/>
                      <a:tailEnd type="none" w="med" len="med"/>
                    </a:lnR>
                    <a:lnT w="6350" cap="flat" cmpd="sng" algn="ctr">
                      <a:solidFill>
                        <a:srgbClr val="D5DEE7"/>
                      </a:solidFill>
                      <a:prstDash val="solid"/>
                      <a:round/>
                      <a:headEnd type="none" w="med" len="med"/>
                      <a:tailEnd type="none" w="med" len="med"/>
                    </a:lnT>
                    <a:lnB w="6350" cap="flat" cmpd="sng" algn="ctr">
                      <a:solidFill>
                        <a:srgbClr val="D5DEE7"/>
                      </a:solidFill>
                      <a:prstDash val="solid"/>
                      <a:round/>
                      <a:headEnd type="none" w="med" len="med"/>
                      <a:tailEnd type="none" w="med" len="med"/>
                    </a:lnB>
                    <a:solidFill>
                      <a:schemeClr val="bg2"/>
                    </a:solidFill>
                  </a:tcPr>
                </a:tc>
              </a:tr>
              <a:tr h="384048">
                <a:tc>
                  <a:txBody>
                    <a:bodyPr/>
                    <a:lstStyle/>
                    <a:p>
                      <a:pPr indent="0" marL="0">
                        <a:buNone/>
                      </a:pPr>
                      <a:r>
                        <a:rPr lang="en-US" sz="1250" b="1" dirty="0">
                          <a:solidFill>
                            <a:schemeClr val="tx2"/>
                          </a:solidFill>
                          <a:latin typeface="Calibri" pitchFamily="34" charset="0"/>
                          <a:ea typeface="Calibri" pitchFamily="34" charset="-122"/>
                          <a:cs typeface="Calibri" pitchFamily="34" charset="-120"/>
                        </a:rPr>
                        <a:t>GPS</a:t>
                      </a:r>
                      <a:endParaRPr lang="en-US" sz="1250" dirty="0">
                        <a:latin typeface="Calibri" charset="0"/>
                        <a:ea typeface="Calibri" charset="0"/>
                        <a:cs typeface="Calibri" charset="0"/>
                      </a:endParaRPr>
                    </a:p>
                  </a:txBody>
                  <a:tcPr marL="73152" marR="73152" marT="27432" marB="27432" anchor="ctr">
                    <a:lnL w="6350" cap="flat" cmpd="sng" algn="ctr">
                      <a:solidFill>
                        <a:srgbClr val="D5DEE7"/>
                      </a:solidFill>
                      <a:prstDash val="solid"/>
                      <a:round/>
                      <a:headEnd type="none" w="med" len="med"/>
                      <a:tailEnd type="none" w="med" len="med"/>
                    </a:lnL>
                    <a:lnR w="6350" cap="flat" cmpd="sng" algn="ctr">
                      <a:solidFill>
                        <a:srgbClr val="D5DEE7"/>
                      </a:solidFill>
                      <a:prstDash val="solid"/>
                      <a:round/>
                      <a:headEnd type="none" w="med" len="med"/>
                      <a:tailEnd type="none" w="med" len="med"/>
                    </a:lnR>
                    <a:lnT w="6350" cap="flat" cmpd="sng" algn="ctr">
                      <a:solidFill>
                        <a:srgbClr val="D5DEE7"/>
                      </a:solidFill>
                      <a:prstDash val="solid"/>
                      <a:round/>
                      <a:headEnd type="none" w="med" len="med"/>
                      <a:tailEnd type="none" w="med" len="med"/>
                    </a:lnT>
                    <a:lnB w="6350" cap="flat" cmpd="sng" algn="ctr">
                      <a:solidFill>
                        <a:srgbClr val="D5DEE7"/>
                      </a:solidFill>
                      <a:prstDash val="solid"/>
                      <a:round/>
                      <a:headEnd type="none" w="med" len="med"/>
                      <a:tailEnd type="none" w="med" len="med"/>
                    </a:lnB>
                    <a:solidFill>
                      <a:schemeClr val="bg1"/>
                    </a:solidFill>
                  </a:tcPr>
                </a:tc>
                <a:tc>
                  <a:txBody>
                    <a:bodyPr/>
                    <a:lstStyle/>
                    <a:p>
                      <a:pPr indent="0" marL="0">
                        <a:buNone/>
                      </a:pPr>
                      <a:r>
                        <a:rPr lang="en-US" sz="1250" dirty="0">
                          <a:solidFill>
                            <a:schemeClr val="tx1"/>
                          </a:solidFill>
                          <a:latin typeface="Calibri" pitchFamily="34" charset="0"/>
                          <a:ea typeface="Calibri" pitchFamily="34" charset="-122"/>
                          <a:cs typeface="Calibri" pitchFamily="34" charset="-120"/>
                        </a:rPr>
                        <a:t>PC10 (TX) · PC11 (RX)</a:t>
                      </a:r>
                      <a:endParaRPr lang="en-US" sz="1250" dirty="0">
                        <a:latin typeface="Calibri" charset="0"/>
                        <a:ea typeface="Calibri" charset="0"/>
                        <a:cs typeface="Calibri" charset="0"/>
                      </a:endParaRPr>
                    </a:p>
                  </a:txBody>
                  <a:tcPr marL="73152" marR="73152" marT="27432" marB="27432" anchor="ctr">
                    <a:lnL w="6350" cap="flat" cmpd="sng" algn="ctr">
                      <a:solidFill>
                        <a:srgbClr val="D5DEE7"/>
                      </a:solidFill>
                      <a:prstDash val="solid"/>
                      <a:round/>
                      <a:headEnd type="none" w="med" len="med"/>
                      <a:tailEnd type="none" w="med" len="med"/>
                    </a:lnL>
                    <a:lnR w="6350" cap="flat" cmpd="sng" algn="ctr">
                      <a:solidFill>
                        <a:srgbClr val="D5DEE7"/>
                      </a:solidFill>
                      <a:prstDash val="solid"/>
                      <a:round/>
                      <a:headEnd type="none" w="med" len="med"/>
                      <a:tailEnd type="none" w="med" len="med"/>
                    </a:lnR>
                    <a:lnT w="6350" cap="flat" cmpd="sng" algn="ctr">
                      <a:solidFill>
                        <a:srgbClr val="D5DEE7"/>
                      </a:solidFill>
                      <a:prstDash val="solid"/>
                      <a:round/>
                      <a:headEnd type="none" w="med" len="med"/>
                      <a:tailEnd type="none" w="med" len="med"/>
                    </a:lnT>
                    <a:lnB w="6350" cap="flat" cmpd="sng" algn="ctr">
                      <a:solidFill>
                        <a:srgbClr val="D5DEE7"/>
                      </a:solidFill>
                      <a:prstDash val="solid"/>
                      <a:round/>
                      <a:headEnd type="none" w="med" len="med"/>
                      <a:tailEnd type="none" w="med" len="med"/>
                    </a:lnB>
                    <a:solidFill>
                      <a:schemeClr val="bg1"/>
                    </a:solidFill>
                  </a:tcPr>
                </a:tc>
                <a:tc>
                  <a:txBody>
                    <a:bodyPr/>
                    <a:lstStyle/>
                    <a:p>
                      <a:pPr indent="0" marL="0">
                        <a:buNone/>
                      </a:pPr>
                      <a:r>
                        <a:rPr lang="en-US" sz="1250" dirty="0">
                          <a:solidFill>
                            <a:schemeClr val="tx1"/>
                          </a:solidFill>
                          <a:latin typeface="Calibri" pitchFamily="34" charset="0"/>
                          <a:ea typeface="Calibri" pitchFamily="34" charset="-122"/>
                          <a:cs typeface="Calibri" pitchFamily="34" charset="-120"/>
                        </a:rPr>
                        <a:t>USART3, 9600 Bd</a:t>
                      </a:r>
                      <a:endParaRPr lang="en-US" sz="1250" dirty="0">
                        <a:latin typeface="Calibri" charset="0"/>
                        <a:ea typeface="Calibri" charset="0"/>
                        <a:cs typeface="Calibri" charset="0"/>
                      </a:endParaRPr>
                    </a:p>
                  </a:txBody>
                  <a:tcPr marL="73152" marR="73152" marT="27432" marB="27432" anchor="ctr">
                    <a:lnL w="6350" cap="flat" cmpd="sng" algn="ctr">
                      <a:solidFill>
                        <a:srgbClr val="D5DEE7"/>
                      </a:solidFill>
                      <a:prstDash val="solid"/>
                      <a:round/>
                      <a:headEnd type="none" w="med" len="med"/>
                      <a:tailEnd type="none" w="med" len="med"/>
                    </a:lnL>
                    <a:lnR w="6350" cap="flat" cmpd="sng" algn="ctr">
                      <a:solidFill>
                        <a:srgbClr val="D5DEE7"/>
                      </a:solidFill>
                      <a:prstDash val="solid"/>
                      <a:round/>
                      <a:headEnd type="none" w="med" len="med"/>
                      <a:tailEnd type="none" w="med" len="med"/>
                    </a:lnR>
                    <a:lnT w="6350" cap="flat" cmpd="sng" algn="ctr">
                      <a:solidFill>
                        <a:srgbClr val="D5DEE7"/>
                      </a:solidFill>
                      <a:prstDash val="solid"/>
                      <a:round/>
                      <a:headEnd type="none" w="med" len="med"/>
                      <a:tailEnd type="none" w="med" len="med"/>
                    </a:lnT>
                    <a:lnB w="6350" cap="flat" cmpd="sng" algn="ctr">
                      <a:solidFill>
                        <a:srgbClr val="D5DEE7"/>
                      </a:solidFill>
                      <a:prstDash val="solid"/>
                      <a:round/>
                      <a:headEnd type="none" w="med" len="med"/>
                      <a:tailEnd type="none" w="med" len="med"/>
                    </a:lnB>
                    <a:solidFill>
                      <a:schemeClr val="bg1"/>
                    </a:solidFill>
                  </a:tcPr>
                </a:tc>
              </a:tr>
              <a:tr h="384048">
                <a:tc>
                  <a:txBody>
                    <a:bodyPr/>
                    <a:lstStyle/>
                    <a:p>
                      <a:pPr indent="0" marL="0">
                        <a:buNone/>
                      </a:pPr>
                      <a:r>
                        <a:rPr lang="en-US" sz="1250" b="1" dirty="0">
                          <a:solidFill>
                            <a:schemeClr val="tx2"/>
                          </a:solidFill>
                          <a:latin typeface="Calibri" pitchFamily="34" charset="0"/>
                          <a:ea typeface="Calibri" pitchFamily="34" charset="-122"/>
                          <a:cs typeface="Calibri" pitchFamily="34" charset="-120"/>
                        </a:rPr>
                        <a:t>Console</a:t>
                      </a:r>
                      <a:endParaRPr lang="en-US" sz="1250" dirty="0">
                        <a:latin typeface="Calibri" charset="0"/>
                        <a:ea typeface="Calibri" charset="0"/>
                        <a:cs typeface="Calibri" charset="0"/>
                      </a:endParaRPr>
                    </a:p>
                  </a:txBody>
                  <a:tcPr marL="73152" marR="73152" marT="27432" marB="27432" anchor="ctr">
                    <a:lnL w="6350" cap="flat" cmpd="sng" algn="ctr">
                      <a:solidFill>
                        <a:srgbClr val="D5DEE7"/>
                      </a:solidFill>
                      <a:prstDash val="solid"/>
                      <a:round/>
                      <a:headEnd type="none" w="med" len="med"/>
                      <a:tailEnd type="none" w="med" len="med"/>
                    </a:lnL>
                    <a:lnR w="6350" cap="flat" cmpd="sng" algn="ctr">
                      <a:solidFill>
                        <a:srgbClr val="D5DEE7"/>
                      </a:solidFill>
                      <a:prstDash val="solid"/>
                      <a:round/>
                      <a:headEnd type="none" w="med" len="med"/>
                      <a:tailEnd type="none" w="med" len="med"/>
                    </a:lnR>
                    <a:lnT w="6350" cap="flat" cmpd="sng" algn="ctr">
                      <a:solidFill>
                        <a:srgbClr val="D5DEE7"/>
                      </a:solidFill>
                      <a:prstDash val="solid"/>
                      <a:round/>
                      <a:headEnd type="none" w="med" len="med"/>
                      <a:tailEnd type="none" w="med" len="med"/>
                    </a:lnT>
                    <a:lnB w="6350" cap="flat" cmpd="sng" algn="ctr">
                      <a:solidFill>
                        <a:srgbClr val="D5DEE7"/>
                      </a:solidFill>
                      <a:prstDash val="solid"/>
                      <a:round/>
                      <a:headEnd type="none" w="med" len="med"/>
                      <a:tailEnd type="none" w="med" len="med"/>
                    </a:lnB>
                    <a:solidFill>
                      <a:schemeClr val="bg2"/>
                    </a:solidFill>
                  </a:tcPr>
                </a:tc>
                <a:tc>
                  <a:txBody>
                    <a:bodyPr/>
                    <a:lstStyle/>
                    <a:p>
                      <a:pPr indent="0" marL="0">
                        <a:buNone/>
                      </a:pPr>
                      <a:r>
                        <a:rPr lang="en-US" sz="1250" dirty="0">
                          <a:solidFill>
                            <a:schemeClr val="tx1"/>
                          </a:solidFill>
                          <a:latin typeface="Calibri" pitchFamily="34" charset="0"/>
                          <a:ea typeface="Calibri" pitchFamily="34" charset="-122"/>
                          <a:cs typeface="Calibri" pitchFamily="34" charset="-120"/>
                        </a:rPr>
                        <a:t>PA2 · PA3 (ST-LINK)</a:t>
                      </a:r>
                      <a:endParaRPr lang="en-US" sz="1250" dirty="0">
                        <a:latin typeface="Calibri" charset="0"/>
                        <a:ea typeface="Calibri" charset="0"/>
                        <a:cs typeface="Calibri" charset="0"/>
                      </a:endParaRPr>
                    </a:p>
                  </a:txBody>
                  <a:tcPr marL="73152" marR="73152" marT="27432" marB="27432" anchor="ctr">
                    <a:lnL w="6350" cap="flat" cmpd="sng" algn="ctr">
                      <a:solidFill>
                        <a:srgbClr val="D5DEE7"/>
                      </a:solidFill>
                      <a:prstDash val="solid"/>
                      <a:round/>
                      <a:headEnd type="none" w="med" len="med"/>
                      <a:tailEnd type="none" w="med" len="med"/>
                    </a:lnL>
                    <a:lnR w="6350" cap="flat" cmpd="sng" algn="ctr">
                      <a:solidFill>
                        <a:srgbClr val="D5DEE7"/>
                      </a:solidFill>
                      <a:prstDash val="solid"/>
                      <a:round/>
                      <a:headEnd type="none" w="med" len="med"/>
                      <a:tailEnd type="none" w="med" len="med"/>
                    </a:lnR>
                    <a:lnT w="6350" cap="flat" cmpd="sng" algn="ctr">
                      <a:solidFill>
                        <a:srgbClr val="D5DEE7"/>
                      </a:solidFill>
                      <a:prstDash val="solid"/>
                      <a:round/>
                      <a:headEnd type="none" w="med" len="med"/>
                      <a:tailEnd type="none" w="med" len="med"/>
                    </a:lnT>
                    <a:lnB w="6350" cap="flat" cmpd="sng" algn="ctr">
                      <a:solidFill>
                        <a:srgbClr val="D5DEE7"/>
                      </a:solidFill>
                      <a:prstDash val="solid"/>
                      <a:round/>
                      <a:headEnd type="none" w="med" len="med"/>
                      <a:tailEnd type="none" w="med" len="med"/>
                    </a:lnB>
                    <a:solidFill>
                      <a:schemeClr val="bg2"/>
                    </a:solidFill>
                  </a:tcPr>
                </a:tc>
                <a:tc>
                  <a:txBody>
                    <a:bodyPr/>
                    <a:lstStyle/>
                    <a:p>
                      <a:pPr indent="0" marL="0">
                        <a:buNone/>
                      </a:pPr>
                      <a:r>
                        <a:rPr lang="en-US" sz="1250" dirty="0">
                          <a:solidFill>
                            <a:schemeClr val="tx1"/>
                          </a:solidFill>
                          <a:latin typeface="Calibri" pitchFamily="34" charset="0"/>
                          <a:ea typeface="Calibri" pitchFamily="34" charset="-122"/>
                          <a:cs typeface="Calibri" pitchFamily="34" charset="-120"/>
                        </a:rPr>
                        <a:t>USART2, 115 200 Bd</a:t>
                      </a:r>
                      <a:endParaRPr lang="en-US" sz="1250" dirty="0">
                        <a:latin typeface="Calibri" charset="0"/>
                        <a:ea typeface="Calibri" charset="0"/>
                        <a:cs typeface="Calibri" charset="0"/>
                      </a:endParaRPr>
                    </a:p>
                  </a:txBody>
                  <a:tcPr marL="73152" marR="73152" marT="27432" marB="27432" anchor="ctr">
                    <a:lnL w="6350" cap="flat" cmpd="sng" algn="ctr">
                      <a:solidFill>
                        <a:srgbClr val="D5DEE7"/>
                      </a:solidFill>
                      <a:prstDash val="solid"/>
                      <a:round/>
                      <a:headEnd type="none" w="med" len="med"/>
                      <a:tailEnd type="none" w="med" len="med"/>
                    </a:lnL>
                    <a:lnR w="6350" cap="flat" cmpd="sng" algn="ctr">
                      <a:solidFill>
                        <a:srgbClr val="D5DEE7"/>
                      </a:solidFill>
                      <a:prstDash val="solid"/>
                      <a:round/>
                      <a:headEnd type="none" w="med" len="med"/>
                      <a:tailEnd type="none" w="med" len="med"/>
                    </a:lnR>
                    <a:lnT w="6350" cap="flat" cmpd="sng" algn="ctr">
                      <a:solidFill>
                        <a:srgbClr val="D5DEE7"/>
                      </a:solidFill>
                      <a:prstDash val="solid"/>
                      <a:round/>
                      <a:headEnd type="none" w="med" len="med"/>
                      <a:tailEnd type="none" w="med" len="med"/>
                    </a:lnT>
                    <a:lnB w="6350" cap="flat" cmpd="sng" algn="ctr">
                      <a:solidFill>
                        <a:srgbClr val="D5DEE7"/>
                      </a:solidFill>
                      <a:prstDash val="solid"/>
                      <a:round/>
                      <a:headEnd type="none" w="med" len="med"/>
                      <a:tailEnd type="none" w="med" len="med"/>
                    </a:lnB>
                    <a:solidFill>
                      <a:schemeClr val="bg2"/>
                    </a:solidFill>
                  </a:tcPr>
                </a:tc>
              </a:tr>
            </a:tbl>
          </a:graphicData>
        </a:graphic>
      </p:graphicFrame>
      <p:graphicFrame>
        <p:nvGraphicFramePr>
          <p:cNvPr id="35" name="Table 1"/>
          <p:cNvGraphicFramePr>
            <a:graphicFrameLocks noGrp="1"/>
          </p:cNvGraphicFramePr>
          <p:nvPr>
            <p:extLst>
              <p:ext uri="{D42A27DB-BD31-4B8C-83A1-F6EECF244321}">
                <p14:modId xmlns:p14="http://schemas.microsoft.com/office/powerpoint/2010/main" val="1579011935"/>
              </p:ext>
            </p:extLst>
          </p:nvPr>
        </p:nvGraphicFramePr>
        <p:xfrm>
          <a:off x="6245352" y="1463040"/>
          <a:ext cx="5394960" cy="914400"/>
        </p:xfrm>
        <a:graphic>
          <a:graphicData uri="http://schemas.openxmlformats.org/drawingml/2006/table">
            <a:tbl>
              <a:tblPr/>
              <a:tblGrid>
                <a:gridCol w="2057400"/>
                <a:gridCol w="1417320"/>
                <a:gridCol w="1920240"/>
              </a:tblGrid>
              <a:tr h="384048">
                <a:tc>
                  <a:txBody>
                    <a:bodyPr/>
                    <a:lstStyle/>
                    <a:p>
                      <a:pPr indent="0" marL="0">
                        <a:buNone/>
                      </a:pPr>
                      <a:r>
                        <a:rPr lang="en-US" sz="1250" b="1" dirty="0">
                          <a:solidFill>
                            <a:schemeClr val="bg1"/>
                          </a:solidFill>
                          <a:latin typeface="Calibri" pitchFamily="34" charset="0"/>
                          <a:ea typeface="Calibri" pitchFamily="34" charset="-122"/>
                          <a:cs typeface="Calibri" pitchFamily="34" charset="-120"/>
                        </a:rPr>
                        <a:t>Paramètre</a:t>
                      </a:r>
                      <a:endParaRPr lang="en-US" sz="1250" dirty="0">
                        <a:latin typeface="Calibri" charset="0"/>
                        <a:ea typeface="Calibri" charset="0"/>
                        <a:cs typeface="Calibri" charset="0"/>
                      </a:endParaRPr>
                    </a:p>
                  </a:txBody>
                  <a:tcPr marL="73152" marR="73152" marT="27432" marB="27432" anchor="ctr">
                    <a:lnL w="6350" cap="flat" cmpd="sng" algn="ctr">
                      <a:solidFill>
                        <a:srgbClr val="D5DEE7"/>
                      </a:solidFill>
                      <a:prstDash val="solid"/>
                      <a:round/>
                      <a:headEnd type="none" w="med" len="med"/>
                      <a:tailEnd type="none" w="med" len="med"/>
                    </a:lnL>
                    <a:lnR w="6350" cap="flat" cmpd="sng" algn="ctr">
                      <a:solidFill>
                        <a:srgbClr val="D5DEE7"/>
                      </a:solidFill>
                      <a:prstDash val="solid"/>
                      <a:round/>
                      <a:headEnd type="none" w="med" len="med"/>
                      <a:tailEnd type="none" w="med" len="med"/>
                    </a:lnR>
                    <a:lnT w="6350" cap="flat" cmpd="sng" algn="ctr">
                      <a:solidFill>
                        <a:srgbClr val="D5DEE7"/>
                      </a:solidFill>
                      <a:prstDash val="solid"/>
                      <a:round/>
                      <a:headEnd type="none" w="med" len="med"/>
                      <a:tailEnd type="none" w="med" len="med"/>
                    </a:lnT>
                    <a:lnB w="6350" cap="flat" cmpd="sng" algn="ctr">
                      <a:solidFill>
                        <a:srgbClr val="D5DEE7"/>
                      </a:solidFill>
                      <a:prstDash val="solid"/>
                      <a:round/>
                      <a:headEnd type="none" w="med" len="med"/>
                      <a:tailEnd type="none" w="med" len="med"/>
                    </a:lnB>
                    <a:solidFill>
                      <a:schemeClr val="tx2"/>
                    </a:solidFill>
                  </a:tcPr>
                </a:tc>
                <a:tc>
                  <a:txBody>
                    <a:bodyPr/>
                    <a:lstStyle/>
                    <a:p>
                      <a:pPr indent="0" marL="0">
                        <a:buNone/>
                      </a:pPr>
                      <a:r>
                        <a:rPr lang="en-US" sz="1250" b="1" dirty="0">
                          <a:solidFill>
                            <a:schemeClr val="bg1"/>
                          </a:solidFill>
                          <a:latin typeface="Calibri" pitchFamily="34" charset="0"/>
                          <a:ea typeface="Calibri" pitchFamily="34" charset="-122"/>
                          <a:cs typeface="Calibri" pitchFamily="34" charset="-120"/>
                        </a:rPr>
                        <a:t>Défaut</a:t>
                      </a:r>
                      <a:endParaRPr lang="en-US" sz="1250" dirty="0">
                        <a:latin typeface="Calibri" charset="0"/>
                        <a:ea typeface="Calibri" charset="0"/>
                        <a:cs typeface="Calibri" charset="0"/>
                      </a:endParaRPr>
                    </a:p>
                  </a:txBody>
                  <a:tcPr marL="73152" marR="73152" marT="27432" marB="27432" anchor="ctr">
                    <a:lnL w="6350" cap="flat" cmpd="sng" algn="ctr">
                      <a:solidFill>
                        <a:srgbClr val="D5DEE7"/>
                      </a:solidFill>
                      <a:prstDash val="solid"/>
                      <a:round/>
                      <a:headEnd type="none" w="med" len="med"/>
                      <a:tailEnd type="none" w="med" len="med"/>
                    </a:lnL>
                    <a:lnR w="6350" cap="flat" cmpd="sng" algn="ctr">
                      <a:solidFill>
                        <a:srgbClr val="D5DEE7"/>
                      </a:solidFill>
                      <a:prstDash val="solid"/>
                      <a:round/>
                      <a:headEnd type="none" w="med" len="med"/>
                      <a:tailEnd type="none" w="med" len="med"/>
                    </a:lnR>
                    <a:lnT w="6350" cap="flat" cmpd="sng" algn="ctr">
                      <a:solidFill>
                        <a:srgbClr val="D5DEE7"/>
                      </a:solidFill>
                      <a:prstDash val="solid"/>
                      <a:round/>
                      <a:headEnd type="none" w="med" len="med"/>
                      <a:tailEnd type="none" w="med" len="med"/>
                    </a:lnT>
                    <a:lnB w="6350" cap="flat" cmpd="sng" algn="ctr">
                      <a:solidFill>
                        <a:srgbClr val="D5DEE7"/>
                      </a:solidFill>
                      <a:prstDash val="solid"/>
                      <a:round/>
                      <a:headEnd type="none" w="med" len="med"/>
                      <a:tailEnd type="none" w="med" len="med"/>
                    </a:lnB>
                    <a:solidFill>
                      <a:schemeClr val="tx2"/>
                    </a:solidFill>
                  </a:tcPr>
                </a:tc>
                <a:tc>
                  <a:txBody>
                    <a:bodyPr/>
                    <a:lstStyle/>
                    <a:p>
                      <a:pPr indent="0" marL="0">
                        <a:buNone/>
                      </a:pPr>
                      <a:r>
                        <a:rPr lang="en-US" sz="1250" b="1" dirty="0">
                          <a:solidFill>
                            <a:schemeClr val="bg1"/>
                          </a:solidFill>
                          <a:latin typeface="Calibri" pitchFamily="34" charset="0"/>
                          <a:ea typeface="Calibri" pitchFamily="34" charset="-122"/>
                          <a:cs typeface="Calibri" pitchFamily="34" charset="-120"/>
                        </a:rPr>
                        <a:t>Plage</a:t>
                      </a:r>
                      <a:endParaRPr lang="en-US" sz="1250" dirty="0">
                        <a:latin typeface="Calibri" charset="0"/>
                        <a:ea typeface="Calibri" charset="0"/>
                        <a:cs typeface="Calibri" charset="0"/>
                      </a:endParaRPr>
                    </a:p>
                  </a:txBody>
                  <a:tcPr marL="73152" marR="73152" marT="27432" marB="27432" anchor="ctr">
                    <a:lnL w="6350" cap="flat" cmpd="sng" algn="ctr">
                      <a:solidFill>
                        <a:srgbClr val="D5DEE7"/>
                      </a:solidFill>
                      <a:prstDash val="solid"/>
                      <a:round/>
                      <a:headEnd type="none" w="med" len="med"/>
                      <a:tailEnd type="none" w="med" len="med"/>
                    </a:lnL>
                    <a:lnR w="6350" cap="flat" cmpd="sng" algn="ctr">
                      <a:solidFill>
                        <a:srgbClr val="D5DEE7"/>
                      </a:solidFill>
                      <a:prstDash val="solid"/>
                      <a:round/>
                      <a:headEnd type="none" w="med" len="med"/>
                      <a:tailEnd type="none" w="med" len="med"/>
                    </a:lnR>
                    <a:lnT w="6350" cap="flat" cmpd="sng" algn="ctr">
                      <a:solidFill>
                        <a:srgbClr val="D5DEE7"/>
                      </a:solidFill>
                      <a:prstDash val="solid"/>
                      <a:round/>
                      <a:headEnd type="none" w="med" len="med"/>
                      <a:tailEnd type="none" w="med" len="med"/>
                    </a:lnT>
                    <a:lnB w="6350" cap="flat" cmpd="sng" algn="ctr">
                      <a:solidFill>
                        <a:srgbClr val="D5DEE7"/>
                      </a:solidFill>
                      <a:prstDash val="solid"/>
                      <a:round/>
                      <a:headEnd type="none" w="med" len="med"/>
                      <a:tailEnd type="none" w="med" len="med"/>
                    </a:lnB>
                    <a:solidFill>
                      <a:schemeClr val="tx2"/>
                    </a:solidFill>
                  </a:tcPr>
                </a:tc>
              </a:tr>
              <a:tr h="384048">
                <a:tc>
                  <a:txBody>
                    <a:bodyPr/>
                    <a:lstStyle/>
                    <a:p>
                      <a:pPr indent="0" marL="0">
                        <a:buNone/>
                      </a:pPr>
                      <a:r>
                        <a:rPr lang="en-US" sz="1250" b="1" dirty="0">
                          <a:solidFill>
                            <a:schemeClr val="tx2"/>
                          </a:solidFill>
                          <a:latin typeface="Calibri" pitchFamily="34" charset="0"/>
                          <a:ea typeface="Calibri" pitchFamily="34" charset="-122"/>
                          <a:cs typeface="Calibri" pitchFamily="34" charset="-120"/>
                        </a:rPr>
                        <a:t>LOG_INTERVAL</a:t>
                      </a:r>
                      <a:endParaRPr lang="en-US" sz="1250" dirty="0">
                        <a:latin typeface="Calibri" charset="0"/>
                        <a:ea typeface="Calibri" charset="0"/>
                        <a:cs typeface="Calibri" charset="0"/>
                      </a:endParaRPr>
                    </a:p>
                  </a:txBody>
                  <a:tcPr marL="73152" marR="73152" marT="27432" marB="27432" anchor="ctr">
                    <a:lnL w="6350" cap="flat" cmpd="sng" algn="ctr">
                      <a:solidFill>
                        <a:srgbClr val="D5DEE7"/>
                      </a:solidFill>
                      <a:prstDash val="solid"/>
                      <a:round/>
                      <a:headEnd type="none" w="med" len="med"/>
                      <a:tailEnd type="none" w="med" len="med"/>
                    </a:lnL>
                    <a:lnR w="6350" cap="flat" cmpd="sng" algn="ctr">
                      <a:solidFill>
                        <a:srgbClr val="D5DEE7"/>
                      </a:solidFill>
                      <a:prstDash val="solid"/>
                      <a:round/>
                      <a:headEnd type="none" w="med" len="med"/>
                      <a:tailEnd type="none" w="med" len="med"/>
                    </a:lnR>
                    <a:lnT w="6350" cap="flat" cmpd="sng" algn="ctr">
                      <a:solidFill>
                        <a:srgbClr val="D5DEE7"/>
                      </a:solidFill>
                      <a:prstDash val="solid"/>
                      <a:round/>
                      <a:headEnd type="none" w="med" len="med"/>
                      <a:tailEnd type="none" w="med" len="med"/>
                    </a:lnT>
                    <a:lnB w="6350" cap="flat" cmpd="sng" algn="ctr">
                      <a:solidFill>
                        <a:srgbClr val="D5DEE7"/>
                      </a:solidFill>
                      <a:prstDash val="solid"/>
                      <a:round/>
                      <a:headEnd type="none" w="med" len="med"/>
                      <a:tailEnd type="none" w="med" len="med"/>
                    </a:lnB>
                    <a:solidFill>
                      <a:schemeClr val="bg1"/>
                    </a:solidFill>
                  </a:tcPr>
                </a:tc>
                <a:tc>
                  <a:txBody>
                    <a:bodyPr/>
                    <a:lstStyle/>
                    <a:p>
                      <a:pPr indent="0" marL="0">
                        <a:buNone/>
                      </a:pPr>
                      <a:r>
                        <a:rPr lang="en-US" sz="1250" dirty="0">
                          <a:solidFill>
                            <a:schemeClr val="tx1"/>
                          </a:solidFill>
                          <a:latin typeface="Calibri" pitchFamily="34" charset="0"/>
                          <a:ea typeface="Calibri" pitchFamily="34" charset="-122"/>
                          <a:cs typeface="Calibri" pitchFamily="34" charset="-120"/>
                        </a:rPr>
                        <a:t>10 min</a:t>
                      </a:r>
                      <a:endParaRPr lang="en-US" sz="1250" dirty="0">
                        <a:latin typeface="Calibri" charset="0"/>
                        <a:ea typeface="Calibri" charset="0"/>
                        <a:cs typeface="Calibri" charset="0"/>
                      </a:endParaRPr>
                    </a:p>
                  </a:txBody>
                  <a:tcPr marL="73152" marR="73152" marT="27432" marB="27432" anchor="ctr">
                    <a:lnL w="6350" cap="flat" cmpd="sng" algn="ctr">
                      <a:solidFill>
                        <a:srgbClr val="D5DEE7"/>
                      </a:solidFill>
                      <a:prstDash val="solid"/>
                      <a:round/>
                      <a:headEnd type="none" w="med" len="med"/>
                      <a:tailEnd type="none" w="med" len="med"/>
                    </a:lnL>
                    <a:lnR w="6350" cap="flat" cmpd="sng" algn="ctr">
                      <a:solidFill>
                        <a:srgbClr val="D5DEE7"/>
                      </a:solidFill>
                      <a:prstDash val="solid"/>
                      <a:round/>
                      <a:headEnd type="none" w="med" len="med"/>
                      <a:tailEnd type="none" w="med" len="med"/>
                    </a:lnR>
                    <a:lnT w="6350" cap="flat" cmpd="sng" algn="ctr">
                      <a:solidFill>
                        <a:srgbClr val="D5DEE7"/>
                      </a:solidFill>
                      <a:prstDash val="solid"/>
                      <a:round/>
                      <a:headEnd type="none" w="med" len="med"/>
                      <a:tailEnd type="none" w="med" len="med"/>
                    </a:lnT>
                    <a:lnB w="6350" cap="flat" cmpd="sng" algn="ctr">
                      <a:solidFill>
                        <a:srgbClr val="D5DEE7"/>
                      </a:solidFill>
                      <a:prstDash val="solid"/>
                      <a:round/>
                      <a:headEnd type="none" w="med" len="med"/>
                      <a:tailEnd type="none" w="med" len="med"/>
                    </a:lnB>
                    <a:solidFill>
                      <a:schemeClr val="bg1"/>
                    </a:solidFill>
                  </a:tcPr>
                </a:tc>
                <a:tc>
                  <a:txBody>
                    <a:bodyPr/>
                    <a:lstStyle/>
                    <a:p>
                      <a:pPr indent="0" marL="0">
                        <a:buNone/>
                      </a:pPr>
                      <a:r>
                        <a:rPr lang="en-US" sz="1250" dirty="0">
                          <a:solidFill>
                            <a:schemeClr val="tx1"/>
                          </a:solidFill>
                          <a:latin typeface="Calibri" pitchFamily="34" charset="0"/>
                          <a:ea typeface="Calibri" pitchFamily="34" charset="-122"/>
                          <a:cs typeface="Calibri" pitchFamily="34" charset="-120"/>
                        </a:rPr>
                        <a:t>1–1440 min ou 5–86400S</a:t>
                      </a:r>
                      <a:endParaRPr lang="en-US" sz="1250" dirty="0">
                        <a:latin typeface="Calibri" charset="0"/>
                        <a:ea typeface="Calibri" charset="0"/>
                        <a:cs typeface="Calibri" charset="0"/>
                      </a:endParaRPr>
                    </a:p>
                  </a:txBody>
                  <a:tcPr marL="73152" marR="73152" marT="27432" marB="27432" anchor="ctr">
                    <a:lnL w="6350" cap="flat" cmpd="sng" algn="ctr">
                      <a:solidFill>
                        <a:srgbClr val="D5DEE7"/>
                      </a:solidFill>
                      <a:prstDash val="solid"/>
                      <a:round/>
                      <a:headEnd type="none" w="med" len="med"/>
                      <a:tailEnd type="none" w="med" len="med"/>
                    </a:lnL>
                    <a:lnR w="6350" cap="flat" cmpd="sng" algn="ctr">
                      <a:solidFill>
                        <a:srgbClr val="D5DEE7"/>
                      </a:solidFill>
                      <a:prstDash val="solid"/>
                      <a:round/>
                      <a:headEnd type="none" w="med" len="med"/>
                      <a:tailEnd type="none" w="med" len="med"/>
                    </a:lnR>
                    <a:lnT w="6350" cap="flat" cmpd="sng" algn="ctr">
                      <a:solidFill>
                        <a:srgbClr val="D5DEE7"/>
                      </a:solidFill>
                      <a:prstDash val="solid"/>
                      <a:round/>
                      <a:headEnd type="none" w="med" len="med"/>
                      <a:tailEnd type="none" w="med" len="med"/>
                    </a:lnT>
                    <a:lnB w="6350" cap="flat" cmpd="sng" algn="ctr">
                      <a:solidFill>
                        <a:srgbClr val="D5DEE7"/>
                      </a:solidFill>
                      <a:prstDash val="solid"/>
                      <a:round/>
                      <a:headEnd type="none" w="med" len="med"/>
                      <a:tailEnd type="none" w="med" len="med"/>
                    </a:lnB>
                    <a:solidFill>
                      <a:schemeClr val="bg1"/>
                    </a:solidFill>
                  </a:tcPr>
                </a:tc>
              </a:tr>
              <a:tr h="384048">
                <a:tc>
                  <a:txBody>
                    <a:bodyPr/>
                    <a:lstStyle/>
                    <a:p>
                      <a:pPr indent="0" marL="0">
                        <a:buNone/>
                      </a:pPr>
                      <a:r>
                        <a:rPr lang="en-US" sz="1250" b="1" dirty="0">
                          <a:solidFill>
                            <a:schemeClr val="tx2"/>
                          </a:solidFill>
                          <a:latin typeface="Calibri" pitchFamily="34" charset="0"/>
                          <a:ea typeface="Calibri" pitchFamily="34" charset="-122"/>
                          <a:cs typeface="Calibri" pitchFamily="34" charset="-120"/>
                        </a:rPr>
                        <a:t>FILE_MAX_SIZE</a:t>
                      </a:r>
                      <a:endParaRPr lang="en-US" sz="1250" dirty="0">
                        <a:latin typeface="Calibri" charset="0"/>
                        <a:ea typeface="Calibri" charset="0"/>
                        <a:cs typeface="Calibri" charset="0"/>
                      </a:endParaRPr>
                    </a:p>
                  </a:txBody>
                  <a:tcPr marL="73152" marR="73152" marT="27432" marB="27432" anchor="ctr">
                    <a:lnL w="6350" cap="flat" cmpd="sng" algn="ctr">
                      <a:solidFill>
                        <a:srgbClr val="D5DEE7"/>
                      </a:solidFill>
                      <a:prstDash val="solid"/>
                      <a:round/>
                      <a:headEnd type="none" w="med" len="med"/>
                      <a:tailEnd type="none" w="med" len="med"/>
                    </a:lnL>
                    <a:lnR w="6350" cap="flat" cmpd="sng" algn="ctr">
                      <a:solidFill>
                        <a:srgbClr val="D5DEE7"/>
                      </a:solidFill>
                      <a:prstDash val="solid"/>
                      <a:round/>
                      <a:headEnd type="none" w="med" len="med"/>
                      <a:tailEnd type="none" w="med" len="med"/>
                    </a:lnR>
                    <a:lnT w="6350" cap="flat" cmpd="sng" algn="ctr">
                      <a:solidFill>
                        <a:srgbClr val="D5DEE7"/>
                      </a:solidFill>
                      <a:prstDash val="solid"/>
                      <a:round/>
                      <a:headEnd type="none" w="med" len="med"/>
                      <a:tailEnd type="none" w="med" len="med"/>
                    </a:lnT>
                    <a:lnB w="6350" cap="flat" cmpd="sng" algn="ctr">
                      <a:solidFill>
                        <a:srgbClr val="D5DEE7"/>
                      </a:solidFill>
                      <a:prstDash val="solid"/>
                      <a:round/>
                      <a:headEnd type="none" w="med" len="med"/>
                      <a:tailEnd type="none" w="med" len="med"/>
                    </a:lnB>
                    <a:solidFill>
                      <a:schemeClr val="bg2"/>
                    </a:solidFill>
                  </a:tcPr>
                </a:tc>
                <a:tc>
                  <a:txBody>
                    <a:bodyPr/>
                    <a:lstStyle/>
                    <a:p>
                      <a:pPr indent="0" marL="0">
                        <a:buNone/>
                      </a:pPr>
                      <a:r>
                        <a:rPr lang="en-US" sz="1250" dirty="0">
                          <a:solidFill>
                            <a:schemeClr val="tx1"/>
                          </a:solidFill>
                          <a:latin typeface="Calibri" pitchFamily="34" charset="0"/>
                          <a:ea typeface="Calibri" pitchFamily="34" charset="-122"/>
                          <a:cs typeface="Calibri" pitchFamily="34" charset="-120"/>
                        </a:rPr>
                        <a:t>10 240 o</a:t>
                      </a:r>
                      <a:endParaRPr lang="en-US" sz="1250" dirty="0">
                        <a:latin typeface="Calibri" charset="0"/>
                        <a:ea typeface="Calibri" charset="0"/>
                        <a:cs typeface="Calibri" charset="0"/>
                      </a:endParaRPr>
                    </a:p>
                  </a:txBody>
                  <a:tcPr marL="73152" marR="73152" marT="27432" marB="27432" anchor="ctr">
                    <a:lnL w="6350" cap="flat" cmpd="sng" algn="ctr">
                      <a:solidFill>
                        <a:srgbClr val="D5DEE7"/>
                      </a:solidFill>
                      <a:prstDash val="solid"/>
                      <a:round/>
                      <a:headEnd type="none" w="med" len="med"/>
                      <a:tailEnd type="none" w="med" len="med"/>
                    </a:lnL>
                    <a:lnR w="6350" cap="flat" cmpd="sng" algn="ctr">
                      <a:solidFill>
                        <a:srgbClr val="D5DEE7"/>
                      </a:solidFill>
                      <a:prstDash val="solid"/>
                      <a:round/>
                      <a:headEnd type="none" w="med" len="med"/>
                      <a:tailEnd type="none" w="med" len="med"/>
                    </a:lnR>
                    <a:lnT w="6350" cap="flat" cmpd="sng" algn="ctr">
                      <a:solidFill>
                        <a:srgbClr val="D5DEE7"/>
                      </a:solidFill>
                      <a:prstDash val="solid"/>
                      <a:round/>
                      <a:headEnd type="none" w="med" len="med"/>
                      <a:tailEnd type="none" w="med" len="med"/>
                    </a:lnT>
                    <a:lnB w="6350" cap="flat" cmpd="sng" algn="ctr">
                      <a:solidFill>
                        <a:srgbClr val="D5DEE7"/>
                      </a:solidFill>
                      <a:prstDash val="solid"/>
                      <a:round/>
                      <a:headEnd type="none" w="med" len="med"/>
                      <a:tailEnd type="none" w="med" len="med"/>
                    </a:lnB>
                    <a:solidFill>
                      <a:schemeClr val="bg2"/>
                    </a:solidFill>
                  </a:tcPr>
                </a:tc>
                <a:tc>
                  <a:txBody>
                    <a:bodyPr/>
                    <a:lstStyle/>
                    <a:p>
                      <a:pPr indent="0" marL="0">
                        <a:buNone/>
                      </a:pPr>
                      <a:r>
                        <a:rPr lang="en-US" sz="1250" dirty="0">
                          <a:solidFill>
                            <a:schemeClr val="tx1"/>
                          </a:solidFill>
                          <a:latin typeface="Calibri" pitchFamily="34" charset="0"/>
                          <a:ea typeface="Calibri" pitchFamily="34" charset="-122"/>
                          <a:cs typeface="Calibri" pitchFamily="34" charset="-120"/>
                        </a:rPr>
                        <a:t>256–4 194 304 o</a:t>
                      </a:r>
                      <a:endParaRPr lang="en-US" sz="1250" dirty="0">
                        <a:latin typeface="Calibri" charset="0"/>
                        <a:ea typeface="Calibri" charset="0"/>
                        <a:cs typeface="Calibri" charset="0"/>
                      </a:endParaRPr>
                    </a:p>
                  </a:txBody>
                  <a:tcPr marL="73152" marR="73152" marT="27432" marB="27432" anchor="ctr">
                    <a:lnL w="6350" cap="flat" cmpd="sng" algn="ctr">
                      <a:solidFill>
                        <a:srgbClr val="D5DEE7"/>
                      </a:solidFill>
                      <a:prstDash val="solid"/>
                      <a:round/>
                      <a:headEnd type="none" w="med" len="med"/>
                      <a:tailEnd type="none" w="med" len="med"/>
                    </a:lnL>
                    <a:lnR w="6350" cap="flat" cmpd="sng" algn="ctr">
                      <a:solidFill>
                        <a:srgbClr val="D5DEE7"/>
                      </a:solidFill>
                      <a:prstDash val="solid"/>
                      <a:round/>
                      <a:headEnd type="none" w="med" len="med"/>
                      <a:tailEnd type="none" w="med" len="med"/>
                    </a:lnR>
                    <a:lnT w="6350" cap="flat" cmpd="sng" algn="ctr">
                      <a:solidFill>
                        <a:srgbClr val="D5DEE7"/>
                      </a:solidFill>
                      <a:prstDash val="solid"/>
                      <a:round/>
                      <a:headEnd type="none" w="med" len="med"/>
                      <a:tailEnd type="none" w="med" len="med"/>
                    </a:lnT>
                    <a:lnB w="6350" cap="flat" cmpd="sng" algn="ctr">
                      <a:solidFill>
                        <a:srgbClr val="D5DEE7"/>
                      </a:solidFill>
                      <a:prstDash val="solid"/>
                      <a:round/>
                      <a:headEnd type="none" w="med" len="med"/>
                      <a:tailEnd type="none" w="med" len="med"/>
                    </a:lnB>
                    <a:solidFill>
                      <a:schemeClr val="bg2"/>
                    </a:solidFill>
                  </a:tcPr>
                </a:tc>
              </a:tr>
              <a:tr h="384048">
                <a:tc>
                  <a:txBody>
                    <a:bodyPr/>
                    <a:lstStyle/>
                    <a:p>
                      <a:pPr indent="0" marL="0">
                        <a:buNone/>
                      </a:pPr>
                      <a:r>
                        <a:rPr lang="en-US" sz="1250" b="1" dirty="0">
                          <a:solidFill>
                            <a:schemeClr val="tx2"/>
                          </a:solidFill>
                          <a:latin typeface="Calibri" pitchFamily="34" charset="0"/>
                          <a:ea typeface="Calibri" pitchFamily="34" charset="-122"/>
                          <a:cs typeface="Calibri" pitchFamily="34" charset="-120"/>
                        </a:rPr>
                        <a:t>TIMEOUT</a:t>
                      </a:r>
                      <a:endParaRPr lang="en-US" sz="1250" dirty="0">
                        <a:latin typeface="Calibri" charset="0"/>
                        <a:ea typeface="Calibri" charset="0"/>
                        <a:cs typeface="Calibri" charset="0"/>
                      </a:endParaRPr>
                    </a:p>
                  </a:txBody>
                  <a:tcPr marL="73152" marR="73152" marT="27432" marB="27432" anchor="ctr">
                    <a:lnL w="6350" cap="flat" cmpd="sng" algn="ctr">
                      <a:solidFill>
                        <a:srgbClr val="D5DEE7"/>
                      </a:solidFill>
                      <a:prstDash val="solid"/>
                      <a:round/>
                      <a:headEnd type="none" w="med" len="med"/>
                      <a:tailEnd type="none" w="med" len="med"/>
                    </a:lnL>
                    <a:lnR w="6350" cap="flat" cmpd="sng" algn="ctr">
                      <a:solidFill>
                        <a:srgbClr val="D5DEE7"/>
                      </a:solidFill>
                      <a:prstDash val="solid"/>
                      <a:round/>
                      <a:headEnd type="none" w="med" len="med"/>
                      <a:tailEnd type="none" w="med" len="med"/>
                    </a:lnR>
                    <a:lnT w="6350" cap="flat" cmpd="sng" algn="ctr">
                      <a:solidFill>
                        <a:srgbClr val="D5DEE7"/>
                      </a:solidFill>
                      <a:prstDash val="solid"/>
                      <a:round/>
                      <a:headEnd type="none" w="med" len="med"/>
                      <a:tailEnd type="none" w="med" len="med"/>
                    </a:lnT>
                    <a:lnB w="6350" cap="flat" cmpd="sng" algn="ctr">
                      <a:solidFill>
                        <a:srgbClr val="D5DEE7"/>
                      </a:solidFill>
                      <a:prstDash val="solid"/>
                      <a:round/>
                      <a:headEnd type="none" w="med" len="med"/>
                      <a:tailEnd type="none" w="med" len="med"/>
                    </a:lnB>
                    <a:solidFill>
                      <a:schemeClr val="bg1"/>
                    </a:solidFill>
                  </a:tcPr>
                </a:tc>
                <a:tc>
                  <a:txBody>
                    <a:bodyPr/>
                    <a:lstStyle/>
                    <a:p>
                      <a:pPr indent="0" marL="0">
                        <a:buNone/>
                      </a:pPr>
                      <a:r>
                        <a:rPr lang="en-US" sz="1250" dirty="0">
                          <a:solidFill>
                            <a:schemeClr val="tx1"/>
                          </a:solidFill>
                          <a:latin typeface="Calibri" pitchFamily="34" charset="0"/>
                          <a:ea typeface="Calibri" pitchFamily="34" charset="-122"/>
                          <a:cs typeface="Calibri" pitchFamily="34" charset="-120"/>
                        </a:rPr>
                        <a:t>30 s</a:t>
                      </a:r>
                      <a:endParaRPr lang="en-US" sz="1250" dirty="0">
                        <a:latin typeface="Calibri" charset="0"/>
                        <a:ea typeface="Calibri" charset="0"/>
                        <a:cs typeface="Calibri" charset="0"/>
                      </a:endParaRPr>
                    </a:p>
                  </a:txBody>
                  <a:tcPr marL="73152" marR="73152" marT="27432" marB="27432" anchor="ctr">
                    <a:lnL w="6350" cap="flat" cmpd="sng" algn="ctr">
                      <a:solidFill>
                        <a:srgbClr val="D5DEE7"/>
                      </a:solidFill>
                      <a:prstDash val="solid"/>
                      <a:round/>
                      <a:headEnd type="none" w="med" len="med"/>
                      <a:tailEnd type="none" w="med" len="med"/>
                    </a:lnL>
                    <a:lnR w="6350" cap="flat" cmpd="sng" algn="ctr">
                      <a:solidFill>
                        <a:srgbClr val="D5DEE7"/>
                      </a:solidFill>
                      <a:prstDash val="solid"/>
                      <a:round/>
                      <a:headEnd type="none" w="med" len="med"/>
                      <a:tailEnd type="none" w="med" len="med"/>
                    </a:lnR>
                    <a:lnT w="6350" cap="flat" cmpd="sng" algn="ctr">
                      <a:solidFill>
                        <a:srgbClr val="D5DEE7"/>
                      </a:solidFill>
                      <a:prstDash val="solid"/>
                      <a:round/>
                      <a:headEnd type="none" w="med" len="med"/>
                      <a:tailEnd type="none" w="med" len="med"/>
                    </a:lnT>
                    <a:lnB w="6350" cap="flat" cmpd="sng" algn="ctr">
                      <a:solidFill>
                        <a:srgbClr val="D5DEE7"/>
                      </a:solidFill>
                      <a:prstDash val="solid"/>
                      <a:round/>
                      <a:headEnd type="none" w="med" len="med"/>
                      <a:tailEnd type="none" w="med" len="med"/>
                    </a:lnB>
                    <a:solidFill>
                      <a:schemeClr val="bg1"/>
                    </a:solidFill>
                  </a:tcPr>
                </a:tc>
                <a:tc>
                  <a:txBody>
                    <a:bodyPr/>
                    <a:lstStyle/>
                    <a:p>
                      <a:pPr indent="0" marL="0">
                        <a:buNone/>
                      </a:pPr>
                      <a:r>
                        <a:rPr lang="en-US" sz="1250" dirty="0">
                          <a:solidFill>
                            <a:schemeClr val="tx1"/>
                          </a:solidFill>
                          <a:latin typeface="Calibri" pitchFamily="34" charset="0"/>
                          <a:ea typeface="Calibri" pitchFamily="34" charset="-122"/>
                          <a:cs typeface="Calibri" pitchFamily="34" charset="-120"/>
                        </a:rPr>
                        <a:t>1–300 s</a:t>
                      </a:r>
                      <a:endParaRPr lang="en-US" sz="1250" dirty="0">
                        <a:latin typeface="Calibri" charset="0"/>
                        <a:ea typeface="Calibri" charset="0"/>
                        <a:cs typeface="Calibri" charset="0"/>
                      </a:endParaRPr>
                    </a:p>
                  </a:txBody>
                  <a:tcPr marL="73152" marR="73152" marT="27432" marB="27432" anchor="ctr">
                    <a:lnL w="6350" cap="flat" cmpd="sng" algn="ctr">
                      <a:solidFill>
                        <a:srgbClr val="D5DEE7"/>
                      </a:solidFill>
                      <a:prstDash val="solid"/>
                      <a:round/>
                      <a:headEnd type="none" w="med" len="med"/>
                      <a:tailEnd type="none" w="med" len="med"/>
                    </a:lnL>
                    <a:lnR w="6350" cap="flat" cmpd="sng" algn="ctr">
                      <a:solidFill>
                        <a:srgbClr val="D5DEE7"/>
                      </a:solidFill>
                      <a:prstDash val="solid"/>
                      <a:round/>
                      <a:headEnd type="none" w="med" len="med"/>
                      <a:tailEnd type="none" w="med" len="med"/>
                    </a:lnR>
                    <a:lnT w="6350" cap="flat" cmpd="sng" algn="ctr">
                      <a:solidFill>
                        <a:srgbClr val="D5DEE7"/>
                      </a:solidFill>
                      <a:prstDash val="solid"/>
                      <a:round/>
                      <a:headEnd type="none" w="med" len="med"/>
                      <a:tailEnd type="none" w="med" len="med"/>
                    </a:lnT>
                    <a:lnB w="6350" cap="flat" cmpd="sng" algn="ctr">
                      <a:solidFill>
                        <a:srgbClr val="D5DEE7"/>
                      </a:solidFill>
                      <a:prstDash val="solid"/>
                      <a:round/>
                      <a:headEnd type="none" w="med" len="med"/>
                      <a:tailEnd type="none" w="med" len="med"/>
                    </a:lnB>
                    <a:solidFill>
                      <a:schemeClr val="bg1"/>
                    </a:solidFill>
                  </a:tcPr>
                </a:tc>
              </a:tr>
              <a:tr h="384048">
                <a:tc>
                  <a:txBody>
                    <a:bodyPr/>
                    <a:lstStyle/>
                    <a:p>
                      <a:pPr indent="0" marL="0">
                        <a:buNone/>
                      </a:pPr>
                      <a:r>
                        <a:rPr lang="en-US" sz="1250" b="1" dirty="0">
                          <a:solidFill>
                            <a:schemeClr val="tx2"/>
                          </a:solidFill>
                          <a:latin typeface="Calibri" pitchFamily="34" charset="0"/>
                          <a:ea typeface="Calibri" pitchFamily="34" charset="-122"/>
                          <a:cs typeface="Calibri" pitchFamily="34" charset="-120"/>
                        </a:rPr>
                        <a:t>LUMIN / _LOW / _HIGH</a:t>
                      </a:r>
                      <a:endParaRPr lang="en-US" sz="1250" dirty="0">
                        <a:latin typeface="Calibri" charset="0"/>
                        <a:ea typeface="Calibri" charset="0"/>
                        <a:cs typeface="Calibri" charset="0"/>
                      </a:endParaRPr>
                    </a:p>
                  </a:txBody>
                  <a:tcPr marL="73152" marR="73152" marT="27432" marB="27432" anchor="ctr">
                    <a:lnL w="6350" cap="flat" cmpd="sng" algn="ctr">
                      <a:solidFill>
                        <a:srgbClr val="D5DEE7"/>
                      </a:solidFill>
                      <a:prstDash val="solid"/>
                      <a:round/>
                      <a:headEnd type="none" w="med" len="med"/>
                      <a:tailEnd type="none" w="med" len="med"/>
                    </a:lnL>
                    <a:lnR w="6350" cap="flat" cmpd="sng" algn="ctr">
                      <a:solidFill>
                        <a:srgbClr val="D5DEE7"/>
                      </a:solidFill>
                      <a:prstDash val="solid"/>
                      <a:round/>
                      <a:headEnd type="none" w="med" len="med"/>
                      <a:tailEnd type="none" w="med" len="med"/>
                    </a:lnR>
                    <a:lnT w="6350" cap="flat" cmpd="sng" algn="ctr">
                      <a:solidFill>
                        <a:srgbClr val="D5DEE7"/>
                      </a:solidFill>
                      <a:prstDash val="solid"/>
                      <a:round/>
                      <a:headEnd type="none" w="med" len="med"/>
                      <a:tailEnd type="none" w="med" len="med"/>
                    </a:lnT>
                    <a:lnB w="6350" cap="flat" cmpd="sng" algn="ctr">
                      <a:solidFill>
                        <a:srgbClr val="D5DEE7"/>
                      </a:solidFill>
                      <a:prstDash val="solid"/>
                      <a:round/>
                      <a:headEnd type="none" w="med" len="med"/>
                      <a:tailEnd type="none" w="med" len="med"/>
                    </a:lnB>
                    <a:solidFill>
                      <a:schemeClr val="bg2"/>
                    </a:solidFill>
                  </a:tcPr>
                </a:tc>
                <a:tc>
                  <a:txBody>
                    <a:bodyPr/>
                    <a:lstStyle/>
                    <a:p>
                      <a:pPr indent="0" marL="0">
                        <a:buNone/>
                      </a:pPr>
                      <a:r>
                        <a:rPr lang="en-US" sz="1250" dirty="0">
                          <a:solidFill>
                            <a:schemeClr val="tx1"/>
                          </a:solidFill>
                          <a:latin typeface="Calibri" pitchFamily="34" charset="0"/>
                          <a:ea typeface="Calibri" pitchFamily="34" charset="-122"/>
                          <a:cs typeface="Calibri" pitchFamily="34" charset="-120"/>
                        </a:rPr>
                        <a:t>1 / 255 / 768</a:t>
                      </a:r>
                      <a:endParaRPr lang="en-US" sz="1250" dirty="0">
                        <a:latin typeface="Calibri" charset="0"/>
                        <a:ea typeface="Calibri" charset="0"/>
                        <a:cs typeface="Calibri" charset="0"/>
                      </a:endParaRPr>
                    </a:p>
                  </a:txBody>
                  <a:tcPr marL="73152" marR="73152" marT="27432" marB="27432" anchor="ctr">
                    <a:lnL w="6350" cap="flat" cmpd="sng" algn="ctr">
                      <a:solidFill>
                        <a:srgbClr val="D5DEE7"/>
                      </a:solidFill>
                      <a:prstDash val="solid"/>
                      <a:round/>
                      <a:headEnd type="none" w="med" len="med"/>
                      <a:tailEnd type="none" w="med" len="med"/>
                    </a:lnL>
                    <a:lnR w="6350" cap="flat" cmpd="sng" algn="ctr">
                      <a:solidFill>
                        <a:srgbClr val="D5DEE7"/>
                      </a:solidFill>
                      <a:prstDash val="solid"/>
                      <a:round/>
                      <a:headEnd type="none" w="med" len="med"/>
                      <a:tailEnd type="none" w="med" len="med"/>
                    </a:lnR>
                    <a:lnT w="6350" cap="flat" cmpd="sng" algn="ctr">
                      <a:solidFill>
                        <a:srgbClr val="D5DEE7"/>
                      </a:solidFill>
                      <a:prstDash val="solid"/>
                      <a:round/>
                      <a:headEnd type="none" w="med" len="med"/>
                      <a:tailEnd type="none" w="med" len="med"/>
                    </a:lnT>
                    <a:lnB w="6350" cap="flat" cmpd="sng" algn="ctr">
                      <a:solidFill>
                        <a:srgbClr val="D5DEE7"/>
                      </a:solidFill>
                      <a:prstDash val="solid"/>
                      <a:round/>
                      <a:headEnd type="none" w="med" len="med"/>
                      <a:tailEnd type="none" w="med" len="med"/>
                    </a:lnB>
                    <a:solidFill>
                      <a:schemeClr val="bg2"/>
                    </a:solidFill>
                  </a:tcPr>
                </a:tc>
                <a:tc>
                  <a:txBody>
                    <a:bodyPr/>
                    <a:lstStyle/>
                    <a:p>
                      <a:pPr indent="0" marL="0">
                        <a:buNone/>
                      </a:pPr>
                      <a:r>
                        <a:rPr lang="en-US" sz="1250" dirty="0">
                          <a:solidFill>
                            <a:schemeClr val="tx1"/>
                          </a:solidFill>
                          <a:latin typeface="Calibri" pitchFamily="34" charset="0"/>
                          <a:ea typeface="Calibri" pitchFamily="34" charset="-122"/>
                          <a:cs typeface="Calibri" pitchFamily="34" charset="-120"/>
                        </a:rPr>
                        <a:t>0–1 / 0–1023</a:t>
                      </a:r>
                      <a:endParaRPr lang="en-US" sz="1250" dirty="0">
                        <a:latin typeface="Calibri" charset="0"/>
                        <a:ea typeface="Calibri" charset="0"/>
                        <a:cs typeface="Calibri" charset="0"/>
                      </a:endParaRPr>
                    </a:p>
                  </a:txBody>
                  <a:tcPr marL="73152" marR="73152" marT="27432" marB="27432" anchor="ctr">
                    <a:lnL w="6350" cap="flat" cmpd="sng" algn="ctr">
                      <a:solidFill>
                        <a:srgbClr val="D5DEE7"/>
                      </a:solidFill>
                      <a:prstDash val="solid"/>
                      <a:round/>
                      <a:headEnd type="none" w="med" len="med"/>
                      <a:tailEnd type="none" w="med" len="med"/>
                    </a:lnL>
                    <a:lnR w="6350" cap="flat" cmpd="sng" algn="ctr">
                      <a:solidFill>
                        <a:srgbClr val="D5DEE7"/>
                      </a:solidFill>
                      <a:prstDash val="solid"/>
                      <a:round/>
                      <a:headEnd type="none" w="med" len="med"/>
                      <a:tailEnd type="none" w="med" len="med"/>
                    </a:lnR>
                    <a:lnT w="6350" cap="flat" cmpd="sng" algn="ctr">
                      <a:solidFill>
                        <a:srgbClr val="D5DEE7"/>
                      </a:solidFill>
                      <a:prstDash val="solid"/>
                      <a:round/>
                      <a:headEnd type="none" w="med" len="med"/>
                      <a:tailEnd type="none" w="med" len="med"/>
                    </a:lnT>
                    <a:lnB w="6350" cap="flat" cmpd="sng" algn="ctr">
                      <a:solidFill>
                        <a:srgbClr val="D5DEE7"/>
                      </a:solidFill>
                      <a:prstDash val="solid"/>
                      <a:round/>
                      <a:headEnd type="none" w="med" len="med"/>
                      <a:tailEnd type="none" w="med" len="med"/>
                    </a:lnB>
                    <a:solidFill>
                      <a:schemeClr val="bg2"/>
                    </a:solidFill>
                  </a:tcPr>
                </a:tc>
              </a:tr>
              <a:tr h="384048">
                <a:tc>
                  <a:txBody>
                    <a:bodyPr/>
                    <a:lstStyle/>
                    <a:p>
                      <a:pPr indent="0" marL="0">
                        <a:buNone/>
                      </a:pPr>
                      <a:r>
                        <a:rPr lang="en-US" sz="1250" b="1" dirty="0">
                          <a:solidFill>
                            <a:schemeClr val="tx2"/>
                          </a:solidFill>
                          <a:latin typeface="Calibri" pitchFamily="34" charset="0"/>
                          <a:ea typeface="Calibri" pitchFamily="34" charset="-122"/>
                          <a:cs typeface="Calibri" pitchFamily="34" charset="-120"/>
                        </a:rPr>
                        <a:t>TEMP_AIR / MIN / MAX</a:t>
                      </a:r>
                      <a:endParaRPr lang="en-US" sz="1250" dirty="0">
                        <a:latin typeface="Calibri" charset="0"/>
                        <a:ea typeface="Calibri" charset="0"/>
                        <a:cs typeface="Calibri" charset="0"/>
                      </a:endParaRPr>
                    </a:p>
                  </a:txBody>
                  <a:tcPr marL="73152" marR="73152" marT="27432" marB="27432" anchor="ctr">
                    <a:lnL w="6350" cap="flat" cmpd="sng" algn="ctr">
                      <a:solidFill>
                        <a:srgbClr val="D5DEE7"/>
                      </a:solidFill>
                      <a:prstDash val="solid"/>
                      <a:round/>
                      <a:headEnd type="none" w="med" len="med"/>
                      <a:tailEnd type="none" w="med" len="med"/>
                    </a:lnL>
                    <a:lnR w="6350" cap="flat" cmpd="sng" algn="ctr">
                      <a:solidFill>
                        <a:srgbClr val="D5DEE7"/>
                      </a:solidFill>
                      <a:prstDash val="solid"/>
                      <a:round/>
                      <a:headEnd type="none" w="med" len="med"/>
                      <a:tailEnd type="none" w="med" len="med"/>
                    </a:lnR>
                    <a:lnT w="6350" cap="flat" cmpd="sng" algn="ctr">
                      <a:solidFill>
                        <a:srgbClr val="D5DEE7"/>
                      </a:solidFill>
                      <a:prstDash val="solid"/>
                      <a:round/>
                      <a:headEnd type="none" w="med" len="med"/>
                      <a:tailEnd type="none" w="med" len="med"/>
                    </a:lnT>
                    <a:lnB w="6350" cap="flat" cmpd="sng" algn="ctr">
                      <a:solidFill>
                        <a:srgbClr val="D5DEE7"/>
                      </a:solidFill>
                      <a:prstDash val="solid"/>
                      <a:round/>
                      <a:headEnd type="none" w="med" len="med"/>
                      <a:tailEnd type="none" w="med" len="med"/>
                    </a:lnB>
                    <a:solidFill>
                      <a:schemeClr val="bg1"/>
                    </a:solidFill>
                  </a:tcPr>
                </a:tc>
                <a:tc>
                  <a:txBody>
                    <a:bodyPr/>
                    <a:lstStyle/>
                    <a:p>
                      <a:pPr indent="0" marL="0">
                        <a:buNone/>
                      </a:pPr>
                      <a:r>
                        <a:rPr lang="en-US" sz="1250" dirty="0">
                          <a:solidFill>
                            <a:schemeClr val="tx1"/>
                          </a:solidFill>
                          <a:latin typeface="Calibri" pitchFamily="34" charset="0"/>
                          <a:ea typeface="Calibri" pitchFamily="34" charset="-122"/>
                          <a:cs typeface="Calibri" pitchFamily="34" charset="-120"/>
                        </a:rPr>
                        <a:t>1 / −10 / 60 °C</a:t>
                      </a:r>
                      <a:endParaRPr lang="en-US" sz="1250" dirty="0">
                        <a:latin typeface="Calibri" charset="0"/>
                        <a:ea typeface="Calibri" charset="0"/>
                        <a:cs typeface="Calibri" charset="0"/>
                      </a:endParaRPr>
                    </a:p>
                  </a:txBody>
                  <a:tcPr marL="73152" marR="73152" marT="27432" marB="27432" anchor="ctr">
                    <a:lnL w="6350" cap="flat" cmpd="sng" algn="ctr">
                      <a:solidFill>
                        <a:srgbClr val="D5DEE7"/>
                      </a:solidFill>
                      <a:prstDash val="solid"/>
                      <a:round/>
                      <a:headEnd type="none" w="med" len="med"/>
                      <a:tailEnd type="none" w="med" len="med"/>
                    </a:lnL>
                    <a:lnR w="6350" cap="flat" cmpd="sng" algn="ctr">
                      <a:solidFill>
                        <a:srgbClr val="D5DEE7"/>
                      </a:solidFill>
                      <a:prstDash val="solid"/>
                      <a:round/>
                      <a:headEnd type="none" w="med" len="med"/>
                      <a:tailEnd type="none" w="med" len="med"/>
                    </a:lnR>
                    <a:lnT w="6350" cap="flat" cmpd="sng" algn="ctr">
                      <a:solidFill>
                        <a:srgbClr val="D5DEE7"/>
                      </a:solidFill>
                      <a:prstDash val="solid"/>
                      <a:round/>
                      <a:headEnd type="none" w="med" len="med"/>
                      <a:tailEnd type="none" w="med" len="med"/>
                    </a:lnT>
                    <a:lnB w="6350" cap="flat" cmpd="sng" algn="ctr">
                      <a:solidFill>
                        <a:srgbClr val="D5DEE7"/>
                      </a:solidFill>
                      <a:prstDash val="solid"/>
                      <a:round/>
                      <a:headEnd type="none" w="med" len="med"/>
                      <a:tailEnd type="none" w="med" len="med"/>
                    </a:lnB>
                    <a:solidFill>
                      <a:schemeClr val="bg1"/>
                    </a:solidFill>
                  </a:tcPr>
                </a:tc>
                <a:tc>
                  <a:txBody>
                    <a:bodyPr/>
                    <a:lstStyle/>
                    <a:p>
                      <a:pPr indent="0" marL="0">
                        <a:buNone/>
                      </a:pPr>
                      <a:r>
                        <a:rPr lang="en-US" sz="1250" dirty="0">
                          <a:solidFill>
                            <a:schemeClr val="tx1"/>
                          </a:solidFill>
                          <a:latin typeface="Calibri" pitchFamily="34" charset="0"/>
                          <a:ea typeface="Calibri" pitchFamily="34" charset="-122"/>
                          <a:cs typeface="Calibri" pitchFamily="34" charset="-120"/>
                        </a:rPr>
                        <a:t>0–1 / −40–85</a:t>
                      </a:r>
                      <a:endParaRPr lang="en-US" sz="1250" dirty="0">
                        <a:latin typeface="Calibri" charset="0"/>
                        <a:ea typeface="Calibri" charset="0"/>
                        <a:cs typeface="Calibri" charset="0"/>
                      </a:endParaRPr>
                    </a:p>
                  </a:txBody>
                  <a:tcPr marL="73152" marR="73152" marT="27432" marB="27432" anchor="ctr">
                    <a:lnL w="6350" cap="flat" cmpd="sng" algn="ctr">
                      <a:solidFill>
                        <a:srgbClr val="D5DEE7"/>
                      </a:solidFill>
                      <a:prstDash val="solid"/>
                      <a:round/>
                      <a:headEnd type="none" w="med" len="med"/>
                      <a:tailEnd type="none" w="med" len="med"/>
                    </a:lnL>
                    <a:lnR w="6350" cap="flat" cmpd="sng" algn="ctr">
                      <a:solidFill>
                        <a:srgbClr val="D5DEE7"/>
                      </a:solidFill>
                      <a:prstDash val="solid"/>
                      <a:round/>
                      <a:headEnd type="none" w="med" len="med"/>
                      <a:tailEnd type="none" w="med" len="med"/>
                    </a:lnR>
                    <a:lnT w="6350" cap="flat" cmpd="sng" algn="ctr">
                      <a:solidFill>
                        <a:srgbClr val="D5DEE7"/>
                      </a:solidFill>
                      <a:prstDash val="solid"/>
                      <a:round/>
                      <a:headEnd type="none" w="med" len="med"/>
                      <a:tailEnd type="none" w="med" len="med"/>
                    </a:lnT>
                    <a:lnB w="6350" cap="flat" cmpd="sng" algn="ctr">
                      <a:solidFill>
                        <a:srgbClr val="D5DEE7"/>
                      </a:solidFill>
                      <a:prstDash val="solid"/>
                      <a:round/>
                      <a:headEnd type="none" w="med" len="med"/>
                      <a:tailEnd type="none" w="med" len="med"/>
                    </a:lnB>
                    <a:solidFill>
                      <a:schemeClr val="bg1"/>
                    </a:solidFill>
                  </a:tcPr>
                </a:tc>
              </a:tr>
              <a:tr h="384048">
                <a:tc>
                  <a:txBody>
                    <a:bodyPr/>
                    <a:lstStyle/>
                    <a:p>
                      <a:pPr indent="0" marL="0">
                        <a:buNone/>
                      </a:pPr>
                      <a:r>
                        <a:rPr lang="en-US" sz="1250" b="1" dirty="0">
                          <a:solidFill>
                            <a:schemeClr val="tx2"/>
                          </a:solidFill>
                          <a:latin typeface="Calibri" pitchFamily="34" charset="0"/>
                          <a:ea typeface="Calibri" pitchFamily="34" charset="-122"/>
                          <a:cs typeface="Calibri" pitchFamily="34" charset="-120"/>
                        </a:rPr>
                        <a:t>HYGR / _MINT / _MAXT</a:t>
                      </a:r>
                      <a:endParaRPr lang="en-US" sz="1250" dirty="0">
                        <a:latin typeface="Calibri" charset="0"/>
                        <a:ea typeface="Calibri" charset="0"/>
                        <a:cs typeface="Calibri" charset="0"/>
                      </a:endParaRPr>
                    </a:p>
                  </a:txBody>
                  <a:tcPr marL="73152" marR="73152" marT="27432" marB="27432" anchor="ctr">
                    <a:lnL w="6350" cap="flat" cmpd="sng" algn="ctr">
                      <a:solidFill>
                        <a:srgbClr val="D5DEE7"/>
                      </a:solidFill>
                      <a:prstDash val="solid"/>
                      <a:round/>
                      <a:headEnd type="none" w="med" len="med"/>
                      <a:tailEnd type="none" w="med" len="med"/>
                    </a:lnL>
                    <a:lnR w="6350" cap="flat" cmpd="sng" algn="ctr">
                      <a:solidFill>
                        <a:srgbClr val="D5DEE7"/>
                      </a:solidFill>
                      <a:prstDash val="solid"/>
                      <a:round/>
                      <a:headEnd type="none" w="med" len="med"/>
                      <a:tailEnd type="none" w="med" len="med"/>
                    </a:lnR>
                    <a:lnT w="6350" cap="flat" cmpd="sng" algn="ctr">
                      <a:solidFill>
                        <a:srgbClr val="D5DEE7"/>
                      </a:solidFill>
                      <a:prstDash val="solid"/>
                      <a:round/>
                      <a:headEnd type="none" w="med" len="med"/>
                      <a:tailEnd type="none" w="med" len="med"/>
                    </a:lnT>
                    <a:lnB w="6350" cap="flat" cmpd="sng" algn="ctr">
                      <a:solidFill>
                        <a:srgbClr val="D5DEE7"/>
                      </a:solidFill>
                      <a:prstDash val="solid"/>
                      <a:round/>
                      <a:headEnd type="none" w="med" len="med"/>
                      <a:tailEnd type="none" w="med" len="med"/>
                    </a:lnB>
                    <a:solidFill>
                      <a:schemeClr val="bg2"/>
                    </a:solidFill>
                  </a:tcPr>
                </a:tc>
                <a:tc>
                  <a:txBody>
                    <a:bodyPr/>
                    <a:lstStyle/>
                    <a:p>
                      <a:pPr indent="0" marL="0">
                        <a:buNone/>
                      </a:pPr>
                      <a:r>
                        <a:rPr lang="en-US" sz="1250" dirty="0">
                          <a:solidFill>
                            <a:schemeClr val="tx1"/>
                          </a:solidFill>
                          <a:latin typeface="Calibri" pitchFamily="34" charset="0"/>
                          <a:ea typeface="Calibri" pitchFamily="34" charset="-122"/>
                          <a:cs typeface="Calibri" pitchFamily="34" charset="-120"/>
                        </a:rPr>
                        <a:t>1 / 0 / 50 °C</a:t>
                      </a:r>
                      <a:endParaRPr lang="en-US" sz="1250" dirty="0">
                        <a:latin typeface="Calibri" charset="0"/>
                        <a:ea typeface="Calibri" charset="0"/>
                        <a:cs typeface="Calibri" charset="0"/>
                      </a:endParaRPr>
                    </a:p>
                  </a:txBody>
                  <a:tcPr marL="73152" marR="73152" marT="27432" marB="27432" anchor="ctr">
                    <a:lnL w="6350" cap="flat" cmpd="sng" algn="ctr">
                      <a:solidFill>
                        <a:srgbClr val="D5DEE7"/>
                      </a:solidFill>
                      <a:prstDash val="solid"/>
                      <a:round/>
                      <a:headEnd type="none" w="med" len="med"/>
                      <a:tailEnd type="none" w="med" len="med"/>
                    </a:lnL>
                    <a:lnR w="6350" cap="flat" cmpd="sng" algn="ctr">
                      <a:solidFill>
                        <a:srgbClr val="D5DEE7"/>
                      </a:solidFill>
                      <a:prstDash val="solid"/>
                      <a:round/>
                      <a:headEnd type="none" w="med" len="med"/>
                      <a:tailEnd type="none" w="med" len="med"/>
                    </a:lnR>
                    <a:lnT w="6350" cap="flat" cmpd="sng" algn="ctr">
                      <a:solidFill>
                        <a:srgbClr val="D5DEE7"/>
                      </a:solidFill>
                      <a:prstDash val="solid"/>
                      <a:round/>
                      <a:headEnd type="none" w="med" len="med"/>
                      <a:tailEnd type="none" w="med" len="med"/>
                    </a:lnT>
                    <a:lnB w="6350" cap="flat" cmpd="sng" algn="ctr">
                      <a:solidFill>
                        <a:srgbClr val="D5DEE7"/>
                      </a:solidFill>
                      <a:prstDash val="solid"/>
                      <a:round/>
                      <a:headEnd type="none" w="med" len="med"/>
                      <a:tailEnd type="none" w="med" len="med"/>
                    </a:lnB>
                    <a:solidFill>
                      <a:schemeClr val="bg2"/>
                    </a:solidFill>
                  </a:tcPr>
                </a:tc>
                <a:tc>
                  <a:txBody>
                    <a:bodyPr/>
                    <a:lstStyle/>
                    <a:p>
                      <a:pPr indent="0" marL="0">
                        <a:buNone/>
                      </a:pPr>
                      <a:r>
                        <a:rPr lang="en-US" sz="1250" dirty="0">
                          <a:solidFill>
                            <a:schemeClr val="tx1"/>
                          </a:solidFill>
                          <a:latin typeface="Calibri" pitchFamily="34" charset="0"/>
                          <a:ea typeface="Calibri" pitchFamily="34" charset="-122"/>
                          <a:cs typeface="Calibri" pitchFamily="34" charset="-120"/>
                        </a:rPr>
                        <a:t>0–1 / −40–85</a:t>
                      </a:r>
                      <a:endParaRPr lang="en-US" sz="1250" dirty="0">
                        <a:latin typeface="Calibri" charset="0"/>
                        <a:ea typeface="Calibri" charset="0"/>
                        <a:cs typeface="Calibri" charset="0"/>
                      </a:endParaRPr>
                    </a:p>
                  </a:txBody>
                  <a:tcPr marL="73152" marR="73152" marT="27432" marB="27432" anchor="ctr">
                    <a:lnL w="6350" cap="flat" cmpd="sng" algn="ctr">
                      <a:solidFill>
                        <a:srgbClr val="D5DEE7"/>
                      </a:solidFill>
                      <a:prstDash val="solid"/>
                      <a:round/>
                      <a:headEnd type="none" w="med" len="med"/>
                      <a:tailEnd type="none" w="med" len="med"/>
                    </a:lnL>
                    <a:lnR w="6350" cap="flat" cmpd="sng" algn="ctr">
                      <a:solidFill>
                        <a:srgbClr val="D5DEE7"/>
                      </a:solidFill>
                      <a:prstDash val="solid"/>
                      <a:round/>
                      <a:headEnd type="none" w="med" len="med"/>
                      <a:tailEnd type="none" w="med" len="med"/>
                    </a:lnR>
                    <a:lnT w="6350" cap="flat" cmpd="sng" algn="ctr">
                      <a:solidFill>
                        <a:srgbClr val="D5DEE7"/>
                      </a:solidFill>
                      <a:prstDash val="solid"/>
                      <a:round/>
                      <a:headEnd type="none" w="med" len="med"/>
                      <a:tailEnd type="none" w="med" len="med"/>
                    </a:lnT>
                    <a:lnB w="6350" cap="flat" cmpd="sng" algn="ctr">
                      <a:solidFill>
                        <a:srgbClr val="D5DEE7"/>
                      </a:solidFill>
                      <a:prstDash val="solid"/>
                      <a:round/>
                      <a:headEnd type="none" w="med" len="med"/>
                      <a:tailEnd type="none" w="med" len="med"/>
                    </a:lnB>
                    <a:solidFill>
                      <a:schemeClr val="bg2"/>
                    </a:solidFill>
                  </a:tcPr>
                </a:tc>
              </a:tr>
              <a:tr h="384048">
                <a:tc>
                  <a:txBody>
                    <a:bodyPr/>
                    <a:lstStyle/>
                    <a:p>
                      <a:pPr indent="0" marL="0">
                        <a:buNone/>
                      </a:pPr>
                      <a:r>
                        <a:rPr lang="en-US" sz="1250" b="1" dirty="0">
                          <a:solidFill>
                            <a:schemeClr val="tx2"/>
                          </a:solidFill>
                          <a:latin typeface="Calibri" pitchFamily="34" charset="0"/>
                          <a:ea typeface="Calibri" pitchFamily="34" charset="-122"/>
                          <a:cs typeface="Calibri" pitchFamily="34" charset="-120"/>
                        </a:rPr>
                        <a:t>GPS (ajout)</a:t>
                      </a:r>
                      <a:endParaRPr lang="en-US" sz="1250" dirty="0">
                        <a:latin typeface="Calibri" charset="0"/>
                        <a:ea typeface="Calibri" charset="0"/>
                        <a:cs typeface="Calibri" charset="0"/>
                      </a:endParaRPr>
                    </a:p>
                  </a:txBody>
                  <a:tcPr marL="73152" marR="73152" marT="27432" marB="27432" anchor="ctr">
                    <a:lnL w="6350" cap="flat" cmpd="sng" algn="ctr">
                      <a:solidFill>
                        <a:srgbClr val="D5DEE7"/>
                      </a:solidFill>
                      <a:prstDash val="solid"/>
                      <a:round/>
                      <a:headEnd type="none" w="med" len="med"/>
                      <a:tailEnd type="none" w="med" len="med"/>
                    </a:lnL>
                    <a:lnR w="6350" cap="flat" cmpd="sng" algn="ctr">
                      <a:solidFill>
                        <a:srgbClr val="D5DEE7"/>
                      </a:solidFill>
                      <a:prstDash val="solid"/>
                      <a:round/>
                      <a:headEnd type="none" w="med" len="med"/>
                      <a:tailEnd type="none" w="med" len="med"/>
                    </a:lnR>
                    <a:lnT w="6350" cap="flat" cmpd="sng" algn="ctr">
                      <a:solidFill>
                        <a:srgbClr val="D5DEE7"/>
                      </a:solidFill>
                      <a:prstDash val="solid"/>
                      <a:round/>
                      <a:headEnd type="none" w="med" len="med"/>
                      <a:tailEnd type="none" w="med" len="med"/>
                    </a:lnT>
                    <a:lnB w="6350" cap="flat" cmpd="sng" algn="ctr">
                      <a:solidFill>
                        <a:srgbClr val="D5DEE7"/>
                      </a:solidFill>
                      <a:prstDash val="solid"/>
                      <a:round/>
                      <a:headEnd type="none" w="med" len="med"/>
                      <a:tailEnd type="none" w="med" len="med"/>
                    </a:lnB>
                    <a:solidFill>
                      <a:schemeClr val="bg1"/>
                    </a:solidFill>
                  </a:tcPr>
                </a:tc>
                <a:tc>
                  <a:txBody>
                    <a:bodyPr/>
                    <a:lstStyle/>
                    <a:p>
                      <a:pPr indent="0" marL="0">
                        <a:buNone/>
                      </a:pPr>
                      <a:r>
                        <a:rPr lang="en-US" sz="1250" dirty="0">
                          <a:solidFill>
                            <a:schemeClr val="tx1"/>
                          </a:solidFill>
                          <a:latin typeface="Calibri" pitchFamily="34" charset="0"/>
                          <a:ea typeface="Calibri" pitchFamily="34" charset="-122"/>
                          <a:cs typeface="Calibri" pitchFamily="34" charset="-120"/>
                        </a:rPr>
                        <a:t>1</a:t>
                      </a:r>
                      <a:endParaRPr lang="en-US" sz="1250" dirty="0">
                        <a:latin typeface="Calibri" charset="0"/>
                        <a:ea typeface="Calibri" charset="0"/>
                        <a:cs typeface="Calibri" charset="0"/>
                      </a:endParaRPr>
                    </a:p>
                  </a:txBody>
                  <a:tcPr marL="73152" marR="73152" marT="27432" marB="27432" anchor="ctr">
                    <a:lnL w="6350" cap="flat" cmpd="sng" algn="ctr">
                      <a:solidFill>
                        <a:srgbClr val="D5DEE7"/>
                      </a:solidFill>
                      <a:prstDash val="solid"/>
                      <a:round/>
                      <a:headEnd type="none" w="med" len="med"/>
                      <a:tailEnd type="none" w="med" len="med"/>
                    </a:lnL>
                    <a:lnR w="6350" cap="flat" cmpd="sng" algn="ctr">
                      <a:solidFill>
                        <a:srgbClr val="D5DEE7"/>
                      </a:solidFill>
                      <a:prstDash val="solid"/>
                      <a:round/>
                      <a:headEnd type="none" w="med" len="med"/>
                      <a:tailEnd type="none" w="med" len="med"/>
                    </a:lnR>
                    <a:lnT w="6350" cap="flat" cmpd="sng" algn="ctr">
                      <a:solidFill>
                        <a:srgbClr val="D5DEE7"/>
                      </a:solidFill>
                      <a:prstDash val="solid"/>
                      <a:round/>
                      <a:headEnd type="none" w="med" len="med"/>
                      <a:tailEnd type="none" w="med" len="med"/>
                    </a:lnT>
                    <a:lnB w="6350" cap="flat" cmpd="sng" algn="ctr">
                      <a:solidFill>
                        <a:srgbClr val="D5DEE7"/>
                      </a:solidFill>
                      <a:prstDash val="solid"/>
                      <a:round/>
                      <a:headEnd type="none" w="med" len="med"/>
                      <a:tailEnd type="none" w="med" len="med"/>
                    </a:lnB>
                    <a:solidFill>
                      <a:schemeClr val="bg1"/>
                    </a:solidFill>
                  </a:tcPr>
                </a:tc>
                <a:tc>
                  <a:txBody>
                    <a:bodyPr/>
                    <a:lstStyle/>
                    <a:p>
                      <a:pPr indent="0" marL="0">
                        <a:buNone/>
                      </a:pPr>
                      <a:r>
                        <a:rPr lang="en-US" sz="1250" dirty="0">
                          <a:solidFill>
                            <a:schemeClr val="tx1"/>
                          </a:solidFill>
                          <a:latin typeface="Calibri" pitchFamily="34" charset="0"/>
                          <a:ea typeface="Calibri" pitchFamily="34" charset="-122"/>
                          <a:cs typeface="Calibri" pitchFamily="34" charset="-120"/>
                        </a:rPr>
                        <a:t>0–1</a:t>
                      </a:r>
                      <a:endParaRPr lang="en-US" sz="1250" dirty="0">
                        <a:latin typeface="Calibri" charset="0"/>
                        <a:ea typeface="Calibri" charset="0"/>
                        <a:cs typeface="Calibri" charset="0"/>
                      </a:endParaRPr>
                    </a:p>
                  </a:txBody>
                  <a:tcPr marL="73152" marR="73152" marT="27432" marB="27432" anchor="ctr">
                    <a:lnL w="6350" cap="flat" cmpd="sng" algn="ctr">
                      <a:solidFill>
                        <a:srgbClr val="D5DEE7"/>
                      </a:solidFill>
                      <a:prstDash val="solid"/>
                      <a:round/>
                      <a:headEnd type="none" w="med" len="med"/>
                      <a:tailEnd type="none" w="med" len="med"/>
                    </a:lnL>
                    <a:lnR w="6350" cap="flat" cmpd="sng" algn="ctr">
                      <a:solidFill>
                        <a:srgbClr val="D5DEE7"/>
                      </a:solidFill>
                      <a:prstDash val="solid"/>
                      <a:round/>
                      <a:headEnd type="none" w="med" len="med"/>
                      <a:tailEnd type="none" w="med" len="med"/>
                    </a:lnR>
                    <a:lnT w="6350" cap="flat" cmpd="sng" algn="ctr">
                      <a:solidFill>
                        <a:srgbClr val="D5DEE7"/>
                      </a:solidFill>
                      <a:prstDash val="solid"/>
                      <a:round/>
                      <a:headEnd type="none" w="med" len="med"/>
                      <a:tailEnd type="none" w="med" len="med"/>
                    </a:lnT>
                    <a:lnB w="6350" cap="flat" cmpd="sng" algn="ctr">
                      <a:solidFill>
                        <a:srgbClr val="D5DEE7"/>
                      </a:solidFill>
                      <a:prstDash val="solid"/>
                      <a:round/>
                      <a:headEnd type="none" w="med" len="med"/>
                      <a:tailEnd type="none" w="med" len="med"/>
                    </a:lnB>
                    <a:solidFill>
                      <a:schemeClr val="bg1"/>
                    </a:solidFill>
                  </a:tcPr>
                </a:tc>
              </a:tr>
            </a:tbl>
          </a:graphicData>
        </a:graphic>
      </p:graphicFrame>
      <p:sp>
        <p:nvSpPr>
          <p:cNvPr id="6" name="Text 2"/>
          <p:cNvSpPr txBox="1"/>
          <p:nvPr/>
        </p:nvSpPr>
        <p:spPr>
          <a:xfrm>
            <a:off x="6245352" y="4754880"/>
            <a:ext cx="5394960" cy="548640"/>
          </a:xfrm>
          <a:prstGeom prst="rect">
            <a:avLst/>
          </a:prstGeom>
          <a:noFill/>
          <a:ln/>
        </p:spPr>
        <p:txBody>
          <a:bodyPr wrap="square" lIns="0" tIns="0" rIns="0" bIns="0" rtlCol="0" anchor="t"/>
          <a:lstStyle/>
          <a:p>
            <a:pPr indent="0" marL="0">
              <a:buNone/>
            </a:pPr>
            <a:r>
              <a:rPr lang="en-US" sz="1200" b="1" dirty="0">
                <a:solidFill>
                  <a:schemeClr val="tx2"/>
                </a:solidFill>
              </a:rPr>
              <a:t>Autres commandes : </a:t>
            </a:r>
            <a:pPr indent="0" marL="0">
              <a:buNone/>
            </a:pPr>
            <a:r>
              <a:rPr lang="en-US" sz="1200" dirty="0">
                <a:solidFill>
                  <a:schemeClr val="tx1"/>
                </a:solidFill>
                <a:latin typeface="Consolas" pitchFamily="34" charset="0"/>
                <a:ea typeface="Consolas" pitchFamily="34" charset="-122"/>
                <a:cs typeface="Consolas" pitchFamily="34" charset="-120"/>
              </a:rPr>
              <a:t>CLOCK=HH:MM:SS · DATE=MM,JJ,AAAA · DAY=MON…SUN · RESET · VERSION · PARAMS · EXIT</a:t>
            </a:r>
            <a:endParaRPr lang="en-US" sz="1200" dirty="0"/>
          </a:p>
        </p:txBody>
      </p:sp>
      <p:sp>
        <p:nvSpPr>
          <p:cNvPr id="7" name="Text 3"/>
          <p:cNvSpPr txBox="1"/>
          <p:nvPr/>
        </p:nvSpPr>
        <p:spPr>
          <a:xfrm>
            <a:off x="548640" y="5943600"/>
            <a:ext cx="11091672" cy="256032"/>
          </a:xfrm>
          <a:prstGeom prst="rect">
            <a:avLst/>
          </a:prstGeom>
          <a:noFill/>
          <a:ln/>
        </p:spPr>
        <p:txBody>
          <a:bodyPr wrap="square" lIns="0" tIns="0" rIns="0" bIns="0" rtlCol="0" anchor="t"/>
          <a:lstStyle/>
          <a:p>
            <a:pPr indent="0" marL="0">
              <a:buNone/>
            </a:pPr>
            <a:r>
              <a:rPr lang="en-US" sz="1100" i="1" dirty="0">
                <a:solidFill>
                  <a:schemeClr val="accent6"/>
                </a:solidFill>
              </a:rPr>
              <a:t>Valeurs issues du code (station.c, main.c) ; les paramètres modifiés sont sauvegardés dans la Flash.</a:t>
            </a:r>
            <a:endParaRPr lang="en-US" sz="1100" dirty="0"/>
          </a:p>
        </p:txBody>
      </p:sp>
      <p:sp>
        <p:nvSpPr>
          <p:cNvPr id="25" name="Slide Number Placeholder 0"/>
          <p:cNvSpPr>
            <a:spLocks noGrp="1"/>
          </p:cNvSpPr>
          <p:nvPr>
            <p:ph type="sldNum" sz="quarter" idx="4294967295"/>
          </p:nvPr>
        </p:nvSpPr>
        <p:spPr>
          <a:xfrm>
            <a:off x="11091672" y="6455664"/>
            <a:ext cx="548640" cy="237744"/>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6"/>
                </a:solidFill>
              </a:defRPr>
            </a:lvl1pPr>
          </a:lstStyle>
          <a:p>
            <a:pPr algn="r"/>
            <a:fld id="{F7021451-1387-4CA6-816F-3879F97B5CBC}" type="slidenum">
              <a:rPr b="0" lang="en-US"/>
              <a:t>17</a:t>
            </a:fld>
            <a:endParaRPr lang="en-US"/>
          </a:p>
        </p:txBody>
      </p:sp>
    </p:spTree>
  </p:cSld>
  <p:clrMapOvr>
    <a:masterClrMapping/>
  </p:clrMapOvr>
</p:sld>
</file>

<file path=ppt/theme/theme1.xml><?xml version="1.0" encoding="utf-8"?>
<a:theme xmlns:a="http://schemas.openxmlformats.org/drawingml/2006/main" name="Aura Marine">
  <a:themeElements>
    <a:clrScheme name="Aura Marine">
      <a:dk1>
        <a:srgbClr val="16212E"/>
      </a:dk1>
      <a:lt1>
        <a:srgbClr val="FFFFFF"/>
      </a:lt1>
      <a:dk2>
        <a:srgbClr val="0B2545"/>
      </a:dk2>
      <a:lt2>
        <a:srgbClr val="EEF3F7"/>
      </a:lt2>
      <a:accent1>
        <a:srgbClr val="0A8A96"/>
      </a:accent1>
      <a:accent2>
        <a:srgbClr val="E8913A"/>
      </a:accent2>
      <a:accent3>
        <a:srgbClr val="13315C"/>
      </a:accent3>
      <a:accent4>
        <a:srgbClr val="2E9E5B"/>
      </a:accent4>
      <a:accent5>
        <a:srgbClr val="5CC8D2"/>
      </a:accent5>
      <a:accent6>
        <a:srgbClr val="5E7186"/>
      </a:accent6>
      <a:hlink>
        <a:srgbClr val="0A8A96"/>
      </a:hlink>
      <a:folHlink>
        <a:srgbClr val="13315C"/>
      </a:folHlink>
    </a:clrScheme>
    <a:fontScheme name="Aura Marine">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vector>
  </TitlesOfParts>
  <Company>CESI École d'ingénieurs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Station météorologique embarquée sur STM32</dc:title>
  <dc:subject>Soutenance du projet Système embarqué — Worldwide Weather Watcher</dc:subject>
  <dc:creator>Équipe AURA</dc:creator>
  <cp:lastModifiedBy>Équipe AURA</cp:lastModifiedBy>
  <cp:revision>1</cp:revision>
  <dcterms:created xsi:type="dcterms:W3CDTF">2026-10-23T11:36:18Z</dcterms:created>
  <dcterms:modified xsi:type="dcterms:W3CDTF">2026-10-23T11:36:18Z</dcterms:modified>
</cp:coreProperties>
</file>