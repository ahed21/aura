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5.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2" r:id="rId21"/>
    <p:sldId id="270" r:id="rId18"/>
    <p:sldId id="271" r:id="rId19"/>
  </p:sldIdLst>
  <p:sldSz cx="12192000" cy="6858000"/>
  <p:notesSz cx="6858000" cy="12192000"/>
  <p:extLst>
    <p:ext uri="{521415D9-36F7-43E2-AB2F-B90AF26B5E84}">
      <p14:sectionLst xmlns:p14="http://schemas.microsoft.com/office/powerpoint/2010/main">
        <p14:section name="Ouverture" id="{c1cda407-6b12-1be7-4542-a0650ceeb16f}">
          <p14:sldIdLst>
            <p14:sldId id="256"/>
            <p14:sldId id="257"/>
          </p14:sldIdLst>
        </p14:section>
        <p14:section name="01 · Contexte et objectifs" id="{8f626802-52d2-fed7-9be0-bc812d2adad6}">
          <p14:sldIdLst>
            <p14:sldId id="258"/>
          </p14:sldIdLst>
        </p14:section>
        <p14:section name="02 · Matériel et architecture" id="{886f1d95-e264-d71a-ded5-480015ce5d36}">
          <p14:sldIdLst>
            <p14:sldId id="259"/>
            <p14:sldId id="260"/>
            <p14:sldId id="261"/>
          </p14:sldIdLst>
        </p14:section>
        <p14:section name="03 · Acquisition et stockage" id="{b69cc7c3-93f1-5093-7737-87b7ba54c62a}">
          <p14:sldIdLst>
            <p14:sldId id="262"/>
            <p14:sldId id="263"/>
          </p14:sldIdLst>
        </p14:section>
        <p14:section name="04 · Modes, interruptions et erreurs" id="{0d624e09-a8b2-58fd-7788-0e7d8a21f1d7}">
          <p14:sldIdLst>
            <p14:sldId id="264"/>
            <p14:sldId id="265"/>
            <p14:sldId id="266"/>
          </p14:sldIdLst>
        </p14:section>
        <p14:section name="05 · Script, tests et démonstration" id="{26765e34-2a90-6c8e-62f4-979720dedf2a}">
          <p14:sldIdLst>
            <p14:sldId id="267"/>
            <p14:sldId id="268"/>
            <p14:sldId id="269"/>
            <p14:sldId id="272"/>
          </p14:sldIdLst>
        </p14:section>
        <p14:section name="Conclusion" id="{764555b5-fd7f-dff9-40f0-d466d0d50369}">
          <p14:sldIdLst>
            <p14:sldId id="270"/>
          </p14:sldIdLst>
        </p14:section>
        <p14:section name="Annexe" id="{628b5988-3bb9-e27c-f4e1-dda3ed2c7319}">
          <p14:sldIdLst>
            <p14:sldId id="271"/>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Relationship Id="rId21"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fr-FR" sz="1800" b="0" u="none" strike="noStrike">
                <a:solidFill>
                  <a:schemeClr val="dk1"/>
                </a:solidFill>
                <a:effectLst/>
                <a:uFillTx/>
                <a:latin typeface="Calibri"/>
              </a:rPr>
              <a:t>Cliquez pour déplacer la diapo</a:t>
            </a:r>
            <a:endParaRPr lang="fr-FR" sz="1800" b="0" u="none" strike="noStrike">
              <a:solidFill>
                <a:schemeClr val="dk1"/>
              </a:solidFill>
              <a:effectLst/>
              <a:uFillTx/>
              <a:latin typeface="Calibri"/>
            </a:endParaRPr>
          </a:p>
        </p:txBody>
      </p:sp>
      <p:sp>
        <p:nvSpPr>
          <p:cNvPr id="1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15"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&lt;en-tête&gt;</a:t>
            </a:r>
            <a:endParaRPr lang="fr-FR" sz="1400" b="0" u="none" strike="noStrike">
              <a:solidFill>
                <a:srgbClr val="000000"/>
              </a:solidFill>
              <a:effectLst/>
              <a:uFillTx/>
              <a:latin typeface="Times New Roman"/>
            </a:endParaRPr>
          </a:p>
        </p:txBody>
      </p:sp>
      <p:sp>
        <p:nvSpPr>
          <p:cNvPr id="16" name="PlaceHolder 4"/>
          <p:cNvSpPr>
            <a:spLocks noGrp="1"/>
          </p:cNvSpPr>
          <p:nvPr>
            <p:ph type="dt" idx="3"/>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17" name="PlaceHolder 5"/>
          <p:cNvSpPr>
            <a:spLocks noGrp="1"/>
          </p:cNvSpPr>
          <p:nvPr>
            <p:ph type="ftr" idx="4"/>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8" name="PlaceHolder 6"/>
          <p:cNvSpPr>
            <a:spLocks noGrp="1"/>
          </p:cNvSpPr>
          <p:nvPr>
            <p:ph type="sldNum" idx="5"/>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05981A27-1D6A-409C-A7B6-9C92B27FED04}" type="slidenum">
              <a:rPr lang="fr-FR" sz="1400" b="0" u="none" strike="noStrike">
                <a:solidFill>
                  <a:srgbClr val="000000"/>
                </a:solidFill>
                <a:effectLst/>
                <a:uFillTx/>
                <a:latin typeface="Times New Roman"/>
              </a:rPr>
              <a:t>&lt;numéro&gt;</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685800" y="1143000"/>
            <a:ext cx="5486040" cy="3085920"/>
          </a:xfrm>
          <a:prstGeom prst="rect">
            <a:avLst/>
          </a:prstGeom>
          <a:ln w="0">
            <a:noFill/>
          </a:ln>
        </p:spPr>
      </p:sp>
      <p:sp>
        <p:nvSpPr>
          <p:cNvPr id="7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1  ·  Durée indicative : 0 min 30</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Présenter l'équipe et le sujet en une phrase.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Bonjour à toutes et à tous. Nous sommes [prénoms]. Nous allons vous présenter AURA, notre station météorologique embarquée, réalisée sur une carte STM32 Nucleo dans le cadre du projet Worldwide Weather Watcher. Elle est destinée à être installée sur un bateau ; ce que nous vous présentons aujourd'hui est un prototype de laboratoire.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Les six icônes autour de la puce correspondent au matériel réel : température et humidité, luminosité, GPS, carte SD, LED d'état et horloge RTC.</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Voici le déroulé de ces vingt minutes. »</a:t>
            </a:r>
            <a:endParaRPr lang="fr-FR" sz="2000" b="0" u="none" strike="noStrike">
              <a:solidFill>
                <a:srgbClr val="000000"/>
              </a:solidFill>
              <a:effectLst/>
              <a:uFillTx/>
              <a:latin typeface="Arial"/>
            </a:endParaRPr>
          </a:p>
        </p:txBody>
      </p:sp>
      <p:sp>
        <p:nvSpPr>
          <p:cNvPr id="71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0894D8-33C3-4C79-B510-F34CDBE43607}"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685800" y="1143000"/>
            <a:ext cx="5486040" cy="3085920"/>
          </a:xfrm>
          <a:prstGeom prst="rect">
            <a:avLst/>
          </a:prstGeom>
          <a:ln w="0">
            <a:noFill/>
          </a:ln>
        </p:spPr>
      </p:sp>
      <p:sp>
        <p:nvSpPr>
          <p:cNvPr id="7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1  ·  Durée indicative : 0 min 45</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Annoncer les cinq parties, les intervenants et la logique du déroulé.</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Nous commencerons par le contexte et nos objectifs. Nous présenterons ensuite le matériel et l'organisation du programme, puis la façon dont les mesures sont acquises et enregistrées sur la carte SD. Nous expliquerons les quatre modes de fonctionnement, les interruptions et la gestion des erreurs. Nous terminerons par le script de compilation, nos essais et le scénario de la démonstration, qui suivra cette présentation.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Répartition : Membre 1 → diapositives 1 à 5 ; Membre 2 → 6 à 8 ; Membre 3 → 9 à 11 ; Membre 4 → 12 à 16. Environ 5 min chacun, 20 min au total.</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Si vous remplacez « Membre 1… » par vos prénoms, faites-le aussi sur la couverture.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Commençons par le besoin. »</a:t>
            </a:r>
            <a:endParaRPr lang="fr-FR" sz="2000" b="0" u="none" strike="noStrike">
              <a:solidFill>
                <a:srgbClr val="000000"/>
              </a:solidFill>
              <a:effectLst/>
              <a:uFillTx/>
              <a:latin typeface="Arial"/>
            </a:endParaRPr>
          </a:p>
        </p:txBody>
      </p:sp>
      <p:sp>
        <p:nvSpPr>
          <p:cNvPr id="71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5AB78C-3785-40D9-862C-49C1D25D02CC}"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685800" y="1143000"/>
            <a:ext cx="5486040" cy="3085920"/>
          </a:xfrm>
          <a:prstGeom prst="rect">
            <a:avLst/>
          </a:prstGeom>
          <a:ln w="0">
            <a:noFill/>
          </a:ln>
        </p:spPr>
      </p:sp>
      <p:sp>
        <p:nvSpPr>
          <p:cNvPr id="7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1  ·  Durée indicative : 1 min 30</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Le besoin vient de l'AIVM ; notre mission est de réaliser une station fiable et simple à piloter.</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 sujet nous place dans le rôle d'une start-up mandatée par l'AIVM, l'Agence internationale pour la vigilance météorologique. L'agence veut équiper des navires de stations météo embarquées, pour mesurer les paramètres qui influencent la formation des cyclones. Les compagnies maritimes acceptent, à une condition : la station doit rester simple, et pilotable par un membre d'équipage qui n'est pas spécialiste. Notre mission, et la question qui a guidé tout le projet : concevoir sur STM32 une station qui mesure, horodate et enregistre ses données de façon fiable, tout en restant simple à piloter. Concrètement, notre station mesure la température de l'air, l'humidité, la luminosité et la position GPS ; elle enregistre une ligne horodatée par mesure sur une carte SD ; et elle se pilote avec deux boutons, une LED d'état et une console série.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C'est un prototype de laboratoire : ne pas affirmer qu'il a été testé en mer ni qu'il remplace des instruments certifiés.</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 partage des données entre navires est l'objectif à long terme de l'AIVM ; il ne fait pas partie de notre prototype.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Voyons maintenant le matériel dont nous disposons. »</a:t>
            </a:r>
            <a:endParaRPr lang="fr-FR" sz="2000" b="0" u="none" strike="noStrike">
              <a:solidFill>
                <a:srgbClr val="000000"/>
              </a:solidFill>
              <a:effectLst/>
              <a:uFillTx/>
              <a:latin typeface="Arial"/>
            </a:endParaRPr>
          </a:p>
        </p:txBody>
      </p:sp>
      <p:sp>
        <p:nvSpPr>
          <p:cNvPr id="71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C0E63D-AFDB-4E0C-9780-C7715D7518EB}"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685800" y="1143000"/>
            <a:ext cx="5486040" cy="3085920"/>
          </a:xfrm>
          <a:prstGeom prst="rect">
            <a:avLst/>
          </a:prstGeom>
          <a:ln w="0">
            <a:noFill/>
          </a:ln>
        </p:spPr>
      </p:sp>
      <p:sp>
        <p:nvSpPr>
          <p:cNvPr id="7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1  ·  Durée indicative : 1 min 15</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Présenter uniquement le matériel réellement utilisé et le rôle de chaque élément.</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Tout le montage est centré sur la carte NUCLEO-L476RG : un microcontrôleur STM32L476RG à cœur Cortex‑M4, cadencé à 80 MHz, avec une sonde ST-LINK intégrée qui sert à la fois à programmer la carte et de console série. Trois éléments mesurent : le DHT11 pour la température de l'air et l'humidité, le BH1750 pour la luminosité, et le module GPS pour la position et l'heure. La carte SD stocke les mesures, et la RTC interne du microcontrôleur les date. Enfin, l'équipage interagit avec la station grâce à deux boutons poussoirs et à une LED RGB qui indique l'état du système. Dans la suite, le bouton rouge désigne le bouton externe, et le bouton vert le bouton bleu B1 de la carte.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Matériel présenté : celui de la cheat sheet du projet, et rien d'autre.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 STM32L476RG dispose de 1 Mo de Flash et de 128 Ko de RAM.</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LED RGB à anode commune (constaté le 18/10/2026) : la logique de commande est inversée dans rgb_led.h.</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Code couleur des pastilles : turquoise = capteurs, bleu marine = stockage et temps, gris = interface utilisateur.</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Voyons comment ces éléments sont reliés au microcontrôleur. »</a:t>
            </a:r>
            <a:endParaRPr lang="fr-FR" sz="2000" b="0" u="none" strike="noStrike">
              <a:solidFill>
                <a:srgbClr val="000000"/>
              </a:solidFill>
              <a:effectLst/>
              <a:uFillTx/>
              <a:latin typeface="Arial"/>
            </a:endParaRPr>
          </a:p>
        </p:txBody>
      </p:sp>
      <p:sp>
        <p:nvSpPr>
          <p:cNvPr id="72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3BD4B6-E1E4-4EA3-A424-B3399B298D4F}"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685800" y="1143000"/>
            <a:ext cx="5486040" cy="3085920"/>
          </a:xfrm>
          <a:prstGeom prst="rect">
            <a:avLst/>
          </a:prstGeom>
          <a:ln w="0">
            <a:noFill/>
          </a:ln>
        </p:spPr>
      </p:sp>
      <p:sp>
        <p:nvSpPr>
          <p:cNvPr id="7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1  ·  Durée indicative : 1 min</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Chaque périphérique, sa liaison et ses broches.</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Chaque périphérique utilise sa propre liaison. À gauche, les entrées : le DHT11 sur une seule broche, PB0, avec un protocole propriétaire chronométré à la microseconde ; le BH1750 sur le bus I2C1 ; le GPS sur l'USART3 à 9600 bauds ; et les deux boutons, qui déclenchent des interruptions EXTI. À droite, les sorties : la carte SD en SPI1, gérée par la bibliothèque FatFS ; la LED RGB sur trois sorties GPIO ; et le PC, relié par l'USART2 du ST-LINK à 115 200 bauds, pour la configuration et la maintenance. Dans le microcontrôleur, la RTC date les mesures, la Flash conserve les paramètres et le NVIC gère les interruptions.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PA5 est à la fois l'horloge SCK du SPI1 et la LED verte LD2 de la carte : LD2 n'est donc pas utilisée.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La RTC tourne sur l'oscillateur interne LSI (le quartz LSE n'est pas exploité dans le code) : elle dérive, d'où le recalage sur l'heure GPS.</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Les paramètres sont stockés dans la dernière page de la Flash (0x080FF800), avec un mot magique et une somme de contrôle : le STM32L476 n'a pas d'EEPROM.</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Bus I2C1 à 100 kHz ; BH1750 à l'adresse 0x23.</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Côté GPS, seule la ligne TX du GPS → RX du STM32 (PC11) est exploitée par le programme.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Je laisse la parole à Membre 2, qui va vous présenter l'organisation du programme. »</a:t>
            </a:r>
            <a:endParaRPr lang="fr-FR" sz="2000" b="0" u="none" strike="noStrike">
              <a:solidFill>
                <a:srgbClr val="000000"/>
              </a:solidFill>
              <a:effectLst/>
              <a:uFillTx/>
              <a:latin typeface="Arial"/>
            </a:endParaRPr>
          </a:p>
        </p:txBody>
      </p:sp>
      <p:sp>
        <p:nvSpPr>
          <p:cNvPr id="72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2A26EF-BD9A-4600-BFD2-F3ADEA1E8470}"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685800" y="1143000"/>
            <a:ext cx="5486040" cy="3085920"/>
          </a:xfrm>
          <a:prstGeom prst="rect">
            <a:avLst/>
          </a:prstGeom>
          <a:ln w="0">
            <a:noFill/>
          </a:ln>
        </p:spPr>
      </p:sp>
      <p:sp>
        <p:nvSpPr>
          <p:cNvPr id="7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2  ·  Durée indicative : 1 min 30</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Un firmware en couches, et une boucle principale qui délègue au mode courant.</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 programme est écrit en C et organisé en couches. En bas, la HAL et CMSIS générées par STM32CubeMX. Au-dessus, FatFS pour le système de fichiers de la carte SD, puis les pilotes de nos composants : DHT11, BH1750 et LED RGB. main.c initialise le matériel, et station.c contient toute la logique : modes, acquisition, carte SD, configuration et erreurs. Au démarrage, on règle l'horloge à 80 MHz et on initialise les périphériques. Si le bouton bleu B1 est maintenu, la carte lance un diagnostic du matériel. Sinon, Station_Init charge les paramètres depuis la Flash, prépare les boutons et les liaisons série, puis choisit le mode initial : configuration si le bouton rouge est maintenu, standard sinon. Ensuite, la boucle infinie appelle Station_Loop, qui traite les événements des boutons puis exécute le traitement du mode courant.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Traitement du mode courant : CONFIGURATION → commandes série ; STANDARD et ÉCONOMIQUE → acquisition puis écriture sur la carte SD ; MAINTENANCE → affichage des mesures sur la console.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 diagnostic matériel n'est pas un cinquième mode : c'est un outil de test au démarrage, qui classe chaque test en OK, ÉCHEC ou « à vérifier à l'œil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USART2 (console du ST-LINK) est initialisé à la main (USART2_Init_Manuel), car CubeMX ne l'avait pas généré.</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Horloge système : HSI 16 MHz → PLL ×10 ÷2 = 80 MHz.</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Voyons maintenant le cœur du programme : l'acquisition des mesures. »</a:t>
            </a:r>
            <a:endParaRPr lang="fr-FR" sz="2000" b="0" u="none" strike="noStrike">
              <a:solidFill>
                <a:srgbClr val="000000"/>
              </a:solidFill>
              <a:effectLst/>
              <a:uFillTx/>
              <a:latin typeface="Arial"/>
            </a:endParaRPr>
          </a:p>
        </p:txBody>
      </p:sp>
      <p:sp>
        <p:nvSpPr>
          <p:cNvPr id="728"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882D4A0-4A36-4E39-A5A5-F574BD254C7B}"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685800" y="1143000"/>
            <a:ext cx="5486040" cy="3085920"/>
          </a:xfrm>
          <a:prstGeom prst="rect">
            <a:avLst/>
          </a:prstGeom>
          <a:ln w="0">
            <a:noFill/>
          </a:ln>
        </p:spPr>
      </p:sp>
      <p:sp>
        <p:nvSpPr>
          <p:cNvPr id="7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2  ·  Durée indicative : 1 min 45</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Une acquisition séquentielle, tolérante aux pannes, qui produit une seule ligne horodatée.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Une acquisition se déroule en quatre étapes. D'abord l'horodatage : la date et l'heure sont lues dans la RTC. Puis le DHT11 : le microcontrôleur envoie un signal de départ, chronomètre les 40 bits de la réponse avec le compteur de cycles DWT du Cortex‑M4 et vérifie la somme de contrôle ; en cas d'échec, il réessaie toutes les deux secondes jusqu'au TIMEOUT, 30 secondes par défaut. Ensuite le BH1750, en mode continu haute résolution : la valeur brute divisée par 1,2 donne des lux. Enfin le GPS : les trames arrivent en continu par interruption ; nous gardons la dernière trame RMC, nous exigeons le statut A, qui signifie position valide, et nous convertissons la position en degrés décimaux. Tout est assemblé en une seule ligne horodatée, avec NA pour chaque valeur manquante. Cette ligne est affichée sur la console et, en mode standard ou économique, enregistrée sur la carte SD.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Seuils de température : MIN_TEMP_AIR et MAX_TEMP_AIR (−10 et 60 °C par défaut) ; hors seuils, la température vaut NA et l'erreur « donnée incohérente » est levée.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L'humidité n'est retenue que si la température est comprise entre HYGR_MINT et HYGR_MAXT (0 et 50 °C par défaut).</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La conversion GPS est faite en entiers, car le printf de newlib-nano ne gère pas %f.</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L'heure GPS (UTC) recale la RTC au premier fix, puis dès que l'écart dépasse 2 s ; décalage fixe UTC+1, sans gestion de l'heure d'été.</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Une acquisition est interruptible : un appui long pendant l'attente d'un capteur l'annule proprement.</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La classe de luminosité (seuils LUMIN_LOW et LUMIN_HIGH) est affichée sur la console ; le fichier garde la valeur en lux.</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Voyons justement comment cette ligne est écrite sur la carte SD. »</a:t>
            </a:r>
            <a:endParaRPr lang="fr-FR" sz="2000" b="0" u="none" strike="noStrike">
              <a:solidFill>
                <a:srgbClr val="000000"/>
              </a:solidFill>
              <a:effectLst/>
              <a:uFillTx/>
              <a:latin typeface="Arial"/>
            </a:endParaRPr>
          </a:p>
        </p:txBody>
      </p:sp>
      <p:sp>
        <p:nvSpPr>
          <p:cNvPr id="73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046071-71E6-47A0-BDF3-F2818E82672D}"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685800" y="1143000"/>
            <a:ext cx="5486040" cy="3085920"/>
          </a:xfrm>
          <a:prstGeom prst="rect">
            <a:avLst/>
          </a:prstGeom>
          <a:ln w="0">
            <a:noFill/>
          </a:ln>
        </p:spPr>
      </p:sp>
      <p:sp>
        <p:nvSpPr>
          <p:cNvPr id="7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2  ·  Durée indicative : 1 min 45</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La carte SD est la mémoire de la station : une ligne ajoutée au fichier du jour à chaque mesure, de façon sûre.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La carte SD est la mémoire de la station : elle conserve toutes les mesures, sans qu'un PC soit connecté. Elle est reliée en SPI et formatée en FAT32, ce qui permet de lire les fichiers directement sur un ordinateur. À chaque mesure, en mode standard ou économique, le programme suit cinq étapes. Il monte la carte si nécessaire. Il vérifie qu'il reste assez de place ; sinon, il signale l'erreur « carte pleine ». Il ouvre le fichier du jour, nommé avec l'année, le mois et le jour, suivis du numéro de révision 0. Si ce fichier atteint la taille maximale FILE_MAX_SIZE, il est copié dans la première révision libre, de 1 à 9, puis vidé. Enfin, le programme ajoute la ligne et ferme le fichier : c'est la fermeture qui garantit que les données sont réellement écrites sur la carte. Les captures montrent un vrai fichier de notre carte : 261021_0, c'est-à-dire le 21 octobre 2026, révision 0. On y voit l'en-tête des colonnes, puis une ligne par mesure. La latitude et la longitude valent NA, car aucune position GPS n'était disponible pendant cet essai.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D'après le code (fonction nom_fichier), le nom complet est 261021_0.LOG ; l'explorateur Windows masque l'extension et l'affiche comme « Document texte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L'en-tête « date;heure;latitude;longitude;temperature_C;humidite_pct;luminosite_lux » est écrit dans chaque fichier neuf ou vidé.</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FILE_MAX_SIZE vaut 2 048 octets (2 Ko) par défaut dans notre programme ; il se règle en mode configuration.</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Si l'horloge n'a jamais été réglée (ni GPS, ni CLOCK / DATE), le fichier s'appelle 000000_0.LOG et la date est écrite NA.</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En mode MAINTENANCE, la carte est démontée : on peut la retirer sans risque ; elle est remontée automatiquement à l'écriture suivante.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En cas d'échec d'ouverture, d'écriture ou de fermeture, la carte est démontée et l'erreur d'accès SD est signalée par la LED ; un nouveau montage est tenté à la mesure suivante.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Les noms suivent le format 8.3 de FAT : au-delà de 9 archives le même jour, l'archivage échoue et l'erreur d'écriture est signalée.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Je laisse la parole à Membre 3, qui va vous présenter les modes de fonctionnement. »</a:t>
            </a:r>
            <a:endParaRPr lang="fr-FR" sz="2000" b="0" u="none" strike="noStrike">
              <a:solidFill>
                <a:srgbClr val="000000"/>
              </a:solidFill>
              <a:effectLst/>
              <a:uFillTx/>
              <a:latin typeface="Arial"/>
            </a:endParaRPr>
          </a:p>
        </p:txBody>
      </p:sp>
      <p:sp>
        <p:nvSpPr>
          <p:cNvPr id="734"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E165454-B02B-4CC9-BD8F-86BEB8566CA7}"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685800" y="1143000"/>
            <a:ext cx="5486040" cy="3085920"/>
          </a:xfrm>
          <a:prstGeom prst="rect">
            <a:avLst/>
          </a:prstGeom>
          <a:ln w="0">
            <a:noFill/>
          </a:ln>
        </p:spPr>
      </p:sp>
      <p:sp>
        <p:nvSpPr>
          <p:cNvPr id="7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3  ·  Durée indicative : 2 min</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Quatre modes, choisis par deux boutons, chacun reconnaissable à la couleur de la LED.</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La station possède quatre modes, choisis avec les deux boutons. À la mise sous tension sans bouton, elle démarre en mode standard, LED verte : elle mesure toutes les LOG_INTERVAL, dix minutes par défaut, et enregistre chaque ligne sur la carte SD. Si l'on démarre en maintenant le bouton rouge, elle entre en mode configuration, LED jaune : l'acquisition est arrêtée, et l'on règle les paramètres depuis la console série ; après 30 minutes sans commande, elle repasse seule en standard. Depuis le standard, un appui de 5 secondes sur le rouge mène au mode maintenance, LED orange : les données ne sont plus écrites, la carte SD peut être retirée sans risque, et les mesures s'affichent en direct sur la console. Un nouvel appui de 5 secondes sur le rouge ramène au mode précédent. Enfin, depuis le standard, 5 secondes sur le vert mènent au mode économique, LED bleue : l'intervalle entre deux mesures est doublé et le GPS n'est lu qu'une mesure sur deux, pour économiser la batterie. Un appui de 5 secondes sur le rouge ramène alors en standard.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 document « Modes de fonctionnement » indique aussi que la maintenance est accessible depuis le mode économique, alors que le même geste (rouge 5 s) doit ramener de l'économique au standard. Nous avons retenu le retour en standard ; la constante ECO_ROUGE_VERS_MAINTENANCE permet l'autre choix.</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En configuration, les boutons sont ignorés ; la commande EXIT (ajoutée par l'équipe) permet de sortir sans attendre 30 minutes.</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Paramètres réglables : LOG_INTERVAL, FILE_MAX_SIZE, TIMEOUT, LUMIN, LUMIN_LOW, LUMIN_HIGH, TEMP_AIR, MIN_TEMP_AIR, MAX_TEMP_AIR, HYGR, HYGR_MINT, HYGR_MAXT ; plus CLOCK, DATE, DAY, RESET et VERSION. Les paramètres sont sauvegardés dans la Flash.</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En maintenance, les mesures s'affichent sur la console toutes les 2 s.</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L'orange est obtenu par rouge + vert à 30 % (modulation logicielle dans le SysTick).</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Ces changements de mode reposent sur des interruptions : voyons comment. »</a:t>
            </a:r>
            <a:endParaRPr lang="fr-FR" sz="2000" b="0" u="none" strike="noStrike">
              <a:solidFill>
                <a:srgbClr val="000000"/>
              </a:solidFill>
              <a:effectLst/>
              <a:uFillTx/>
              <a:latin typeface="Arial"/>
            </a:endParaRPr>
          </a:p>
        </p:txBody>
      </p:sp>
      <p:sp>
        <p:nvSpPr>
          <p:cNvPr id="737"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75B1377-3F9F-450C-BE17-BD907A6004C6}"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685800" y="1143000"/>
            <a:ext cx="5486040" cy="3085920"/>
          </a:xfrm>
          <a:prstGeom prst="rect">
            <a:avLst/>
          </a:prstGeom>
          <a:ln w="0">
            <a:noFill/>
          </a:ln>
        </p:spPr>
      </p:sp>
      <p:sp>
        <p:nvSpPr>
          <p:cNvPr id="7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3  ·  Durée indicative : 1 min 30</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Les interruptions captent les événements ; la boucle principale décide.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Nous utilisons quatre sources d'interruption. Le SysTick, toutes les millisecondes, mesure la durée d'appui des boutons et anime la LED : la LED n'est donc jamais bloquée par une mesure lente. Les interruptions EXTI des deux boutons se déclenchent sur les deux fronts, avec un anti-rebond de 20 ms. Les deux UART reçoivent octet par octet : la console assemble une commande, le GPS assemble une trame NMEA. Prenons un appui long sur le rouge : l'EXTI mémorise l'instant de l'appui ; le SysTick constate que 5 secondes se sont écoulées et dépose un événement dans une file ; c'est la boucle principale qui lit cette file et change de mode.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Une interruption ne change jamais de mode : les routines restent courtes ; tout ce qui est long (carte SD, I2C, changement de mode) se fait dans la boucle principale.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Variables partagées déclarées volatile ; file circulaire de 8 événements ; copie des tampons de commande et de trame GPS sous __disable_irq() / __enable_irq().</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Priorités NVIC : boutons 5, UART 6. En cas de débordement UART, HAL_UART_ErrorCallback relance la réception.</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La périodicité des acquisitions n'utilise pas de timer matériel : la boucle compare HAL_GetTick() à l'instant prévu de la prochaine mesure.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Que se passe-t-il quand quelque chose tourne mal ? »</a:t>
            </a:r>
            <a:endParaRPr lang="fr-FR" sz="2000" b="0" u="none" strike="noStrike">
              <a:solidFill>
                <a:srgbClr val="000000"/>
              </a:solidFill>
              <a:effectLst/>
              <a:uFillTx/>
              <a:latin typeface="Arial"/>
            </a:endParaRPr>
          </a:p>
        </p:txBody>
      </p:sp>
      <p:sp>
        <p:nvSpPr>
          <p:cNvPr id="740"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DBC162-4ABF-401C-A80B-CC58715B2754}"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685800" y="1143000"/>
            <a:ext cx="5486040" cy="3085920"/>
          </a:xfrm>
          <a:prstGeom prst="rect">
            <a:avLst/>
          </a:prstGeom>
          <a:ln w="0">
            <a:noFill/>
          </a:ln>
        </p:spPr>
      </p:sp>
      <p:sp>
        <p:nvSpPr>
          <p:cNvPr id="7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3  ·  Durée indicative : 1 min 30</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Six erreurs détectées, signalées et, dès que la cause disparaît, récupérées automatiquement.</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Six situations d'erreur sont prévues, chacune avec son propre code lumineux : un clignotement à 1 Hz entre le rouge et une seconde couleur, avec des durées égales ou dans un rapport un pour deux. Chaque erreur a une condition de détection précise : par exemple, un capteur n'est déclaré en erreur qu'après deux acquisitions consécutives en timeout, pour éviter les fausses alertes. Si plusieurs erreurs coexistent, la LED affiche la plus prioritaire. Les erreurs sont réévaluées à chaque acquisition : dès que la cause disparaît, la station reprend seule. Pour la carte SD, en cas d'échec, le programme démonte la carte et retente le montage à l'écriture suivante.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Codes couleur : rouge/blanc (blanc 2 fois plus long) = accès ou écriture SD ; rouge/blanc = carte pleine ; rouge/bleu = RTC ; rouge/vert = capteur ; rouge/jaune = GPS ; rouge/vert (vert 2 fois plus long) = donnée incohérente.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À dire honnêtement : un échec à l'initialisation des périphériques mène à Error_Handler, une boucle infinie ; il n'y a pas de chien de garde (watchdog) ; les erreurs ne sont pas enregistrées sur la carte.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 Horloge non réglée » n'est pas une erreur RTC : la date est écrite NA jusqu'au premier fix GPS ou à une commande CLOCK / DATE.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Carte pleine : espace libre inférieur à la longueur de la ligne + FILE_MAX_SIZE (marge nécessaire pour copier une archive).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Durées du signal : 500 ms / 500 ms pour 1:1 ; 333 ms rouge / 667 ms pour 1:2.</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Membre 4 va maintenant vous présenter le script de compilation et nos essais. »</a:t>
            </a:r>
            <a:endParaRPr lang="fr-FR" sz="2000" b="0" u="none" strike="noStrike">
              <a:solidFill>
                <a:srgbClr val="000000"/>
              </a:solidFill>
              <a:effectLst/>
              <a:uFillTx/>
              <a:latin typeface="Arial"/>
            </a:endParaRPr>
          </a:p>
        </p:txBody>
      </p:sp>
      <p:sp>
        <p:nvSpPr>
          <p:cNvPr id="743"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1C2102-BFEA-43C5-9747-1C7747FAFD6F}"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685800" y="1143000"/>
            <a:ext cx="5486040" cy="3085920"/>
          </a:xfrm>
          <a:prstGeom prst="rect">
            <a:avLst/>
          </a:prstGeom>
          <a:ln w="0">
            <a:noFill/>
          </a:ln>
        </p:spPr>
      </p:sp>
      <p:sp>
        <p:nvSpPr>
          <p:cNvPr id="7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4  ·  Durée indicative : 1 min 30</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Une seule commande, et jamais de téléversement après une compilation ratée.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Pour compiler et téléverser, nous utilisons un script Bash. Ligne 2, il se place à la racine du projet. Ligne 3, il configure le projet avec CMake, puis compile avec la chaîne arm-none-eabi-gcc ; le if teste le code de retour de ces deux commandes. Ligne 4, seulement si tout a réussi, STM32_Programmer_CLI écrit Aura.elf dans la Flash via le ST-LINK en SWD, vérifie l'écriture puis redémarre la carte. Ligne 5, sinon, on affiche un message et on sort avec le code 1 : la carte n'est jamais flashée avec un binaire périmé. Le principe est donc : compiler, vérifier le résultat, puis téléverser uniquement en cas de succès.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Ces cinq lignes sont le contenu exact de scripts/compiler_televerser_court.sh. Le script complet scripts/compiler_televerser.sh ajoute un numéro de build (affiché par la commande VERSION), un mode release, la recherche automatique de STM32_Programmer_CLI et l'ouverture du moniteur série.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Options du programmateur : -c port=SWD mode=UR reset=HWrst (connexion SWD sous reset matériel), -w (écriture), -v (vérification), -rst (redémarrage).</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À VÉRIFIER avant la soutenance : lancer le script sur le poste de démonstration. La version courte suppose que cmake, ninja, arm-none-eabi-gcc et STM32_Programmer_CLI sont accessibles dans le PATH.</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Sous Windows, l'équivalent PowerShell compiler_televerser.ps1 et les tâches VS Code du projet font la même chose.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Voyons comment nous avons testé la station. »</a:t>
            </a:r>
            <a:endParaRPr lang="fr-FR" sz="2000" b="0" u="none" strike="noStrike">
              <a:solidFill>
                <a:srgbClr val="000000"/>
              </a:solidFill>
              <a:effectLst/>
              <a:uFillTx/>
              <a:latin typeface="Arial"/>
            </a:endParaRPr>
          </a:p>
        </p:txBody>
      </p:sp>
      <p:sp>
        <p:nvSpPr>
          <p:cNvPr id="746"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EB91BA-E228-4E06-A627-51F9B30E9AB6}"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685800" y="1143000"/>
            <a:ext cx="5486040" cy="3085920"/>
          </a:xfrm>
          <a:prstGeom prst="rect">
            <a:avLst/>
          </a:prstGeom>
          <a:ln w="0">
            <a:noFill/>
          </a:ln>
        </p:spPr>
      </p:sp>
      <p:sp>
        <p:nvSpPr>
          <p:cNvPr id="7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4  ·  Durée indicative : 1 min 15</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Une démarche de test progressive.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Nous avons d'abord testé chaque composant séparément, en suivant les résultats sur le moniteur série. Nous avons ensuite intégré un diagnostic au démarrage : en maintenant B1 au reset, la carte teste la LED, les boutons, le DHT11, le BH1750, la RTC, la carte SD et le GPS, puis affiche un bilan. Pour l'intégration, nous réduisons l'intervalle à 20 secondes avec LOG_INTERVAL=20S, et nous relisons sur PC les fichiers de la carte SD, comme celui que nous vous avons montré. Le programme compile sans erreur et occupe environ 7 % de la Flash et 5 % de la RAM.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À COMPLÉTER PAR L'ÉQUIPE avant la soutenance : vos propres résultats d'essais sur carte (bilan du diagnostic, durée de fonctionnement continu, nombre de lignes enregistrées…). Ils ne figurent pas sur la diapositive car ils ne sont pas documentés dans les fichiers du projet.</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Chiffres mémoire du build Debug compilé le 23/10/2026 : Flash 73 328 o (code + données initialisées) sur 1 Mo ; RAM 4 936 o sur la zone de 96 Ko utilisée par l'édition de liens.</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 diagnostic classe chaque test en OK, ÉCHEC ou « à vérifier à l'œil » (LED).</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Place maintenant au scénario de la démonstration. »</a:t>
            </a:r>
            <a:endParaRPr lang="fr-FR" sz="2000" b="0" u="none" strike="noStrike">
              <a:solidFill>
                <a:srgbClr val="000000"/>
              </a:solidFill>
              <a:effectLst/>
              <a:uFillTx/>
              <a:latin typeface="Arial"/>
            </a:endParaRPr>
          </a:p>
        </p:txBody>
      </p:sp>
      <p:sp>
        <p:nvSpPr>
          <p:cNvPr id="749"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53E9137-E7C3-4B2A-987F-8BC44ABF42BC}"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685800" y="1143000"/>
            <a:ext cx="5486040" cy="3085920"/>
          </a:xfrm>
          <a:prstGeom prst="rect">
            <a:avLst/>
          </a:prstGeom>
          <a:ln w="0">
            <a:noFill/>
          </a:ln>
        </p:spPr>
      </p:sp>
      <p:sp>
        <p:nvSpPr>
          <p:cNvPr id="7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4  ·  Durée indicative : 1 min</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Annoncer ce que le jury va voir pendant la démonstration, et dans quel ordre.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La démonstration suit ce scénario en sept étapes, pendant environ vingt minutes. Nous compilerons et téléverserons avec le script, puis nous lancerons le diagnostic. Nous démarrerons en configuration pour régler un intervalle court, puis nous passerons par les modes standard, économique et maintenance, en retirant la carte SD. Nous provoquerons ensuite des erreurs, puis nous ouvrirons sur le PC le fichier enregistré.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Préparer : carte SD formatée en FAT32, terminal série à 115 200 bauds sur le port du ST-LINK, script testé la veille sur le poste de démonstration.</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En intérieur, le GPS envoie souvent des trames sans position (statut V) : la position vaut NA, ce n'est pas une erreur. Pour montrer l'erreur GPS, débrancher le fil TX du GPS ; pour ne pas utiliser le GPS, GPS=0 en configuration.</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Erreur capteur : débrancher le DHT11 ; l'erreur n'apparaît qu'après deux acquisitions, d'où l'intérêt de LOG_INTERVAL=20S.</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Sans fix GPS, régler l'horloge avec CLOCK et DATE, sinon la date et l'heure valent NA.</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Le passage en maintenance démonte la carte SD : on peut la retirer, puis la remettre avant de revenir au mode précédent.</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 « Avant de passer à la démonstration, concluons. »</a:t>
            </a:r>
            <a:endParaRPr lang="fr-FR" sz="2000" b="0" u="none" strike="noStrike">
              <a:solidFill>
                <a:srgbClr val="000000"/>
              </a:solidFill>
              <a:effectLst/>
              <a:uFillTx/>
              <a:latin typeface="Arial"/>
            </a:endParaRPr>
          </a:p>
        </p:txBody>
      </p:sp>
      <p:sp>
        <p:nvSpPr>
          <p:cNvPr id="752"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6818E8-9C21-448C-86E6-0EDCD086CDC3}"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685800" y="1143000"/>
            <a:ext cx="5486040" cy="3085920"/>
          </a:xfrm>
          <a:prstGeom prst="rect">
            <a:avLst/>
          </a:prstGeom>
          <a:ln w="0">
            <a:noFill/>
          </a:ln>
        </p:spPr>
      </p:sp>
      <p:sp>
        <p:nvSpPr>
          <p:cNvPr id="7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Membre 4  ·  Durée indicative : 1 min 15</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Résumer l'objectif, la solution, les fonctionnalités réelles et l'intérêt maritime, puis remercier.</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Pour conclure : notre objectif était de concevoir une station météorologique embarquée, simple à piloter par un membre d'équipage. Nous avons réalisé un programme en C sur la carte NUCLEO-L476RG, qui mesure la température de l'air, l'humidité, la luminosité et la position GPS, date chaque mesure et l'enregistre sur une carte SD. La station fonctionne selon quatre modes pilotés par deux boutons, signale six types d'erreurs par sa LED, se configure par la liaison série, et un script automatise la compilation et le téléversement. Dans un contexte maritime, cela donne une station autonome, dont l'état se lit d'un coup d'œil et dont les données se récupèrent sans risque grâce à la carte SD. Merci pour votre attention ; nous sommes maintenant à votre disposition pour vos questions. »</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Si la démonstration suit immédiatement la présentation, terminer plutôt par : « Merci pour votre attention ; nous passons maintenant à la démonstration. »</a:t>
            </a: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Ne pas présenter de résultat d'essai qui ne soit pas documenté : la démonstration montrera le fonctionnement réel.</a:t>
            </a:r>
            <a:endParaRPr lang="fr-FR" sz="2000" b="0" u="none" strike="noStrike">
              <a:solidFill>
                <a:srgbClr val="000000"/>
              </a:solidFill>
              <a:effectLst/>
              <a:uFillTx/>
              <a:latin typeface="Arial"/>
            </a:endParaRPr>
          </a:p>
        </p:txBody>
      </p:sp>
      <p:sp>
        <p:nvSpPr>
          <p:cNvPr id="755"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C213A5-D0F9-4056-9E61-683B7B53E975}"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685800" y="1143000"/>
            <a:ext cx="5486040" cy="3085920"/>
          </a:xfrm>
          <a:prstGeom prst="rect">
            <a:avLst/>
          </a:prstGeom>
          <a:ln w="0">
            <a:noFill/>
          </a:ln>
        </p:spPr>
      </p:sp>
      <p:sp>
        <p:nvSpPr>
          <p:cNvPr id="7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Intervenant : Toute l'équipe  ·  Durée indicative : diapositive masquée</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IDÉE ESSENTIELLE — Diapositive de réserve pour répondre aux questions sur le brochage et les paramètres.</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DIRE (oral) —</a:t>
            </a: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Diapositive masquée : elle n'apparaît pas pendant le diaporama. Pour l'afficher pendant les questions, taper 17 puis Entrée en mode diaporama.</a:t>
            </a:r>
            <a:endParaRPr lang="fr-FR" sz="2000" b="0" u="none" strike="noStrike">
              <a:solidFill>
                <a:srgbClr val="000000"/>
              </a:solidFill>
              <a:effectLst/>
              <a:uFillTx/>
              <a:latin typeface="Arial"/>
            </a:endParaRPr>
          </a:p>
          <a:p>
            <a:pPr indent="0" algn="l">
              <a:buNone/>
            </a:pPr>
            <a:endParaRPr lang="fr-FR"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PRÉCISIONS TECHNIQUES (si questions) —</a:t>
            </a:r>
            <a:endParaRPr lang="fr-FR"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LOG_INTERVAL=10 signifie 10 minutes ; LOG_INTERVAL=20S signifie 20 secondes (pratique pour les essais).</a:t>
            </a:r>
            <a:endParaRPr lang="fr-FR" sz="2000" b="0" u="none" strike="noStrike">
              <a:solidFill>
                <a:srgbClr val="000000"/>
              </a:solidFill>
              <a:effectLst/>
              <a:uFillTx/>
              <a:latin typeface="Arial"/>
            </a:endParaRPr>
          </a:p>
        </p:txBody>
      </p:sp>
      <p:sp>
        <p:nvSpPr>
          <p:cNvPr id="758"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81B9DB-8327-4AB7-990C-47F9B21F2A1D}"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UVERTURE">
    <p:bg>
      <p:bgPr>
        <a:solidFill>
          <a:schemeClr val="dk2"/>
        </a:solidFill>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548640" y="777240"/>
            <a:ext cx="6034680" cy="292320"/>
          </a:xfrm>
          <a:prstGeom prst="rect">
            <a:avLst/>
          </a:prstGeom>
          <a:noFill/>
          <a:ln w="0">
            <a:noFill/>
          </a:ln>
        </p:spPr>
        <p:txBody>
          <a:bodyPr lIns="90000" tIns="45000" rIns="90000" bIns="45000" anchor="t">
            <a:noAutofit/>
          </a:bodyPr>
          <a:lstStyle>
            <a:lvl1pPr algn="l">
              <a:spcBef>
                <a:spcPts val="1417"/>
              </a:spcBef>
              <a:buClr>
                <a:srgbClr val="FFFFFF"/>
              </a:buClr>
              <a:buSzPct val="45000"/>
              <a:buFont typeface="Wingdings" charset="2"/>
              <a:buChar char=""/>
              <a:defRPr lang="fr-FR" sz="11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fr-FR" sz="11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fr-FR" sz="11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fr-FR" sz="11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fr-FR" sz="11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fr-FR" sz="11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fr-FR" sz="1100" b="0" u="none" strike="noStrike">
                <a:solidFill>
                  <a:schemeClr val="dk1"/>
                </a:solidFill>
                <a:effectLst/>
                <a:uFillTx/>
                <a:latin typeface="Calibri"/>
              </a:defRPr>
            </a:lvl7pPr>
          </a:lstStyle>
          <a:p>
            <a:pPr algn="l">
              <a:spcBef>
                <a:spcPts val="1417"/>
              </a:spcBef>
              <a:buClr>
                <a:srgbClr val="FFFFFF"/>
              </a:buClr>
              <a:buSzPct val="45000"/>
              <a:buFont typeface="Wingdings" charset="2"/>
              <a:buChar char=""/>
            </a:pPr>
            <a:r>
              <a:rPr lang="fr-FR" sz="1100" b="0" u="none" strike="noStrike">
                <a:solidFill>
                  <a:schemeClr val="dk1"/>
                </a:solidFill>
                <a:effectLst/>
                <a:uFillTx/>
                <a:latin typeface="Calibri"/>
              </a:rPr>
              <a:t>Cliquez pour éditer le format du plan de texte</a:t>
            </a:r>
            <a:endParaRPr lang="fr-FR" sz="1100" b="0" u="none" strike="noStrike">
              <a:solidFill>
                <a:schemeClr val="dk1"/>
              </a:solidFill>
              <a:effectLst/>
              <a:uFillTx/>
              <a:latin typeface="Calibri"/>
            </a:endParaRPr>
          </a:p>
          <a:p>
            <a:pPr marL="743040" lvl="1" indent="-285840" algn="l">
              <a:spcBef>
                <a:spcPts val="1134"/>
              </a:spcBef>
              <a:buClr>
                <a:srgbClr val="FFFFFF"/>
              </a:buClr>
              <a:buSzPct val="75000"/>
              <a:buFont typeface="Symbol" charset="2"/>
              <a:buChar char=""/>
            </a:pPr>
            <a:r>
              <a:rPr lang="fr-FR" sz="1100" b="0" u="none" strike="noStrike">
                <a:solidFill>
                  <a:schemeClr val="dk1"/>
                </a:solidFill>
                <a:effectLst/>
                <a:uFillTx/>
                <a:latin typeface="Calibri"/>
              </a:rPr>
              <a:t>Second niveau de plan</a:t>
            </a:r>
            <a:endParaRPr lang="fr-FR" sz="1100" b="0" u="none" strike="noStrike">
              <a:solidFill>
                <a:schemeClr val="dk1"/>
              </a:solidFill>
              <a:effectLst/>
              <a:uFillTx/>
              <a:latin typeface="Calibri"/>
            </a:endParaRPr>
          </a:p>
          <a:p>
            <a:pPr marL="1143000" lvl="2" indent="-228600" algn="l">
              <a:spcBef>
                <a:spcPts val="850"/>
              </a:spcBef>
              <a:buClr>
                <a:srgbClr val="FFFFFF"/>
              </a:buClr>
              <a:buSzPct val="45000"/>
              <a:buFont typeface="Wingdings" charset="2"/>
              <a:buChar char=""/>
            </a:pPr>
            <a:r>
              <a:rPr lang="fr-FR" sz="1100" b="0" u="none" strike="noStrike">
                <a:solidFill>
                  <a:schemeClr val="dk1"/>
                </a:solidFill>
                <a:effectLst/>
                <a:uFillTx/>
                <a:latin typeface="Calibri"/>
              </a:rPr>
              <a:t>Troisième niveau de plan</a:t>
            </a:r>
            <a:endParaRPr lang="fr-FR" sz="1100" b="0" u="none" strike="noStrike">
              <a:solidFill>
                <a:schemeClr val="dk1"/>
              </a:solidFill>
              <a:effectLst/>
              <a:uFillTx/>
              <a:latin typeface="Calibri"/>
            </a:endParaRPr>
          </a:p>
          <a:p>
            <a:pPr marL="1600200" lvl="3" indent="-228600" algn="l">
              <a:spcBef>
                <a:spcPts val="567"/>
              </a:spcBef>
              <a:buClr>
                <a:srgbClr val="FFFFFF"/>
              </a:buClr>
              <a:buSzPct val="75000"/>
              <a:buFont typeface="Symbol" charset="2"/>
              <a:buChar char=""/>
            </a:pPr>
            <a:r>
              <a:rPr lang="fr-FR" sz="1100" b="0" u="none" strike="noStrike">
                <a:solidFill>
                  <a:schemeClr val="dk1"/>
                </a:solidFill>
                <a:effectLst/>
                <a:uFillTx/>
                <a:latin typeface="Calibri"/>
              </a:rPr>
              <a:t>Quatrième niveau de plan</a:t>
            </a:r>
            <a:endParaRPr lang="fr-FR" sz="1100" b="0" u="none" strike="noStrike">
              <a:solidFill>
                <a:schemeClr val="dk1"/>
              </a:solidFill>
              <a:effectLst/>
              <a:uFillTx/>
              <a:latin typeface="Calibri"/>
            </a:endParaRPr>
          </a:p>
          <a:p>
            <a:pPr marL="2057400" lvl="4" indent="-228600" algn="l">
              <a:spcBef>
                <a:spcPts val="283"/>
              </a:spcBef>
              <a:buClr>
                <a:srgbClr val="FFFFFF"/>
              </a:buClr>
              <a:buSzPct val="45000"/>
              <a:buFont typeface="Wingdings" charset="2"/>
              <a:buChar char=""/>
            </a:pPr>
            <a:r>
              <a:rPr lang="fr-FR" sz="1100" b="0" u="none" strike="noStrike">
                <a:solidFill>
                  <a:schemeClr val="dk1"/>
                </a:solidFill>
                <a:effectLst/>
                <a:uFillTx/>
                <a:latin typeface="Calibri"/>
              </a:rPr>
              <a:t>Cinquième niveau de plan</a:t>
            </a:r>
            <a:endParaRPr lang="fr-FR" sz="1100" b="0" u="none" strike="noStrike">
              <a:solidFill>
                <a:schemeClr val="dk1"/>
              </a:solidFill>
              <a:effectLst/>
              <a:uFillTx/>
              <a:latin typeface="Calibri"/>
            </a:endParaRPr>
          </a:p>
          <a:p>
            <a:pPr marL="2514600" lvl="5" indent="-228600" algn="l">
              <a:spcBef>
                <a:spcPts val="283"/>
              </a:spcBef>
              <a:buClr>
                <a:srgbClr val="FFFFFF"/>
              </a:buClr>
              <a:buSzPct val="45000"/>
              <a:buFont typeface="Wingdings" charset="2"/>
              <a:buChar char=""/>
            </a:pPr>
            <a:r>
              <a:rPr lang="fr-FR" sz="1100" b="0" u="none" strike="noStrike">
                <a:solidFill>
                  <a:schemeClr val="dk1"/>
                </a:solidFill>
                <a:effectLst/>
                <a:uFillTx/>
                <a:latin typeface="Calibri"/>
              </a:rPr>
              <a:t>Sixième niveau de plan</a:t>
            </a:r>
            <a:endParaRPr lang="fr-FR" sz="1100" b="0" u="none" strike="noStrike">
              <a:solidFill>
                <a:schemeClr val="dk1"/>
              </a:solidFill>
              <a:effectLst/>
              <a:uFillTx/>
              <a:latin typeface="Calibri"/>
            </a:endParaRPr>
          </a:p>
          <a:p>
            <a:pPr marL="2971800" lvl="6" indent="-228600" algn="l">
              <a:spcBef>
                <a:spcPts val="283"/>
              </a:spcBef>
              <a:buClr>
                <a:srgbClr val="FFFFFF"/>
              </a:buClr>
              <a:buSzPct val="45000"/>
              <a:buFont typeface="Wingdings" charset="2"/>
              <a:buChar char=""/>
            </a:pPr>
            <a:r>
              <a:rPr lang="fr-FR" sz="1100" b="0" u="none" strike="noStrike">
                <a:solidFill>
                  <a:schemeClr val="dk1"/>
                </a:solidFill>
                <a:effectLst/>
                <a:uFillTx/>
                <a:latin typeface="Calibri"/>
              </a:rPr>
              <a:t>Septième niveau de plan</a:t>
            </a:r>
            <a:endParaRPr lang="fr-FR" sz="1100" b="0" u="none" strike="noStrike">
              <a:solidFill>
                <a:schemeClr val="dk1"/>
              </a:solidFill>
              <a:effectLst/>
              <a:uFillTx/>
              <a:latin typeface="Calibri"/>
            </a:endParaRPr>
          </a:p>
        </p:txBody>
      </p:sp>
      <p:sp>
        <p:nvSpPr>
          <p:cNvPr id="3" name="PlaceHolder 2"/>
          <p:cNvSpPr>
            <a:spLocks noGrp="1"/>
          </p:cNvSpPr>
          <p:nvPr>
            <p:ph type="title"/>
          </p:nvPr>
        </p:nvSpPr>
        <p:spPr>
          <a:xfrm>
            <a:off x="548640" y="1234440"/>
            <a:ext cx="5943240" cy="1599840"/>
          </a:xfrm>
          <a:prstGeom prst="rect">
            <a:avLst/>
          </a:prstGeom>
          <a:noFill/>
          <a:ln w="0">
            <a:noFill/>
          </a:ln>
        </p:spPr>
        <p:txBody>
          <a:bodyPr lIns="90000" tIns="45000" rIns="90000" bIns="45000" anchor="t">
            <a:noAutofit/>
          </a:bodyPr>
          <a:lstStyle>
            <a:lvl1pPr indent="0" algn="l">
              <a:buNone/>
              <a:defRPr lang="fr-FR" sz="4200" b="0" u="none" strike="noStrike">
                <a:solidFill>
                  <a:schemeClr val="dk1"/>
                </a:solidFill>
                <a:effectLst/>
                <a:uFillTx/>
                <a:latin typeface="Calibri"/>
              </a:defRPr>
            </a:lvl1pPr>
          </a:lstStyle>
          <a:p>
            <a:pPr indent="0" algn="l">
              <a:buNone/>
            </a:pPr>
            <a:r>
              <a:rPr lang="fr-FR" sz="4200" b="0" u="none" strike="noStrike">
                <a:solidFill>
                  <a:schemeClr val="dk1"/>
                </a:solidFill>
                <a:effectLst/>
                <a:uFillTx/>
                <a:latin typeface="Calibri"/>
              </a:rPr>
              <a:t>Cliquez pour éditer le format du texte-titre</a:t>
            </a:r>
            <a:endParaRPr lang="fr-FR" sz="4200" b="0" u="none" strike="noStrike">
              <a:solidFill>
                <a:schemeClr val="dk1"/>
              </a:solidFill>
              <a:effectLst/>
              <a:uFillTx/>
              <a:latin typeface="Calibri"/>
            </a:endParaRPr>
          </a:p>
        </p:txBody>
      </p:sp>
      <p:sp>
        <p:nvSpPr>
          <p:cNvPr id="4" name="PlaceHolder 3"/>
          <p:cNvSpPr>
            <a:spLocks noGrp="1"/>
          </p:cNvSpPr>
          <p:nvPr>
            <p:ph type="body"/>
          </p:nvPr>
        </p:nvSpPr>
        <p:spPr>
          <a:xfrm>
            <a:off x="548640" y="2926080"/>
            <a:ext cx="5668920" cy="914040"/>
          </a:xfrm>
          <a:prstGeom prst="rect">
            <a:avLst/>
          </a:prstGeom>
          <a:noFill/>
          <a:ln w="0">
            <a:noFill/>
          </a:ln>
        </p:spPr>
        <p:txBody>
          <a:bodyPr lIns="90000" tIns="45000" rIns="90000" bIns="45000" anchor="t">
            <a:noAutofit/>
          </a:bodyPr>
          <a:lstStyle>
            <a:lvl1pPr algn="l">
              <a:spcBef>
                <a:spcPts val="1417"/>
              </a:spcBef>
              <a:buClr>
                <a:srgbClr val="FFFFFF"/>
              </a:buClr>
              <a:buSzPct val="45000"/>
              <a:buFont typeface="Wingdings" charset="2"/>
              <a:buChar char=""/>
              <a:defRPr lang="fr-FR" sz="18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fr-FR" sz="18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fr-FR" sz="18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fr-FR" sz="18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fr-FR" sz="18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fr-FR" sz="18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fr-FR" sz="1800" b="0" u="none" strike="noStrike">
                <a:solidFill>
                  <a:schemeClr val="dk1"/>
                </a:solidFill>
                <a:effectLst/>
                <a:uFillTx/>
                <a:latin typeface="Calibri"/>
              </a:defRPr>
            </a:lvl7pPr>
          </a:lstStyle>
          <a:p>
            <a:pPr algn="l">
              <a:spcBef>
                <a:spcPts val="1417"/>
              </a:spcBef>
              <a:buClr>
                <a:srgbClr val="FFFFFF"/>
              </a:buClr>
              <a:buSzPct val="45000"/>
              <a:buFont typeface="Wingdings" charset="2"/>
              <a:buChar char=""/>
            </a:pPr>
            <a:r>
              <a:rPr lang="fr-FR" sz="1800" b="0" u="none" strike="noStrike">
                <a:solidFill>
                  <a:schemeClr val="dk1"/>
                </a:solidFill>
                <a:effectLst/>
                <a:uFillTx/>
                <a:latin typeface="Calibri"/>
              </a:rPr>
              <a:t>Cliquez pour éditer le format du plan de texte</a:t>
            </a:r>
            <a:endParaRPr lang="fr-FR" sz="1800" b="0" u="none" strike="noStrike">
              <a:solidFill>
                <a:schemeClr val="dk1"/>
              </a:solidFill>
              <a:effectLst/>
              <a:uFillTx/>
              <a:latin typeface="Calibri"/>
            </a:endParaRPr>
          </a:p>
          <a:p>
            <a:pPr marL="743040" lvl="1" indent="-285840" algn="l">
              <a:spcBef>
                <a:spcPts val="1134"/>
              </a:spcBef>
              <a:buClr>
                <a:srgbClr val="FFFFFF"/>
              </a:buClr>
              <a:buSzPct val="75000"/>
              <a:buFont typeface="Symbol" charset="2"/>
              <a:buChar char=""/>
            </a:pPr>
            <a:r>
              <a:rPr lang="fr-FR" sz="1800" b="0" u="none" strike="noStrike">
                <a:solidFill>
                  <a:schemeClr val="dk1"/>
                </a:solidFill>
                <a:effectLst/>
                <a:uFillTx/>
                <a:latin typeface="Calibri"/>
              </a:rPr>
              <a:t>Second niveau de plan</a:t>
            </a:r>
            <a:endParaRPr lang="fr-FR" sz="1800" b="0" u="none" strike="noStrike">
              <a:solidFill>
                <a:schemeClr val="dk1"/>
              </a:solidFill>
              <a:effectLst/>
              <a:uFillTx/>
              <a:latin typeface="Calibri"/>
            </a:endParaRPr>
          </a:p>
          <a:p>
            <a:pPr marL="1143000" lvl="2" indent="-228600" algn="l">
              <a:spcBef>
                <a:spcPts val="850"/>
              </a:spcBef>
              <a:buClr>
                <a:srgbClr val="FFFFFF"/>
              </a:buClr>
              <a:buSzPct val="45000"/>
              <a:buFont typeface="Wingdings" charset="2"/>
              <a:buChar char=""/>
            </a:pPr>
            <a:r>
              <a:rPr lang="fr-FR" sz="1800" b="0" u="none" strike="noStrike">
                <a:solidFill>
                  <a:schemeClr val="dk1"/>
                </a:solidFill>
                <a:effectLst/>
                <a:uFillTx/>
                <a:latin typeface="Calibri"/>
              </a:rPr>
              <a:t>Troisième niveau de plan</a:t>
            </a:r>
            <a:endParaRPr lang="fr-FR" sz="1800" b="0" u="none" strike="noStrike">
              <a:solidFill>
                <a:schemeClr val="dk1"/>
              </a:solidFill>
              <a:effectLst/>
              <a:uFillTx/>
              <a:latin typeface="Calibri"/>
            </a:endParaRPr>
          </a:p>
          <a:p>
            <a:pPr marL="1600200" lvl="3" indent="-228600" algn="l">
              <a:spcBef>
                <a:spcPts val="567"/>
              </a:spcBef>
              <a:buClr>
                <a:srgbClr val="FFFFFF"/>
              </a:buClr>
              <a:buSzPct val="75000"/>
              <a:buFont typeface="Symbol" charset="2"/>
              <a:buChar char=""/>
            </a:pPr>
            <a:r>
              <a:rPr lang="fr-FR" sz="1800" b="0" u="none" strike="noStrike">
                <a:solidFill>
                  <a:schemeClr val="dk1"/>
                </a:solidFill>
                <a:effectLst/>
                <a:uFillTx/>
                <a:latin typeface="Calibri"/>
              </a:rPr>
              <a:t>Quatrième niveau de plan</a:t>
            </a:r>
            <a:endParaRPr lang="fr-FR" sz="1800" b="0" u="none" strike="noStrike">
              <a:solidFill>
                <a:schemeClr val="dk1"/>
              </a:solidFill>
              <a:effectLst/>
              <a:uFillTx/>
              <a:latin typeface="Calibri"/>
            </a:endParaRPr>
          </a:p>
          <a:p>
            <a:pPr marL="2057400" lvl="4" indent="-228600" algn="l">
              <a:spcBef>
                <a:spcPts val="283"/>
              </a:spcBef>
              <a:buClr>
                <a:srgbClr val="FFFFFF"/>
              </a:buClr>
              <a:buSzPct val="45000"/>
              <a:buFont typeface="Wingdings" charset="2"/>
              <a:buChar char=""/>
            </a:pPr>
            <a:r>
              <a:rPr lang="fr-FR" sz="1800" b="0" u="none" strike="noStrike">
                <a:solidFill>
                  <a:schemeClr val="dk1"/>
                </a:solidFill>
                <a:effectLst/>
                <a:uFillTx/>
                <a:latin typeface="Calibri"/>
              </a:rPr>
              <a:t>Cinquième niveau de plan</a:t>
            </a:r>
            <a:endParaRPr lang="fr-FR" sz="1800" b="0" u="none" strike="noStrike">
              <a:solidFill>
                <a:schemeClr val="dk1"/>
              </a:solidFill>
              <a:effectLst/>
              <a:uFillTx/>
              <a:latin typeface="Calibri"/>
            </a:endParaRPr>
          </a:p>
          <a:p>
            <a:pPr marL="2514600" lvl="5" indent="-228600" algn="l">
              <a:spcBef>
                <a:spcPts val="283"/>
              </a:spcBef>
              <a:buClr>
                <a:srgbClr val="FFFFFF"/>
              </a:buClr>
              <a:buSzPct val="45000"/>
              <a:buFont typeface="Wingdings" charset="2"/>
              <a:buChar char=""/>
            </a:pPr>
            <a:r>
              <a:rPr lang="fr-FR" sz="1800" b="0" u="none" strike="noStrike">
                <a:solidFill>
                  <a:schemeClr val="dk1"/>
                </a:solidFill>
                <a:effectLst/>
                <a:uFillTx/>
                <a:latin typeface="Calibri"/>
              </a:rPr>
              <a:t>Sixième niveau de plan</a:t>
            </a:r>
            <a:endParaRPr lang="fr-FR" sz="1800" b="0" u="none" strike="noStrike">
              <a:solidFill>
                <a:schemeClr val="dk1"/>
              </a:solidFill>
              <a:effectLst/>
              <a:uFillTx/>
              <a:latin typeface="Calibri"/>
            </a:endParaRPr>
          </a:p>
          <a:p>
            <a:pPr marL="2971800" lvl="6" indent="-228600" algn="l">
              <a:spcBef>
                <a:spcPts val="283"/>
              </a:spcBef>
              <a:buClr>
                <a:srgbClr val="FFFFFF"/>
              </a:buClr>
              <a:buSzPct val="45000"/>
              <a:buFont typeface="Wingdings" charset="2"/>
              <a:buChar char=""/>
            </a:pPr>
            <a:r>
              <a:rPr lang="fr-FR" sz="1800" b="0" u="none" strike="noStrike">
                <a:solidFill>
                  <a:schemeClr val="dk1"/>
                </a:solidFill>
                <a:effectLst/>
                <a:uFillTx/>
                <a:latin typeface="Calibri"/>
              </a:rPr>
              <a:t>Septième niveau de plan</a:t>
            </a:r>
            <a:endParaRPr lang="fr-FR" sz="1800" b="0" u="none" strike="noStrike">
              <a:solidFill>
                <a:schemeClr val="dk1"/>
              </a:solidFill>
              <a:effectLst/>
              <a:uFillTx/>
              <a:latin typeface="Calibri"/>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p:bg>
      <p:bgPr>
        <a:solidFill>
          <a:schemeClr val="lt2"/>
        </a:solidFill>
      </p:bgPr>
    </p:bg>
    <p:spTree>
      <p:nvGrpSpPr>
        <p:cNvPr id="1" name=""/>
        <p:cNvGrpSpPr/>
        <p:nvPr/>
      </p:nvGrpSpPr>
      <p:grpSpPr>
        <a:xfrm>
          <a:off x="0" y="0"/>
          <a:ext cx="0" cy="0"/>
          <a:chOff x="0" y="0"/>
          <a:chExt cx="0" cy="0"/>
        </a:xfrm>
      </p:grpSpPr>
      <p:sp>
        <p:nvSpPr>
          <p:cNvPr id="5" name="PlaceHolder 1"/>
          <p:cNvSpPr>
            <a:spLocks noGrp="1"/>
          </p:cNvSpPr>
          <p:nvPr>
            <p:ph type="body"/>
          </p:nvPr>
        </p:nvSpPr>
        <p:spPr>
          <a:xfrm>
            <a:off x="548640" y="384120"/>
            <a:ext cx="7772040" cy="255600"/>
          </a:xfrm>
          <a:prstGeom prst="rect">
            <a:avLst/>
          </a:prstGeom>
          <a:noFill/>
          <a:ln w="0">
            <a:noFill/>
          </a:ln>
        </p:spPr>
        <p:txBody>
          <a:bodyPr lIns="90000" tIns="45000" rIns="90000" bIns="45000" anchor="t">
            <a:noAutofit/>
          </a:bodyPr>
          <a:lstStyle>
            <a:lvl1pPr algn="l">
              <a:spcBef>
                <a:spcPts val="1417"/>
              </a:spcBef>
              <a:buClr>
                <a:srgbClr val="000000"/>
              </a:buClr>
              <a:buSzPct val="45000"/>
              <a:buFont typeface="Wingdings" charset="2"/>
              <a:buChar char=""/>
              <a:defRPr lang="fr-FR" sz="11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fr-FR" sz="11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fr-FR" sz="11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fr-FR" sz="11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fr-FR" sz="11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fr-FR" sz="11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fr-FR" sz="1100" b="0" u="none" strike="noStrike">
                <a:solidFill>
                  <a:schemeClr val="dk1"/>
                </a:solidFill>
                <a:effectLst/>
                <a:uFillTx/>
                <a:latin typeface="Calibri"/>
              </a:defRPr>
            </a:lvl7pPr>
          </a:lstStyle>
          <a:p>
            <a:pPr algn="l">
              <a:spcBef>
                <a:spcPts val="1417"/>
              </a:spcBef>
              <a:buClr>
                <a:srgbClr val="000000"/>
              </a:buClr>
              <a:buSzPct val="45000"/>
              <a:buFont typeface="Wingdings" charset="2"/>
              <a:buChar char=""/>
            </a:pPr>
            <a:r>
              <a:rPr lang="fr-FR" sz="1100" b="0" u="none" strike="noStrike">
                <a:solidFill>
                  <a:schemeClr val="dk1"/>
                </a:solidFill>
                <a:effectLst/>
                <a:uFillTx/>
                <a:latin typeface="Calibri"/>
              </a:rPr>
              <a:t>Cliquez pour éditer le format du plan de texte</a:t>
            </a:r>
            <a:endParaRPr lang="fr-FR" sz="1100" b="0" u="none" strike="noStrike">
              <a:solidFill>
                <a:schemeClr val="dk1"/>
              </a:solidFill>
              <a:effectLst/>
              <a:uFillTx/>
              <a:latin typeface="Calibri"/>
            </a:endParaRPr>
          </a:p>
          <a:p>
            <a:pPr marL="743040" lvl="1" indent="-285840" algn="l">
              <a:spcBef>
                <a:spcPts val="1134"/>
              </a:spcBef>
              <a:buClr>
                <a:srgbClr val="000000"/>
              </a:buClr>
              <a:buSzPct val="75000"/>
              <a:buFont typeface="Symbol" charset="2"/>
              <a:buChar char=""/>
            </a:pPr>
            <a:r>
              <a:rPr lang="fr-FR" sz="1100" b="0" u="none" strike="noStrike">
                <a:solidFill>
                  <a:schemeClr val="dk1"/>
                </a:solidFill>
                <a:effectLst/>
                <a:uFillTx/>
                <a:latin typeface="Calibri"/>
              </a:rPr>
              <a:t>Second niveau de plan</a:t>
            </a:r>
            <a:endParaRPr lang="fr-FR" sz="1100" b="0" u="none" strike="noStrike">
              <a:solidFill>
                <a:schemeClr val="dk1"/>
              </a:solidFill>
              <a:effectLst/>
              <a:uFillTx/>
              <a:latin typeface="Calibri"/>
            </a:endParaRPr>
          </a:p>
          <a:p>
            <a:pPr marL="1143000" lvl="2" indent="-228600" algn="l">
              <a:spcBef>
                <a:spcPts val="850"/>
              </a:spcBef>
              <a:buClr>
                <a:srgbClr val="000000"/>
              </a:buClr>
              <a:buSzPct val="45000"/>
              <a:buFont typeface="Wingdings" charset="2"/>
              <a:buChar char=""/>
            </a:pPr>
            <a:r>
              <a:rPr lang="fr-FR" sz="1100" b="0" u="none" strike="noStrike">
                <a:solidFill>
                  <a:schemeClr val="dk1"/>
                </a:solidFill>
                <a:effectLst/>
                <a:uFillTx/>
                <a:latin typeface="Calibri"/>
              </a:rPr>
              <a:t>Troisième niveau de plan</a:t>
            </a:r>
            <a:endParaRPr lang="fr-FR" sz="1100" b="0" u="none" strike="noStrike">
              <a:solidFill>
                <a:schemeClr val="dk1"/>
              </a:solidFill>
              <a:effectLst/>
              <a:uFillTx/>
              <a:latin typeface="Calibri"/>
            </a:endParaRPr>
          </a:p>
          <a:p>
            <a:pPr marL="1600200" lvl="3" indent="-228600" algn="l">
              <a:spcBef>
                <a:spcPts val="567"/>
              </a:spcBef>
              <a:buClr>
                <a:srgbClr val="000000"/>
              </a:buClr>
              <a:buSzPct val="75000"/>
              <a:buFont typeface="Symbol" charset="2"/>
              <a:buChar char=""/>
            </a:pPr>
            <a:r>
              <a:rPr lang="fr-FR" sz="1100" b="0" u="none" strike="noStrike">
                <a:solidFill>
                  <a:schemeClr val="dk1"/>
                </a:solidFill>
                <a:effectLst/>
                <a:uFillTx/>
                <a:latin typeface="Calibri"/>
              </a:rPr>
              <a:t>Quatrième niveau de plan</a:t>
            </a:r>
            <a:endParaRPr lang="fr-FR" sz="1100" b="0" u="none" strike="noStrike">
              <a:solidFill>
                <a:schemeClr val="dk1"/>
              </a:solidFill>
              <a:effectLst/>
              <a:uFillTx/>
              <a:latin typeface="Calibri"/>
            </a:endParaRPr>
          </a:p>
          <a:p>
            <a:pPr marL="2057400" lvl="4" indent="-228600" algn="l">
              <a:spcBef>
                <a:spcPts val="283"/>
              </a:spcBef>
              <a:buClr>
                <a:srgbClr val="000000"/>
              </a:buClr>
              <a:buSzPct val="45000"/>
              <a:buFont typeface="Wingdings" charset="2"/>
              <a:buChar char=""/>
            </a:pPr>
            <a:r>
              <a:rPr lang="fr-FR" sz="1100" b="0" u="none" strike="noStrike">
                <a:solidFill>
                  <a:schemeClr val="dk1"/>
                </a:solidFill>
                <a:effectLst/>
                <a:uFillTx/>
                <a:latin typeface="Calibri"/>
              </a:rPr>
              <a:t>Cinquième niveau de plan</a:t>
            </a:r>
            <a:endParaRPr lang="fr-FR" sz="1100" b="0" u="none" strike="noStrike">
              <a:solidFill>
                <a:schemeClr val="dk1"/>
              </a:solidFill>
              <a:effectLst/>
              <a:uFillTx/>
              <a:latin typeface="Calibri"/>
            </a:endParaRPr>
          </a:p>
          <a:p>
            <a:pPr marL="2514600" lvl="5" indent="-228600" algn="l">
              <a:spcBef>
                <a:spcPts val="283"/>
              </a:spcBef>
              <a:buClr>
                <a:srgbClr val="000000"/>
              </a:buClr>
              <a:buSzPct val="45000"/>
              <a:buFont typeface="Wingdings" charset="2"/>
              <a:buChar char=""/>
            </a:pPr>
            <a:r>
              <a:rPr lang="fr-FR" sz="1100" b="0" u="none" strike="noStrike">
                <a:solidFill>
                  <a:schemeClr val="dk1"/>
                </a:solidFill>
                <a:effectLst/>
                <a:uFillTx/>
                <a:latin typeface="Calibri"/>
              </a:rPr>
              <a:t>Sixième niveau de plan</a:t>
            </a:r>
            <a:endParaRPr lang="fr-FR" sz="1100" b="0" u="none" strike="noStrike">
              <a:solidFill>
                <a:schemeClr val="dk1"/>
              </a:solidFill>
              <a:effectLst/>
              <a:uFillTx/>
              <a:latin typeface="Calibri"/>
            </a:endParaRPr>
          </a:p>
          <a:p>
            <a:pPr marL="2971800" lvl="6" indent="-228600" algn="l">
              <a:spcBef>
                <a:spcPts val="283"/>
              </a:spcBef>
              <a:buClr>
                <a:srgbClr val="000000"/>
              </a:buClr>
              <a:buSzPct val="45000"/>
              <a:buFont typeface="Wingdings" charset="2"/>
              <a:buChar char=""/>
            </a:pPr>
            <a:r>
              <a:rPr lang="fr-FR" sz="1100" b="0" u="none" strike="noStrike">
                <a:solidFill>
                  <a:schemeClr val="dk1"/>
                </a:solidFill>
                <a:effectLst/>
                <a:uFillTx/>
                <a:latin typeface="Calibri"/>
              </a:rPr>
              <a:t>Septième niveau de plan</a:t>
            </a:r>
            <a:endParaRPr lang="fr-FR" sz="1100" b="0" u="none" strike="noStrike">
              <a:solidFill>
                <a:schemeClr val="dk1"/>
              </a:solidFill>
              <a:effectLst/>
              <a:uFillTx/>
              <a:latin typeface="Calibri"/>
            </a:endParaRPr>
          </a:p>
        </p:txBody>
      </p:sp>
      <p:sp>
        <p:nvSpPr>
          <p:cNvPr id="6" name="PlaceHolder 2"/>
          <p:cNvSpPr>
            <a:spLocks noGrp="1"/>
          </p:cNvSpPr>
          <p:nvPr>
            <p:ph type="title"/>
          </p:nvPr>
        </p:nvSpPr>
        <p:spPr>
          <a:xfrm>
            <a:off x="548640" y="694800"/>
            <a:ext cx="11091240" cy="566640"/>
          </a:xfrm>
          <a:prstGeom prst="rect">
            <a:avLst/>
          </a:prstGeom>
          <a:noFill/>
          <a:ln w="0">
            <a:noFill/>
          </a:ln>
        </p:spPr>
        <p:txBody>
          <a:bodyPr lIns="90000" tIns="45000" rIns="90000" bIns="45000" anchor="t">
            <a:noAutofit/>
          </a:bodyPr>
          <a:lstStyle>
            <a:lvl1pPr indent="0" algn="l">
              <a:buNone/>
              <a:defRPr lang="fr-FR" sz="2800" b="0" u="none" strike="noStrike">
                <a:solidFill>
                  <a:schemeClr val="dk1"/>
                </a:solidFill>
                <a:effectLst/>
                <a:uFillTx/>
                <a:latin typeface="Calibri"/>
              </a:defRPr>
            </a:lvl1pPr>
          </a:lstStyle>
          <a:p>
            <a:pPr indent="0" algn="l">
              <a:buNone/>
            </a:pPr>
            <a:r>
              <a:rPr lang="fr-FR" sz="2800" b="0" u="none" strike="noStrike">
                <a:solidFill>
                  <a:schemeClr val="dk1"/>
                </a:solidFill>
                <a:effectLst/>
                <a:uFillTx/>
                <a:latin typeface="Calibri"/>
              </a:rPr>
              <a:t>Cliquez pour éditer le format du texte-titre</a:t>
            </a:r>
            <a:endParaRPr lang="fr-FR" sz="2800" b="0" u="none" strike="noStrike">
              <a:solidFill>
                <a:schemeClr val="dk1"/>
              </a:solidFill>
              <a:effectLst/>
              <a:uFillTx/>
              <a:latin typeface="Calibri"/>
            </a:endParaRPr>
          </a:p>
        </p:txBody>
      </p:sp>
      <p:sp>
        <p:nvSpPr>
          <p:cNvPr id="7" name="Text 0"/>
          <p:cNvSpPr/>
          <p:nvPr/>
        </p:nvSpPr>
        <p:spPr>
          <a:xfrm>
            <a:off x="548640" y="6437520"/>
            <a:ext cx="7314840" cy="219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chemeClr val="accent6"/>
                </a:solidFill>
                <a:effectLst/>
                <a:uFillTx/>
                <a:latin typeface="Calibri"/>
              </a:rPr>
              <a:t>AURA  ·  Station météo embarquée sur STM32  ·  CESI</a:t>
            </a:r>
            <a:endParaRPr lang="fr-FR" sz="950" b="0" u="none" strike="noStrike">
              <a:solidFill>
                <a:srgbClr val="000000"/>
              </a:solidFill>
              <a:effectLst/>
              <a:uFillTx/>
              <a:latin typeface="Arial"/>
            </a:endParaRPr>
          </a:p>
        </p:txBody>
      </p:sp>
      <p:sp>
        <p:nvSpPr>
          <p:cNvPr id="8" name="PlaceHolder 3"/>
          <p:cNvSpPr>
            <a:spLocks noGrp="1"/>
          </p:cNvSpPr>
          <p:nvPr>
            <p:ph type="sldNum" idx="1"/>
          </p:nvPr>
        </p:nvSpPr>
        <p:spPr>
          <a:xfrm>
            <a:off x="11091600" y="6437520"/>
            <a:ext cx="548280" cy="219240"/>
          </a:xfrm>
          <a:prstGeom prst="rect">
            <a:avLst/>
          </a:prstGeom>
          <a:noFill/>
          <a:ln w="0">
            <a:noFill/>
          </a:ln>
        </p:spPr>
        <p:txBody>
          <a:bodyPr lIns="0" tIns="0" rIns="0" bIns="0" anchor="t">
            <a:noAutofit/>
          </a:bodyPr>
          <a:lstStyle>
            <a:lvl1pPr indent="0" algn="r" defTabSz="914400">
              <a:lnSpc>
                <a:spcPct val="100000"/>
              </a:lnSpc>
              <a:buNone/>
              <a:defRPr lang="en-US" sz="950" b="0" u="none" strike="noStrike">
                <a:solidFill>
                  <a:schemeClr val="accent6"/>
                </a:solidFill>
                <a:effectLst/>
                <a:uFillTx/>
                <a:latin typeface="Calibri"/>
              </a:defRPr>
            </a:lvl1pPr>
          </a:lstStyle>
          <a:p>
            <a:pPr indent="0" algn="r" defTabSz="914400">
              <a:lnSpc>
                <a:spcPct val="100000"/>
              </a:lnSpc>
              <a:buNone/>
            </a:pPr>
            <a:fld id="{9F442583-9F55-44DE-B0A8-F5B0EE9D7B0B}"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OMBRE">
    <p:bg>
      <p:bgPr>
        <a:solidFill>
          <a:schemeClr val="dk2"/>
        </a:solidFill>
      </p:bgPr>
    </p:bg>
    <p:spTree>
      <p:nvGrpSpPr>
        <p:cNvPr id="1" name=""/>
        <p:cNvGrpSpPr/>
        <p:nvPr/>
      </p:nvGrpSpPr>
      <p:grpSpPr>
        <a:xfrm>
          <a:off x="0" y="0"/>
          <a:ext cx="0" cy="0"/>
          <a:chOff x="0" y="0"/>
          <a:chExt cx="0" cy="0"/>
        </a:xfrm>
      </p:grpSpPr>
      <p:sp>
        <p:nvSpPr>
          <p:cNvPr id="9" name="PlaceHolder 1"/>
          <p:cNvSpPr>
            <a:spLocks noGrp="1"/>
          </p:cNvSpPr>
          <p:nvPr>
            <p:ph type="body"/>
          </p:nvPr>
        </p:nvSpPr>
        <p:spPr>
          <a:xfrm>
            <a:off x="548640" y="384120"/>
            <a:ext cx="7772040" cy="255600"/>
          </a:xfrm>
          <a:prstGeom prst="rect">
            <a:avLst/>
          </a:prstGeom>
          <a:noFill/>
          <a:ln w="0">
            <a:noFill/>
          </a:ln>
        </p:spPr>
        <p:txBody>
          <a:bodyPr lIns="90000" tIns="45000" rIns="90000" bIns="45000" anchor="t">
            <a:noAutofit/>
          </a:bodyPr>
          <a:lstStyle>
            <a:lvl1pPr algn="l">
              <a:spcBef>
                <a:spcPts val="1417"/>
              </a:spcBef>
              <a:buClr>
                <a:srgbClr val="FFFFFF"/>
              </a:buClr>
              <a:buSzPct val="45000"/>
              <a:buFont typeface="Wingdings" charset="2"/>
              <a:buChar char=""/>
              <a:defRPr lang="fr-FR" sz="11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fr-FR" sz="11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fr-FR" sz="11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fr-FR" sz="11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fr-FR" sz="11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fr-FR" sz="11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fr-FR" sz="1100" b="0" u="none" strike="noStrike">
                <a:solidFill>
                  <a:schemeClr val="dk1"/>
                </a:solidFill>
                <a:effectLst/>
                <a:uFillTx/>
                <a:latin typeface="Calibri"/>
              </a:defRPr>
            </a:lvl7pPr>
          </a:lstStyle>
          <a:p>
            <a:pPr algn="l">
              <a:spcBef>
                <a:spcPts val="1417"/>
              </a:spcBef>
              <a:buClr>
                <a:srgbClr val="FFFFFF"/>
              </a:buClr>
              <a:buSzPct val="45000"/>
              <a:buFont typeface="Wingdings" charset="2"/>
              <a:buChar char=""/>
            </a:pPr>
            <a:r>
              <a:rPr lang="fr-FR" sz="1100" b="0" u="none" strike="noStrike">
                <a:solidFill>
                  <a:schemeClr val="dk1"/>
                </a:solidFill>
                <a:effectLst/>
                <a:uFillTx/>
                <a:latin typeface="Calibri"/>
              </a:rPr>
              <a:t>Cliquez pour éditer le format du plan de texte</a:t>
            </a:r>
            <a:endParaRPr lang="fr-FR" sz="1100" b="0" u="none" strike="noStrike">
              <a:solidFill>
                <a:schemeClr val="dk1"/>
              </a:solidFill>
              <a:effectLst/>
              <a:uFillTx/>
              <a:latin typeface="Calibri"/>
            </a:endParaRPr>
          </a:p>
          <a:p>
            <a:pPr marL="743040" lvl="1" indent="-285840" algn="l">
              <a:spcBef>
                <a:spcPts val="1134"/>
              </a:spcBef>
              <a:buClr>
                <a:srgbClr val="FFFFFF"/>
              </a:buClr>
              <a:buSzPct val="75000"/>
              <a:buFont typeface="Symbol" charset="2"/>
              <a:buChar char=""/>
            </a:pPr>
            <a:r>
              <a:rPr lang="fr-FR" sz="1100" b="0" u="none" strike="noStrike">
                <a:solidFill>
                  <a:schemeClr val="dk1"/>
                </a:solidFill>
                <a:effectLst/>
                <a:uFillTx/>
                <a:latin typeface="Calibri"/>
              </a:rPr>
              <a:t>Second niveau de plan</a:t>
            </a:r>
            <a:endParaRPr lang="fr-FR" sz="1100" b="0" u="none" strike="noStrike">
              <a:solidFill>
                <a:schemeClr val="dk1"/>
              </a:solidFill>
              <a:effectLst/>
              <a:uFillTx/>
              <a:latin typeface="Calibri"/>
            </a:endParaRPr>
          </a:p>
          <a:p>
            <a:pPr marL="1143000" lvl="2" indent="-228600" algn="l">
              <a:spcBef>
                <a:spcPts val="850"/>
              </a:spcBef>
              <a:buClr>
                <a:srgbClr val="FFFFFF"/>
              </a:buClr>
              <a:buSzPct val="45000"/>
              <a:buFont typeface="Wingdings" charset="2"/>
              <a:buChar char=""/>
            </a:pPr>
            <a:r>
              <a:rPr lang="fr-FR" sz="1100" b="0" u="none" strike="noStrike">
                <a:solidFill>
                  <a:schemeClr val="dk1"/>
                </a:solidFill>
                <a:effectLst/>
                <a:uFillTx/>
                <a:latin typeface="Calibri"/>
              </a:rPr>
              <a:t>Troisième niveau de plan</a:t>
            </a:r>
            <a:endParaRPr lang="fr-FR" sz="1100" b="0" u="none" strike="noStrike">
              <a:solidFill>
                <a:schemeClr val="dk1"/>
              </a:solidFill>
              <a:effectLst/>
              <a:uFillTx/>
              <a:latin typeface="Calibri"/>
            </a:endParaRPr>
          </a:p>
          <a:p>
            <a:pPr marL="1600200" lvl="3" indent="-228600" algn="l">
              <a:spcBef>
                <a:spcPts val="567"/>
              </a:spcBef>
              <a:buClr>
                <a:srgbClr val="FFFFFF"/>
              </a:buClr>
              <a:buSzPct val="75000"/>
              <a:buFont typeface="Symbol" charset="2"/>
              <a:buChar char=""/>
            </a:pPr>
            <a:r>
              <a:rPr lang="fr-FR" sz="1100" b="0" u="none" strike="noStrike">
                <a:solidFill>
                  <a:schemeClr val="dk1"/>
                </a:solidFill>
                <a:effectLst/>
                <a:uFillTx/>
                <a:latin typeface="Calibri"/>
              </a:rPr>
              <a:t>Quatrième niveau de plan</a:t>
            </a:r>
            <a:endParaRPr lang="fr-FR" sz="1100" b="0" u="none" strike="noStrike">
              <a:solidFill>
                <a:schemeClr val="dk1"/>
              </a:solidFill>
              <a:effectLst/>
              <a:uFillTx/>
              <a:latin typeface="Calibri"/>
            </a:endParaRPr>
          </a:p>
          <a:p>
            <a:pPr marL="2057400" lvl="4" indent="-228600" algn="l">
              <a:spcBef>
                <a:spcPts val="283"/>
              </a:spcBef>
              <a:buClr>
                <a:srgbClr val="FFFFFF"/>
              </a:buClr>
              <a:buSzPct val="45000"/>
              <a:buFont typeface="Wingdings" charset="2"/>
              <a:buChar char=""/>
            </a:pPr>
            <a:r>
              <a:rPr lang="fr-FR" sz="1100" b="0" u="none" strike="noStrike">
                <a:solidFill>
                  <a:schemeClr val="dk1"/>
                </a:solidFill>
                <a:effectLst/>
                <a:uFillTx/>
                <a:latin typeface="Calibri"/>
              </a:rPr>
              <a:t>Cinquième niveau de plan</a:t>
            </a:r>
            <a:endParaRPr lang="fr-FR" sz="1100" b="0" u="none" strike="noStrike">
              <a:solidFill>
                <a:schemeClr val="dk1"/>
              </a:solidFill>
              <a:effectLst/>
              <a:uFillTx/>
              <a:latin typeface="Calibri"/>
            </a:endParaRPr>
          </a:p>
          <a:p>
            <a:pPr marL="2514600" lvl="5" indent="-228600" algn="l">
              <a:spcBef>
                <a:spcPts val="283"/>
              </a:spcBef>
              <a:buClr>
                <a:srgbClr val="FFFFFF"/>
              </a:buClr>
              <a:buSzPct val="45000"/>
              <a:buFont typeface="Wingdings" charset="2"/>
              <a:buChar char=""/>
            </a:pPr>
            <a:r>
              <a:rPr lang="fr-FR" sz="1100" b="0" u="none" strike="noStrike">
                <a:solidFill>
                  <a:schemeClr val="dk1"/>
                </a:solidFill>
                <a:effectLst/>
                <a:uFillTx/>
                <a:latin typeface="Calibri"/>
              </a:rPr>
              <a:t>Sixième niveau de plan</a:t>
            </a:r>
            <a:endParaRPr lang="fr-FR" sz="1100" b="0" u="none" strike="noStrike">
              <a:solidFill>
                <a:schemeClr val="dk1"/>
              </a:solidFill>
              <a:effectLst/>
              <a:uFillTx/>
              <a:latin typeface="Calibri"/>
            </a:endParaRPr>
          </a:p>
          <a:p>
            <a:pPr marL="2971800" lvl="6" indent="-228600" algn="l">
              <a:spcBef>
                <a:spcPts val="283"/>
              </a:spcBef>
              <a:buClr>
                <a:srgbClr val="FFFFFF"/>
              </a:buClr>
              <a:buSzPct val="45000"/>
              <a:buFont typeface="Wingdings" charset="2"/>
              <a:buChar char=""/>
            </a:pPr>
            <a:r>
              <a:rPr lang="fr-FR" sz="1100" b="0" u="none" strike="noStrike">
                <a:solidFill>
                  <a:schemeClr val="dk1"/>
                </a:solidFill>
                <a:effectLst/>
                <a:uFillTx/>
                <a:latin typeface="Calibri"/>
              </a:rPr>
              <a:t>Septième niveau de plan</a:t>
            </a:r>
            <a:endParaRPr lang="fr-FR" sz="1100" b="0" u="none" strike="noStrike">
              <a:solidFill>
                <a:schemeClr val="dk1"/>
              </a:solidFill>
              <a:effectLst/>
              <a:uFillTx/>
              <a:latin typeface="Calibri"/>
            </a:endParaRPr>
          </a:p>
        </p:txBody>
      </p:sp>
      <p:sp>
        <p:nvSpPr>
          <p:cNvPr id="10" name="PlaceHolder 2"/>
          <p:cNvSpPr>
            <a:spLocks noGrp="1"/>
          </p:cNvSpPr>
          <p:nvPr>
            <p:ph type="title"/>
          </p:nvPr>
        </p:nvSpPr>
        <p:spPr>
          <a:xfrm>
            <a:off x="548640" y="694800"/>
            <a:ext cx="11091240" cy="566640"/>
          </a:xfrm>
          <a:prstGeom prst="rect">
            <a:avLst/>
          </a:prstGeom>
          <a:noFill/>
          <a:ln w="0">
            <a:noFill/>
          </a:ln>
        </p:spPr>
        <p:txBody>
          <a:bodyPr lIns="90000" tIns="45000" rIns="90000" bIns="45000" anchor="t">
            <a:noAutofit/>
          </a:bodyPr>
          <a:lstStyle>
            <a:lvl1pPr indent="0" algn="l">
              <a:buNone/>
              <a:defRPr lang="fr-FR" sz="2800" b="0" u="none" strike="noStrike">
                <a:solidFill>
                  <a:schemeClr val="dk1"/>
                </a:solidFill>
                <a:effectLst/>
                <a:uFillTx/>
                <a:latin typeface="Calibri"/>
              </a:defRPr>
            </a:lvl1pPr>
          </a:lstStyle>
          <a:p>
            <a:pPr indent="0" algn="l">
              <a:buNone/>
            </a:pPr>
            <a:r>
              <a:rPr lang="fr-FR" sz="2800" b="0" u="none" strike="noStrike">
                <a:solidFill>
                  <a:schemeClr val="dk1"/>
                </a:solidFill>
                <a:effectLst/>
                <a:uFillTx/>
                <a:latin typeface="Calibri"/>
              </a:rPr>
              <a:t>Cliquez pour éditer le format du texte-titre</a:t>
            </a:r>
            <a:endParaRPr lang="fr-FR" sz="2800" b="0" u="none" strike="noStrike">
              <a:solidFill>
                <a:schemeClr val="dk1"/>
              </a:solidFill>
              <a:effectLst/>
              <a:uFillTx/>
              <a:latin typeface="Calibri"/>
            </a:endParaRPr>
          </a:p>
        </p:txBody>
      </p:sp>
      <p:sp>
        <p:nvSpPr>
          <p:cNvPr id="11" name="Text 0"/>
          <p:cNvSpPr/>
          <p:nvPr/>
        </p:nvSpPr>
        <p:spPr>
          <a:xfrm>
            <a:off x="548640" y="6437520"/>
            <a:ext cx="7314840" cy="219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chemeClr val="accent5"/>
                </a:solidFill>
                <a:effectLst/>
                <a:uFillTx/>
                <a:latin typeface="Calibri"/>
              </a:rPr>
              <a:t>AURA  ·  Station météo embarquée sur STM32  ·  CESI</a:t>
            </a:r>
            <a:endParaRPr lang="fr-FR" sz="950" b="0" u="none" strike="noStrike">
              <a:solidFill>
                <a:srgbClr val="FFFFFF"/>
              </a:solidFill>
              <a:effectLst/>
              <a:uFillTx/>
              <a:latin typeface="Arial"/>
            </a:endParaRPr>
          </a:p>
        </p:txBody>
      </p:sp>
      <p:sp>
        <p:nvSpPr>
          <p:cNvPr id="12" name="PlaceHolder 3"/>
          <p:cNvSpPr>
            <a:spLocks noGrp="1"/>
          </p:cNvSpPr>
          <p:nvPr>
            <p:ph type="sldNum" idx="2"/>
          </p:nvPr>
        </p:nvSpPr>
        <p:spPr>
          <a:xfrm>
            <a:off x="11091600" y="6437520"/>
            <a:ext cx="548280" cy="219240"/>
          </a:xfrm>
          <a:prstGeom prst="rect">
            <a:avLst/>
          </a:prstGeom>
          <a:noFill/>
          <a:ln w="0">
            <a:noFill/>
          </a:ln>
        </p:spPr>
        <p:txBody>
          <a:bodyPr lIns="0" tIns="0" rIns="0" bIns="0" anchor="t">
            <a:noAutofit/>
          </a:bodyPr>
          <a:lstStyle>
            <a:lvl1pPr indent="0" algn="r" defTabSz="914400">
              <a:lnSpc>
                <a:spcPct val="100000"/>
              </a:lnSpc>
              <a:buNone/>
              <a:defRPr lang="en-US" sz="950" b="0" u="none" strike="noStrike">
                <a:solidFill>
                  <a:schemeClr val="accent5"/>
                </a:solidFill>
                <a:effectLst/>
                <a:uFillTx/>
                <a:latin typeface="Calibri"/>
              </a:defRPr>
            </a:lvl1pPr>
          </a:lstStyle>
          <a:p>
            <a:pPr indent="0" algn="r" defTabSz="914400">
              <a:lnSpc>
                <a:spcPct val="100000"/>
              </a:lnSpc>
              <a:buNone/>
            </a:pPr>
            <a:fld id="{59A9453D-0C22-46B9-9593-10BDE2DC6BDF}" type="slidenum">
              <a:rPr lang="en-US" sz="950" b="0" u="none" strike="noStrike">
                <a:solidFill>
                  <a:schemeClr val="accent5"/>
                </a:solidFill>
                <a:effectLst/>
                <a:uFillTx/>
                <a:latin typeface="Calibri"/>
              </a:rPr>
              <a:t>&lt;numéro&gt;</a:t>
            </a:fld>
            <a:endParaRPr lang="fr-FR" sz="950" b="0" u="none" strike="noStrike">
              <a:solidFill>
                <a:srgbClr val="FFFFFF"/>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7.png"/><Relationship Id="rId3" Type="http://schemas.openxmlformats.org/officeDocument/2006/relationships/image" Target="../media/image7.png"/><Relationship Id="rId4" Type="http://schemas.openxmlformats.org/officeDocument/2006/relationships/image" Target="../media/image7.png"/><Relationship Id="rId5" Type="http://schemas.openxmlformats.org/officeDocument/2006/relationships/image" Target="../media/image7.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10.png"/><Relationship Id="rId9" Type="http://schemas.openxmlformats.org/officeDocument/2006/relationships/image" Target="../media/image12.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4.png"/><Relationship Id="rId6" Type="http://schemas.openxmlformats.org/officeDocument/2006/relationships/image" Target="../media/image30.jpeg"/><Relationship Id="rId7" Type="http://schemas.openxmlformats.org/officeDocument/2006/relationships/image" Target="../media/image31.jpeg"/><Relationship Id="rId8" Type="http://schemas.openxmlformats.org/officeDocument/2006/relationships/image" Target="../media/image17.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33.png"/><Relationship Id="rId3" Type="http://schemas.openxmlformats.org/officeDocument/2006/relationships/image" Target="../media/image37.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24.png"/><Relationship Id="rId7" Type="http://schemas.openxmlformats.org/officeDocument/2006/relationships/image" Target="../media/image43.png"/><Relationship Id="rId8" Type="http://schemas.openxmlformats.org/officeDocument/2006/relationships/slideLayout" Target="../slideLayouts/slideLayout3.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3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1.png"/><Relationship Id="rId8" Type="http://schemas.openxmlformats.org/officeDocument/2006/relationships/image" Target="../media/image47.png"/><Relationship Id="rId9" Type="http://schemas.openxmlformats.org/officeDocument/2006/relationships/image" Target="../media/image47.png"/><Relationship Id="rId10" Type="http://schemas.openxmlformats.org/officeDocument/2006/relationships/image" Target="../media/image47.png"/><Relationship Id="rId11" Type="http://schemas.openxmlformats.org/officeDocument/2006/relationships/image" Target="../media/image47.png"/><Relationship Id="rId12" Type="http://schemas.openxmlformats.org/officeDocument/2006/relationships/slideLayout" Target="../slideLayouts/slideLayout3.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1.png"/><Relationship Id="rId3" Type="http://schemas.openxmlformats.org/officeDocument/2006/relationships/image" Target="../media/image48.png"/><Relationship Id="rId4" Type="http://schemas.openxmlformats.org/officeDocument/2006/relationships/image" Target="../media/image8.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PlaceHolder 1"/>
          <p:cNvSpPr>
            <a:spLocks noGrp="1"/>
          </p:cNvSpPr>
          <p:nvPr>
            <p:ph hasCustomPrompt="1"/>
          </p:nvPr>
        </p:nvSpPr>
        <p:spPr>
          <a:xfrm>
            <a:off x="548640" y="777240"/>
            <a:ext cx="6034680" cy="292320"/>
          </a:xfrm>
          <a:prstGeom prst="rect">
            <a:avLst/>
          </a:prstGeom>
          <a:noFill/>
          <a:ln w="0">
            <a:noFill/>
          </a:ln>
        </p:spPr>
        <p:txBody>
          <a:bodyPr lIns="0" tIns="0" rIns="0" bIns="0" anchor="t">
            <a:noAutofit/>
          </a:bodyPr>
          <a:p>
            <a:pPr indent="0" algn="l" defTabSz="914400">
              <a:lnSpc>
                <a:spcPct val="100000"/>
              </a:lnSpc>
              <a:spcBef>
                <a:spcPts val="221"/>
              </a:spcBef>
              <a:buNone/>
              <a:tabLst>
                <a:tab pos="0" algn="l"/>
              </a:tabLst>
            </a:pPr>
            <a:r>
              <a:rPr lang="en-US" sz="1100" b="1" u="none" spc="150" strike="noStrike">
                <a:solidFill>
                  <a:schemeClr val="accent5"/>
                </a:solidFill>
                <a:effectLst/>
                <a:uFillTx/>
                <a:latin typeface="Calibri"/>
              </a:rPr>
              <a:t>CESI ÉCOLE D'INGÉNIEURS  ·  BLOC SYSTÈMES EMBARQUÉS (A2)</a:t>
            </a:r>
            <a:endParaRPr lang="fr-FR" sz="1100" b="0" u="none" strike="noStrike">
              <a:solidFill>
                <a:schemeClr val="dk1"/>
              </a:solidFill>
              <a:effectLst/>
              <a:uFillTx/>
              <a:latin typeface="Calibri"/>
            </a:endParaRPr>
          </a:p>
        </p:txBody>
      </p:sp>
      <p:sp>
        <p:nvSpPr>
          <p:cNvPr id="20" name="PlaceHolder 2"/>
          <p:cNvSpPr>
            <a:spLocks noGrp="1"/>
          </p:cNvSpPr>
          <p:nvPr>
            <p:ph type="title" hasCustomPrompt="1"/>
          </p:nvPr>
        </p:nvSpPr>
        <p:spPr>
          <a:xfrm>
            <a:off x="548640" y="1234440"/>
            <a:ext cx="5943240" cy="1599840"/>
          </a:xfrm>
          <a:prstGeom prst="rect">
            <a:avLst/>
          </a:prstGeom>
          <a:noFill/>
          <a:ln w="0">
            <a:noFill/>
          </a:ln>
        </p:spPr>
        <p:txBody>
          <a:bodyPr lIns="0" tIns="0" rIns="0" bIns="0" anchor="t">
            <a:noAutofit/>
          </a:bodyPr>
          <a:p>
            <a:pPr indent="0" algn="l" defTabSz="914400">
              <a:lnSpc>
                <a:spcPct val="100000"/>
              </a:lnSpc>
              <a:buNone/>
              <a:tabLst>
                <a:tab pos="0" algn="l"/>
              </a:tabLst>
            </a:pPr>
            <a:r>
              <a:rPr lang="en-US" sz="4200" b="1" u="none" strike="noStrike">
                <a:solidFill>
                  <a:schemeClr val="lt1"/>
                </a:solidFill>
                <a:effectLst/>
                <a:uFillTx/>
                <a:latin typeface="Calibri"/>
              </a:rPr>
              <a:t>Station météorologique embarquée sur STM32</a:t>
            </a:r>
            <a:endParaRPr lang="fr-FR" sz="4200" b="0" u="none" strike="noStrike">
              <a:solidFill>
                <a:schemeClr val="dk1"/>
              </a:solidFill>
              <a:effectLst/>
              <a:uFillTx/>
              <a:latin typeface="Calibri"/>
            </a:endParaRPr>
          </a:p>
        </p:txBody>
      </p:sp>
      <p:sp>
        <p:nvSpPr>
          <p:cNvPr id="21" name="PlaceHolder 3"/>
          <p:cNvSpPr>
            <a:spLocks noGrp="1"/>
          </p:cNvSpPr>
          <p:nvPr>
            <p:ph hasCustomPrompt="1"/>
          </p:nvPr>
        </p:nvSpPr>
        <p:spPr>
          <a:xfrm>
            <a:off x="548640" y="2926080"/>
            <a:ext cx="5668920" cy="914040"/>
          </a:xfrm>
          <a:prstGeom prst="rect">
            <a:avLst/>
          </a:prstGeom>
          <a:noFill/>
          <a:ln w="0">
            <a:noFill/>
          </a:ln>
        </p:spPr>
        <p:txBody>
          <a:bodyPr lIns="0" tIns="0" rIns="0" bIns="0" anchor="t">
            <a:noAutofit/>
          </a:bodyPr>
          <a:p>
            <a:pPr indent="0" algn="l" defTabSz="914400">
              <a:lnSpc>
                <a:spcPct val="100000"/>
              </a:lnSpc>
              <a:spcBef>
                <a:spcPts val="360"/>
              </a:spcBef>
              <a:buNone/>
              <a:tabLst>
                <a:tab pos="0" algn="l"/>
              </a:tabLst>
            </a:pPr>
            <a:r>
              <a:rPr lang="en-US" sz="1800" b="0" u="none" strike="noStrike">
                <a:solidFill>
                  <a:schemeClr val="lt2"/>
                </a:solidFill>
                <a:effectLst/>
                <a:uFillTx/>
                <a:latin typeface="Calibri"/>
              </a:rPr>
              <a:t>Conception et réalisation d'un système de mesure météorologique destiné à être installé sur un bateau</a:t>
            </a:r>
            <a:endParaRPr lang="fr-FR" sz="1800" b="0" u="none" strike="noStrike">
              <a:solidFill>
                <a:schemeClr val="dk1"/>
              </a:solidFill>
              <a:effectLst/>
              <a:uFillTx/>
              <a:latin typeface="Calibri"/>
            </a:endParaRPr>
          </a:p>
        </p:txBody>
      </p:sp>
      <p:sp>
        <p:nvSpPr>
          <p:cNvPr id="22" name="Text 3"/>
          <p:cNvSpPr/>
          <p:nvPr/>
        </p:nvSpPr>
        <p:spPr>
          <a:xfrm>
            <a:off x="548640" y="4023360"/>
            <a:ext cx="585180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accent5"/>
                </a:solidFill>
                <a:effectLst/>
                <a:uFillTx/>
                <a:latin typeface="Calibri"/>
              </a:rPr>
              <a:t>Projet Worldwide Weather Watcher</a:t>
            </a:r>
            <a:endParaRPr lang="fr-FR" sz="1500" b="0" u="none" strike="noStrike">
              <a:solidFill>
                <a:srgbClr val="FFFFFF"/>
              </a:solidFill>
              <a:effectLst/>
              <a:uFillTx/>
              <a:latin typeface="Arial"/>
            </a:endParaRPr>
          </a:p>
          <a:p>
            <a:pPr defTabSz="914400">
              <a:lnSpc>
                <a:spcPct val="100000"/>
              </a:lnSpc>
              <a:tabLst>
                <a:tab pos="0" algn="l"/>
              </a:tabLst>
            </a:pPr>
            <a:r>
              <a:rPr lang="en-US" sz="1500" b="0" u="none" strike="noStrike">
                <a:solidFill>
                  <a:schemeClr val="lt1"/>
                </a:solidFill>
                <a:effectLst/>
                <a:uFillTx/>
                <a:latin typeface="Calibri"/>
              </a:rPr>
              <a:t>Prototype « AURA » sur carte NUCLEO-L476RG</a:t>
            </a:r>
            <a:endParaRPr lang="fr-FR" sz="1500" b="0" u="none" strike="noStrike">
              <a:solidFill>
                <a:srgbClr val="FFFFFF"/>
              </a:solidFill>
              <a:effectLst/>
              <a:uFillTx/>
              <a:latin typeface="Arial"/>
            </a:endParaRPr>
          </a:p>
        </p:txBody>
      </p:sp>
      <p:sp>
        <p:nvSpPr>
          <p:cNvPr id="23" name="Text 4"/>
          <p:cNvSpPr/>
          <p:nvPr/>
        </p:nvSpPr>
        <p:spPr>
          <a:xfrm>
            <a:off x="548640" y="4937760"/>
            <a:ext cx="2742840" cy="237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1" u="none" spc="150" strike="noStrike">
                <a:solidFill>
                  <a:schemeClr val="accent5"/>
                </a:solidFill>
                <a:effectLst/>
                <a:uFillTx/>
                <a:latin typeface="Calibri"/>
              </a:rPr>
              <a:t>ÉQUIPE</a:t>
            </a:r>
            <a:endParaRPr lang="fr-FR" sz="1050" b="0" u="none" strike="noStrike">
              <a:solidFill>
                <a:srgbClr val="FFFFFF"/>
              </a:solidFill>
              <a:effectLst/>
              <a:uFillTx/>
              <a:latin typeface="Arial"/>
            </a:endParaRPr>
          </a:p>
        </p:txBody>
      </p:sp>
      <p:sp>
        <p:nvSpPr>
          <p:cNvPr id="24" name="Text 5"/>
          <p:cNvSpPr/>
          <p:nvPr/>
        </p:nvSpPr>
        <p:spPr>
          <a:xfrm>
            <a:off x="548640" y="5212080"/>
            <a:ext cx="585180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lt1"/>
                </a:solidFill>
                <a:effectLst/>
                <a:uFillTx/>
                <a:latin typeface="Calibri"/>
              </a:rPr>
              <a:t>Membre 1  ·  Membre 2  ·  Membre 3  ·  Membre 4</a:t>
            </a:r>
            <a:endParaRPr lang="fr-FR" sz="1800" b="0" u="none" strike="noStrike">
              <a:solidFill>
                <a:srgbClr val="FFFFFF"/>
              </a:solidFill>
              <a:effectLst/>
              <a:uFillTx/>
              <a:latin typeface="Arial"/>
            </a:endParaRPr>
          </a:p>
        </p:txBody>
      </p:sp>
      <p:sp>
        <p:nvSpPr>
          <p:cNvPr id="25" name="Shape 7"/>
          <p:cNvSpPr/>
          <p:nvPr/>
        </p:nvSpPr>
        <p:spPr>
          <a:xfrm>
            <a:off x="6858000" y="1005840"/>
            <a:ext cx="4480200" cy="4480200"/>
          </a:xfrm>
          <a:prstGeom prst="ellipse">
            <a:avLst/>
          </a:prstGeom>
          <a:noFill/>
          <a:ln w="12700">
            <a:solidFill>
              <a:srgbClr val="5CCAD3">
                <a:alpha val="30000"/>
              </a:srgbClr>
            </a:solidFill>
            <a:prstDash val="dash"/>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26" name="Shape 8"/>
          <p:cNvSpPr/>
          <p:nvPr/>
        </p:nvSpPr>
        <p:spPr>
          <a:xfrm>
            <a:off x="7543800" y="1691640"/>
            <a:ext cx="3108600" cy="3108600"/>
          </a:xfrm>
          <a:prstGeom prst="ellipse">
            <a:avLst/>
          </a:prstGeom>
          <a:noFill/>
          <a:ln w="12700">
            <a:solidFill>
              <a:srgbClr val="5CCAD3">
                <a:alpha val="45000"/>
              </a:srgbClr>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27" name="Shape 9"/>
          <p:cNvSpPr/>
          <p:nvPr/>
        </p:nvSpPr>
        <p:spPr>
          <a:xfrm flipV="1">
            <a:off x="9098280" y="1005840"/>
            <a:ext cx="360" cy="2240280"/>
          </a:xfrm>
          <a:prstGeom prst="line">
            <a:avLst/>
          </a:prstGeom>
          <a:ln w="12700">
            <a:solidFill>
              <a:srgbClr val="5CCAD3">
                <a:alpha val="70000"/>
              </a:srgbClr>
            </a:solidFill>
            <a:prstDash val="dash"/>
            <a:round/>
          </a:ln>
        </p:spPr>
        <p:style>
          <a:lnRef idx="0"/>
          <a:fillRef idx="0"/>
          <a:effectRef idx="0"/>
          <a:fontRef idx="minor"/>
        </p:style>
        <p:txBody>
          <a:bodyPr lIns="90000" tIns="45000" rIns="90000" bIns="45000" anchor="t" anchorCtr="1">
            <a:noAutofit/>
          </a:bodyPr>
          <a:p>
            <a:pPr/>
            <a:endParaRPr lang="fr-FR" sz="1800" b="0" u="none" strike="noStrike">
              <a:solidFill>
                <a:srgbClr val="FFFFFF"/>
              </a:solidFill>
              <a:effectLst/>
              <a:uFillTx/>
              <a:latin typeface="Arial"/>
            </a:endParaRPr>
          </a:p>
        </p:txBody>
      </p:sp>
      <p:sp>
        <p:nvSpPr>
          <p:cNvPr id="28" name="Shape 10"/>
          <p:cNvSpPr/>
          <p:nvPr/>
        </p:nvSpPr>
        <p:spPr>
          <a:xfrm flipV="1">
            <a:off x="9098280" y="2125800"/>
            <a:ext cx="1940040" cy="1120320"/>
          </a:xfrm>
          <a:prstGeom prst="line">
            <a:avLst/>
          </a:prstGeom>
          <a:ln w="12700">
            <a:solidFill>
              <a:srgbClr val="5CCAD3">
                <a:alpha val="70000"/>
              </a:srgbClr>
            </a:solidFill>
            <a:prstDash val="dash"/>
            <a:round/>
          </a:ln>
        </p:spPr>
        <p:style>
          <a:lnRef idx="0"/>
          <a:fillRef idx="0"/>
          <a:effectRef idx="0"/>
          <a:fontRef idx="minor"/>
        </p:style>
        <p:txBody>
          <a:bodyPr lIns="90000" tIns="45000" rIns="90000" bIns="45000" anchor="t" anchorCtr="1">
            <a:noAutofit/>
          </a:bodyPr>
          <a:p>
            <a:pPr/>
            <a:endParaRPr lang="fr-FR" sz="1800" b="0" u="none" strike="noStrike">
              <a:solidFill>
                <a:srgbClr val="FFFFFF"/>
              </a:solidFill>
              <a:effectLst/>
              <a:uFillTx/>
              <a:latin typeface="Arial"/>
            </a:endParaRPr>
          </a:p>
        </p:txBody>
      </p:sp>
      <p:sp>
        <p:nvSpPr>
          <p:cNvPr id="29" name="Shape 11"/>
          <p:cNvSpPr/>
          <p:nvPr/>
        </p:nvSpPr>
        <p:spPr>
          <a:xfrm>
            <a:off x="9098280" y="3246120"/>
            <a:ext cx="1940040" cy="1119960"/>
          </a:xfrm>
          <a:prstGeom prst="line">
            <a:avLst/>
          </a:prstGeom>
          <a:ln w="12700">
            <a:solidFill>
              <a:srgbClr val="5CCAD3">
                <a:alpha val="70000"/>
              </a:srgbClr>
            </a:solidFill>
            <a:prstDash val="dash"/>
            <a:round/>
          </a:ln>
        </p:spPr>
        <p:style>
          <a:lnRef idx="0"/>
          <a:fillRef idx="0"/>
          <a:effectRef idx="0"/>
          <a:fontRef idx="minor"/>
        </p:style>
        <p:txBody>
          <a:bodyPr lIns="90000" tIns="45000" rIns="90000" bIns="45000" anchor="t" anchorCtr="1">
            <a:noAutofit/>
          </a:bodyPr>
          <a:p>
            <a:pPr/>
            <a:endParaRPr lang="fr-FR" sz="1800" b="0" u="none" strike="noStrike">
              <a:solidFill>
                <a:srgbClr val="FFFFFF"/>
              </a:solidFill>
              <a:effectLst/>
              <a:uFillTx/>
              <a:latin typeface="Arial"/>
            </a:endParaRPr>
          </a:p>
        </p:txBody>
      </p:sp>
      <p:sp>
        <p:nvSpPr>
          <p:cNvPr id="30" name="Shape 12"/>
          <p:cNvSpPr/>
          <p:nvPr/>
        </p:nvSpPr>
        <p:spPr>
          <a:xfrm>
            <a:off x="9098280" y="3246120"/>
            <a:ext cx="360" cy="2240280"/>
          </a:xfrm>
          <a:prstGeom prst="line">
            <a:avLst/>
          </a:prstGeom>
          <a:ln w="12700">
            <a:solidFill>
              <a:srgbClr val="5CCAD3">
                <a:alpha val="70000"/>
              </a:srgbClr>
            </a:solidFill>
            <a:prstDash val="dash"/>
            <a:round/>
          </a:ln>
        </p:spPr>
        <p:style>
          <a:lnRef idx="0"/>
          <a:fillRef idx="0"/>
          <a:effectRef idx="0"/>
          <a:fontRef idx="minor"/>
        </p:style>
        <p:txBody>
          <a:bodyPr lIns="90000" tIns="45000" rIns="90000" bIns="45000" anchor="t" anchorCtr="1">
            <a:noAutofit/>
          </a:bodyPr>
          <a:p>
            <a:pPr/>
            <a:endParaRPr lang="fr-FR" sz="1800" b="0" u="none" strike="noStrike">
              <a:solidFill>
                <a:srgbClr val="FFFFFF"/>
              </a:solidFill>
              <a:effectLst/>
              <a:uFillTx/>
              <a:latin typeface="Arial"/>
            </a:endParaRPr>
          </a:p>
        </p:txBody>
      </p:sp>
      <p:sp>
        <p:nvSpPr>
          <p:cNvPr id="31" name="Shape 13"/>
          <p:cNvSpPr/>
          <p:nvPr/>
        </p:nvSpPr>
        <p:spPr>
          <a:xfrm flipH="1">
            <a:off x="7157880" y="3246120"/>
            <a:ext cx="1940400" cy="1119960"/>
          </a:xfrm>
          <a:prstGeom prst="line">
            <a:avLst/>
          </a:prstGeom>
          <a:ln w="12700">
            <a:solidFill>
              <a:srgbClr val="5CCAD3">
                <a:alpha val="70000"/>
              </a:srgbClr>
            </a:solidFill>
            <a:prstDash val="dash"/>
            <a:round/>
          </a:ln>
        </p:spPr>
        <p:style>
          <a:lnRef idx="0"/>
          <a:fillRef idx="0"/>
          <a:effectRef idx="0"/>
          <a:fontRef idx="minor"/>
        </p:style>
        <p:txBody>
          <a:bodyPr lIns="90000" tIns="45000" rIns="90000" bIns="45000" anchor="t" anchorCtr="1">
            <a:noAutofit/>
          </a:bodyPr>
          <a:p>
            <a:pPr/>
            <a:endParaRPr lang="fr-FR" sz="1800" b="0" u="none" strike="noStrike">
              <a:solidFill>
                <a:srgbClr val="FFFFFF"/>
              </a:solidFill>
              <a:effectLst/>
              <a:uFillTx/>
              <a:latin typeface="Arial"/>
            </a:endParaRPr>
          </a:p>
        </p:txBody>
      </p:sp>
      <p:sp>
        <p:nvSpPr>
          <p:cNvPr id="32" name="Shape 14"/>
          <p:cNvSpPr/>
          <p:nvPr/>
        </p:nvSpPr>
        <p:spPr>
          <a:xfrm flipH="1" flipV="1">
            <a:off x="7157880" y="2125800"/>
            <a:ext cx="1940400" cy="1120320"/>
          </a:xfrm>
          <a:prstGeom prst="line">
            <a:avLst/>
          </a:prstGeom>
          <a:ln w="12700">
            <a:solidFill>
              <a:srgbClr val="5CCAD3">
                <a:alpha val="70000"/>
              </a:srgbClr>
            </a:solidFill>
            <a:prstDash val="dash"/>
            <a:round/>
          </a:ln>
        </p:spPr>
        <p:style>
          <a:lnRef idx="0"/>
          <a:fillRef idx="0"/>
          <a:effectRef idx="0"/>
          <a:fontRef idx="minor"/>
        </p:style>
        <p:txBody>
          <a:bodyPr lIns="90000" tIns="45000" rIns="90000" bIns="45000" anchor="t" anchorCtr="1">
            <a:noAutofit/>
          </a:bodyPr>
          <a:p>
            <a:pPr/>
            <a:endParaRPr lang="fr-FR" sz="1800" b="0" u="none" strike="noStrike">
              <a:solidFill>
                <a:srgbClr val="FFFFFF"/>
              </a:solidFill>
              <a:effectLst/>
              <a:uFillTx/>
              <a:latin typeface="Arial"/>
            </a:endParaRPr>
          </a:p>
        </p:txBody>
      </p:sp>
      <p:sp>
        <p:nvSpPr>
          <p:cNvPr id="33" name="Shape 15"/>
          <p:cNvSpPr/>
          <p:nvPr/>
        </p:nvSpPr>
        <p:spPr>
          <a:xfrm>
            <a:off x="8430840" y="2221920"/>
            <a:ext cx="91080" cy="16416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4" name="Shape 16"/>
          <p:cNvSpPr/>
          <p:nvPr/>
        </p:nvSpPr>
        <p:spPr>
          <a:xfrm>
            <a:off x="8430840" y="4105800"/>
            <a:ext cx="91080" cy="16416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5" name="Shape 17"/>
          <p:cNvSpPr/>
          <p:nvPr/>
        </p:nvSpPr>
        <p:spPr>
          <a:xfrm>
            <a:off x="8074080" y="2578680"/>
            <a:ext cx="164160" cy="9108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6" name="Shape 18"/>
          <p:cNvSpPr/>
          <p:nvPr/>
        </p:nvSpPr>
        <p:spPr>
          <a:xfrm>
            <a:off x="9957960" y="2578680"/>
            <a:ext cx="164160" cy="9108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7" name="Shape 19"/>
          <p:cNvSpPr/>
          <p:nvPr/>
        </p:nvSpPr>
        <p:spPr>
          <a:xfrm>
            <a:off x="8741520" y="2221920"/>
            <a:ext cx="91080" cy="16416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8" name="Shape 20"/>
          <p:cNvSpPr/>
          <p:nvPr/>
        </p:nvSpPr>
        <p:spPr>
          <a:xfrm>
            <a:off x="8741520" y="4105800"/>
            <a:ext cx="91080" cy="16416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9" name="Shape 21"/>
          <p:cNvSpPr/>
          <p:nvPr/>
        </p:nvSpPr>
        <p:spPr>
          <a:xfrm>
            <a:off x="8074080" y="2889360"/>
            <a:ext cx="164160" cy="9108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0" name="Shape 22"/>
          <p:cNvSpPr/>
          <p:nvPr/>
        </p:nvSpPr>
        <p:spPr>
          <a:xfrm>
            <a:off x="9957960" y="2889360"/>
            <a:ext cx="164160" cy="9108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1" name="Shape 23"/>
          <p:cNvSpPr/>
          <p:nvPr/>
        </p:nvSpPr>
        <p:spPr>
          <a:xfrm>
            <a:off x="9052560" y="2221920"/>
            <a:ext cx="91080" cy="16416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2" name="Shape 24"/>
          <p:cNvSpPr/>
          <p:nvPr/>
        </p:nvSpPr>
        <p:spPr>
          <a:xfrm>
            <a:off x="9052560" y="4105800"/>
            <a:ext cx="91080" cy="16416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3" name="Shape 25"/>
          <p:cNvSpPr/>
          <p:nvPr/>
        </p:nvSpPr>
        <p:spPr>
          <a:xfrm>
            <a:off x="8074080" y="3200400"/>
            <a:ext cx="164160" cy="9108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4" name="Shape 26"/>
          <p:cNvSpPr/>
          <p:nvPr/>
        </p:nvSpPr>
        <p:spPr>
          <a:xfrm>
            <a:off x="9957960" y="3200400"/>
            <a:ext cx="164160" cy="9108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5" name="Shape 27"/>
          <p:cNvSpPr/>
          <p:nvPr/>
        </p:nvSpPr>
        <p:spPr>
          <a:xfrm>
            <a:off x="9363600" y="2221920"/>
            <a:ext cx="91080" cy="16416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6" name="Shape 28"/>
          <p:cNvSpPr/>
          <p:nvPr/>
        </p:nvSpPr>
        <p:spPr>
          <a:xfrm>
            <a:off x="9363600" y="4105800"/>
            <a:ext cx="91080" cy="16416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7" name="Shape 29"/>
          <p:cNvSpPr/>
          <p:nvPr/>
        </p:nvSpPr>
        <p:spPr>
          <a:xfrm>
            <a:off x="8074080" y="3511440"/>
            <a:ext cx="164160" cy="9108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8" name="Shape 30"/>
          <p:cNvSpPr/>
          <p:nvPr/>
        </p:nvSpPr>
        <p:spPr>
          <a:xfrm>
            <a:off x="9957960" y="3511440"/>
            <a:ext cx="164160" cy="9108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9" name="Shape 31"/>
          <p:cNvSpPr/>
          <p:nvPr/>
        </p:nvSpPr>
        <p:spPr>
          <a:xfrm>
            <a:off x="9674280" y="2221920"/>
            <a:ext cx="91080" cy="16416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0" name="Shape 32"/>
          <p:cNvSpPr/>
          <p:nvPr/>
        </p:nvSpPr>
        <p:spPr>
          <a:xfrm>
            <a:off x="9674280" y="4105800"/>
            <a:ext cx="91080" cy="16416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1" name="Shape 33"/>
          <p:cNvSpPr/>
          <p:nvPr/>
        </p:nvSpPr>
        <p:spPr>
          <a:xfrm>
            <a:off x="8074080" y="3822120"/>
            <a:ext cx="164160" cy="9108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2" name="Shape 34"/>
          <p:cNvSpPr/>
          <p:nvPr/>
        </p:nvSpPr>
        <p:spPr>
          <a:xfrm>
            <a:off x="9957960" y="3822120"/>
            <a:ext cx="164160" cy="91080"/>
          </a:xfrm>
          <a:prstGeom prst="rect">
            <a:avLst/>
          </a:prstGeom>
          <a:solidFill>
            <a:schemeClr val="accent5"/>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3" name="Text 35"/>
          <p:cNvSpPr/>
          <p:nvPr/>
        </p:nvSpPr>
        <p:spPr>
          <a:xfrm>
            <a:off x="8229600" y="2377440"/>
            <a:ext cx="1737000" cy="1737000"/>
          </a:xfrm>
          <a:prstGeom prst="roundRect">
            <a:avLst>
              <a:gd name="adj" fmla="val 5263"/>
            </a:avLst>
          </a:prstGeom>
          <a:solidFill>
            <a:schemeClr val="accent3"/>
          </a:solidFill>
          <a:ln w="15875">
            <a:solidFill>
              <a:srgbClr val="5CCAD3"/>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chemeClr val="lt1"/>
                </a:solidFill>
                <a:effectLst/>
                <a:uFillTx/>
                <a:latin typeface="Calibri"/>
              </a:rPr>
              <a:t>STM32</a:t>
            </a:r>
            <a:endParaRPr lang="fr-FR" sz="2200" b="0" u="none" strike="noStrike">
              <a:solidFill>
                <a:srgbClr val="FFFFFF"/>
              </a:solidFill>
              <a:effectLst/>
              <a:uFillTx/>
              <a:latin typeface="Arial"/>
            </a:endParaRPr>
          </a:p>
          <a:p>
            <a:pPr algn="ctr" defTabSz="914400">
              <a:lnSpc>
                <a:spcPct val="100000"/>
              </a:lnSpc>
              <a:tabLst>
                <a:tab pos="0" algn="l"/>
              </a:tabLst>
            </a:pPr>
            <a:r>
              <a:rPr lang="en-US" sz="1300" b="0" u="none" strike="noStrike">
                <a:solidFill>
                  <a:schemeClr val="accent5"/>
                </a:solidFill>
                <a:effectLst/>
                <a:uFillTx/>
                <a:latin typeface="Calibri"/>
              </a:rPr>
              <a:t>L476RG</a:t>
            </a:r>
            <a:endParaRPr lang="fr-FR" sz="1300" b="0" u="none" strike="noStrike">
              <a:solidFill>
                <a:srgbClr val="FFFFFF"/>
              </a:solidFill>
              <a:effectLst/>
              <a:uFillTx/>
              <a:latin typeface="Arial"/>
            </a:endParaRPr>
          </a:p>
        </p:txBody>
      </p:sp>
      <p:sp>
        <p:nvSpPr>
          <p:cNvPr id="54" name="Shape 36"/>
          <p:cNvSpPr/>
          <p:nvPr/>
        </p:nvSpPr>
        <p:spPr>
          <a:xfrm>
            <a:off x="8732520" y="640080"/>
            <a:ext cx="731160" cy="7311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55" name="Image 0" descr="Thermometer"/>
          <p:cNvPicPr/>
          <p:nvPr/>
        </p:nvPicPr>
        <p:blipFill>
          <a:blip r:embed="rId1"/>
          <a:stretch/>
        </p:blipFill>
        <p:spPr>
          <a:xfrm>
            <a:off x="8908200" y="815760"/>
            <a:ext cx="380160" cy="380160"/>
          </a:xfrm>
          <a:prstGeom prst="rect">
            <a:avLst/>
          </a:prstGeom>
          <a:noFill/>
          <a:ln w="0">
            <a:noFill/>
          </a:ln>
        </p:spPr>
      </p:pic>
      <p:sp>
        <p:nvSpPr>
          <p:cNvPr id="56" name="Shape 37"/>
          <p:cNvSpPr/>
          <p:nvPr/>
        </p:nvSpPr>
        <p:spPr>
          <a:xfrm>
            <a:off x="10672560" y="1760400"/>
            <a:ext cx="731160" cy="7311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57" name="Image 1" descr="Sun"/>
          <p:cNvPicPr/>
          <p:nvPr/>
        </p:nvPicPr>
        <p:blipFill>
          <a:blip r:embed="rId2"/>
          <a:stretch/>
        </p:blipFill>
        <p:spPr>
          <a:xfrm>
            <a:off x="10848240" y="1935720"/>
            <a:ext cx="380160" cy="380160"/>
          </a:xfrm>
          <a:prstGeom prst="rect">
            <a:avLst/>
          </a:prstGeom>
          <a:noFill/>
          <a:ln w="0">
            <a:noFill/>
          </a:ln>
        </p:spPr>
      </p:pic>
      <p:sp>
        <p:nvSpPr>
          <p:cNvPr id="58" name="Shape 38"/>
          <p:cNvSpPr/>
          <p:nvPr/>
        </p:nvSpPr>
        <p:spPr>
          <a:xfrm>
            <a:off x="10672560" y="4000680"/>
            <a:ext cx="731160" cy="7311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59" name="Image 2" descr="MapPin"/>
          <p:cNvPicPr/>
          <p:nvPr/>
        </p:nvPicPr>
        <p:blipFill>
          <a:blip r:embed="rId3"/>
          <a:stretch/>
        </p:blipFill>
        <p:spPr>
          <a:xfrm>
            <a:off x="10848240" y="4176000"/>
            <a:ext cx="380160" cy="380160"/>
          </a:xfrm>
          <a:prstGeom prst="rect">
            <a:avLst/>
          </a:prstGeom>
          <a:noFill/>
          <a:ln w="0">
            <a:noFill/>
          </a:ln>
        </p:spPr>
      </p:pic>
      <p:sp>
        <p:nvSpPr>
          <p:cNvPr id="60" name="Shape 39"/>
          <p:cNvSpPr/>
          <p:nvPr/>
        </p:nvSpPr>
        <p:spPr>
          <a:xfrm>
            <a:off x="8732520" y="5120640"/>
            <a:ext cx="731160" cy="7311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1" name="Image 3" descr="Save"/>
          <p:cNvPicPr/>
          <p:nvPr/>
        </p:nvPicPr>
        <p:blipFill>
          <a:blip r:embed="rId4"/>
          <a:stretch/>
        </p:blipFill>
        <p:spPr>
          <a:xfrm>
            <a:off x="8908200" y="5296320"/>
            <a:ext cx="380160" cy="380160"/>
          </a:xfrm>
          <a:prstGeom prst="rect">
            <a:avLst/>
          </a:prstGeom>
          <a:noFill/>
          <a:ln w="0">
            <a:noFill/>
          </a:ln>
        </p:spPr>
      </p:pic>
      <p:sp>
        <p:nvSpPr>
          <p:cNvPr id="62" name="Shape 40"/>
          <p:cNvSpPr/>
          <p:nvPr/>
        </p:nvSpPr>
        <p:spPr>
          <a:xfrm>
            <a:off x="6792480" y="4000680"/>
            <a:ext cx="731160" cy="7311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3" name="Image 4" descr="Lightbulb"/>
          <p:cNvPicPr/>
          <p:nvPr/>
        </p:nvPicPr>
        <p:blipFill>
          <a:blip r:embed="rId5"/>
          <a:stretch/>
        </p:blipFill>
        <p:spPr>
          <a:xfrm>
            <a:off x="6967800" y="4176000"/>
            <a:ext cx="380160" cy="380160"/>
          </a:xfrm>
          <a:prstGeom prst="rect">
            <a:avLst/>
          </a:prstGeom>
          <a:noFill/>
          <a:ln w="0">
            <a:noFill/>
          </a:ln>
        </p:spPr>
      </p:pic>
      <p:sp>
        <p:nvSpPr>
          <p:cNvPr id="64" name="Shape 41"/>
          <p:cNvSpPr/>
          <p:nvPr/>
        </p:nvSpPr>
        <p:spPr>
          <a:xfrm>
            <a:off x="6792480" y="1760400"/>
            <a:ext cx="731160" cy="7311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5" name="Image 5" descr="Clock"/>
          <p:cNvPicPr/>
          <p:nvPr/>
        </p:nvPicPr>
        <p:blipFill>
          <a:blip r:embed="rId6"/>
          <a:stretch/>
        </p:blipFill>
        <p:spPr>
          <a:xfrm>
            <a:off x="6967800" y="1935720"/>
            <a:ext cx="380160" cy="3801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PLAN DE LA PRÉSENTATION</a:t>
            </a:r>
            <a:endParaRPr lang="fr-FR" sz="1100" b="0" u="none" strike="noStrike">
              <a:solidFill>
                <a:schemeClr val="dk1"/>
              </a:solidFill>
              <a:effectLst/>
              <a:uFillTx/>
              <a:latin typeface="Calibri"/>
            </a:endParaRPr>
          </a:p>
        </p:txBody>
      </p:sp>
      <p:sp>
        <p:nvSpPr>
          <p:cNvPr id="67"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Sommaire</a:t>
            </a:r>
            <a:endParaRPr lang="fr-FR" sz="2800" b="0" u="none" strike="noStrike">
              <a:solidFill>
                <a:schemeClr val="dk1"/>
              </a:solidFill>
              <a:effectLst/>
              <a:uFillTx/>
              <a:latin typeface="Calibri"/>
            </a:endParaRPr>
          </a:p>
        </p:txBody>
      </p:sp>
      <p:sp>
        <p:nvSpPr>
          <p:cNvPr id="68" name="Shape 2"/>
          <p:cNvSpPr/>
          <p:nvPr/>
        </p:nvSpPr>
        <p:spPr>
          <a:xfrm>
            <a:off x="548640" y="1572840"/>
            <a:ext cx="11091240" cy="731160"/>
          </a:xfrm>
          <a:prstGeom prst="roundRect">
            <a:avLst>
              <a:gd name="adj" fmla="val 750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69" name="Text 3"/>
          <p:cNvSpPr/>
          <p:nvPr/>
        </p:nvSpPr>
        <p:spPr>
          <a:xfrm>
            <a:off x="777240" y="1572840"/>
            <a:ext cx="8226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chemeClr val="accent1"/>
                </a:solidFill>
                <a:effectLst/>
                <a:uFillTx/>
                <a:latin typeface="Calibri"/>
              </a:rPr>
              <a:t>01</a:t>
            </a:r>
            <a:endParaRPr lang="fr-FR" sz="2800" b="0" u="none" strike="noStrike">
              <a:solidFill>
                <a:srgbClr val="000000"/>
              </a:solidFill>
              <a:effectLst/>
              <a:uFillTx/>
              <a:latin typeface="Arial"/>
            </a:endParaRPr>
          </a:p>
        </p:txBody>
      </p:sp>
      <p:sp>
        <p:nvSpPr>
          <p:cNvPr id="70" name="Text 4"/>
          <p:cNvSpPr/>
          <p:nvPr/>
        </p:nvSpPr>
        <p:spPr>
          <a:xfrm>
            <a:off x="1737360" y="1645920"/>
            <a:ext cx="603468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Contexte et objectifs</a:t>
            </a:r>
            <a:endParaRPr lang="fr-FR" sz="1800" b="0" u="none" strike="noStrike">
              <a:solidFill>
                <a:srgbClr val="000000"/>
              </a:solidFill>
              <a:effectLst/>
              <a:uFillTx/>
              <a:latin typeface="Arial"/>
            </a:endParaRPr>
          </a:p>
        </p:txBody>
      </p:sp>
      <p:sp>
        <p:nvSpPr>
          <p:cNvPr id="71" name="Text 5"/>
          <p:cNvSpPr/>
          <p:nvPr/>
        </p:nvSpPr>
        <p:spPr>
          <a:xfrm>
            <a:off x="1737360" y="1974960"/>
            <a:ext cx="621756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0" u="none" strike="noStrike">
                <a:solidFill>
                  <a:schemeClr val="accent6"/>
                </a:solidFill>
                <a:effectLst/>
                <a:uFillTx/>
                <a:latin typeface="Calibri"/>
              </a:rPr>
              <a:t>Besoin de l'AIVM, mission de l'équipe</a:t>
            </a:r>
            <a:endParaRPr lang="fr-FR" sz="1350" b="0" u="none" strike="noStrike">
              <a:solidFill>
                <a:srgbClr val="000000"/>
              </a:solidFill>
              <a:effectLst/>
              <a:uFillTx/>
              <a:latin typeface="Arial"/>
            </a:endParaRPr>
          </a:p>
        </p:txBody>
      </p:sp>
      <p:sp>
        <p:nvSpPr>
          <p:cNvPr id="72" name="Shape 6"/>
          <p:cNvSpPr/>
          <p:nvPr/>
        </p:nvSpPr>
        <p:spPr>
          <a:xfrm>
            <a:off x="8138160" y="1774080"/>
            <a:ext cx="328680" cy="32868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73" name="Image 0" descr="Users"/>
          <p:cNvPicPr/>
          <p:nvPr/>
        </p:nvPicPr>
        <p:blipFill>
          <a:blip r:embed="rId1"/>
          <a:stretch/>
        </p:blipFill>
        <p:spPr>
          <a:xfrm>
            <a:off x="8204040" y="1839600"/>
            <a:ext cx="197280" cy="197280"/>
          </a:xfrm>
          <a:prstGeom prst="rect">
            <a:avLst/>
          </a:prstGeom>
          <a:noFill/>
          <a:ln w="0">
            <a:noFill/>
          </a:ln>
        </p:spPr>
      </p:pic>
      <p:sp>
        <p:nvSpPr>
          <p:cNvPr id="74" name="Text 7"/>
          <p:cNvSpPr/>
          <p:nvPr/>
        </p:nvSpPr>
        <p:spPr>
          <a:xfrm>
            <a:off x="8549640" y="1572840"/>
            <a:ext cx="18284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Membre 1</a:t>
            </a:r>
            <a:endParaRPr lang="fr-FR" sz="1400" b="0" u="none" strike="noStrike">
              <a:solidFill>
                <a:srgbClr val="000000"/>
              </a:solidFill>
              <a:effectLst/>
              <a:uFillTx/>
              <a:latin typeface="Arial"/>
            </a:endParaRPr>
          </a:p>
        </p:txBody>
      </p:sp>
      <p:sp>
        <p:nvSpPr>
          <p:cNvPr id="76" name="Shape 9"/>
          <p:cNvSpPr/>
          <p:nvPr/>
        </p:nvSpPr>
        <p:spPr>
          <a:xfrm>
            <a:off x="548640" y="2414160"/>
            <a:ext cx="11091240" cy="731160"/>
          </a:xfrm>
          <a:prstGeom prst="roundRect">
            <a:avLst>
              <a:gd name="adj" fmla="val 750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77" name="Text 10"/>
          <p:cNvSpPr/>
          <p:nvPr/>
        </p:nvSpPr>
        <p:spPr>
          <a:xfrm>
            <a:off x="777240" y="2414160"/>
            <a:ext cx="8226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chemeClr val="accent1"/>
                </a:solidFill>
                <a:effectLst/>
                <a:uFillTx/>
                <a:latin typeface="Calibri"/>
              </a:rPr>
              <a:t>02</a:t>
            </a:r>
            <a:endParaRPr lang="fr-FR" sz="2800" b="0" u="none" strike="noStrike">
              <a:solidFill>
                <a:srgbClr val="000000"/>
              </a:solidFill>
              <a:effectLst/>
              <a:uFillTx/>
              <a:latin typeface="Arial"/>
            </a:endParaRPr>
          </a:p>
        </p:txBody>
      </p:sp>
      <p:sp>
        <p:nvSpPr>
          <p:cNvPr id="78" name="Text 11"/>
          <p:cNvSpPr/>
          <p:nvPr/>
        </p:nvSpPr>
        <p:spPr>
          <a:xfrm>
            <a:off x="1737360" y="2487240"/>
            <a:ext cx="603468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Matériel et architecture</a:t>
            </a:r>
            <a:endParaRPr lang="fr-FR" sz="1800" b="0" u="none" strike="noStrike">
              <a:solidFill>
                <a:srgbClr val="000000"/>
              </a:solidFill>
              <a:effectLst/>
              <a:uFillTx/>
              <a:latin typeface="Arial"/>
            </a:endParaRPr>
          </a:p>
        </p:txBody>
      </p:sp>
      <p:sp>
        <p:nvSpPr>
          <p:cNvPr id="79" name="Text 12"/>
          <p:cNvSpPr/>
          <p:nvPr/>
        </p:nvSpPr>
        <p:spPr>
          <a:xfrm>
            <a:off x="1737360" y="2816280"/>
            <a:ext cx="621756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0" u="none" strike="noStrike">
                <a:solidFill>
                  <a:schemeClr val="accent6"/>
                </a:solidFill>
                <a:effectLst/>
                <a:uFillTx/>
                <a:latin typeface="Calibri"/>
              </a:rPr>
              <a:t>Composants, liaisons, organisation du programme</a:t>
            </a:r>
            <a:endParaRPr lang="fr-FR" sz="1350" b="0" u="none" strike="noStrike">
              <a:solidFill>
                <a:srgbClr val="000000"/>
              </a:solidFill>
              <a:effectLst/>
              <a:uFillTx/>
              <a:latin typeface="Arial"/>
            </a:endParaRPr>
          </a:p>
        </p:txBody>
      </p:sp>
      <p:sp>
        <p:nvSpPr>
          <p:cNvPr id="80" name="Shape 13"/>
          <p:cNvSpPr/>
          <p:nvPr/>
        </p:nvSpPr>
        <p:spPr>
          <a:xfrm>
            <a:off x="8138160" y="2615040"/>
            <a:ext cx="328680" cy="32868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81" name="Image 1" descr="Users"/>
          <p:cNvPicPr/>
          <p:nvPr/>
        </p:nvPicPr>
        <p:blipFill>
          <a:blip r:embed="rId2"/>
          <a:stretch/>
        </p:blipFill>
        <p:spPr>
          <a:xfrm>
            <a:off x="8204040" y="2680920"/>
            <a:ext cx="197280" cy="197280"/>
          </a:xfrm>
          <a:prstGeom prst="rect">
            <a:avLst/>
          </a:prstGeom>
          <a:noFill/>
          <a:ln w="0">
            <a:noFill/>
          </a:ln>
        </p:spPr>
      </p:pic>
      <p:sp>
        <p:nvSpPr>
          <p:cNvPr id="82" name="Text 14"/>
          <p:cNvSpPr/>
          <p:nvPr/>
        </p:nvSpPr>
        <p:spPr>
          <a:xfrm>
            <a:off x="8549640" y="2414160"/>
            <a:ext cx="18284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Membres 1 et 2</a:t>
            </a:r>
            <a:endParaRPr lang="fr-FR" sz="1400" b="0" u="none" strike="noStrike">
              <a:solidFill>
                <a:srgbClr val="000000"/>
              </a:solidFill>
              <a:effectLst/>
              <a:uFillTx/>
              <a:latin typeface="Arial"/>
            </a:endParaRPr>
          </a:p>
        </p:txBody>
      </p:sp>
      <p:sp>
        <p:nvSpPr>
          <p:cNvPr id="84" name="Shape 16"/>
          <p:cNvSpPr/>
          <p:nvPr/>
        </p:nvSpPr>
        <p:spPr>
          <a:xfrm>
            <a:off x="548640" y="3255120"/>
            <a:ext cx="11091240" cy="731160"/>
          </a:xfrm>
          <a:prstGeom prst="roundRect">
            <a:avLst>
              <a:gd name="adj" fmla="val 750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85" name="Text 17"/>
          <p:cNvSpPr/>
          <p:nvPr/>
        </p:nvSpPr>
        <p:spPr>
          <a:xfrm>
            <a:off x="777240" y="3255120"/>
            <a:ext cx="8226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chemeClr val="accent1"/>
                </a:solidFill>
                <a:effectLst/>
                <a:uFillTx/>
                <a:latin typeface="Calibri"/>
              </a:rPr>
              <a:t>03</a:t>
            </a:r>
            <a:endParaRPr lang="fr-FR" sz="2800" b="0" u="none" strike="noStrike">
              <a:solidFill>
                <a:srgbClr val="000000"/>
              </a:solidFill>
              <a:effectLst/>
              <a:uFillTx/>
              <a:latin typeface="Arial"/>
            </a:endParaRPr>
          </a:p>
        </p:txBody>
      </p:sp>
      <p:sp>
        <p:nvSpPr>
          <p:cNvPr id="86" name="Text 18"/>
          <p:cNvSpPr/>
          <p:nvPr/>
        </p:nvSpPr>
        <p:spPr>
          <a:xfrm>
            <a:off x="1737360" y="3328560"/>
            <a:ext cx="603468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Acquisition et stockage</a:t>
            </a:r>
            <a:endParaRPr lang="fr-FR" sz="1800" b="0" u="none" strike="noStrike">
              <a:solidFill>
                <a:srgbClr val="000000"/>
              </a:solidFill>
              <a:effectLst/>
              <a:uFillTx/>
              <a:latin typeface="Arial"/>
            </a:endParaRPr>
          </a:p>
        </p:txBody>
      </p:sp>
      <p:sp>
        <p:nvSpPr>
          <p:cNvPr id="87" name="Text 19"/>
          <p:cNvSpPr/>
          <p:nvPr/>
        </p:nvSpPr>
        <p:spPr>
          <a:xfrm>
            <a:off x="1737360" y="3657600"/>
            <a:ext cx="621756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0" u="none" strike="noStrike">
                <a:solidFill>
                  <a:schemeClr val="accent6"/>
                </a:solidFill>
                <a:effectLst/>
                <a:uFillTx/>
                <a:latin typeface="Calibri"/>
              </a:rPr>
              <a:t>Mesures, ligne horodatée, écriture sur la carte SD</a:t>
            </a:r>
            <a:endParaRPr lang="fr-FR" sz="1350" b="0" u="none" strike="noStrike">
              <a:solidFill>
                <a:srgbClr val="000000"/>
              </a:solidFill>
              <a:effectLst/>
              <a:uFillTx/>
              <a:latin typeface="Arial"/>
            </a:endParaRPr>
          </a:p>
        </p:txBody>
      </p:sp>
      <p:sp>
        <p:nvSpPr>
          <p:cNvPr id="88" name="Shape 20"/>
          <p:cNvSpPr/>
          <p:nvPr/>
        </p:nvSpPr>
        <p:spPr>
          <a:xfrm>
            <a:off x="8138160" y="3456360"/>
            <a:ext cx="328680" cy="32868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89" name="Image 2" descr="Users"/>
          <p:cNvPicPr/>
          <p:nvPr/>
        </p:nvPicPr>
        <p:blipFill>
          <a:blip r:embed="rId3"/>
          <a:stretch/>
        </p:blipFill>
        <p:spPr>
          <a:xfrm>
            <a:off x="8204040" y="3522240"/>
            <a:ext cx="197280" cy="197280"/>
          </a:xfrm>
          <a:prstGeom prst="rect">
            <a:avLst/>
          </a:prstGeom>
          <a:noFill/>
          <a:ln w="0">
            <a:noFill/>
          </a:ln>
        </p:spPr>
      </p:pic>
      <p:sp>
        <p:nvSpPr>
          <p:cNvPr id="90" name="Text 21"/>
          <p:cNvSpPr/>
          <p:nvPr/>
        </p:nvSpPr>
        <p:spPr>
          <a:xfrm>
            <a:off x="8549640" y="3255120"/>
            <a:ext cx="18284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Membre 2</a:t>
            </a:r>
            <a:endParaRPr lang="fr-FR" sz="1400" b="0" u="none" strike="noStrike">
              <a:solidFill>
                <a:srgbClr val="000000"/>
              </a:solidFill>
              <a:effectLst/>
              <a:uFillTx/>
              <a:latin typeface="Arial"/>
            </a:endParaRPr>
          </a:p>
        </p:txBody>
      </p:sp>
      <p:sp>
        <p:nvSpPr>
          <p:cNvPr id="92" name="Shape 23"/>
          <p:cNvSpPr/>
          <p:nvPr/>
        </p:nvSpPr>
        <p:spPr>
          <a:xfrm>
            <a:off x="548640" y="4096440"/>
            <a:ext cx="11091240" cy="731160"/>
          </a:xfrm>
          <a:prstGeom prst="roundRect">
            <a:avLst>
              <a:gd name="adj" fmla="val 750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93" name="Text 24"/>
          <p:cNvSpPr/>
          <p:nvPr/>
        </p:nvSpPr>
        <p:spPr>
          <a:xfrm>
            <a:off x="777240" y="4096440"/>
            <a:ext cx="8226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chemeClr val="accent1"/>
                </a:solidFill>
                <a:effectLst/>
                <a:uFillTx/>
                <a:latin typeface="Calibri"/>
              </a:rPr>
              <a:t>04</a:t>
            </a:r>
            <a:endParaRPr lang="fr-FR" sz="2800" b="0" u="none" strike="noStrike">
              <a:solidFill>
                <a:srgbClr val="000000"/>
              </a:solidFill>
              <a:effectLst/>
              <a:uFillTx/>
              <a:latin typeface="Arial"/>
            </a:endParaRPr>
          </a:p>
        </p:txBody>
      </p:sp>
      <p:sp>
        <p:nvSpPr>
          <p:cNvPr id="94" name="Text 25"/>
          <p:cNvSpPr/>
          <p:nvPr/>
        </p:nvSpPr>
        <p:spPr>
          <a:xfrm>
            <a:off x="1737360" y="4169520"/>
            <a:ext cx="603468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Modes, interruptions et erreurs</a:t>
            </a:r>
            <a:endParaRPr lang="fr-FR" sz="1800" b="0" u="none" strike="noStrike">
              <a:solidFill>
                <a:srgbClr val="000000"/>
              </a:solidFill>
              <a:effectLst/>
              <a:uFillTx/>
              <a:latin typeface="Arial"/>
            </a:endParaRPr>
          </a:p>
        </p:txBody>
      </p:sp>
      <p:sp>
        <p:nvSpPr>
          <p:cNvPr id="95" name="Text 26"/>
          <p:cNvSpPr/>
          <p:nvPr/>
        </p:nvSpPr>
        <p:spPr>
          <a:xfrm>
            <a:off x="1737360" y="4498920"/>
            <a:ext cx="621756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0" u="none" strike="noStrike">
                <a:solidFill>
                  <a:schemeClr val="accent6"/>
                </a:solidFill>
                <a:effectLst/>
                <a:uFillTx/>
                <a:latin typeface="Calibri"/>
              </a:rPr>
              <a:t>Quatre modes, boutons, signalisation par la LED</a:t>
            </a:r>
            <a:endParaRPr lang="fr-FR" sz="1350" b="0" u="none" strike="noStrike">
              <a:solidFill>
                <a:srgbClr val="000000"/>
              </a:solidFill>
              <a:effectLst/>
              <a:uFillTx/>
              <a:latin typeface="Arial"/>
            </a:endParaRPr>
          </a:p>
        </p:txBody>
      </p:sp>
      <p:sp>
        <p:nvSpPr>
          <p:cNvPr id="96" name="Shape 27"/>
          <p:cNvSpPr/>
          <p:nvPr/>
        </p:nvSpPr>
        <p:spPr>
          <a:xfrm>
            <a:off x="8138160" y="4297680"/>
            <a:ext cx="328680" cy="32868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97" name="Image 3" descr="Users"/>
          <p:cNvPicPr/>
          <p:nvPr/>
        </p:nvPicPr>
        <p:blipFill>
          <a:blip r:embed="rId4"/>
          <a:stretch/>
        </p:blipFill>
        <p:spPr>
          <a:xfrm>
            <a:off x="8204040" y="4363560"/>
            <a:ext cx="197280" cy="197280"/>
          </a:xfrm>
          <a:prstGeom prst="rect">
            <a:avLst/>
          </a:prstGeom>
          <a:noFill/>
          <a:ln w="0">
            <a:noFill/>
          </a:ln>
        </p:spPr>
      </p:pic>
      <p:sp>
        <p:nvSpPr>
          <p:cNvPr id="98" name="Text 28"/>
          <p:cNvSpPr/>
          <p:nvPr/>
        </p:nvSpPr>
        <p:spPr>
          <a:xfrm>
            <a:off x="8549640" y="4096440"/>
            <a:ext cx="18284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Membre 3</a:t>
            </a:r>
            <a:endParaRPr lang="fr-FR" sz="1400" b="0" u="none" strike="noStrike">
              <a:solidFill>
                <a:srgbClr val="000000"/>
              </a:solidFill>
              <a:effectLst/>
              <a:uFillTx/>
              <a:latin typeface="Arial"/>
            </a:endParaRPr>
          </a:p>
        </p:txBody>
      </p:sp>
      <p:sp>
        <p:nvSpPr>
          <p:cNvPr id="100" name="Shape 30"/>
          <p:cNvSpPr/>
          <p:nvPr/>
        </p:nvSpPr>
        <p:spPr>
          <a:xfrm>
            <a:off x="548640" y="4937760"/>
            <a:ext cx="11091240" cy="731160"/>
          </a:xfrm>
          <a:prstGeom prst="roundRect">
            <a:avLst>
              <a:gd name="adj" fmla="val 750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01" name="Text 31"/>
          <p:cNvSpPr/>
          <p:nvPr/>
        </p:nvSpPr>
        <p:spPr>
          <a:xfrm>
            <a:off x="777240" y="4937760"/>
            <a:ext cx="8226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chemeClr val="accent1"/>
                </a:solidFill>
                <a:effectLst/>
                <a:uFillTx/>
                <a:latin typeface="Calibri"/>
              </a:rPr>
              <a:t>05</a:t>
            </a:r>
            <a:endParaRPr lang="fr-FR" sz="2800" b="0" u="none" strike="noStrike">
              <a:solidFill>
                <a:srgbClr val="000000"/>
              </a:solidFill>
              <a:effectLst/>
              <a:uFillTx/>
              <a:latin typeface="Arial"/>
            </a:endParaRPr>
          </a:p>
        </p:txBody>
      </p:sp>
      <p:sp>
        <p:nvSpPr>
          <p:cNvPr id="102" name="Text 32"/>
          <p:cNvSpPr/>
          <p:nvPr/>
        </p:nvSpPr>
        <p:spPr>
          <a:xfrm>
            <a:off x="1737360" y="5010840"/>
            <a:ext cx="603468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Script, tests et démonstration</a:t>
            </a:r>
            <a:endParaRPr lang="fr-FR" sz="1800" b="0" u="none" strike="noStrike">
              <a:solidFill>
                <a:srgbClr val="000000"/>
              </a:solidFill>
              <a:effectLst/>
              <a:uFillTx/>
              <a:latin typeface="Arial"/>
            </a:endParaRPr>
          </a:p>
        </p:txBody>
      </p:sp>
      <p:sp>
        <p:nvSpPr>
          <p:cNvPr id="103" name="Text 33"/>
          <p:cNvSpPr/>
          <p:nvPr/>
        </p:nvSpPr>
        <p:spPr>
          <a:xfrm>
            <a:off x="1737360" y="5340240"/>
            <a:ext cx="621756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0" u="none" strike="noStrike">
                <a:solidFill>
                  <a:schemeClr val="accent6"/>
                </a:solidFill>
                <a:effectLst/>
                <a:uFillTx/>
                <a:latin typeface="Calibri"/>
              </a:rPr>
              <a:t>Compilation et téléversement, essais, scénario, conclusion</a:t>
            </a:r>
            <a:endParaRPr lang="fr-FR" sz="1350" b="0" u="none" strike="noStrike">
              <a:solidFill>
                <a:srgbClr val="000000"/>
              </a:solidFill>
              <a:effectLst/>
              <a:uFillTx/>
              <a:latin typeface="Arial"/>
            </a:endParaRPr>
          </a:p>
        </p:txBody>
      </p:sp>
      <p:sp>
        <p:nvSpPr>
          <p:cNvPr id="104" name="Shape 34"/>
          <p:cNvSpPr/>
          <p:nvPr/>
        </p:nvSpPr>
        <p:spPr>
          <a:xfrm>
            <a:off x="8138160" y="5139000"/>
            <a:ext cx="328680" cy="32868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105" name="Image 4" descr="Users"/>
          <p:cNvPicPr/>
          <p:nvPr/>
        </p:nvPicPr>
        <p:blipFill>
          <a:blip r:embed="rId5"/>
          <a:stretch/>
        </p:blipFill>
        <p:spPr>
          <a:xfrm>
            <a:off x="8204040" y="5204880"/>
            <a:ext cx="197280" cy="197280"/>
          </a:xfrm>
          <a:prstGeom prst="rect">
            <a:avLst/>
          </a:prstGeom>
          <a:noFill/>
          <a:ln w="0">
            <a:noFill/>
          </a:ln>
        </p:spPr>
      </p:pic>
      <p:sp>
        <p:nvSpPr>
          <p:cNvPr id="106" name="Text 35"/>
          <p:cNvSpPr/>
          <p:nvPr/>
        </p:nvSpPr>
        <p:spPr>
          <a:xfrm>
            <a:off x="8549640" y="4937760"/>
            <a:ext cx="18284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Membre 4</a:t>
            </a:r>
            <a:endParaRPr lang="fr-FR" sz="1400" b="0" u="none" strike="noStrike">
              <a:solidFill>
                <a:srgbClr val="000000"/>
              </a:solidFill>
              <a:effectLst/>
              <a:uFillTx/>
              <a:latin typeface="Arial"/>
            </a:endParaRPr>
          </a:p>
        </p:txBody>
      </p:sp>
      <p:sp>
        <p:nvSpPr>
          <p:cNvPr id="108" name="Text 37"/>
          <p:cNvSpPr/>
          <p:nvPr/>
        </p:nvSpPr>
        <p:spPr>
          <a:xfrm>
            <a:off x="548640" y="5870520"/>
            <a:ext cx="3611520" cy="347040"/>
          </a:xfrm>
          <a:prstGeom prst="homePlate">
            <a:avLst>
              <a:gd name="adj" fmla="val 50000"/>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chemeClr val="lt1"/>
                </a:solidFill>
                <a:effectLst/>
                <a:uFillTx/>
                <a:latin typeface="Calibri"/>
              </a:rPr>
              <a:t>Présentation</a:t>
            </a:r>
            <a:endParaRPr lang="fr-FR" sz="1350" b="0" u="none" strike="noStrike">
              <a:solidFill>
                <a:srgbClr val="FFFFFF"/>
              </a:solidFill>
              <a:effectLst/>
              <a:uFillTx/>
              <a:latin typeface="Arial"/>
            </a:endParaRPr>
          </a:p>
        </p:txBody>
      </p:sp>
      <p:sp>
        <p:nvSpPr>
          <p:cNvPr id="109" name="Text 38"/>
          <p:cNvSpPr/>
          <p:nvPr/>
        </p:nvSpPr>
        <p:spPr>
          <a:xfrm>
            <a:off x="4297680" y="5870520"/>
            <a:ext cx="3611520" cy="347040"/>
          </a:xfrm>
          <a:prstGeom prst="homePlate">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chemeClr val="lt1"/>
                </a:solidFill>
                <a:effectLst/>
                <a:uFillTx/>
                <a:latin typeface="Calibri"/>
              </a:rPr>
              <a:t>Démonstration</a:t>
            </a:r>
            <a:endParaRPr lang="fr-FR" sz="1350" b="0" u="none" strike="noStrike">
              <a:solidFill>
                <a:srgbClr val="FFFFFF"/>
              </a:solidFill>
              <a:effectLst/>
              <a:uFillTx/>
              <a:latin typeface="Arial"/>
            </a:endParaRPr>
          </a:p>
        </p:txBody>
      </p:sp>
      <p:sp>
        <p:nvSpPr>
          <p:cNvPr id="110" name="Text 39"/>
          <p:cNvSpPr/>
          <p:nvPr/>
        </p:nvSpPr>
        <p:spPr>
          <a:xfrm>
            <a:off x="8046720" y="5870520"/>
            <a:ext cx="3611520" cy="347040"/>
          </a:xfrm>
          <a:prstGeom prst="homePlate">
            <a:avLst>
              <a:gd name="adj" fmla="val 50000"/>
            </a:avLst>
          </a:prstGeom>
          <a:solidFill>
            <a:schemeClr val="accent6"/>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chemeClr val="lt1"/>
                </a:solidFill>
                <a:effectLst/>
                <a:uFillTx/>
                <a:latin typeface="Calibri"/>
              </a:rPr>
              <a:t>Questions</a:t>
            </a:r>
            <a:endParaRPr lang="fr-FR" sz="1350" b="0" u="none" strike="noStrike">
              <a:solidFill>
                <a:srgbClr val="FFFFFF"/>
              </a:solidFill>
              <a:effectLst/>
              <a:uFillTx/>
              <a:latin typeface="Arial"/>
            </a:endParaRPr>
          </a:p>
        </p:txBody>
      </p:sp>
      <p:sp>
        <p:nvSpPr>
          <p:cNvPr id="111" name="PlaceHolder 3"/>
          <p:cNvSpPr>
            <a:spLocks noGrp="1"/>
          </p:cNvSpPr>
          <p:nvPr>
            <p:ph type="sldNum" idx="6"/>
          </p:nvPr>
        </p:nvSpPr>
        <p:spPr>
          <a:xfrm>
            <a:off x="11091600" y="6437520"/>
            <a:ext cx="548280" cy="219240"/>
          </a:xfrm>
          <a:prstGeom prst="rect">
            <a:avLst/>
          </a:prstGeom>
          <a:noFill/>
          <a:ln w="0">
            <a:noFill/>
          </a:ln>
        </p:spPr>
        <p:txBody>
          <a:bodyPr lIns="0" tIns="0" rIns="0" bIns="0" anchor="ctr" anchorCtr="1">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EAAE54BF-8E94-4D36-AC49-8D5473A52F2F}"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01 · CONTEXTE ET OBJECTIFS</a:t>
            </a:r>
            <a:endParaRPr lang="fr-FR" sz="1100" b="0" u="none" strike="noStrike">
              <a:solidFill>
                <a:schemeClr val="dk1"/>
              </a:solidFill>
              <a:effectLst/>
              <a:uFillTx/>
              <a:latin typeface="Calibri"/>
            </a:endParaRPr>
          </a:p>
        </p:txBody>
      </p:sp>
      <p:sp>
        <p:nvSpPr>
          <p:cNvPr id="113"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Mesurer la météo à bord, avec une station simple à piloter</a:t>
            </a:r>
            <a:endParaRPr lang="fr-FR" sz="2800" b="0" u="none" strike="noStrike">
              <a:solidFill>
                <a:schemeClr val="dk1"/>
              </a:solidFill>
              <a:effectLst/>
              <a:uFillTx/>
              <a:latin typeface="Calibri"/>
            </a:endParaRPr>
          </a:p>
        </p:txBody>
      </p:sp>
      <p:sp>
        <p:nvSpPr>
          <p:cNvPr id="114" name="Text 2"/>
          <p:cNvSpPr/>
          <p:nvPr/>
        </p:nvSpPr>
        <p:spPr>
          <a:xfrm>
            <a:off x="924444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01</a:t>
            </a:r>
            <a:endParaRPr lang="fr-FR" sz="950" b="0" u="none" strike="noStrike">
              <a:solidFill>
                <a:srgbClr val="FFFFFF"/>
              </a:solidFill>
              <a:effectLst/>
              <a:uFillTx/>
              <a:latin typeface="Arial"/>
            </a:endParaRPr>
          </a:p>
        </p:txBody>
      </p:sp>
      <p:sp>
        <p:nvSpPr>
          <p:cNvPr id="115" name="Text 3"/>
          <p:cNvSpPr/>
          <p:nvPr/>
        </p:nvSpPr>
        <p:spPr>
          <a:xfrm>
            <a:off x="973368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02</a:t>
            </a:r>
            <a:endParaRPr lang="fr-FR" sz="950" b="0" u="none" strike="noStrike">
              <a:solidFill>
                <a:srgbClr val="000000"/>
              </a:solidFill>
              <a:effectLst/>
              <a:uFillTx/>
              <a:latin typeface="Arial"/>
            </a:endParaRPr>
          </a:p>
        </p:txBody>
      </p:sp>
      <p:sp>
        <p:nvSpPr>
          <p:cNvPr id="116" name="Text 4"/>
          <p:cNvSpPr/>
          <p:nvPr/>
        </p:nvSpPr>
        <p:spPr>
          <a:xfrm>
            <a:off x="1022292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03</a:t>
            </a:r>
            <a:endParaRPr lang="fr-FR" sz="950" b="0" u="none" strike="noStrike">
              <a:solidFill>
                <a:srgbClr val="000000"/>
              </a:solidFill>
              <a:effectLst/>
              <a:uFillTx/>
              <a:latin typeface="Arial"/>
            </a:endParaRPr>
          </a:p>
        </p:txBody>
      </p:sp>
      <p:sp>
        <p:nvSpPr>
          <p:cNvPr id="117" name="Text 5"/>
          <p:cNvSpPr/>
          <p:nvPr/>
        </p:nvSpPr>
        <p:spPr>
          <a:xfrm>
            <a:off x="1071216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04</a:t>
            </a:r>
            <a:endParaRPr lang="fr-FR" sz="950" b="0" u="none" strike="noStrike">
              <a:solidFill>
                <a:srgbClr val="000000"/>
              </a:solidFill>
              <a:effectLst/>
              <a:uFillTx/>
              <a:latin typeface="Arial"/>
            </a:endParaRPr>
          </a:p>
        </p:txBody>
      </p:sp>
      <p:sp>
        <p:nvSpPr>
          <p:cNvPr id="118" name="Text 6"/>
          <p:cNvSpPr/>
          <p:nvPr/>
        </p:nvSpPr>
        <p:spPr>
          <a:xfrm>
            <a:off x="1120140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05</a:t>
            </a:r>
            <a:endParaRPr lang="fr-FR" sz="950" b="0" u="none" strike="noStrike">
              <a:solidFill>
                <a:srgbClr val="000000"/>
              </a:solidFill>
              <a:effectLst/>
              <a:uFillTx/>
              <a:latin typeface="Arial"/>
            </a:endParaRPr>
          </a:p>
        </p:txBody>
      </p:sp>
      <p:sp>
        <p:nvSpPr>
          <p:cNvPr id="119" name="Shape 7"/>
          <p:cNvSpPr/>
          <p:nvPr/>
        </p:nvSpPr>
        <p:spPr>
          <a:xfrm>
            <a:off x="548640" y="1572840"/>
            <a:ext cx="5988960" cy="3017160"/>
          </a:xfrm>
          <a:prstGeom prst="roundRect">
            <a:avLst>
              <a:gd name="adj" fmla="val 181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20" name="Shape 8"/>
          <p:cNvSpPr/>
          <p:nvPr/>
        </p:nvSpPr>
        <p:spPr>
          <a:xfrm>
            <a:off x="777240" y="1783080"/>
            <a:ext cx="566640" cy="566640"/>
          </a:xfrm>
          <a:prstGeom prst="ellipse">
            <a:avLst/>
          </a:prstGeom>
          <a:solidFill>
            <a:schemeClr val="tx2"/>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21" name="Image 0" descr="Ship"/>
          <p:cNvPicPr/>
          <p:nvPr/>
        </p:nvPicPr>
        <p:blipFill>
          <a:blip r:embed="rId1"/>
          <a:stretch/>
        </p:blipFill>
        <p:spPr>
          <a:xfrm>
            <a:off x="913320" y="1919160"/>
            <a:ext cx="294480" cy="294480"/>
          </a:xfrm>
          <a:prstGeom prst="rect">
            <a:avLst/>
          </a:prstGeom>
          <a:noFill/>
          <a:ln w="0">
            <a:noFill/>
          </a:ln>
        </p:spPr>
      </p:pic>
      <p:sp>
        <p:nvSpPr>
          <p:cNvPr id="122" name="Text 9"/>
          <p:cNvSpPr/>
          <p:nvPr/>
        </p:nvSpPr>
        <p:spPr>
          <a:xfrm>
            <a:off x="1481400" y="1783080"/>
            <a:ext cx="484596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2"/>
                </a:solidFill>
                <a:effectLst/>
                <a:uFillTx/>
                <a:latin typeface="Calibri"/>
              </a:rPr>
              <a:t>Le besoin de l'AIVM</a:t>
            </a:r>
            <a:endParaRPr lang="fr-FR" sz="1800" b="0" u="none" strike="noStrike">
              <a:solidFill>
                <a:srgbClr val="000000"/>
              </a:solidFill>
              <a:effectLst/>
              <a:uFillTx/>
              <a:latin typeface="Arial"/>
            </a:endParaRPr>
          </a:p>
        </p:txBody>
      </p:sp>
      <p:sp>
        <p:nvSpPr>
          <p:cNvPr id="123" name="Text 10"/>
          <p:cNvSpPr/>
          <p:nvPr/>
        </p:nvSpPr>
        <p:spPr>
          <a:xfrm>
            <a:off x="777240" y="2514600"/>
            <a:ext cx="5577480" cy="17827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001"/>
              </a:spcAft>
              <a:tabLst>
                <a:tab pos="0" algn="l"/>
              </a:tabLst>
            </a:pPr>
            <a:r>
              <a:rPr lang="en-US" sz="1500" b="0" u="none" strike="noStrike">
                <a:solidFill>
                  <a:schemeClr val="dk1"/>
                </a:solidFill>
                <a:effectLst/>
                <a:uFillTx/>
                <a:latin typeface="Calibri"/>
              </a:rPr>
              <a:t>L'Agence Internationale pour la Vigilance Météorologique veut équiper des navires de stations météo embarquées.</a:t>
            </a:r>
            <a:endParaRPr lang="fr-FR" sz="1500" b="0" u="none" strike="noStrike">
              <a:solidFill>
                <a:srgbClr val="000000"/>
              </a:solidFill>
              <a:effectLst/>
              <a:uFillTx/>
              <a:latin typeface="Arial"/>
            </a:endParaRPr>
          </a:p>
          <a:p>
            <a:pPr defTabSz="914400">
              <a:lnSpc>
                <a:spcPct val="100000"/>
              </a:lnSpc>
              <a:spcAft>
                <a:spcPts val="1001"/>
              </a:spcAft>
              <a:tabLst>
                <a:tab pos="0" algn="l"/>
              </a:tabLst>
            </a:pPr>
            <a:r>
              <a:rPr lang="en-US" sz="1500" b="0" u="none" strike="noStrike">
                <a:solidFill>
                  <a:schemeClr val="dk1"/>
                </a:solidFill>
                <a:effectLst/>
                <a:uFillTx/>
                <a:latin typeface="Calibri"/>
              </a:rPr>
              <a:t>Objectif : mesurer les paramètres liés à la formation des cyclones ; à long terme, partager les données entre navires.</a:t>
            </a:r>
            <a:endParaRPr lang="fr-FR"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chemeClr val="dk1"/>
                </a:solidFill>
                <a:effectLst/>
                <a:uFillTx/>
                <a:latin typeface="Calibri"/>
              </a:rPr>
              <a:t>Condition des compagnies maritimes : une station simple, efficace et pilotable par un membre d'équipage.</a:t>
            </a:r>
            <a:endParaRPr lang="fr-FR" sz="1500" b="0" u="none" strike="noStrike">
              <a:solidFill>
                <a:srgbClr val="000000"/>
              </a:solidFill>
              <a:effectLst/>
              <a:uFillTx/>
              <a:latin typeface="Arial"/>
            </a:endParaRPr>
          </a:p>
        </p:txBody>
      </p:sp>
      <p:sp>
        <p:nvSpPr>
          <p:cNvPr id="124" name="Shape 12"/>
          <p:cNvSpPr/>
          <p:nvPr/>
        </p:nvSpPr>
        <p:spPr>
          <a:xfrm>
            <a:off x="548640" y="4727520"/>
            <a:ext cx="5988960" cy="1462680"/>
          </a:xfrm>
          <a:prstGeom prst="roundRect">
            <a:avLst>
              <a:gd name="adj" fmla="val 3750"/>
            </a:avLst>
          </a:prstGeom>
          <a:solidFill>
            <a:schemeClr val="tx2"/>
          </a:solidFill>
          <a:ln w="0">
            <a:noFill/>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125" name="Shape 13"/>
          <p:cNvSpPr/>
          <p:nvPr/>
        </p:nvSpPr>
        <p:spPr>
          <a:xfrm>
            <a:off x="777240" y="5120640"/>
            <a:ext cx="658080" cy="658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26" name="Image 1" descr="Target"/>
          <p:cNvPicPr/>
          <p:nvPr/>
        </p:nvPicPr>
        <p:blipFill>
          <a:blip r:embed="rId2"/>
          <a:stretch/>
        </p:blipFill>
        <p:spPr>
          <a:xfrm>
            <a:off x="935280" y="5278680"/>
            <a:ext cx="342000" cy="342000"/>
          </a:xfrm>
          <a:prstGeom prst="rect">
            <a:avLst/>
          </a:prstGeom>
          <a:noFill/>
          <a:ln w="0">
            <a:noFill/>
          </a:ln>
        </p:spPr>
      </p:pic>
      <p:sp>
        <p:nvSpPr>
          <p:cNvPr id="127" name="Text 14"/>
          <p:cNvSpPr/>
          <p:nvPr/>
        </p:nvSpPr>
        <p:spPr>
          <a:xfrm>
            <a:off x="1645920" y="4800600"/>
            <a:ext cx="4708800" cy="131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chemeClr val="accent5"/>
                </a:solidFill>
                <a:effectLst/>
                <a:uFillTx/>
                <a:latin typeface="Calibri"/>
              </a:rPr>
              <a:t>Notre mission</a:t>
            </a:r>
            <a:endParaRPr lang="fr-FR"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chemeClr val="lt1"/>
                </a:solidFill>
                <a:effectLst/>
                <a:uFillTx/>
                <a:latin typeface="Calibri"/>
              </a:rPr>
              <a:t>Concevoir sur STM32 une station qui mesure, horodate et enregistre ses données de façon fiable, tout en restant simple à piloter.</a:t>
            </a:r>
            <a:endParaRPr lang="fr-FR" sz="1550" b="0" u="none" strike="noStrike">
              <a:solidFill>
                <a:srgbClr val="000000"/>
              </a:solidFill>
              <a:effectLst/>
              <a:uFillTx/>
              <a:latin typeface="Arial"/>
            </a:endParaRPr>
          </a:p>
        </p:txBody>
      </p:sp>
      <p:sp>
        <p:nvSpPr>
          <p:cNvPr id="128" name="Shape 15"/>
          <p:cNvSpPr/>
          <p:nvPr/>
        </p:nvSpPr>
        <p:spPr>
          <a:xfrm>
            <a:off x="6766560" y="1572840"/>
            <a:ext cx="4873320" cy="1398600"/>
          </a:xfrm>
          <a:prstGeom prst="roundRect">
            <a:avLst>
              <a:gd name="adj" fmla="val 3922"/>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29" name="Shape 16"/>
          <p:cNvSpPr/>
          <p:nvPr/>
        </p:nvSpPr>
        <p:spPr>
          <a:xfrm>
            <a:off x="6995160" y="1901880"/>
            <a:ext cx="731160" cy="7311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30" name="Image 2" descr="Thermometer"/>
          <p:cNvPicPr/>
          <p:nvPr/>
        </p:nvPicPr>
        <p:blipFill>
          <a:blip r:embed="rId3"/>
          <a:stretch/>
        </p:blipFill>
        <p:spPr>
          <a:xfrm>
            <a:off x="7170840" y="2077560"/>
            <a:ext cx="380160" cy="380160"/>
          </a:xfrm>
          <a:prstGeom prst="rect">
            <a:avLst/>
          </a:prstGeom>
          <a:noFill/>
          <a:ln w="0">
            <a:noFill/>
          </a:ln>
        </p:spPr>
      </p:pic>
      <p:sp>
        <p:nvSpPr>
          <p:cNvPr id="131" name="Text 17"/>
          <p:cNvSpPr/>
          <p:nvPr/>
        </p:nvSpPr>
        <p:spPr>
          <a:xfrm>
            <a:off x="7955280" y="1792080"/>
            <a:ext cx="352008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Mesurer</a:t>
            </a:r>
            <a:endParaRPr lang="fr-FR" sz="1800" b="0" u="none" strike="noStrike">
              <a:solidFill>
                <a:srgbClr val="000000"/>
              </a:solidFill>
              <a:effectLst/>
              <a:uFillTx/>
              <a:latin typeface="Arial"/>
            </a:endParaRPr>
          </a:p>
        </p:txBody>
      </p:sp>
      <p:sp>
        <p:nvSpPr>
          <p:cNvPr id="132" name="Text 18"/>
          <p:cNvSpPr/>
          <p:nvPr/>
        </p:nvSpPr>
        <p:spPr>
          <a:xfrm>
            <a:off x="7955280" y="2157840"/>
            <a:ext cx="35200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rPr>
              <a:t>Température de l'air, humidité, luminosité et position GPS</a:t>
            </a:r>
            <a:endParaRPr lang="fr-FR" sz="1500" b="0" u="none" strike="noStrike">
              <a:solidFill>
                <a:srgbClr val="000000"/>
              </a:solidFill>
              <a:effectLst/>
              <a:uFillTx/>
              <a:latin typeface="Arial"/>
            </a:endParaRPr>
          </a:p>
        </p:txBody>
      </p:sp>
      <p:sp>
        <p:nvSpPr>
          <p:cNvPr id="133" name="Shape 19"/>
          <p:cNvSpPr/>
          <p:nvPr/>
        </p:nvSpPr>
        <p:spPr>
          <a:xfrm>
            <a:off x="6766560" y="3136320"/>
            <a:ext cx="4873320" cy="1398600"/>
          </a:xfrm>
          <a:prstGeom prst="roundRect">
            <a:avLst>
              <a:gd name="adj" fmla="val 3922"/>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34" name="Shape 20"/>
          <p:cNvSpPr/>
          <p:nvPr/>
        </p:nvSpPr>
        <p:spPr>
          <a:xfrm>
            <a:off x="6995160" y="3465720"/>
            <a:ext cx="731160" cy="7311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35" name="Image 3" descr="Save"/>
          <p:cNvPicPr/>
          <p:nvPr/>
        </p:nvPicPr>
        <p:blipFill>
          <a:blip r:embed="rId4"/>
          <a:stretch/>
        </p:blipFill>
        <p:spPr>
          <a:xfrm>
            <a:off x="7170840" y="3641040"/>
            <a:ext cx="380160" cy="380160"/>
          </a:xfrm>
          <a:prstGeom prst="rect">
            <a:avLst/>
          </a:prstGeom>
          <a:noFill/>
          <a:ln w="0">
            <a:noFill/>
          </a:ln>
        </p:spPr>
      </p:pic>
      <p:sp>
        <p:nvSpPr>
          <p:cNvPr id="136" name="Text 21"/>
          <p:cNvSpPr/>
          <p:nvPr/>
        </p:nvSpPr>
        <p:spPr>
          <a:xfrm>
            <a:off x="7955280" y="3355920"/>
            <a:ext cx="352008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Enregistrer</a:t>
            </a:r>
            <a:endParaRPr lang="fr-FR" sz="1800" b="0" u="none" strike="noStrike">
              <a:solidFill>
                <a:srgbClr val="000000"/>
              </a:solidFill>
              <a:effectLst/>
              <a:uFillTx/>
              <a:latin typeface="Arial"/>
            </a:endParaRPr>
          </a:p>
        </p:txBody>
      </p:sp>
      <p:sp>
        <p:nvSpPr>
          <p:cNvPr id="137" name="Text 22"/>
          <p:cNvSpPr/>
          <p:nvPr/>
        </p:nvSpPr>
        <p:spPr>
          <a:xfrm>
            <a:off x="7955280" y="3721680"/>
            <a:ext cx="35200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rPr>
              <a:t>Une ligne horodatée par mesure, sur carte SD</a:t>
            </a:r>
            <a:endParaRPr lang="fr-FR" sz="1500" b="0" u="none" strike="noStrike">
              <a:solidFill>
                <a:srgbClr val="000000"/>
              </a:solidFill>
              <a:effectLst/>
              <a:uFillTx/>
              <a:latin typeface="Arial"/>
            </a:endParaRPr>
          </a:p>
        </p:txBody>
      </p:sp>
      <p:sp>
        <p:nvSpPr>
          <p:cNvPr id="138" name="Shape 23"/>
          <p:cNvSpPr/>
          <p:nvPr/>
        </p:nvSpPr>
        <p:spPr>
          <a:xfrm>
            <a:off x="6766560" y="4700160"/>
            <a:ext cx="4873320" cy="1398600"/>
          </a:xfrm>
          <a:prstGeom prst="roundRect">
            <a:avLst>
              <a:gd name="adj" fmla="val 3922"/>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39" name="Shape 24"/>
          <p:cNvSpPr/>
          <p:nvPr/>
        </p:nvSpPr>
        <p:spPr>
          <a:xfrm>
            <a:off x="6995160" y="5029200"/>
            <a:ext cx="731160" cy="7311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40" name="Image 4" descr="MousePointerClick"/>
          <p:cNvPicPr/>
          <p:nvPr/>
        </p:nvPicPr>
        <p:blipFill>
          <a:blip r:embed="rId5"/>
          <a:stretch/>
        </p:blipFill>
        <p:spPr>
          <a:xfrm>
            <a:off x="7170840" y="5204880"/>
            <a:ext cx="380160" cy="380160"/>
          </a:xfrm>
          <a:prstGeom prst="rect">
            <a:avLst/>
          </a:prstGeom>
          <a:noFill/>
          <a:ln w="0">
            <a:noFill/>
          </a:ln>
        </p:spPr>
      </p:pic>
      <p:sp>
        <p:nvSpPr>
          <p:cNvPr id="141" name="Text 25"/>
          <p:cNvSpPr/>
          <p:nvPr/>
        </p:nvSpPr>
        <p:spPr>
          <a:xfrm>
            <a:off x="7955280" y="4919400"/>
            <a:ext cx="352008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Piloter simplement</a:t>
            </a:r>
            <a:endParaRPr lang="fr-FR" sz="1800" b="0" u="none" strike="noStrike">
              <a:solidFill>
                <a:srgbClr val="000000"/>
              </a:solidFill>
              <a:effectLst/>
              <a:uFillTx/>
              <a:latin typeface="Arial"/>
            </a:endParaRPr>
          </a:p>
        </p:txBody>
      </p:sp>
      <p:sp>
        <p:nvSpPr>
          <p:cNvPr id="142" name="Text 26"/>
          <p:cNvSpPr/>
          <p:nvPr/>
        </p:nvSpPr>
        <p:spPr>
          <a:xfrm>
            <a:off x="7955280" y="5285160"/>
            <a:ext cx="35200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rPr>
              <a:t>Deux boutons, une LED d'état et une console série</a:t>
            </a:r>
            <a:endParaRPr lang="fr-FR" sz="1500" b="0" u="none" strike="noStrike">
              <a:solidFill>
                <a:srgbClr val="000000"/>
              </a:solidFill>
              <a:effectLst/>
              <a:uFillTx/>
              <a:latin typeface="Arial"/>
            </a:endParaRPr>
          </a:p>
        </p:txBody>
      </p:sp>
      <p:sp>
        <p:nvSpPr>
          <p:cNvPr id="143" name="PlaceHolder 3"/>
          <p:cNvSpPr>
            <a:spLocks noGrp="1"/>
          </p:cNvSpPr>
          <p:nvPr>
            <p:ph type="sldNum" idx="7"/>
          </p:nvPr>
        </p:nvSpPr>
        <p:spPr>
          <a:xfrm>
            <a:off x="11091600" y="6437520"/>
            <a:ext cx="548280" cy="219240"/>
          </a:xfrm>
          <a:prstGeom prst="rect">
            <a:avLst/>
          </a:prstGeom>
          <a:noFill/>
          <a:ln w="0">
            <a:noFill/>
          </a:ln>
        </p:spPr>
        <p:txBody>
          <a:bodyPr lIns="0" tIns="0" rIns="0" bIns="0" anchor="ctr" anchorCtr="1">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4E7EB020-E911-48DA-B9FC-E50353C441AD}"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02 · MATÉRIEL ET ARCHITECTURE</a:t>
            </a:r>
            <a:endParaRPr lang="fr-FR" sz="1100" b="0" u="none" strike="noStrike">
              <a:solidFill>
                <a:schemeClr val="dk1"/>
              </a:solidFill>
              <a:effectLst/>
              <a:uFillTx/>
              <a:latin typeface="Calibri"/>
            </a:endParaRPr>
          </a:p>
        </p:txBody>
      </p:sp>
      <p:sp>
        <p:nvSpPr>
          <p:cNvPr id="145"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Un matériel centré sur la carte NUCLEO-L476RG</a:t>
            </a:r>
            <a:endParaRPr lang="fr-FR" sz="2800" b="0" u="none" strike="noStrike">
              <a:solidFill>
                <a:schemeClr val="dk1"/>
              </a:solidFill>
              <a:effectLst/>
              <a:uFillTx/>
              <a:latin typeface="Calibri"/>
            </a:endParaRPr>
          </a:p>
        </p:txBody>
      </p:sp>
      <p:sp>
        <p:nvSpPr>
          <p:cNvPr id="146"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147" name="Text 3"/>
          <p:cNvSpPr/>
          <p:nvPr/>
        </p:nvSpPr>
        <p:spPr>
          <a:xfrm>
            <a:off x="973368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02</a:t>
            </a:r>
            <a:endParaRPr lang="fr-FR" sz="950" b="0" u="none" strike="noStrike">
              <a:solidFill>
                <a:srgbClr val="FFFFFF"/>
              </a:solidFill>
              <a:effectLst/>
              <a:uFillTx/>
              <a:latin typeface="Arial"/>
            </a:endParaRPr>
          </a:p>
        </p:txBody>
      </p:sp>
      <p:sp>
        <p:nvSpPr>
          <p:cNvPr id="148" name="Text 4"/>
          <p:cNvSpPr/>
          <p:nvPr/>
        </p:nvSpPr>
        <p:spPr>
          <a:xfrm>
            <a:off x="1022292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03</a:t>
            </a:r>
            <a:endParaRPr lang="fr-FR" sz="950" b="0" u="none" strike="noStrike">
              <a:solidFill>
                <a:srgbClr val="000000"/>
              </a:solidFill>
              <a:effectLst/>
              <a:uFillTx/>
              <a:latin typeface="Arial"/>
            </a:endParaRPr>
          </a:p>
        </p:txBody>
      </p:sp>
      <p:sp>
        <p:nvSpPr>
          <p:cNvPr id="149" name="Text 5"/>
          <p:cNvSpPr/>
          <p:nvPr/>
        </p:nvSpPr>
        <p:spPr>
          <a:xfrm>
            <a:off x="1071216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04</a:t>
            </a:r>
            <a:endParaRPr lang="fr-FR" sz="950" b="0" u="none" strike="noStrike">
              <a:solidFill>
                <a:srgbClr val="000000"/>
              </a:solidFill>
              <a:effectLst/>
              <a:uFillTx/>
              <a:latin typeface="Arial"/>
            </a:endParaRPr>
          </a:p>
        </p:txBody>
      </p:sp>
      <p:sp>
        <p:nvSpPr>
          <p:cNvPr id="150" name="Text 6"/>
          <p:cNvSpPr/>
          <p:nvPr/>
        </p:nvSpPr>
        <p:spPr>
          <a:xfrm>
            <a:off x="1120140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05</a:t>
            </a:r>
            <a:endParaRPr lang="fr-FR" sz="950" b="0" u="none" strike="noStrike">
              <a:solidFill>
                <a:srgbClr val="000000"/>
              </a:solidFill>
              <a:effectLst/>
              <a:uFillTx/>
              <a:latin typeface="Arial"/>
            </a:endParaRPr>
          </a:p>
        </p:txBody>
      </p:sp>
      <p:sp>
        <p:nvSpPr>
          <p:cNvPr id="151" name="NUCLEO-L476RG"/>
          <p:cNvSpPr/>
          <p:nvPr/>
        </p:nvSpPr>
        <p:spPr>
          <a:xfrm>
            <a:off x="548640" y="1572840"/>
            <a:ext cx="2601000" cy="1938240"/>
          </a:xfrm>
          <a:prstGeom prst="roundRect">
            <a:avLst>
              <a:gd name="adj" fmla="val 283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52" name="Shape 8"/>
          <p:cNvSpPr/>
          <p:nvPr/>
        </p:nvSpPr>
        <p:spPr>
          <a:xfrm>
            <a:off x="749880" y="1792080"/>
            <a:ext cx="621360" cy="621360"/>
          </a:xfrm>
          <a:prstGeom prst="ellipse">
            <a:avLst/>
          </a:prstGeom>
          <a:solidFill>
            <a:schemeClr val="tx2"/>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53" name="Image 0" descr="Cpu"/>
          <p:cNvPicPr/>
          <p:nvPr/>
        </p:nvPicPr>
        <p:blipFill>
          <a:blip r:embed="rId1"/>
          <a:stretch/>
        </p:blipFill>
        <p:spPr>
          <a:xfrm>
            <a:off x="898920" y="1941480"/>
            <a:ext cx="322920" cy="322920"/>
          </a:xfrm>
          <a:prstGeom prst="rect">
            <a:avLst/>
          </a:prstGeom>
          <a:noFill/>
          <a:ln w="0">
            <a:noFill/>
          </a:ln>
        </p:spPr>
      </p:pic>
      <p:sp>
        <p:nvSpPr>
          <p:cNvPr id="154" name="Text 9"/>
          <p:cNvSpPr/>
          <p:nvPr/>
        </p:nvSpPr>
        <p:spPr>
          <a:xfrm>
            <a:off x="1499760" y="1755720"/>
            <a:ext cx="1540440" cy="69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Calibri"/>
              </a:rPr>
              <a:t>NUCLEO-L476RG</a:t>
            </a:r>
            <a:endParaRPr lang="fr-FR" sz="1600" b="0" u="none" strike="noStrike">
              <a:solidFill>
                <a:srgbClr val="000000"/>
              </a:solidFill>
              <a:effectLst/>
              <a:uFillTx/>
              <a:latin typeface="Arial"/>
            </a:endParaRPr>
          </a:p>
        </p:txBody>
      </p:sp>
      <p:sp>
        <p:nvSpPr>
          <p:cNvPr id="155" name="Text 10"/>
          <p:cNvSpPr/>
          <p:nvPr/>
        </p:nvSpPr>
        <p:spPr>
          <a:xfrm>
            <a:off x="749880" y="2551320"/>
            <a:ext cx="22352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STM32L476RG (Cortex‑M4, 80 MHz) et ST-LINK intégré</a:t>
            </a:r>
            <a:endParaRPr lang="fr-FR" sz="1400" b="0" u="none" strike="noStrike">
              <a:solidFill>
                <a:srgbClr val="000000"/>
              </a:solidFill>
              <a:effectLst/>
              <a:uFillTx/>
              <a:latin typeface="Arial"/>
            </a:endParaRPr>
          </a:p>
        </p:txBody>
      </p:sp>
      <p:sp>
        <p:nvSpPr>
          <p:cNvPr id="156" name="Text 11"/>
          <p:cNvSpPr/>
          <p:nvPr/>
        </p:nvSpPr>
        <p:spPr>
          <a:xfrm>
            <a:off x="749880" y="3145680"/>
            <a:ext cx="22352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USB · ST-LINK</a:t>
            </a:r>
            <a:endParaRPr lang="fr-FR" sz="1300" b="0" u="none" strike="noStrike">
              <a:solidFill>
                <a:srgbClr val="000000"/>
              </a:solidFill>
              <a:effectLst/>
              <a:uFillTx/>
              <a:latin typeface="Arial"/>
            </a:endParaRPr>
          </a:p>
        </p:txBody>
      </p:sp>
      <p:sp>
        <p:nvSpPr>
          <p:cNvPr id="157" name="DHT11"/>
          <p:cNvSpPr/>
          <p:nvPr/>
        </p:nvSpPr>
        <p:spPr>
          <a:xfrm>
            <a:off x="3378600" y="1572840"/>
            <a:ext cx="2601000" cy="1938240"/>
          </a:xfrm>
          <a:prstGeom prst="roundRect">
            <a:avLst>
              <a:gd name="adj" fmla="val 283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58" name="Shape 13"/>
          <p:cNvSpPr/>
          <p:nvPr/>
        </p:nvSpPr>
        <p:spPr>
          <a:xfrm>
            <a:off x="3579840" y="1792080"/>
            <a:ext cx="621360" cy="6213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59" name="Image 1" descr="Thermometer"/>
          <p:cNvPicPr/>
          <p:nvPr/>
        </p:nvPicPr>
        <p:blipFill>
          <a:blip r:embed="rId2"/>
          <a:stretch/>
        </p:blipFill>
        <p:spPr>
          <a:xfrm>
            <a:off x="3729240" y="1941480"/>
            <a:ext cx="322920" cy="322920"/>
          </a:xfrm>
          <a:prstGeom prst="rect">
            <a:avLst/>
          </a:prstGeom>
          <a:noFill/>
          <a:ln w="0">
            <a:noFill/>
          </a:ln>
        </p:spPr>
      </p:pic>
      <p:sp>
        <p:nvSpPr>
          <p:cNvPr id="160" name="Text 14"/>
          <p:cNvSpPr/>
          <p:nvPr/>
        </p:nvSpPr>
        <p:spPr>
          <a:xfrm>
            <a:off x="4329720" y="1755720"/>
            <a:ext cx="1540440" cy="69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Calibri"/>
              </a:rPr>
              <a:t>DHT11</a:t>
            </a:r>
            <a:endParaRPr lang="fr-FR" sz="1600" b="0" u="none" strike="noStrike">
              <a:solidFill>
                <a:srgbClr val="000000"/>
              </a:solidFill>
              <a:effectLst/>
              <a:uFillTx/>
              <a:latin typeface="Arial"/>
            </a:endParaRPr>
          </a:p>
        </p:txBody>
      </p:sp>
      <p:sp>
        <p:nvSpPr>
          <p:cNvPr id="161" name="Text 15"/>
          <p:cNvSpPr/>
          <p:nvPr/>
        </p:nvSpPr>
        <p:spPr>
          <a:xfrm>
            <a:off x="3579840" y="2551320"/>
            <a:ext cx="22352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Température de l'air et humidité</a:t>
            </a:r>
            <a:endParaRPr lang="fr-FR" sz="1400" b="0" u="none" strike="noStrike">
              <a:solidFill>
                <a:srgbClr val="000000"/>
              </a:solidFill>
              <a:effectLst/>
              <a:uFillTx/>
              <a:latin typeface="Arial"/>
            </a:endParaRPr>
          </a:p>
        </p:txBody>
      </p:sp>
      <p:sp>
        <p:nvSpPr>
          <p:cNvPr id="162" name="Text 16"/>
          <p:cNvSpPr/>
          <p:nvPr/>
        </p:nvSpPr>
        <p:spPr>
          <a:xfrm>
            <a:off x="3579840" y="3145680"/>
            <a:ext cx="22352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1 fil</a:t>
            </a:r>
            <a:endParaRPr lang="fr-FR" sz="1300" b="0" u="none" strike="noStrike">
              <a:solidFill>
                <a:srgbClr val="000000"/>
              </a:solidFill>
              <a:effectLst/>
              <a:uFillTx/>
              <a:latin typeface="Arial"/>
            </a:endParaRPr>
          </a:p>
        </p:txBody>
      </p:sp>
      <p:sp>
        <p:nvSpPr>
          <p:cNvPr id="163" name="BH1750"/>
          <p:cNvSpPr/>
          <p:nvPr/>
        </p:nvSpPr>
        <p:spPr>
          <a:xfrm>
            <a:off x="6208920" y="1572840"/>
            <a:ext cx="2601000" cy="1938240"/>
          </a:xfrm>
          <a:prstGeom prst="roundRect">
            <a:avLst>
              <a:gd name="adj" fmla="val 283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64" name="Shape 18"/>
          <p:cNvSpPr/>
          <p:nvPr/>
        </p:nvSpPr>
        <p:spPr>
          <a:xfrm>
            <a:off x="6409800" y="1792080"/>
            <a:ext cx="621360" cy="6213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65" name="Image 2" descr="Sun"/>
          <p:cNvPicPr/>
          <p:nvPr/>
        </p:nvPicPr>
        <p:blipFill>
          <a:blip r:embed="rId3"/>
          <a:stretch/>
        </p:blipFill>
        <p:spPr>
          <a:xfrm>
            <a:off x="6559200" y="1941480"/>
            <a:ext cx="322920" cy="322920"/>
          </a:xfrm>
          <a:prstGeom prst="rect">
            <a:avLst/>
          </a:prstGeom>
          <a:noFill/>
          <a:ln w="0">
            <a:noFill/>
          </a:ln>
        </p:spPr>
      </p:pic>
      <p:sp>
        <p:nvSpPr>
          <p:cNvPr id="166" name="Text 19"/>
          <p:cNvSpPr/>
          <p:nvPr/>
        </p:nvSpPr>
        <p:spPr>
          <a:xfrm>
            <a:off x="7159680" y="1755720"/>
            <a:ext cx="1540440" cy="69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Calibri"/>
              </a:rPr>
              <a:t>BH1750</a:t>
            </a:r>
            <a:endParaRPr lang="fr-FR" sz="1600" b="0" u="none" strike="noStrike">
              <a:solidFill>
                <a:srgbClr val="000000"/>
              </a:solidFill>
              <a:effectLst/>
              <a:uFillTx/>
              <a:latin typeface="Arial"/>
            </a:endParaRPr>
          </a:p>
        </p:txBody>
      </p:sp>
      <p:sp>
        <p:nvSpPr>
          <p:cNvPr id="167" name="Text 20"/>
          <p:cNvSpPr/>
          <p:nvPr/>
        </p:nvSpPr>
        <p:spPr>
          <a:xfrm>
            <a:off x="6409800" y="2551320"/>
            <a:ext cx="22352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Luminosité, en lux</a:t>
            </a:r>
            <a:endParaRPr lang="fr-FR" sz="1400" b="0" u="none" strike="noStrike">
              <a:solidFill>
                <a:srgbClr val="000000"/>
              </a:solidFill>
              <a:effectLst/>
              <a:uFillTx/>
              <a:latin typeface="Arial"/>
            </a:endParaRPr>
          </a:p>
        </p:txBody>
      </p:sp>
      <p:sp>
        <p:nvSpPr>
          <p:cNvPr id="168" name="Text 21"/>
          <p:cNvSpPr/>
          <p:nvPr/>
        </p:nvSpPr>
        <p:spPr>
          <a:xfrm>
            <a:off x="6409800" y="3145680"/>
            <a:ext cx="22352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I2C</a:t>
            </a:r>
            <a:endParaRPr lang="fr-FR" sz="1300" b="0" u="none" strike="noStrike">
              <a:solidFill>
                <a:srgbClr val="000000"/>
              </a:solidFill>
              <a:effectLst/>
              <a:uFillTx/>
              <a:latin typeface="Arial"/>
            </a:endParaRPr>
          </a:p>
        </p:txBody>
      </p:sp>
      <p:sp>
        <p:nvSpPr>
          <p:cNvPr id="169" name="Module GPS"/>
          <p:cNvSpPr/>
          <p:nvPr/>
        </p:nvSpPr>
        <p:spPr>
          <a:xfrm>
            <a:off x="9038880" y="1572840"/>
            <a:ext cx="2601000" cy="1938240"/>
          </a:xfrm>
          <a:prstGeom prst="roundRect">
            <a:avLst>
              <a:gd name="adj" fmla="val 283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70" name="Shape 23"/>
          <p:cNvSpPr/>
          <p:nvPr/>
        </p:nvSpPr>
        <p:spPr>
          <a:xfrm>
            <a:off x="9240120" y="1792080"/>
            <a:ext cx="621360" cy="6213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71" name="Image 3" descr="MapPin"/>
          <p:cNvPicPr/>
          <p:nvPr/>
        </p:nvPicPr>
        <p:blipFill>
          <a:blip r:embed="rId4"/>
          <a:stretch/>
        </p:blipFill>
        <p:spPr>
          <a:xfrm>
            <a:off x="9389160" y="1941480"/>
            <a:ext cx="322920" cy="322920"/>
          </a:xfrm>
          <a:prstGeom prst="rect">
            <a:avLst/>
          </a:prstGeom>
          <a:noFill/>
          <a:ln w="0">
            <a:noFill/>
          </a:ln>
        </p:spPr>
      </p:pic>
      <p:sp>
        <p:nvSpPr>
          <p:cNvPr id="172" name="Text 24"/>
          <p:cNvSpPr/>
          <p:nvPr/>
        </p:nvSpPr>
        <p:spPr>
          <a:xfrm>
            <a:off x="9990000" y="1755720"/>
            <a:ext cx="1540440" cy="69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Calibri"/>
              </a:rPr>
              <a:t>Module GPS</a:t>
            </a:r>
            <a:endParaRPr lang="fr-FR" sz="1600" b="0" u="none" strike="noStrike">
              <a:solidFill>
                <a:srgbClr val="000000"/>
              </a:solidFill>
              <a:effectLst/>
              <a:uFillTx/>
              <a:latin typeface="Arial"/>
            </a:endParaRPr>
          </a:p>
        </p:txBody>
      </p:sp>
      <p:sp>
        <p:nvSpPr>
          <p:cNvPr id="173" name="Text 25"/>
          <p:cNvSpPr/>
          <p:nvPr/>
        </p:nvSpPr>
        <p:spPr>
          <a:xfrm>
            <a:off x="9240120" y="2551320"/>
            <a:ext cx="22352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Position et heure UTC (trames NMEA)</a:t>
            </a:r>
            <a:endParaRPr lang="fr-FR" sz="1400" b="0" u="none" strike="noStrike">
              <a:solidFill>
                <a:srgbClr val="000000"/>
              </a:solidFill>
              <a:effectLst/>
              <a:uFillTx/>
              <a:latin typeface="Arial"/>
            </a:endParaRPr>
          </a:p>
        </p:txBody>
      </p:sp>
      <p:sp>
        <p:nvSpPr>
          <p:cNvPr id="174" name="Text 26"/>
          <p:cNvSpPr/>
          <p:nvPr/>
        </p:nvSpPr>
        <p:spPr>
          <a:xfrm>
            <a:off x="9240120" y="3145680"/>
            <a:ext cx="22352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UART</a:t>
            </a:r>
            <a:endParaRPr lang="fr-FR" sz="1300" b="0" u="none" strike="noStrike">
              <a:solidFill>
                <a:srgbClr val="000000"/>
              </a:solidFill>
              <a:effectLst/>
              <a:uFillTx/>
              <a:latin typeface="Arial"/>
            </a:endParaRPr>
          </a:p>
        </p:txBody>
      </p:sp>
      <p:sp>
        <p:nvSpPr>
          <p:cNvPr id="175" name="Module carte SD"/>
          <p:cNvSpPr/>
          <p:nvPr/>
        </p:nvSpPr>
        <p:spPr>
          <a:xfrm>
            <a:off x="548640" y="3740040"/>
            <a:ext cx="2601000" cy="1938240"/>
          </a:xfrm>
          <a:prstGeom prst="roundRect">
            <a:avLst>
              <a:gd name="adj" fmla="val 283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76" name="Shape 28"/>
          <p:cNvSpPr/>
          <p:nvPr/>
        </p:nvSpPr>
        <p:spPr>
          <a:xfrm>
            <a:off x="749880" y="3959280"/>
            <a:ext cx="621360" cy="621360"/>
          </a:xfrm>
          <a:prstGeom prst="ellipse">
            <a:avLst/>
          </a:prstGeom>
          <a:solidFill>
            <a:schemeClr val="accent3"/>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77" name="Image 4" descr="Save"/>
          <p:cNvPicPr/>
          <p:nvPr/>
        </p:nvPicPr>
        <p:blipFill>
          <a:blip r:embed="rId5"/>
          <a:stretch/>
        </p:blipFill>
        <p:spPr>
          <a:xfrm>
            <a:off x="898920" y="4108680"/>
            <a:ext cx="322920" cy="322920"/>
          </a:xfrm>
          <a:prstGeom prst="rect">
            <a:avLst/>
          </a:prstGeom>
          <a:noFill/>
          <a:ln w="0">
            <a:noFill/>
          </a:ln>
        </p:spPr>
      </p:pic>
      <p:sp>
        <p:nvSpPr>
          <p:cNvPr id="178" name="Text 29"/>
          <p:cNvSpPr/>
          <p:nvPr/>
        </p:nvSpPr>
        <p:spPr>
          <a:xfrm>
            <a:off x="1499760" y="3922920"/>
            <a:ext cx="1540440" cy="69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Calibri"/>
              </a:rPr>
              <a:t>Module carte SD</a:t>
            </a:r>
            <a:endParaRPr lang="fr-FR" sz="1600" b="0" u="none" strike="noStrike">
              <a:solidFill>
                <a:srgbClr val="000000"/>
              </a:solidFill>
              <a:effectLst/>
              <a:uFillTx/>
              <a:latin typeface="Arial"/>
            </a:endParaRPr>
          </a:p>
        </p:txBody>
      </p:sp>
      <p:sp>
        <p:nvSpPr>
          <p:cNvPr id="179" name="Text 30"/>
          <p:cNvSpPr/>
          <p:nvPr/>
        </p:nvSpPr>
        <p:spPr>
          <a:xfrm>
            <a:off x="749880" y="4718160"/>
            <a:ext cx="22352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Stockage des mesures (FAT32)</a:t>
            </a:r>
            <a:endParaRPr lang="fr-FR" sz="1400" b="0" u="none" strike="noStrike">
              <a:solidFill>
                <a:srgbClr val="000000"/>
              </a:solidFill>
              <a:effectLst/>
              <a:uFillTx/>
              <a:latin typeface="Arial"/>
            </a:endParaRPr>
          </a:p>
        </p:txBody>
      </p:sp>
      <p:sp>
        <p:nvSpPr>
          <p:cNvPr id="180" name="Text 31"/>
          <p:cNvSpPr/>
          <p:nvPr/>
        </p:nvSpPr>
        <p:spPr>
          <a:xfrm>
            <a:off x="749880" y="5312520"/>
            <a:ext cx="22352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SPI + FatFS</a:t>
            </a:r>
            <a:endParaRPr lang="fr-FR" sz="1300" b="0" u="none" strike="noStrike">
              <a:solidFill>
                <a:srgbClr val="000000"/>
              </a:solidFill>
              <a:effectLst/>
              <a:uFillTx/>
              <a:latin typeface="Arial"/>
            </a:endParaRPr>
          </a:p>
        </p:txBody>
      </p:sp>
      <p:sp>
        <p:nvSpPr>
          <p:cNvPr id="181" name="RTC interne"/>
          <p:cNvSpPr/>
          <p:nvPr/>
        </p:nvSpPr>
        <p:spPr>
          <a:xfrm>
            <a:off x="3378600" y="3740040"/>
            <a:ext cx="2601000" cy="1938240"/>
          </a:xfrm>
          <a:prstGeom prst="roundRect">
            <a:avLst>
              <a:gd name="adj" fmla="val 283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82" name="Shape 33"/>
          <p:cNvSpPr/>
          <p:nvPr/>
        </p:nvSpPr>
        <p:spPr>
          <a:xfrm>
            <a:off x="3579840" y="3959280"/>
            <a:ext cx="621360" cy="621360"/>
          </a:xfrm>
          <a:prstGeom prst="ellipse">
            <a:avLst/>
          </a:prstGeom>
          <a:solidFill>
            <a:schemeClr val="accent3"/>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83" name="Image 5" descr="Clock"/>
          <p:cNvPicPr/>
          <p:nvPr/>
        </p:nvPicPr>
        <p:blipFill>
          <a:blip r:embed="rId6"/>
          <a:stretch/>
        </p:blipFill>
        <p:spPr>
          <a:xfrm>
            <a:off x="3729240" y="4108680"/>
            <a:ext cx="322920" cy="322920"/>
          </a:xfrm>
          <a:prstGeom prst="rect">
            <a:avLst/>
          </a:prstGeom>
          <a:noFill/>
          <a:ln w="0">
            <a:noFill/>
          </a:ln>
        </p:spPr>
      </p:pic>
      <p:sp>
        <p:nvSpPr>
          <p:cNvPr id="184" name="Text 34"/>
          <p:cNvSpPr/>
          <p:nvPr/>
        </p:nvSpPr>
        <p:spPr>
          <a:xfrm>
            <a:off x="4329720" y="3922920"/>
            <a:ext cx="1540440" cy="69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Calibri"/>
              </a:rPr>
              <a:t>RTC interne</a:t>
            </a:r>
            <a:endParaRPr lang="fr-FR" sz="1600" b="0" u="none" strike="noStrike">
              <a:solidFill>
                <a:srgbClr val="000000"/>
              </a:solidFill>
              <a:effectLst/>
              <a:uFillTx/>
              <a:latin typeface="Arial"/>
            </a:endParaRPr>
          </a:p>
        </p:txBody>
      </p:sp>
      <p:sp>
        <p:nvSpPr>
          <p:cNvPr id="185" name="Text 35"/>
          <p:cNvSpPr/>
          <p:nvPr/>
        </p:nvSpPr>
        <p:spPr>
          <a:xfrm>
            <a:off x="3579840" y="4718160"/>
            <a:ext cx="22352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Date et heure de chaque mesure</a:t>
            </a:r>
            <a:endParaRPr lang="fr-FR" sz="1400" b="0" u="none" strike="noStrike">
              <a:solidFill>
                <a:srgbClr val="000000"/>
              </a:solidFill>
              <a:effectLst/>
              <a:uFillTx/>
              <a:latin typeface="Arial"/>
            </a:endParaRPr>
          </a:p>
        </p:txBody>
      </p:sp>
      <p:sp>
        <p:nvSpPr>
          <p:cNvPr id="186" name="Text 36"/>
          <p:cNvSpPr/>
          <p:nvPr/>
        </p:nvSpPr>
        <p:spPr>
          <a:xfrm>
            <a:off x="3579840" y="5312520"/>
            <a:ext cx="22352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Périphérique du STM32</a:t>
            </a:r>
            <a:endParaRPr lang="fr-FR" sz="1300" b="0" u="none" strike="noStrike">
              <a:solidFill>
                <a:srgbClr val="000000"/>
              </a:solidFill>
              <a:effectLst/>
              <a:uFillTx/>
              <a:latin typeface="Arial"/>
            </a:endParaRPr>
          </a:p>
        </p:txBody>
      </p:sp>
      <p:sp>
        <p:nvSpPr>
          <p:cNvPr id="187" name="LED RGB"/>
          <p:cNvSpPr/>
          <p:nvPr/>
        </p:nvSpPr>
        <p:spPr>
          <a:xfrm>
            <a:off x="6208920" y="3740040"/>
            <a:ext cx="2601000" cy="1938240"/>
          </a:xfrm>
          <a:prstGeom prst="roundRect">
            <a:avLst>
              <a:gd name="adj" fmla="val 283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88" name="Shape 38"/>
          <p:cNvSpPr/>
          <p:nvPr/>
        </p:nvSpPr>
        <p:spPr>
          <a:xfrm>
            <a:off x="6409800" y="3959280"/>
            <a:ext cx="621360" cy="62136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89" name="Image 6" descr="Lightbulb"/>
          <p:cNvPicPr/>
          <p:nvPr/>
        </p:nvPicPr>
        <p:blipFill>
          <a:blip r:embed="rId7"/>
          <a:stretch/>
        </p:blipFill>
        <p:spPr>
          <a:xfrm>
            <a:off x="6559200" y="4108680"/>
            <a:ext cx="322920" cy="322920"/>
          </a:xfrm>
          <a:prstGeom prst="rect">
            <a:avLst/>
          </a:prstGeom>
          <a:noFill/>
          <a:ln w="0">
            <a:noFill/>
          </a:ln>
        </p:spPr>
      </p:pic>
      <p:sp>
        <p:nvSpPr>
          <p:cNvPr id="190" name="Text 39"/>
          <p:cNvSpPr/>
          <p:nvPr/>
        </p:nvSpPr>
        <p:spPr>
          <a:xfrm>
            <a:off x="7159680" y="3922920"/>
            <a:ext cx="1540440" cy="69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Calibri"/>
              </a:rPr>
              <a:t>LED RGB</a:t>
            </a:r>
            <a:endParaRPr lang="fr-FR" sz="1600" b="0" u="none" strike="noStrike">
              <a:solidFill>
                <a:srgbClr val="000000"/>
              </a:solidFill>
              <a:effectLst/>
              <a:uFillTx/>
              <a:latin typeface="Arial"/>
            </a:endParaRPr>
          </a:p>
        </p:txBody>
      </p:sp>
      <p:sp>
        <p:nvSpPr>
          <p:cNvPr id="191" name="Text 40"/>
          <p:cNvSpPr/>
          <p:nvPr/>
        </p:nvSpPr>
        <p:spPr>
          <a:xfrm>
            <a:off x="6409800" y="4718160"/>
            <a:ext cx="22352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État du système et erreurs</a:t>
            </a:r>
            <a:endParaRPr lang="fr-FR" sz="1400" b="0" u="none" strike="noStrike">
              <a:solidFill>
                <a:srgbClr val="000000"/>
              </a:solidFill>
              <a:effectLst/>
              <a:uFillTx/>
              <a:latin typeface="Arial"/>
            </a:endParaRPr>
          </a:p>
        </p:txBody>
      </p:sp>
      <p:sp>
        <p:nvSpPr>
          <p:cNvPr id="192" name="Text 41"/>
          <p:cNvSpPr/>
          <p:nvPr/>
        </p:nvSpPr>
        <p:spPr>
          <a:xfrm>
            <a:off x="6409800" y="5312520"/>
            <a:ext cx="22352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3 sorties GPIO</a:t>
            </a:r>
            <a:endParaRPr lang="fr-FR" sz="1300" b="0" u="none" strike="noStrike">
              <a:solidFill>
                <a:srgbClr val="000000"/>
              </a:solidFill>
              <a:effectLst/>
              <a:uFillTx/>
              <a:latin typeface="Arial"/>
            </a:endParaRPr>
          </a:p>
        </p:txBody>
      </p:sp>
      <p:sp>
        <p:nvSpPr>
          <p:cNvPr id="193" name="2 boutons poussoirs"/>
          <p:cNvSpPr/>
          <p:nvPr/>
        </p:nvSpPr>
        <p:spPr>
          <a:xfrm>
            <a:off x="9038880" y="3740040"/>
            <a:ext cx="2601000" cy="1938240"/>
          </a:xfrm>
          <a:prstGeom prst="roundRect">
            <a:avLst>
              <a:gd name="adj" fmla="val 283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194" name="Shape 43"/>
          <p:cNvSpPr/>
          <p:nvPr/>
        </p:nvSpPr>
        <p:spPr>
          <a:xfrm>
            <a:off x="9240120" y="3959280"/>
            <a:ext cx="621360" cy="62136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195" name="Image 7" descr="MousePointerClick"/>
          <p:cNvPicPr/>
          <p:nvPr/>
        </p:nvPicPr>
        <p:blipFill>
          <a:blip r:embed="rId8"/>
          <a:stretch/>
        </p:blipFill>
        <p:spPr>
          <a:xfrm>
            <a:off x="9389160" y="4108680"/>
            <a:ext cx="322920" cy="322920"/>
          </a:xfrm>
          <a:prstGeom prst="rect">
            <a:avLst/>
          </a:prstGeom>
          <a:noFill/>
          <a:ln w="0">
            <a:noFill/>
          </a:ln>
        </p:spPr>
      </p:pic>
      <p:sp>
        <p:nvSpPr>
          <p:cNvPr id="196" name="Text 44"/>
          <p:cNvSpPr/>
          <p:nvPr/>
        </p:nvSpPr>
        <p:spPr>
          <a:xfrm>
            <a:off x="9990000" y="3922920"/>
            <a:ext cx="1540440" cy="69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Calibri"/>
              </a:rPr>
              <a:t>2 boutons poussoirs</a:t>
            </a:r>
            <a:endParaRPr lang="fr-FR" sz="1600" b="0" u="none" strike="noStrike">
              <a:solidFill>
                <a:srgbClr val="000000"/>
              </a:solidFill>
              <a:effectLst/>
              <a:uFillTx/>
              <a:latin typeface="Arial"/>
            </a:endParaRPr>
          </a:p>
        </p:txBody>
      </p:sp>
      <p:sp>
        <p:nvSpPr>
          <p:cNvPr id="197" name="Text 45"/>
          <p:cNvSpPr/>
          <p:nvPr/>
        </p:nvSpPr>
        <p:spPr>
          <a:xfrm>
            <a:off x="9240120" y="4718160"/>
            <a:ext cx="22352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Changement de mode (rouge, vert)</a:t>
            </a:r>
            <a:endParaRPr lang="fr-FR" sz="1400" b="0" u="none" strike="noStrike">
              <a:solidFill>
                <a:srgbClr val="000000"/>
              </a:solidFill>
              <a:effectLst/>
              <a:uFillTx/>
              <a:latin typeface="Arial"/>
            </a:endParaRPr>
          </a:p>
        </p:txBody>
      </p:sp>
      <p:sp>
        <p:nvSpPr>
          <p:cNvPr id="198" name="Text 46"/>
          <p:cNvSpPr/>
          <p:nvPr/>
        </p:nvSpPr>
        <p:spPr>
          <a:xfrm>
            <a:off x="9240120" y="5312520"/>
            <a:ext cx="22352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GPIO + interruptions</a:t>
            </a:r>
            <a:endParaRPr lang="fr-FR" sz="1300" b="0" u="none" strike="noStrike">
              <a:solidFill>
                <a:srgbClr val="000000"/>
              </a:solidFill>
              <a:effectLst/>
              <a:uFillTx/>
              <a:latin typeface="Arial"/>
            </a:endParaRPr>
          </a:p>
        </p:txBody>
      </p:sp>
      <p:sp>
        <p:nvSpPr>
          <p:cNvPr id="199" name="Shape 47"/>
          <p:cNvSpPr/>
          <p:nvPr/>
        </p:nvSpPr>
        <p:spPr>
          <a:xfrm>
            <a:off x="548640" y="6035040"/>
            <a:ext cx="155160" cy="1551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200" name="Text 48"/>
          <p:cNvSpPr/>
          <p:nvPr/>
        </p:nvSpPr>
        <p:spPr>
          <a:xfrm>
            <a:off x="777240" y="5970960"/>
            <a:ext cx="1645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1"/>
                </a:solidFill>
                <a:effectLst/>
                <a:uFillTx/>
                <a:latin typeface="Calibri"/>
              </a:rPr>
              <a:t>Capteurs</a:t>
            </a:r>
            <a:endParaRPr lang="fr-FR" sz="1250" b="0" u="none" strike="noStrike">
              <a:solidFill>
                <a:srgbClr val="000000"/>
              </a:solidFill>
              <a:effectLst/>
              <a:uFillTx/>
              <a:latin typeface="Arial"/>
            </a:endParaRPr>
          </a:p>
        </p:txBody>
      </p:sp>
      <p:sp>
        <p:nvSpPr>
          <p:cNvPr id="201" name="Shape 49"/>
          <p:cNvSpPr/>
          <p:nvPr/>
        </p:nvSpPr>
        <p:spPr>
          <a:xfrm>
            <a:off x="2377440" y="6035040"/>
            <a:ext cx="155160" cy="155160"/>
          </a:xfrm>
          <a:prstGeom prst="ellipse">
            <a:avLst/>
          </a:prstGeom>
          <a:solidFill>
            <a:schemeClr val="accent3"/>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202" name="Text 50"/>
          <p:cNvSpPr/>
          <p:nvPr/>
        </p:nvSpPr>
        <p:spPr>
          <a:xfrm>
            <a:off x="2606040" y="5970960"/>
            <a:ext cx="1645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1"/>
                </a:solidFill>
                <a:effectLst/>
                <a:uFillTx/>
                <a:latin typeface="Calibri"/>
              </a:rPr>
              <a:t>Stockage et temps</a:t>
            </a:r>
            <a:endParaRPr lang="fr-FR" sz="1250" b="0" u="none" strike="noStrike">
              <a:solidFill>
                <a:srgbClr val="000000"/>
              </a:solidFill>
              <a:effectLst/>
              <a:uFillTx/>
              <a:latin typeface="Arial"/>
            </a:endParaRPr>
          </a:p>
        </p:txBody>
      </p:sp>
      <p:sp>
        <p:nvSpPr>
          <p:cNvPr id="203" name="Shape 51"/>
          <p:cNvSpPr/>
          <p:nvPr/>
        </p:nvSpPr>
        <p:spPr>
          <a:xfrm>
            <a:off x="4206240" y="6035040"/>
            <a:ext cx="155160" cy="15516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204" name="Text 52"/>
          <p:cNvSpPr/>
          <p:nvPr/>
        </p:nvSpPr>
        <p:spPr>
          <a:xfrm>
            <a:off x="4434840" y="5970960"/>
            <a:ext cx="1645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1"/>
                </a:solidFill>
                <a:effectLst/>
                <a:uFillTx/>
                <a:latin typeface="Calibri"/>
              </a:rPr>
              <a:t>Interface utilisateur</a:t>
            </a:r>
            <a:endParaRPr lang="fr-FR" sz="1250" b="0" u="none" strike="noStrike">
              <a:solidFill>
                <a:srgbClr val="000000"/>
              </a:solidFill>
              <a:effectLst/>
              <a:uFillTx/>
              <a:latin typeface="Arial"/>
            </a:endParaRPr>
          </a:p>
        </p:txBody>
      </p:sp>
      <p:sp>
        <p:nvSpPr>
          <p:cNvPr id="205" name="Shape 53"/>
          <p:cNvSpPr/>
          <p:nvPr/>
        </p:nvSpPr>
        <p:spPr>
          <a:xfrm>
            <a:off x="6035040" y="5888880"/>
            <a:ext cx="5604840" cy="420120"/>
          </a:xfrm>
          <a:prstGeom prst="roundRect">
            <a:avLst>
              <a:gd name="adj" fmla="val 21739"/>
            </a:avLst>
          </a:prstGeom>
          <a:solidFill>
            <a:schemeClr val="accent1">
              <a:alpha val="12000"/>
            </a:schemeClr>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206" name="Image 8" descr="Info"/>
          <p:cNvPicPr/>
          <p:nvPr/>
        </p:nvPicPr>
        <p:blipFill>
          <a:blip r:embed="rId9"/>
          <a:stretch/>
        </p:blipFill>
        <p:spPr>
          <a:xfrm>
            <a:off x="6172200" y="5980320"/>
            <a:ext cx="237240" cy="237240"/>
          </a:xfrm>
          <a:prstGeom prst="rect">
            <a:avLst/>
          </a:prstGeom>
          <a:noFill/>
          <a:ln w="0">
            <a:noFill/>
          </a:ln>
        </p:spPr>
      </p:pic>
      <p:sp>
        <p:nvSpPr>
          <p:cNvPr id="207" name="Text 54"/>
          <p:cNvSpPr/>
          <p:nvPr/>
        </p:nvSpPr>
        <p:spPr>
          <a:xfrm>
            <a:off x="6510600" y="5888880"/>
            <a:ext cx="5028840" cy="420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Calibri"/>
              </a:rPr>
              <a:t>Bouton rouge : </a:t>
            </a:r>
            <a:r>
              <a:rPr lang="en-US" sz="1300" b="0" u="none" strike="noStrike">
                <a:solidFill>
                  <a:schemeClr val="dk1"/>
                </a:solidFill>
                <a:effectLst/>
                <a:uFillTx/>
                <a:latin typeface="Calibri"/>
              </a:rPr>
              <a:t>bouton externe  ·  </a:t>
            </a:r>
            <a:r>
              <a:rPr lang="en-US" sz="1300" b="1" u="none" strike="noStrike">
                <a:solidFill>
                  <a:schemeClr val="dk1"/>
                </a:solidFill>
                <a:effectLst/>
                <a:uFillTx/>
                <a:latin typeface="Calibri"/>
              </a:rPr>
              <a:t>bouton vert : </a:t>
            </a:r>
            <a:r>
              <a:rPr lang="en-US" sz="1300" b="0" u="none" strike="noStrike">
                <a:solidFill>
                  <a:schemeClr val="dk1"/>
                </a:solidFill>
                <a:effectLst/>
                <a:uFillTx/>
                <a:latin typeface="Calibri"/>
              </a:rPr>
              <a:t>bouton bleu B1 de la carte</a:t>
            </a:r>
            <a:endParaRPr lang="fr-FR" sz="1300" b="0" u="none" strike="noStrike">
              <a:solidFill>
                <a:srgbClr val="000000"/>
              </a:solidFill>
              <a:effectLst/>
              <a:uFillTx/>
              <a:latin typeface="Arial"/>
            </a:endParaRPr>
          </a:p>
        </p:txBody>
      </p:sp>
      <p:sp>
        <p:nvSpPr>
          <p:cNvPr id="208" name="PlaceHolder 3"/>
          <p:cNvSpPr>
            <a:spLocks noGrp="1"/>
          </p:cNvSpPr>
          <p:nvPr>
            <p:ph type="sldNum" idx="8"/>
          </p:nvPr>
        </p:nvSpPr>
        <p:spPr>
          <a:xfrm>
            <a:off x="11091600" y="6437520"/>
            <a:ext cx="548280" cy="219240"/>
          </a:xfrm>
          <a:prstGeom prst="rect">
            <a:avLst/>
          </a:prstGeom>
          <a:noFill/>
          <a:ln w="0">
            <a:noFill/>
          </a:ln>
        </p:spPr>
        <p:txBody>
          <a:bodyPr lIns="0" tIns="0" rIns="0" bIns="0" anchor="ctr" anchorCtr="1">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4F945B29-FD21-4A35-88BC-18FD48F3E0E4}"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02 · MATÉRIEL ET ARCHITECTURE</a:t>
            </a:r>
            <a:endParaRPr lang="fr-FR" sz="1100" b="0" u="none" strike="noStrike">
              <a:solidFill>
                <a:schemeClr val="dk1"/>
              </a:solidFill>
              <a:effectLst/>
              <a:uFillTx/>
              <a:latin typeface="Calibri"/>
            </a:endParaRPr>
          </a:p>
        </p:txBody>
      </p:sp>
      <p:sp>
        <p:nvSpPr>
          <p:cNvPr id="210"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Quatre types de liaison autour du STM32L476RG</a:t>
            </a:r>
            <a:endParaRPr lang="fr-FR" sz="2800" b="0" u="none" strike="noStrike">
              <a:solidFill>
                <a:schemeClr val="dk1"/>
              </a:solidFill>
              <a:effectLst/>
              <a:uFillTx/>
              <a:latin typeface="Calibri"/>
            </a:endParaRPr>
          </a:p>
        </p:txBody>
      </p:sp>
      <p:sp>
        <p:nvSpPr>
          <p:cNvPr id="211"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212" name="Text 3"/>
          <p:cNvSpPr/>
          <p:nvPr/>
        </p:nvSpPr>
        <p:spPr>
          <a:xfrm>
            <a:off x="973368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02</a:t>
            </a:r>
            <a:endParaRPr lang="fr-FR" sz="950" b="0" u="none" strike="noStrike">
              <a:solidFill>
                <a:srgbClr val="FFFFFF"/>
              </a:solidFill>
              <a:effectLst/>
              <a:uFillTx/>
              <a:latin typeface="Arial"/>
            </a:endParaRPr>
          </a:p>
        </p:txBody>
      </p:sp>
      <p:sp>
        <p:nvSpPr>
          <p:cNvPr id="213" name="Text 4"/>
          <p:cNvSpPr/>
          <p:nvPr/>
        </p:nvSpPr>
        <p:spPr>
          <a:xfrm>
            <a:off x="1022292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03</a:t>
            </a:r>
            <a:endParaRPr lang="fr-FR" sz="950" b="0" u="none" strike="noStrike">
              <a:solidFill>
                <a:srgbClr val="000000"/>
              </a:solidFill>
              <a:effectLst/>
              <a:uFillTx/>
              <a:latin typeface="Arial"/>
            </a:endParaRPr>
          </a:p>
        </p:txBody>
      </p:sp>
      <p:sp>
        <p:nvSpPr>
          <p:cNvPr id="214" name="Text 5"/>
          <p:cNvSpPr/>
          <p:nvPr/>
        </p:nvSpPr>
        <p:spPr>
          <a:xfrm>
            <a:off x="1071216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04</a:t>
            </a:r>
            <a:endParaRPr lang="fr-FR" sz="950" b="0" u="none" strike="noStrike">
              <a:solidFill>
                <a:srgbClr val="000000"/>
              </a:solidFill>
              <a:effectLst/>
              <a:uFillTx/>
              <a:latin typeface="Arial"/>
            </a:endParaRPr>
          </a:p>
        </p:txBody>
      </p:sp>
      <p:sp>
        <p:nvSpPr>
          <p:cNvPr id="215" name="Text 6"/>
          <p:cNvSpPr/>
          <p:nvPr/>
        </p:nvSpPr>
        <p:spPr>
          <a:xfrm>
            <a:off x="1120140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05</a:t>
            </a:r>
            <a:endParaRPr lang="fr-FR" sz="950" b="0" u="none" strike="noStrike">
              <a:solidFill>
                <a:srgbClr val="000000"/>
              </a:solidFill>
              <a:effectLst/>
              <a:uFillTx/>
              <a:latin typeface="Arial"/>
            </a:endParaRPr>
          </a:p>
        </p:txBody>
      </p:sp>
      <p:sp>
        <p:nvSpPr>
          <p:cNvPr id="216" name="STM32L476RG"/>
          <p:cNvSpPr/>
          <p:nvPr/>
        </p:nvSpPr>
        <p:spPr>
          <a:xfrm>
            <a:off x="4434840" y="1600200"/>
            <a:ext cx="3318840" cy="3949920"/>
          </a:xfrm>
          <a:prstGeom prst="roundRect">
            <a:avLst>
              <a:gd name="adj" fmla="val 1653"/>
            </a:avLst>
          </a:prstGeom>
          <a:solidFill>
            <a:schemeClr val="tx2"/>
          </a:solidFill>
          <a:ln w="0">
            <a:noFill/>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217" name="Shape 8"/>
          <p:cNvSpPr/>
          <p:nvPr/>
        </p:nvSpPr>
        <p:spPr>
          <a:xfrm>
            <a:off x="5751720" y="1764720"/>
            <a:ext cx="548280" cy="5482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218" name="Image 0" descr="Cpu"/>
          <p:cNvPicPr/>
          <p:nvPr/>
        </p:nvPicPr>
        <p:blipFill>
          <a:blip r:embed="rId1"/>
          <a:stretch/>
        </p:blipFill>
        <p:spPr>
          <a:xfrm>
            <a:off x="5883120" y="1896480"/>
            <a:ext cx="284760" cy="284760"/>
          </a:xfrm>
          <a:prstGeom prst="rect">
            <a:avLst/>
          </a:prstGeom>
          <a:noFill/>
          <a:ln w="0">
            <a:noFill/>
          </a:ln>
        </p:spPr>
      </p:pic>
      <p:sp>
        <p:nvSpPr>
          <p:cNvPr id="219" name="Text 9"/>
          <p:cNvSpPr/>
          <p:nvPr/>
        </p:nvSpPr>
        <p:spPr>
          <a:xfrm>
            <a:off x="4434840" y="2359080"/>
            <a:ext cx="33188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100" b="1" u="none" strike="noStrike">
                <a:solidFill>
                  <a:schemeClr val="lt1"/>
                </a:solidFill>
                <a:effectLst/>
                <a:uFillTx/>
                <a:latin typeface="Calibri"/>
              </a:rPr>
              <a:t>STM32L476RG</a:t>
            </a:r>
            <a:endParaRPr lang="fr-FR" sz="2100" b="0" u="none" strike="noStrike">
              <a:solidFill>
                <a:srgbClr val="000000"/>
              </a:solidFill>
              <a:effectLst/>
              <a:uFillTx/>
              <a:latin typeface="Arial"/>
            </a:endParaRPr>
          </a:p>
        </p:txBody>
      </p:sp>
      <p:sp>
        <p:nvSpPr>
          <p:cNvPr id="220" name="Text 10"/>
          <p:cNvSpPr/>
          <p:nvPr/>
        </p:nvSpPr>
        <p:spPr>
          <a:xfrm>
            <a:off x="4526280" y="2724840"/>
            <a:ext cx="313596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chemeClr val="lt2"/>
                </a:solidFill>
                <a:effectLst/>
                <a:uFillTx/>
                <a:latin typeface="Calibri"/>
              </a:rPr>
              <a:t>Cortex‑M4 · 80 MHz · 1 Mo Flash · 128 Ko RAM</a:t>
            </a:r>
            <a:endParaRPr lang="fr-FR" sz="1200" b="0" u="none" strike="noStrike">
              <a:solidFill>
                <a:srgbClr val="000000"/>
              </a:solidFill>
              <a:effectLst/>
              <a:uFillTx/>
              <a:latin typeface="Arial"/>
            </a:endParaRPr>
          </a:p>
        </p:txBody>
      </p:sp>
      <p:sp>
        <p:nvSpPr>
          <p:cNvPr id="221" name="Text 11"/>
          <p:cNvSpPr/>
          <p:nvPr/>
        </p:nvSpPr>
        <p:spPr>
          <a:xfrm>
            <a:off x="4663440" y="3154680"/>
            <a:ext cx="2861640" cy="639720"/>
          </a:xfrm>
          <a:prstGeom prst="roundRect">
            <a:avLst>
              <a:gd name="adj" fmla="val 8571"/>
            </a:avLst>
          </a:prstGeom>
          <a:solidFill>
            <a:schemeClr val="accent3"/>
          </a:solidFill>
          <a:ln w="0">
            <a:noFill/>
          </a:ln>
        </p:spPr>
        <p:style>
          <a:lnRef idx="0"/>
          <a:fillRef idx="0"/>
          <a:effectRef idx="0"/>
          <a:fontRef idx="minor"/>
        </p:style>
        <p:txBody>
          <a:bodyPr lIns="25560" tIns="101520" rIns="101520" bIns="25560" anchor="ctr">
            <a:noAutofit/>
          </a:bodyPr>
          <a:p>
            <a:pPr algn="ctr" defTabSz="914400">
              <a:lnSpc>
                <a:spcPct val="100000"/>
              </a:lnSpc>
              <a:tabLst>
                <a:tab pos="0" algn="l"/>
              </a:tabLst>
            </a:pPr>
            <a:r>
              <a:rPr lang="en-US" sz="1300" b="1" u="none" strike="noStrike">
                <a:solidFill>
                  <a:schemeClr val="accent5"/>
                </a:solidFill>
                <a:effectLst/>
                <a:uFillTx/>
                <a:latin typeface="Calibri"/>
              </a:rPr>
              <a:t>RTC interne</a:t>
            </a:r>
            <a:endParaRPr lang="fr-FR" sz="1300" b="0" u="none" strike="noStrike">
              <a:solidFill>
                <a:srgbClr val="FFFFFF"/>
              </a:solidFill>
              <a:effectLst/>
              <a:uFillTx/>
              <a:latin typeface="Arial"/>
            </a:endParaRPr>
          </a:p>
          <a:p>
            <a:pPr algn="ctr" defTabSz="914400">
              <a:lnSpc>
                <a:spcPct val="100000"/>
              </a:lnSpc>
              <a:tabLst>
                <a:tab pos="0" algn="l"/>
              </a:tabLst>
            </a:pPr>
            <a:r>
              <a:rPr lang="en-US" sz="1200" b="0" u="none" strike="noStrike">
                <a:solidFill>
                  <a:schemeClr val="lt1"/>
                </a:solidFill>
                <a:effectLst/>
                <a:uFillTx/>
                <a:latin typeface="Calibri"/>
              </a:rPr>
              <a:t>date et heure, recalée par le GPS</a:t>
            </a:r>
            <a:endParaRPr lang="fr-FR" sz="1200" b="0" u="none" strike="noStrike">
              <a:solidFill>
                <a:srgbClr val="FFFFFF"/>
              </a:solidFill>
              <a:effectLst/>
              <a:uFillTx/>
              <a:latin typeface="Arial"/>
            </a:endParaRPr>
          </a:p>
        </p:txBody>
      </p:sp>
      <p:sp>
        <p:nvSpPr>
          <p:cNvPr id="222" name="Text 12"/>
          <p:cNvSpPr/>
          <p:nvPr/>
        </p:nvSpPr>
        <p:spPr>
          <a:xfrm>
            <a:off x="4663440" y="3913560"/>
            <a:ext cx="2861640" cy="639720"/>
          </a:xfrm>
          <a:prstGeom prst="roundRect">
            <a:avLst>
              <a:gd name="adj" fmla="val 8571"/>
            </a:avLst>
          </a:prstGeom>
          <a:solidFill>
            <a:schemeClr val="accent3"/>
          </a:solidFill>
          <a:ln w="0">
            <a:noFill/>
          </a:ln>
        </p:spPr>
        <p:style>
          <a:lnRef idx="0"/>
          <a:fillRef idx="0"/>
          <a:effectRef idx="0"/>
          <a:fontRef idx="minor"/>
        </p:style>
        <p:txBody>
          <a:bodyPr lIns="25560" tIns="101520" rIns="101520" bIns="25560" anchor="ctr">
            <a:noAutofit/>
          </a:bodyPr>
          <a:p>
            <a:pPr algn="ctr" defTabSz="914400">
              <a:lnSpc>
                <a:spcPct val="100000"/>
              </a:lnSpc>
              <a:tabLst>
                <a:tab pos="0" algn="l"/>
              </a:tabLst>
            </a:pPr>
            <a:r>
              <a:rPr lang="en-US" sz="1300" b="1" u="none" strike="noStrike">
                <a:solidFill>
                  <a:schemeClr val="accent5"/>
                </a:solidFill>
                <a:effectLst/>
                <a:uFillTx/>
                <a:latin typeface="Calibri"/>
              </a:rPr>
              <a:t>Flash</a:t>
            </a:r>
            <a:endParaRPr lang="fr-FR" sz="1300" b="0" u="none" strike="noStrike">
              <a:solidFill>
                <a:srgbClr val="FFFFFF"/>
              </a:solidFill>
              <a:effectLst/>
              <a:uFillTx/>
              <a:latin typeface="Arial"/>
            </a:endParaRPr>
          </a:p>
          <a:p>
            <a:pPr algn="ctr" defTabSz="914400">
              <a:lnSpc>
                <a:spcPct val="100000"/>
              </a:lnSpc>
              <a:tabLst>
                <a:tab pos="0" algn="l"/>
              </a:tabLst>
            </a:pPr>
            <a:r>
              <a:rPr lang="en-US" sz="1200" b="0" u="none" strike="noStrike">
                <a:solidFill>
                  <a:schemeClr val="lt1"/>
                </a:solidFill>
                <a:effectLst/>
                <a:uFillTx/>
                <a:latin typeface="Calibri"/>
              </a:rPr>
              <a:t>paramètres sauvegardés</a:t>
            </a:r>
            <a:endParaRPr lang="fr-FR" sz="1200" b="0" u="none" strike="noStrike">
              <a:solidFill>
                <a:srgbClr val="FFFFFF"/>
              </a:solidFill>
              <a:effectLst/>
              <a:uFillTx/>
              <a:latin typeface="Arial"/>
            </a:endParaRPr>
          </a:p>
        </p:txBody>
      </p:sp>
      <p:sp>
        <p:nvSpPr>
          <p:cNvPr id="223" name="Text 13"/>
          <p:cNvSpPr/>
          <p:nvPr/>
        </p:nvSpPr>
        <p:spPr>
          <a:xfrm>
            <a:off x="4663440" y="4672440"/>
            <a:ext cx="2861640" cy="639720"/>
          </a:xfrm>
          <a:prstGeom prst="roundRect">
            <a:avLst>
              <a:gd name="adj" fmla="val 8571"/>
            </a:avLst>
          </a:prstGeom>
          <a:solidFill>
            <a:schemeClr val="accent3"/>
          </a:solidFill>
          <a:ln w="0">
            <a:noFill/>
          </a:ln>
        </p:spPr>
        <p:style>
          <a:lnRef idx="0"/>
          <a:fillRef idx="0"/>
          <a:effectRef idx="0"/>
          <a:fontRef idx="minor"/>
        </p:style>
        <p:txBody>
          <a:bodyPr lIns="25560" tIns="101520" rIns="101520" bIns="25560" anchor="ctr">
            <a:noAutofit/>
          </a:bodyPr>
          <a:p>
            <a:pPr algn="ctr" defTabSz="914400">
              <a:lnSpc>
                <a:spcPct val="100000"/>
              </a:lnSpc>
              <a:tabLst>
                <a:tab pos="0" algn="l"/>
              </a:tabLst>
            </a:pPr>
            <a:r>
              <a:rPr lang="en-US" sz="1300" b="1" u="none" strike="noStrike">
                <a:solidFill>
                  <a:schemeClr val="accent5"/>
                </a:solidFill>
                <a:effectLst/>
                <a:uFillTx/>
                <a:latin typeface="Calibri"/>
              </a:rPr>
              <a:t>NVIC</a:t>
            </a:r>
            <a:endParaRPr lang="fr-FR" sz="1300" b="0" u="none" strike="noStrike">
              <a:solidFill>
                <a:srgbClr val="FFFFFF"/>
              </a:solidFill>
              <a:effectLst/>
              <a:uFillTx/>
              <a:latin typeface="Arial"/>
            </a:endParaRPr>
          </a:p>
          <a:p>
            <a:pPr algn="ctr" defTabSz="914400">
              <a:lnSpc>
                <a:spcPct val="100000"/>
              </a:lnSpc>
              <a:tabLst>
                <a:tab pos="0" algn="l"/>
              </a:tabLst>
            </a:pPr>
            <a:r>
              <a:rPr lang="en-US" sz="1200" b="0" u="none" strike="noStrike">
                <a:solidFill>
                  <a:schemeClr val="lt1"/>
                </a:solidFill>
                <a:effectLst/>
                <a:uFillTx/>
                <a:latin typeface="Calibri"/>
              </a:rPr>
              <a:t>interruptions EXTI · UART · SysTick</a:t>
            </a:r>
            <a:endParaRPr lang="fr-FR" sz="1200" b="0" u="none" strike="noStrike">
              <a:solidFill>
                <a:srgbClr val="FFFFFF"/>
              </a:solidFill>
              <a:effectLst/>
              <a:uFillTx/>
              <a:latin typeface="Arial"/>
            </a:endParaRPr>
          </a:p>
        </p:txBody>
      </p:sp>
      <p:sp>
        <p:nvSpPr>
          <p:cNvPr id="224" name="DHT11"/>
          <p:cNvSpPr/>
          <p:nvPr/>
        </p:nvSpPr>
        <p:spPr>
          <a:xfrm>
            <a:off x="548640" y="1645920"/>
            <a:ext cx="2925720" cy="895680"/>
          </a:xfrm>
          <a:prstGeom prst="roundRect">
            <a:avLst>
              <a:gd name="adj" fmla="val 6122"/>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225" name="Shape 15"/>
          <p:cNvSpPr/>
          <p:nvPr/>
        </p:nvSpPr>
        <p:spPr>
          <a:xfrm>
            <a:off x="713160" y="1837800"/>
            <a:ext cx="511560" cy="51156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226" name="Image 1" descr="Thermometer"/>
          <p:cNvPicPr/>
          <p:nvPr/>
        </p:nvPicPr>
        <p:blipFill>
          <a:blip r:embed="rId2"/>
          <a:stretch/>
        </p:blipFill>
        <p:spPr>
          <a:xfrm>
            <a:off x="825840" y="1950480"/>
            <a:ext cx="286560" cy="286560"/>
          </a:xfrm>
          <a:prstGeom prst="rect">
            <a:avLst/>
          </a:prstGeom>
          <a:noFill/>
          <a:ln w="0">
            <a:noFill/>
          </a:ln>
        </p:spPr>
      </p:pic>
      <p:sp>
        <p:nvSpPr>
          <p:cNvPr id="227" name="Text 16"/>
          <p:cNvSpPr/>
          <p:nvPr/>
        </p:nvSpPr>
        <p:spPr>
          <a:xfrm>
            <a:off x="1371600" y="1764720"/>
            <a:ext cx="205704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DHT11</a:t>
            </a:r>
            <a:endParaRPr lang="fr-FR" sz="1500" b="0" u="none" strike="noStrike">
              <a:solidFill>
                <a:srgbClr val="000000"/>
              </a:solidFill>
              <a:effectLst/>
              <a:uFillTx/>
              <a:latin typeface="Arial"/>
            </a:endParaRPr>
          </a:p>
        </p:txBody>
      </p:sp>
      <p:sp>
        <p:nvSpPr>
          <p:cNvPr id="228" name="Text 17"/>
          <p:cNvSpPr/>
          <p:nvPr/>
        </p:nvSpPr>
        <p:spPr>
          <a:xfrm>
            <a:off x="1371600" y="2103120"/>
            <a:ext cx="20570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PB0 · protocole chronométré</a:t>
            </a:r>
            <a:endParaRPr lang="fr-FR" sz="1250" b="0" u="none" strike="noStrike">
              <a:solidFill>
                <a:srgbClr val="000000"/>
              </a:solidFill>
              <a:effectLst/>
              <a:uFillTx/>
              <a:latin typeface="Arial"/>
            </a:endParaRPr>
          </a:p>
        </p:txBody>
      </p:sp>
      <p:sp>
        <p:nvSpPr>
          <p:cNvPr id="229" name="Shape 18"/>
          <p:cNvSpPr/>
          <p:nvPr/>
        </p:nvSpPr>
        <p:spPr>
          <a:xfrm>
            <a:off x="3474720" y="2093760"/>
            <a:ext cx="960120" cy="360"/>
          </a:xfrm>
          <a:prstGeom prst="line">
            <a:avLst/>
          </a:prstGeom>
          <a:ln w="28575">
            <a:solidFill>
              <a:srgbClr val="5B6B7D"/>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230" name="Text 19"/>
          <p:cNvSpPr/>
          <p:nvPr/>
        </p:nvSpPr>
        <p:spPr>
          <a:xfrm>
            <a:off x="3652920" y="1774080"/>
            <a:ext cx="603000" cy="219240"/>
          </a:xfrm>
          <a:prstGeom prst="roundRect">
            <a:avLst>
              <a:gd name="adj" fmla="val 41667"/>
            </a:avLst>
          </a:prstGeom>
          <a:solidFill>
            <a:schemeClr val="bg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5B6B7D"/>
                </a:solidFill>
                <a:effectLst/>
                <a:uFillTx/>
                <a:latin typeface="Calibri"/>
              </a:rPr>
              <a:t>1 fil</a:t>
            </a:r>
            <a:endParaRPr lang="fr-FR" sz="1050" b="0" u="none" strike="noStrike">
              <a:solidFill>
                <a:srgbClr val="000000"/>
              </a:solidFill>
              <a:effectLst/>
              <a:uFillTx/>
              <a:latin typeface="Arial"/>
            </a:endParaRPr>
          </a:p>
        </p:txBody>
      </p:sp>
      <p:sp>
        <p:nvSpPr>
          <p:cNvPr id="231" name="BH1750"/>
          <p:cNvSpPr/>
          <p:nvPr/>
        </p:nvSpPr>
        <p:spPr>
          <a:xfrm>
            <a:off x="548640" y="2642760"/>
            <a:ext cx="2925720" cy="895680"/>
          </a:xfrm>
          <a:prstGeom prst="roundRect">
            <a:avLst>
              <a:gd name="adj" fmla="val 6122"/>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232" name="Shape 21"/>
          <p:cNvSpPr/>
          <p:nvPr/>
        </p:nvSpPr>
        <p:spPr>
          <a:xfrm>
            <a:off x="713160" y="2834640"/>
            <a:ext cx="511560" cy="51156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233" name="Image 2" descr="Sun"/>
          <p:cNvPicPr/>
          <p:nvPr/>
        </p:nvPicPr>
        <p:blipFill>
          <a:blip r:embed="rId3"/>
          <a:stretch/>
        </p:blipFill>
        <p:spPr>
          <a:xfrm>
            <a:off x="825840" y="2947320"/>
            <a:ext cx="286560" cy="286560"/>
          </a:xfrm>
          <a:prstGeom prst="rect">
            <a:avLst/>
          </a:prstGeom>
          <a:noFill/>
          <a:ln w="0">
            <a:noFill/>
          </a:ln>
        </p:spPr>
      </p:pic>
      <p:sp>
        <p:nvSpPr>
          <p:cNvPr id="234" name="Text 22"/>
          <p:cNvSpPr/>
          <p:nvPr/>
        </p:nvSpPr>
        <p:spPr>
          <a:xfrm>
            <a:off x="1371600" y="2761560"/>
            <a:ext cx="205704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BH1750</a:t>
            </a:r>
            <a:endParaRPr lang="fr-FR" sz="1500" b="0" u="none" strike="noStrike">
              <a:solidFill>
                <a:srgbClr val="000000"/>
              </a:solidFill>
              <a:effectLst/>
              <a:uFillTx/>
              <a:latin typeface="Arial"/>
            </a:endParaRPr>
          </a:p>
        </p:txBody>
      </p:sp>
      <p:sp>
        <p:nvSpPr>
          <p:cNvPr id="235" name="Text 23"/>
          <p:cNvSpPr/>
          <p:nvPr/>
        </p:nvSpPr>
        <p:spPr>
          <a:xfrm>
            <a:off x="1371600" y="3099960"/>
            <a:ext cx="20570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PB8 / PB9 · adresse 0x23</a:t>
            </a:r>
            <a:endParaRPr lang="fr-FR" sz="1250" b="0" u="none" strike="noStrike">
              <a:solidFill>
                <a:srgbClr val="000000"/>
              </a:solidFill>
              <a:effectLst/>
              <a:uFillTx/>
              <a:latin typeface="Arial"/>
            </a:endParaRPr>
          </a:p>
        </p:txBody>
      </p:sp>
      <p:sp>
        <p:nvSpPr>
          <p:cNvPr id="236" name="Shape 24"/>
          <p:cNvSpPr/>
          <p:nvPr/>
        </p:nvSpPr>
        <p:spPr>
          <a:xfrm>
            <a:off x="3474720" y="3090600"/>
            <a:ext cx="960120" cy="360"/>
          </a:xfrm>
          <a:prstGeom prst="line">
            <a:avLst/>
          </a:prstGeom>
          <a:ln w="28575">
            <a:solidFill>
              <a:srgbClr val="0B8A96"/>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237" name="Text 25"/>
          <p:cNvSpPr/>
          <p:nvPr/>
        </p:nvSpPr>
        <p:spPr>
          <a:xfrm>
            <a:off x="3652920" y="2770560"/>
            <a:ext cx="603000" cy="219240"/>
          </a:xfrm>
          <a:prstGeom prst="roundRect">
            <a:avLst>
              <a:gd name="adj" fmla="val 41667"/>
            </a:avLst>
          </a:prstGeom>
          <a:solidFill>
            <a:schemeClr val="bg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0B8A96"/>
                </a:solidFill>
                <a:effectLst/>
                <a:uFillTx/>
                <a:latin typeface="Calibri"/>
              </a:rPr>
              <a:t>I2C1</a:t>
            </a:r>
            <a:endParaRPr lang="fr-FR" sz="1050" b="0" u="none" strike="noStrike">
              <a:solidFill>
                <a:srgbClr val="000000"/>
              </a:solidFill>
              <a:effectLst/>
              <a:uFillTx/>
              <a:latin typeface="Arial"/>
            </a:endParaRPr>
          </a:p>
        </p:txBody>
      </p:sp>
      <p:sp>
        <p:nvSpPr>
          <p:cNvPr id="238" name="Module GPS"/>
          <p:cNvSpPr/>
          <p:nvPr/>
        </p:nvSpPr>
        <p:spPr>
          <a:xfrm>
            <a:off x="548640" y="3639240"/>
            <a:ext cx="2925720" cy="895680"/>
          </a:xfrm>
          <a:prstGeom prst="roundRect">
            <a:avLst>
              <a:gd name="adj" fmla="val 6122"/>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239" name="Shape 27"/>
          <p:cNvSpPr/>
          <p:nvPr/>
        </p:nvSpPr>
        <p:spPr>
          <a:xfrm>
            <a:off x="713160" y="3831480"/>
            <a:ext cx="511560" cy="51156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240" name="Image 3" descr="MapPin"/>
          <p:cNvPicPr/>
          <p:nvPr/>
        </p:nvPicPr>
        <p:blipFill>
          <a:blip r:embed="rId4"/>
          <a:stretch/>
        </p:blipFill>
        <p:spPr>
          <a:xfrm>
            <a:off x="825840" y="3944160"/>
            <a:ext cx="286560" cy="286560"/>
          </a:xfrm>
          <a:prstGeom prst="rect">
            <a:avLst/>
          </a:prstGeom>
          <a:noFill/>
          <a:ln w="0">
            <a:noFill/>
          </a:ln>
        </p:spPr>
      </p:pic>
      <p:sp>
        <p:nvSpPr>
          <p:cNvPr id="241" name="Text 28"/>
          <p:cNvSpPr/>
          <p:nvPr/>
        </p:nvSpPr>
        <p:spPr>
          <a:xfrm>
            <a:off x="1371600" y="3758040"/>
            <a:ext cx="205704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Module GPS</a:t>
            </a:r>
            <a:endParaRPr lang="fr-FR" sz="1500" b="0" u="none" strike="noStrike">
              <a:solidFill>
                <a:srgbClr val="000000"/>
              </a:solidFill>
              <a:effectLst/>
              <a:uFillTx/>
              <a:latin typeface="Arial"/>
            </a:endParaRPr>
          </a:p>
        </p:txBody>
      </p:sp>
      <p:sp>
        <p:nvSpPr>
          <p:cNvPr id="242" name="Text 29"/>
          <p:cNvSpPr/>
          <p:nvPr/>
        </p:nvSpPr>
        <p:spPr>
          <a:xfrm>
            <a:off x="1371600" y="4096440"/>
            <a:ext cx="20570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PC10 / PC11 · 9600 Bd</a:t>
            </a:r>
            <a:endParaRPr lang="fr-FR" sz="1250" b="0" u="none" strike="noStrike">
              <a:solidFill>
                <a:srgbClr val="000000"/>
              </a:solidFill>
              <a:effectLst/>
              <a:uFillTx/>
              <a:latin typeface="Arial"/>
            </a:endParaRPr>
          </a:p>
        </p:txBody>
      </p:sp>
      <p:sp>
        <p:nvSpPr>
          <p:cNvPr id="243" name="Shape 30"/>
          <p:cNvSpPr/>
          <p:nvPr/>
        </p:nvSpPr>
        <p:spPr>
          <a:xfrm>
            <a:off x="3474720" y="4087080"/>
            <a:ext cx="960120" cy="360"/>
          </a:xfrm>
          <a:prstGeom prst="line">
            <a:avLst/>
          </a:prstGeom>
          <a:ln w="28575">
            <a:solidFill>
              <a:srgbClr val="1B3A5C"/>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244" name="Text 31"/>
          <p:cNvSpPr/>
          <p:nvPr/>
        </p:nvSpPr>
        <p:spPr>
          <a:xfrm>
            <a:off x="3652920" y="3767400"/>
            <a:ext cx="603000" cy="219240"/>
          </a:xfrm>
          <a:prstGeom prst="roundRect">
            <a:avLst>
              <a:gd name="adj" fmla="val 41667"/>
            </a:avLst>
          </a:prstGeom>
          <a:solidFill>
            <a:schemeClr val="bg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1B3A5C"/>
                </a:solidFill>
                <a:effectLst/>
                <a:uFillTx/>
                <a:latin typeface="Calibri"/>
              </a:rPr>
              <a:t>USART3</a:t>
            </a:r>
            <a:endParaRPr lang="fr-FR" sz="1050" b="0" u="none" strike="noStrike">
              <a:solidFill>
                <a:srgbClr val="000000"/>
              </a:solidFill>
              <a:effectLst/>
              <a:uFillTx/>
              <a:latin typeface="Arial"/>
            </a:endParaRPr>
          </a:p>
        </p:txBody>
      </p:sp>
      <p:sp>
        <p:nvSpPr>
          <p:cNvPr id="245" name="Boutons rouge / vert"/>
          <p:cNvSpPr/>
          <p:nvPr/>
        </p:nvSpPr>
        <p:spPr>
          <a:xfrm>
            <a:off x="548640" y="4636080"/>
            <a:ext cx="2925720" cy="895680"/>
          </a:xfrm>
          <a:prstGeom prst="roundRect">
            <a:avLst>
              <a:gd name="adj" fmla="val 6122"/>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246" name="Shape 33"/>
          <p:cNvSpPr/>
          <p:nvPr/>
        </p:nvSpPr>
        <p:spPr>
          <a:xfrm>
            <a:off x="713160" y="4827960"/>
            <a:ext cx="511560" cy="51156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247" name="Image 4" descr="MousePointerClick"/>
          <p:cNvPicPr/>
          <p:nvPr/>
        </p:nvPicPr>
        <p:blipFill>
          <a:blip r:embed="rId5"/>
          <a:stretch/>
        </p:blipFill>
        <p:spPr>
          <a:xfrm>
            <a:off x="825840" y="4940640"/>
            <a:ext cx="286560" cy="286560"/>
          </a:xfrm>
          <a:prstGeom prst="rect">
            <a:avLst/>
          </a:prstGeom>
          <a:noFill/>
          <a:ln w="0">
            <a:noFill/>
          </a:ln>
        </p:spPr>
      </p:pic>
      <p:sp>
        <p:nvSpPr>
          <p:cNvPr id="248" name="Text 34"/>
          <p:cNvSpPr/>
          <p:nvPr/>
        </p:nvSpPr>
        <p:spPr>
          <a:xfrm>
            <a:off x="1371600" y="4754880"/>
            <a:ext cx="205704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Boutons rouge / vert</a:t>
            </a:r>
            <a:endParaRPr lang="fr-FR" sz="1500" b="0" u="none" strike="noStrike">
              <a:solidFill>
                <a:srgbClr val="000000"/>
              </a:solidFill>
              <a:effectLst/>
              <a:uFillTx/>
              <a:latin typeface="Arial"/>
            </a:endParaRPr>
          </a:p>
        </p:txBody>
      </p:sp>
      <p:sp>
        <p:nvSpPr>
          <p:cNvPr id="249" name="Text 35"/>
          <p:cNvSpPr/>
          <p:nvPr/>
        </p:nvSpPr>
        <p:spPr>
          <a:xfrm>
            <a:off x="1371600" y="5093280"/>
            <a:ext cx="20570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PC3 · PC13 (B1)</a:t>
            </a:r>
            <a:endParaRPr lang="fr-FR" sz="1250" b="0" u="none" strike="noStrike">
              <a:solidFill>
                <a:srgbClr val="000000"/>
              </a:solidFill>
              <a:effectLst/>
              <a:uFillTx/>
              <a:latin typeface="Arial"/>
            </a:endParaRPr>
          </a:p>
        </p:txBody>
      </p:sp>
      <p:sp>
        <p:nvSpPr>
          <p:cNvPr id="250" name="Shape 36"/>
          <p:cNvSpPr/>
          <p:nvPr/>
        </p:nvSpPr>
        <p:spPr>
          <a:xfrm>
            <a:off x="3474720" y="5083920"/>
            <a:ext cx="960120" cy="360"/>
          </a:xfrm>
          <a:prstGeom prst="line">
            <a:avLst/>
          </a:prstGeom>
          <a:ln w="28575">
            <a:solidFill>
              <a:srgbClr val="5B6B7D"/>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251" name="Text 37"/>
          <p:cNvSpPr/>
          <p:nvPr/>
        </p:nvSpPr>
        <p:spPr>
          <a:xfrm>
            <a:off x="3652920" y="4763880"/>
            <a:ext cx="603000" cy="219240"/>
          </a:xfrm>
          <a:prstGeom prst="roundRect">
            <a:avLst>
              <a:gd name="adj" fmla="val 41667"/>
            </a:avLst>
          </a:prstGeom>
          <a:solidFill>
            <a:schemeClr val="bg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5B6B7D"/>
                </a:solidFill>
                <a:effectLst/>
                <a:uFillTx/>
                <a:latin typeface="Calibri"/>
              </a:rPr>
              <a:t>EXTI</a:t>
            </a:r>
            <a:endParaRPr lang="fr-FR" sz="1050" b="0" u="none" strike="noStrike">
              <a:solidFill>
                <a:srgbClr val="000000"/>
              </a:solidFill>
              <a:effectLst/>
              <a:uFillTx/>
              <a:latin typeface="Arial"/>
            </a:endParaRPr>
          </a:p>
        </p:txBody>
      </p:sp>
      <p:sp>
        <p:nvSpPr>
          <p:cNvPr id="252" name="Carte SD (FatFS)"/>
          <p:cNvSpPr/>
          <p:nvPr/>
        </p:nvSpPr>
        <p:spPr>
          <a:xfrm>
            <a:off x="8714160" y="2144160"/>
            <a:ext cx="2925720" cy="895680"/>
          </a:xfrm>
          <a:prstGeom prst="roundRect">
            <a:avLst>
              <a:gd name="adj" fmla="val 6122"/>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253" name="Shape 39"/>
          <p:cNvSpPr/>
          <p:nvPr/>
        </p:nvSpPr>
        <p:spPr>
          <a:xfrm>
            <a:off x="8878680" y="2336400"/>
            <a:ext cx="511560" cy="51156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254" name="Image 5" descr="Save"/>
          <p:cNvPicPr/>
          <p:nvPr/>
        </p:nvPicPr>
        <p:blipFill>
          <a:blip r:embed="rId6"/>
          <a:stretch/>
        </p:blipFill>
        <p:spPr>
          <a:xfrm>
            <a:off x="8991360" y="2449080"/>
            <a:ext cx="286560" cy="286560"/>
          </a:xfrm>
          <a:prstGeom prst="rect">
            <a:avLst/>
          </a:prstGeom>
          <a:noFill/>
          <a:ln w="0">
            <a:noFill/>
          </a:ln>
        </p:spPr>
      </p:pic>
      <p:sp>
        <p:nvSpPr>
          <p:cNvPr id="255" name="Text 40"/>
          <p:cNvSpPr/>
          <p:nvPr/>
        </p:nvSpPr>
        <p:spPr>
          <a:xfrm>
            <a:off x="9537120" y="2263320"/>
            <a:ext cx="205704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Carte SD (FatFS)</a:t>
            </a:r>
            <a:endParaRPr lang="fr-FR" sz="1500" b="0" u="none" strike="noStrike">
              <a:solidFill>
                <a:srgbClr val="000000"/>
              </a:solidFill>
              <a:effectLst/>
              <a:uFillTx/>
              <a:latin typeface="Arial"/>
            </a:endParaRPr>
          </a:p>
        </p:txBody>
      </p:sp>
      <p:sp>
        <p:nvSpPr>
          <p:cNvPr id="256" name="Text 41"/>
          <p:cNvSpPr/>
          <p:nvPr/>
        </p:nvSpPr>
        <p:spPr>
          <a:xfrm>
            <a:off x="9537120" y="2601360"/>
            <a:ext cx="20570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PA5 / PA6 / PA7 · CS PB6</a:t>
            </a:r>
            <a:endParaRPr lang="fr-FR" sz="1250" b="0" u="none" strike="noStrike">
              <a:solidFill>
                <a:srgbClr val="000000"/>
              </a:solidFill>
              <a:effectLst/>
              <a:uFillTx/>
              <a:latin typeface="Arial"/>
            </a:endParaRPr>
          </a:p>
        </p:txBody>
      </p:sp>
      <p:sp>
        <p:nvSpPr>
          <p:cNvPr id="257" name="Shape 42"/>
          <p:cNvSpPr/>
          <p:nvPr/>
        </p:nvSpPr>
        <p:spPr>
          <a:xfrm>
            <a:off x="7754040" y="2592000"/>
            <a:ext cx="960120" cy="360"/>
          </a:xfrm>
          <a:prstGeom prst="line">
            <a:avLst/>
          </a:prstGeom>
          <a:ln w="28575">
            <a:solidFill>
              <a:srgbClr val="E08A1E"/>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258" name="Text 43"/>
          <p:cNvSpPr/>
          <p:nvPr/>
        </p:nvSpPr>
        <p:spPr>
          <a:xfrm>
            <a:off x="7932600" y="2272320"/>
            <a:ext cx="603000" cy="219240"/>
          </a:xfrm>
          <a:prstGeom prst="roundRect">
            <a:avLst>
              <a:gd name="adj" fmla="val 41667"/>
            </a:avLst>
          </a:prstGeom>
          <a:solidFill>
            <a:schemeClr val="bg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E08A1E"/>
                </a:solidFill>
                <a:effectLst/>
                <a:uFillTx/>
                <a:latin typeface="Calibri"/>
              </a:rPr>
              <a:t>SPI1</a:t>
            </a:r>
            <a:endParaRPr lang="fr-FR" sz="1050" b="0" u="none" strike="noStrike">
              <a:solidFill>
                <a:srgbClr val="000000"/>
              </a:solidFill>
              <a:effectLst/>
              <a:uFillTx/>
              <a:latin typeface="Arial"/>
            </a:endParaRPr>
          </a:p>
        </p:txBody>
      </p:sp>
      <p:sp>
        <p:nvSpPr>
          <p:cNvPr id="259" name="LED RGB"/>
          <p:cNvSpPr/>
          <p:nvPr/>
        </p:nvSpPr>
        <p:spPr>
          <a:xfrm>
            <a:off x="8714160" y="3141000"/>
            <a:ext cx="2925720" cy="895680"/>
          </a:xfrm>
          <a:prstGeom prst="roundRect">
            <a:avLst>
              <a:gd name="adj" fmla="val 6122"/>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260" name="Shape 45"/>
          <p:cNvSpPr/>
          <p:nvPr/>
        </p:nvSpPr>
        <p:spPr>
          <a:xfrm>
            <a:off x="8878680" y="3332880"/>
            <a:ext cx="511560" cy="51156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261" name="Image 6" descr="Lightbulb"/>
          <p:cNvPicPr/>
          <p:nvPr/>
        </p:nvPicPr>
        <p:blipFill>
          <a:blip r:embed="rId7"/>
          <a:stretch/>
        </p:blipFill>
        <p:spPr>
          <a:xfrm>
            <a:off x="8991360" y="3445560"/>
            <a:ext cx="286560" cy="286560"/>
          </a:xfrm>
          <a:prstGeom prst="rect">
            <a:avLst/>
          </a:prstGeom>
          <a:noFill/>
          <a:ln w="0">
            <a:noFill/>
          </a:ln>
        </p:spPr>
      </p:pic>
      <p:sp>
        <p:nvSpPr>
          <p:cNvPr id="262" name="Text 46"/>
          <p:cNvSpPr/>
          <p:nvPr/>
        </p:nvSpPr>
        <p:spPr>
          <a:xfrm>
            <a:off x="9537120" y="3259800"/>
            <a:ext cx="205704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LED RGB</a:t>
            </a:r>
            <a:endParaRPr lang="fr-FR" sz="1500" b="0" u="none" strike="noStrike">
              <a:solidFill>
                <a:srgbClr val="000000"/>
              </a:solidFill>
              <a:effectLst/>
              <a:uFillTx/>
              <a:latin typeface="Arial"/>
            </a:endParaRPr>
          </a:p>
        </p:txBody>
      </p:sp>
      <p:sp>
        <p:nvSpPr>
          <p:cNvPr id="263" name="Text 47"/>
          <p:cNvSpPr/>
          <p:nvPr/>
        </p:nvSpPr>
        <p:spPr>
          <a:xfrm>
            <a:off x="9537120" y="3598200"/>
            <a:ext cx="20570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PA0 / PA1 / PA4</a:t>
            </a:r>
            <a:endParaRPr lang="fr-FR" sz="1250" b="0" u="none" strike="noStrike">
              <a:solidFill>
                <a:srgbClr val="000000"/>
              </a:solidFill>
              <a:effectLst/>
              <a:uFillTx/>
              <a:latin typeface="Arial"/>
            </a:endParaRPr>
          </a:p>
        </p:txBody>
      </p:sp>
      <p:sp>
        <p:nvSpPr>
          <p:cNvPr id="264" name="Shape 48"/>
          <p:cNvSpPr/>
          <p:nvPr/>
        </p:nvSpPr>
        <p:spPr>
          <a:xfrm>
            <a:off x="7754040" y="3588840"/>
            <a:ext cx="960120" cy="360"/>
          </a:xfrm>
          <a:prstGeom prst="line">
            <a:avLst/>
          </a:prstGeom>
          <a:ln w="28575">
            <a:solidFill>
              <a:srgbClr val="5B6B7D"/>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265" name="Text 49"/>
          <p:cNvSpPr/>
          <p:nvPr/>
        </p:nvSpPr>
        <p:spPr>
          <a:xfrm>
            <a:off x="7932600" y="3269160"/>
            <a:ext cx="603000" cy="219240"/>
          </a:xfrm>
          <a:prstGeom prst="roundRect">
            <a:avLst>
              <a:gd name="adj" fmla="val 41667"/>
            </a:avLst>
          </a:prstGeom>
          <a:solidFill>
            <a:schemeClr val="bg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5B6B7D"/>
                </a:solidFill>
                <a:effectLst/>
                <a:uFillTx/>
                <a:latin typeface="Calibri"/>
              </a:rPr>
              <a:t>GPIO</a:t>
            </a:r>
            <a:endParaRPr lang="fr-FR" sz="1050" b="0" u="none" strike="noStrike">
              <a:solidFill>
                <a:srgbClr val="000000"/>
              </a:solidFill>
              <a:effectLst/>
              <a:uFillTx/>
              <a:latin typeface="Arial"/>
            </a:endParaRPr>
          </a:p>
        </p:txBody>
      </p:sp>
      <p:sp>
        <p:nvSpPr>
          <p:cNvPr id="266" name="PC · console série"/>
          <p:cNvSpPr/>
          <p:nvPr/>
        </p:nvSpPr>
        <p:spPr>
          <a:xfrm>
            <a:off x="8714160" y="4137840"/>
            <a:ext cx="2925720" cy="895680"/>
          </a:xfrm>
          <a:prstGeom prst="roundRect">
            <a:avLst>
              <a:gd name="adj" fmla="val 6122"/>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267" name="Shape 51"/>
          <p:cNvSpPr/>
          <p:nvPr/>
        </p:nvSpPr>
        <p:spPr>
          <a:xfrm>
            <a:off x="8878680" y="4329720"/>
            <a:ext cx="511560" cy="51156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268" name="Image 7" descr="Terminal"/>
          <p:cNvPicPr/>
          <p:nvPr/>
        </p:nvPicPr>
        <p:blipFill>
          <a:blip r:embed="rId8"/>
          <a:stretch/>
        </p:blipFill>
        <p:spPr>
          <a:xfrm>
            <a:off x="8991360" y="4442400"/>
            <a:ext cx="286560" cy="286560"/>
          </a:xfrm>
          <a:prstGeom prst="rect">
            <a:avLst/>
          </a:prstGeom>
          <a:noFill/>
          <a:ln w="0">
            <a:noFill/>
          </a:ln>
        </p:spPr>
      </p:pic>
      <p:sp>
        <p:nvSpPr>
          <p:cNvPr id="269" name="Text 52"/>
          <p:cNvSpPr/>
          <p:nvPr/>
        </p:nvSpPr>
        <p:spPr>
          <a:xfrm>
            <a:off x="9537120" y="4256640"/>
            <a:ext cx="205704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PC · console série</a:t>
            </a:r>
            <a:endParaRPr lang="fr-FR" sz="1500" b="0" u="none" strike="noStrike">
              <a:solidFill>
                <a:srgbClr val="000000"/>
              </a:solidFill>
              <a:effectLst/>
              <a:uFillTx/>
              <a:latin typeface="Arial"/>
            </a:endParaRPr>
          </a:p>
        </p:txBody>
      </p:sp>
      <p:sp>
        <p:nvSpPr>
          <p:cNvPr id="270" name="Text 53"/>
          <p:cNvSpPr/>
          <p:nvPr/>
        </p:nvSpPr>
        <p:spPr>
          <a:xfrm>
            <a:off x="9537120" y="4595040"/>
            <a:ext cx="20570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via ST-LINK · 115 200 Bd</a:t>
            </a:r>
            <a:endParaRPr lang="fr-FR" sz="1250" b="0" u="none" strike="noStrike">
              <a:solidFill>
                <a:srgbClr val="000000"/>
              </a:solidFill>
              <a:effectLst/>
              <a:uFillTx/>
              <a:latin typeface="Arial"/>
            </a:endParaRPr>
          </a:p>
        </p:txBody>
      </p:sp>
      <p:sp>
        <p:nvSpPr>
          <p:cNvPr id="271" name="Shape 54"/>
          <p:cNvSpPr/>
          <p:nvPr/>
        </p:nvSpPr>
        <p:spPr>
          <a:xfrm>
            <a:off x="7754040" y="4585680"/>
            <a:ext cx="960120" cy="360"/>
          </a:xfrm>
          <a:prstGeom prst="line">
            <a:avLst/>
          </a:prstGeom>
          <a:ln w="28575">
            <a:solidFill>
              <a:srgbClr val="1B3A5C"/>
            </a:solidFill>
            <a:round/>
            <a:headEnd len="med" type="triangle" w="me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272" name="Text 55"/>
          <p:cNvSpPr/>
          <p:nvPr/>
        </p:nvSpPr>
        <p:spPr>
          <a:xfrm>
            <a:off x="7932600" y="4265640"/>
            <a:ext cx="603000" cy="219240"/>
          </a:xfrm>
          <a:prstGeom prst="roundRect">
            <a:avLst>
              <a:gd name="adj" fmla="val 41667"/>
            </a:avLst>
          </a:prstGeom>
          <a:solidFill>
            <a:schemeClr val="bg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1B3A5C"/>
                </a:solidFill>
                <a:effectLst/>
                <a:uFillTx/>
                <a:latin typeface="Calibri"/>
              </a:rPr>
              <a:t>USART2</a:t>
            </a:r>
            <a:endParaRPr lang="fr-FR" sz="1050" b="0" u="none" strike="noStrike">
              <a:solidFill>
                <a:srgbClr val="000000"/>
              </a:solidFill>
              <a:effectLst/>
              <a:uFillTx/>
              <a:latin typeface="Arial"/>
            </a:endParaRPr>
          </a:p>
        </p:txBody>
      </p:sp>
      <p:sp>
        <p:nvSpPr>
          <p:cNvPr id="273" name="Text 57"/>
          <p:cNvSpPr/>
          <p:nvPr/>
        </p:nvSpPr>
        <p:spPr>
          <a:xfrm>
            <a:off x="548640" y="6035040"/>
            <a:ext cx="11091240" cy="255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50" b="0" i="1" u="none" strike="noStrike">
                <a:solidFill>
                  <a:schemeClr val="accent6"/>
                </a:solidFill>
                <a:effectLst/>
                <a:uFillTx/>
                <a:latin typeface="Calibri"/>
              </a:rPr>
              <a:t>Schéma fonctionnel, pas un schéma de câblage — broches issues de la cheat sheet, de la configuration CubeMX et du code</a:t>
            </a:r>
            <a:endParaRPr lang="fr-FR" sz="1150" b="0" u="none" strike="noStrike">
              <a:solidFill>
                <a:srgbClr val="000000"/>
              </a:solidFill>
              <a:effectLst/>
              <a:uFillTx/>
              <a:latin typeface="Arial"/>
            </a:endParaRPr>
          </a:p>
        </p:txBody>
      </p:sp>
      <p:sp>
        <p:nvSpPr>
          <p:cNvPr id="274" name="PlaceHolder 3"/>
          <p:cNvSpPr>
            <a:spLocks noGrp="1"/>
          </p:cNvSpPr>
          <p:nvPr>
            <p:ph type="sldNum" idx="9"/>
          </p:nvPr>
        </p:nvSpPr>
        <p:spPr>
          <a:xfrm>
            <a:off x="11091600" y="6437520"/>
            <a:ext cx="548280" cy="219240"/>
          </a:xfrm>
          <a:prstGeom prst="rect">
            <a:avLst/>
          </a:prstGeom>
          <a:noFill/>
          <a:ln w="0">
            <a:noFill/>
          </a:ln>
        </p:spPr>
        <p:txBody>
          <a:bodyPr lIns="0" tIns="0" rIns="0" bIns="0" anchor="ctr" anchorCtr="1">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F7B6C6E2-AF03-4F59-957C-8070EC1528B8}"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02 · MATÉRIEL ET ARCHITECTURE</a:t>
            </a:r>
            <a:endParaRPr lang="fr-FR" sz="1100" b="0" u="none" strike="noStrike">
              <a:solidFill>
                <a:schemeClr val="dk1"/>
              </a:solidFill>
              <a:effectLst/>
              <a:uFillTx/>
              <a:latin typeface="Calibri"/>
            </a:endParaRPr>
          </a:p>
        </p:txBody>
      </p:sp>
      <p:sp>
        <p:nvSpPr>
          <p:cNvPr id="276"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Un firmware en couches, piloté par une boucle principale</a:t>
            </a:r>
            <a:endParaRPr lang="fr-FR" sz="2800" b="0" u="none" strike="noStrike">
              <a:solidFill>
                <a:schemeClr val="dk1"/>
              </a:solidFill>
              <a:effectLst/>
              <a:uFillTx/>
              <a:latin typeface="Calibri"/>
            </a:endParaRPr>
          </a:p>
        </p:txBody>
      </p:sp>
      <p:sp>
        <p:nvSpPr>
          <p:cNvPr id="277"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278" name="Text 3"/>
          <p:cNvSpPr/>
          <p:nvPr/>
        </p:nvSpPr>
        <p:spPr>
          <a:xfrm>
            <a:off x="973368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02</a:t>
            </a:r>
            <a:endParaRPr lang="fr-FR" sz="950" b="0" u="none" strike="noStrike">
              <a:solidFill>
                <a:srgbClr val="FFFFFF"/>
              </a:solidFill>
              <a:effectLst/>
              <a:uFillTx/>
              <a:latin typeface="Arial"/>
            </a:endParaRPr>
          </a:p>
        </p:txBody>
      </p:sp>
      <p:sp>
        <p:nvSpPr>
          <p:cNvPr id="279" name="Text 4"/>
          <p:cNvSpPr/>
          <p:nvPr/>
        </p:nvSpPr>
        <p:spPr>
          <a:xfrm>
            <a:off x="1022292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03</a:t>
            </a:r>
            <a:endParaRPr lang="fr-FR" sz="950" b="0" u="none" strike="noStrike">
              <a:solidFill>
                <a:srgbClr val="000000"/>
              </a:solidFill>
              <a:effectLst/>
              <a:uFillTx/>
              <a:latin typeface="Arial"/>
            </a:endParaRPr>
          </a:p>
        </p:txBody>
      </p:sp>
      <p:sp>
        <p:nvSpPr>
          <p:cNvPr id="280" name="Text 5"/>
          <p:cNvSpPr/>
          <p:nvPr/>
        </p:nvSpPr>
        <p:spPr>
          <a:xfrm>
            <a:off x="1071216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04</a:t>
            </a:r>
            <a:endParaRPr lang="fr-FR" sz="950" b="0" u="none" strike="noStrike">
              <a:solidFill>
                <a:srgbClr val="000000"/>
              </a:solidFill>
              <a:effectLst/>
              <a:uFillTx/>
              <a:latin typeface="Arial"/>
            </a:endParaRPr>
          </a:p>
        </p:txBody>
      </p:sp>
      <p:sp>
        <p:nvSpPr>
          <p:cNvPr id="281" name="Text 6"/>
          <p:cNvSpPr/>
          <p:nvPr/>
        </p:nvSpPr>
        <p:spPr>
          <a:xfrm>
            <a:off x="1120140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05</a:t>
            </a:r>
            <a:endParaRPr lang="fr-FR" sz="950" b="0" u="none" strike="noStrike">
              <a:solidFill>
                <a:srgbClr val="000000"/>
              </a:solidFill>
              <a:effectLst/>
              <a:uFillTx/>
              <a:latin typeface="Arial"/>
            </a:endParaRPr>
          </a:p>
        </p:txBody>
      </p:sp>
      <p:sp>
        <p:nvSpPr>
          <p:cNvPr id="282" name="Shape 7"/>
          <p:cNvSpPr/>
          <p:nvPr/>
        </p:nvSpPr>
        <p:spPr>
          <a:xfrm>
            <a:off x="548640" y="1572840"/>
            <a:ext cx="4663080" cy="731160"/>
          </a:xfrm>
          <a:prstGeom prst="roundRect">
            <a:avLst>
              <a:gd name="adj" fmla="val 7500"/>
            </a:avLst>
          </a:prstGeom>
          <a:solidFill>
            <a:schemeClr val="tx2"/>
          </a:solidFill>
          <a:ln w="0">
            <a:noFill/>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283" name="Image 0" descr="Settings"/>
          <p:cNvPicPr/>
          <p:nvPr/>
        </p:nvPicPr>
        <p:blipFill>
          <a:blip r:embed="rId1"/>
          <a:stretch/>
        </p:blipFill>
        <p:spPr>
          <a:xfrm>
            <a:off x="749880" y="1774080"/>
            <a:ext cx="328680" cy="328680"/>
          </a:xfrm>
          <a:prstGeom prst="rect">
            <a:avLst/>
          </a:prstGeom>
          <a:noFill/>
          <a:ln w="0">
            <a:noFill/>
          </a:ln>
        </p:spPr>
      </p:pic>
      <p:sp>
        <p:nvSpPr>
          <p:cNvPr id="284" name="Text 8"/>
          <p:cNvSpPr/>
          <p:nvPr/>
        </p:nvSpPr>
        <p:spPr>
          <a:xfrm>
            <a:off x="1261800" y="1572840"/>
            <a:ext cx="38858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accent5"/>
                </a:solidFill>
                <a:effectLst/>
                <a:uFillTx/>
                <a:latin typeface="Calibri"/>
              </a:rPr>
              <a:t>Application · station.c</a:t>
            </a:r>
            <a:endParaRPr lang="fr-FR" sz="15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lt1"/>
                </a:solidFill>
                <a:effectLst/>
                <a:uFillTx/>
                <a:latin typeface="Calibri"/>
              </a:rPr>
              <a:t>modes, acquisition, carte SD, configuration, LED et erreurs</a:t>
            </a:r>
            <a:endParaRPr lang="fr-FR" sz="1300" b="0" u="none" strike="noStrike">
              <a:solidFill>
                <a:srgbClr val="000000"/>
              </a:solidFill>
              <a:effectLst/>
              <a:uFillTx/>
              <a:latin typeface="Arial"/>
            </a:endParaRPr>
          </a:p>
        </p:txBody>
      </p:sp>
      <p:sp>
        <p:nvSpPr>
          <p:cNvPr id="285" name="Shape 9"/>
          <p:cNvSpPr/>
          <p:nvPr/>
        </p:nvSpPr>
        <p:spPr>
          <a:xfrm>
            <a:off x="548640" y="2395800"/>
            <a:ext cx="4663080" cy="731160"/>
          </a:xfrm>
          <a:prstGeom prst="roundRect">
            <a:avLst>
              <a:gd name="adj" fmla="val 7500"/>
            </a:avLst>
          </a:prstGeom>
          <a:solidFill>
            <a:schemeClr val="accent3"/>
          </a:solidFill>
          <a:ln w="0">
            <a:noFill/>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286" name="Image 1" descr="Play"/>
          <p:cNvPicPr/>
          <p:nvPr/>
        </p:nvPicPr>
        <p:blipFill>
          <a:blip r:embed="rId2"/>
          <a:stretch/>
        </p:blipFill>
        <p:spPr>
          <a:xfrm>
            <a:off x="749880" y="2597040"/>
            <a:ext cx="328680" cy="328680"/>
          </a:xfrm>
          <a:prstGeom prst="rect">
            <a:avLst/>
          </a:prstGeom>
          <a:noFill/>
          <a:ln w="0">
            <a:noFill/>
          </a:ln>
        </p:spPr>
      </p:pic>
      <p:sp>
        <p:nvSpPr>
          <p:cNvPr id="287" name="Text 10"/>
          <p:cNvSpPr/>
          <p:nvPr/>
        </p:nvSpPr>
        <p:spPr>
          <a:xfrm>
            <a:off x="1261800" y="2395800"/>
            <a:ext cx="38858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accent5"/>
                </a:solidFill>
                <a:effectLst/>
                <a:uFillTx/>
                <a:latin typeface="Calibri"/>
              </a:rPr>
              <a:t>Démarrage · main.c</a:t>
            </a:r>
            <a:endParaRPr lang="fr-FR" sz="15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lt1"/>
                </a:solidFill>
                <a:effectLst/>
                <a:uFillTx/>
                <a:latin typeface="Calibri"/>
              </a:rPr>
              <a:t>initialisation, diagnostic matériel</a:t>
            </a:r>
            <a:endParaRPr lang="fr-FR" sz="1300" b="0" u="none" strike="noStrike">
              <a:solidFill>
                <a:srgbClr val="000000"/>
              </a:solidFill>
              <a:effectLst/>
              <a:uFillTx/>
              <a:latin typeface="Arial"/>
            </a:endParaRPr>
          </a:p>
        </p:txBody>
      </p:sp>
      <p:sp>
        <p:nvSpPr>
          <p:cNvPr id="288" name="Shape 11"/>
          <p:cNvSpPr/>
          <p:nvPr/>
        </p:nvSpPr>
        <p:spPr>
          <a:xfrm>
            <a:off x="548640" y="3218760"/>
            <a:ext cx="4663080" cy="731160"/>
          </a:xfrm>
          <a:prstGeom prst="roundRect">
            <a:avLst>
              <a:gd name="adj" fmla="val 7500"/>
            </a:avLst>
          </a:prstGeom>
          <a:solidFill>
            <a:schemeClr val="accent1"/>
          </a:solidFill>
          <a:ln w="0">
            <a:noFill/>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289" name="Image 2" descr="Plug"/>
          <p:cNvPicPr/>
          <p:nvPr/>
        </p:nvPicPr>
        <p:blipFill>
          <a:blip r:embed="rId3"/>
          <a:stretch/>
        </p:blipFill>
        <p:spPr>
          <a:xfrm>
            <a:off x="749880" y="3420000"/>
            <a:ext cx="328680" cy="328680"/>
          </a:xfrm>
          <a:prstGeom prst="rect">
            <a:avLst/>
          </a:prstGeom>
          <a:noFill/>
          <a:ln w="0">
            <a:noFill/>
          </a:ln>
        </p:spPr>
      </p:pic>
      <p:sp>
        <p:nvSpPr>
          <p:cNvPr id="290" name="Text 12"/>
          <p:cNvSpPr/>
          <p:nvPr/>
        </p:nvSpPr>
        <p:spPr>
          <a:xfrm>
            <a:off x="1261800" y="3218760"/>
            <a:ext cx="38858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lt1"/>
                </a:solidFill>
                <a:effectLst/>
                <a:uFillTx/>
                <a:latin typeface="Calibri"/>
              </a:rPr>
              <a:t>Pilotes des composants</a:t>
            </a:r>
            <a:endParaRPr lang="fr-FR" sz="15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lt1"/>
                </a:solidFill>
                <a:effectLst/>
                <a:uFillTx/>
                <a:latin typeface="Calibri"/>
              </a:rPr>
              <a:t>dht11.c · bh1750.c · rgb_led.c</a:t>
            </a:r>
            <a:endParaRPr lang="fr-FR" sz="1300" b="0" u="none" strike="noStrike">
              <a:solidFill>
                <a:srgbClr val="000000"/>
              </a:solidFill>
              <a:effectLst/>
              <a:uFillTx/>
              <a:latin typeface="Arial"/>
            </a:endParaRPr>
          </a:p>
        </p:txBody>
      </p:sp>
      <p:sp>
        <p:nvSpPr>
          <p:cNvPr id="291" name="Shape 13"/>
          <p:cNvSpPr/>
          <p:nvPr/>
        </p:nvSpPr>
        <p:spPr>
          <a:xfrm>
            <a:off x="548640" y="4041720"/>
            <a:ext cx="4663080" cy="731160"/>
          </a:xfrm>
          <a:prstGeom prst="roundRect">
            <a:avLst>
              <a:gd name="adj" fmla="val 750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292" name="Image 3" descr="Database"/>
          <p:cNvPicPr/>
          <p:nvPr/>
        </p:nvPicPr>
        <p:blipFill>
          <a:blip r:embed="rId4"/>
          <a:stretch/>
        </p:blipFill>
        <p:spPr>
          <a:xfrm>
            <a:off x="749880" y="4242960"/>
            <a:ext cx="328680" cy="328680"/>
          </a:xfrm>
          <a:prstGeom prst="rect">
            <a:avLst/>
          </a:prstGeom>
          <a:noFill/>
          <a:ln w="0">
            <a:noFill/>
          </a:ln>
        </p:spPr>
      </p:pic>
      <p:sp>
        <p:nvSpPr>
          <p:cNvPr id="293" name="Text 14"/>
          <p:cNvSpPr/>
          <p:nvPr/>
        </p:nvSpPr>
        <p:spPr>
          <a:xfrm>
            <a:off x="1261800" y="4041720"/>
            <a:ext cx="38858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Middleware FatFS</a:t>
            </a:r>
            <a:endParaRPr lang="fr-FR" sz="15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système de fichiers + user_diskio.c (SD en SPI)</a:t>
            </a:r>
            <a:endParaRPr lang="fr-FR" sz="1300" b="0" u="none" strike="noStrike">
              <a:solidFill>
                <a:srgbClr val="000000"/>
              </a:solidFill>
              <a:effectLst/>
              <a:uFillTx/>
              <a:latin typeface="Arial"/>
            </a:endParaRPr>
          </a:p>
        </p:txBody>
      </p:sp>
      <p:sp>
        <p:nvSpPr>
          <p:cNvPr id="294" name="Shape 15"/>
          <p:cNvSpPr/>
          <p:nvPr/>
        </p:nvSpPr>
        <p:spPr>
          <a:xfrm>
            <a:off x="548640" y="4864680"/>
            <a:ext cx="4663080" cy="731160"/>
          </a:xfrm>
          <a:prstGeom prst="roundRect">
            <a:avLst>
              <a:gd name="adj" fmla="val 750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295" name="Image 4" descr="Cpu"/>
          <p:cNvPicPr/>
          <p:nvPr/>
        </p:nvPicPr>
        <p:blipFill>
          <a:blip r:embed="rId5"/>
          <a:stretch/>
        </p:blipFill>
        <p:spPr>
          <a:xfrm>
            <a:off x="749880" y="5065920"/>
            <a:ext cx="328680" cy="328680"/>
          </a:xfrm>
          <a:prstGeom prst="rect">
            <a:avLst/>
          </a:prstGeom>
          <a:noFill/>
          <a:ln w="0">
            <a:noFill/>
          </a:ln>
        </p:spPr>
      </p:pic>
      <p:sp>
        <p:nvSpPr>
          <p:cNvPr id="296" name="Text 16"/>
          <p:cNvSpPr/>
          <p:nvPr/>
        </p:nvSpPr>
        <p:spPr>
          <a:xfrm>
            <a:off x="1261800" y="4864680"/>
            <a:ext cx="38858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HAL STM32L4 + CMSIS</a:t>
            </a:r>
            <a:endParaRPr lang="fr-FR" sz="15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code généré par STM32CubeMX</a:t>
            </a:r>
            <a:endParaRPr lang="fr-FR" sz="1300" b="0" u="none" strike="noStrike">
              <a:solidFill>
                <a:srgbClr val="000000"/>
              </a:solidFill>
              <a:effectLst/>
              <a:uFillTx/>
              <a:latin typeface="Arial"/>
            </a:endParaRPr>
          </a:p>
        </p:txBody>
      </p:sp>
      <p:sp>
        <p:nvSpPr>
          <p:cNvPr id="297" name="Text 17"/>
          <p:cNvSpPr/>
          <p:nvPr/>
        </p:nvSpPr>
        <p:spPr>
          <a:xfrm>
            <a:off x="556920" y="5952600"/>
            <a:ext cx="4663080" cy="246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6"/>
                </a:solidFill>
                <a:effectLst/>
                <a:uFillTx/>
                <a:latin typeface="Calibri"/>
              </a:rPr>
              <a:t>Langage C · HAL STM32 · CMake + Ninja + arm-none-eabi-gcc</a:t>
            </a:r>
            <a:endParaRPr lang="fr-FR" sz="1200" b="0" u="none" strike="noStrike">
              <a:solidFill>
                <a:srgbClr val="000000"/>
              </a:solidFill>
              <a:effectLst/>
              <a:uFillTx/>
              <a:latin typeface="Arial"/>
            </a:endParaRPr>
          </a:p>
        </p:txBody>
      </p:sp>
      <p:sp>
        <p:nvSpPr>
          <p:cNvPr id="298" name="Text 19"/>
          <p:cNvSpPr/>
          <p:nvPr/>
        </p:nvSpPr>
        <p:spPr>
          <a:xfrm>
            <a:off x="6629400" y="1572840"/>
            <a:ext cx="2377080" cy="383760"/>
          </a:xfrm>
          <a:prstGeom prst="roundRect">
            <a:avLst>
              <a:gd name="adj" fmla="val 47619"/>
            </a:avLst>
          </a:prstGeom>
          <a:solidFill>
            <a:schemeClr val="accent1"/>
          </a:solidFill>
          <a:ln w="0">
            <a:noFill/>
          </a:ln>
        </p:spPr>
        <p:style>
          <a:lnRef idx="0"/>
          <a:fillRef idx="0"/>
          <a:effectRef idx="0"/>
          <a:fontRef idx="minor"/>
        </p:style>
        <p:txBody>
          <a:bodyPr lIns="38160" tIns="101520" rIns="101520" bIns="38160" anchor="ctr">
            <a:noAutofit/>
          </a:bodyPr>
          <a:p>
            <a:pPr algn="ctr" defTabSz="914400">
              <a:lnSpc>
                <a:spcPct val="100000"/>
              </a:lnSpc>
              <a:tabLst>
                <a:tab pos="0" algn="l"/>
              </a:tabLst>
            </a:pPr>
            <a:r>
              <a:rPr lang="en-US" sz="1300" b="1" u="none" strike="noStrike">
                <a:solidFill>
                  <a:schemeClr val="lt1"/>
                </a:solidFill>
                <a:effectLst/>
                <a:uFillTx/>
                <a:latin typeface="Calibri"/>
              </a:rPr>
              <a:t>Mise sous tension / reset</a:t>
            </a:r>
            <a:endParaRPr lang="fr-FR" sz="1300" b="0" u="none" strike="noStrike">
              <a:solidFill>
                <a:srgbClr val="FFFFFF"/>
              </a:solidFill>
              <a:effectLst/>
              <a:uFillTx/>
              <a:latin typeface="Arial"/>
            </a:endParaRPr>
          </a:p>
        </p:txBody>
      </p:sp>
      <p:sp>
        <p:nvSpPr>
          <p:cNvPr id="299" name="Shape 20"/>
          <p:cNvSpPr/>
          <p:nvPr/>
        </p:nvSpPr>
        <p:spPr>
          <a:xfrm>
            <a:off x="7818120" y="1956600"/>
            <a:ext cx="360" cy="164520"/>
          </a:xfrm>
          <a:prstGeom prst="line">
            <a:avLst/>
          </a:prstGeom>
          <a:ln w="22225">
            <a:solidFill>
              <a:srgbClr val="5B6B7D"/>
            </a:solidFill>
            <a:round/>
            <a:tailEnd len="med" type="triangle" w="me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300" name="Text 21"/>
          <p:cNvSpPr/>
          <p:nvPr/>
        </p:nvSpPr>
        <p:spPr>
          <a:xfrm>
            <a:off x="6080760" y="2121480"/>
            <a:ext cx="3474360" cy="566640"/>
          </a:xfrm>
          <a:prstGeom prst="roundRect">
            <a:avLst>
              <a:gd name="adj" fmla="val 9677"/>
            </a:avLst>
          </a:prstGeom>
          <a:solidFill>
            <a:schemeClr val="bg1"/>
          </a:solidFill>
          <a:ln w="9525">
            <a:solidFill>
              <a:srgbClr val="DDE4EB"/>
            </a:solidFill>
            <a:round/>
          </a:ln>
        </p:spPr>
        <p:style>
          <a:lnRef idx="0"/>
          <a:fillRef idx="0"/>
          <a:effectRef idx="0"/>
          <a:fontRef idx="minor"/>
        </p:style>
        <p:txBody>
          <a:bodyPr lIns="38160" tIns="101520" rIns="101520" bIns="38160" anchor="ctr">
            <a:noAutofit/>
          </a:bodyPr>
          <a:p>
            <a:pPr algn="ctr" defTabSz="914400">
              <a:lnSpc>
                <a:spcPct val="100000"/>
              </a:lnSpc>
              <a:tabLst>
                <a:tab pos="0" algn="l"/>
              </a:tabLst>
            </a:pPr>
            <a:r>
              <a:rPr lang="en-US" sz="1250" b="1" u="none" strike="noStrike">
                <a:solidFill>
                  <a:schemeClr val="dk1"/>
                </a:solidFill>
                <a:effectLst/>
                <a:uFillTx/>
                <a:latin typeface="Calibri"/>
              </a:rPr>
              <a:t>HAL_Init · horloge 80 MHz</a:t>
            </a:r>
            <a:endParaRPr lang="fr-FR"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chemeClr val="dk1"/>
                </a:solidFill>
                <a:effectLst/>
                <a:uFillTx/>
                <a:latin typeface="Calibri"/>
              </a:rPr>
              <a:t>init. GPIO, RTC, I2C1, SPI1, USART2/3, FatFS</a:t>
            </a:r>
            <a:endParaRPr lang="fr-FR" sz="1250" b="0" u="none" strike="noStrike">
              <a:solidFill>
                <a:srgbClr val="000000"/>
              </a:solidFill>
              <a:effectLst/>
              <a:uFillTx/>
              <a:latin typeface="Arial"/>
            </a:endParaRPr>
          </a:p>
        </p:txBody>
      </p:sp>
      <p:sp>
        <p:nvSpPr>
          <p:cNvPr id="301" name="Shape 22"/>
          <p:cNvSpPr/>
          <p:nvPr/>
        </p:nvSpPr>
        <p:spPr>
          <a:xfrm>
            <a:off x="7818120" y="2688120"/>
            <a:ext cx="360" cy="146520"/>
          </a:xfrm>
          <a:prstGeom prst="line">
            <a:avLst/>
          </a:prstGeom>
          <a:ln w="22225">
            <a:solidFill>
              <a:srgbClr val="5B6B7D"/>
            </a:solidFill>
            <a:round/>
            <a:tailEnd len="med" type="triangle" w="me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302" name="Text 23"/>
          <p:cNvSpPr/>
          <p:nvPr/>
        </p:nvSpPr>
        <p:spPr>
          <a:xfrm>
            <a:off x="6675120" y="2834640"/>
            <a:ext cx="2285640" cy="731160"/>
          </a:xfrm>
          <a:prstGeom prst="diamond">
            <a:avLst/>
          </a:prstGeom>
          <a:solidFill>
            <a:schemeClr val="bg1"/>
          </a:solidFill>
          <a:ln w="19050">
            <a:solidFill>
              <a:srgbClr val="F2A33A"/>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chemeClr val="dk2"/>
                </a:solidFill>
                <a:effectLst/>
                <a:uFillTx/>
                <a:latin typeface="Calibri"/>
              </a:rPr>
              <a:t>B1 maintenu ?</a:t>
            </a:r>
            <a:endParaRPr lang="fr-FR" sz="1350" b="0" u="none" strike="noStrike">
              <a:solidFill>
                <a:srgbClr val="000000"/>
              </a:solidFill>
              <a:effectLst/>
              <a:uFillTx/>
              <a:latin typeface="Arial"/>
            </a:endParaRPr>
          </a:p>
        </p:txBody>
      </p:sp>
      <p:sp>
        <p:nvSpPr>
          <p:cNvPr id="303" name="Shape 24"/>
          <p:cNvSpPr/>
          <p:nvPr/>
        </p:nvSpPr>
        <p:spPr>
          <a:xfrm>
            <a:off x="8961120" y="3200400"/>
            <a:ext cx="868680" cy="360"/>
          </a:xfrm>
          <a:prstGeom prst="line">
            <a:avLst/>
          </a:prstGeom>
          <a:ln w="22225">
            <a:solidFill>
              <a:srgbClr val="F2A33A"/>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304" name="Text 25"/>
          <p:cNvSpPr/>
          <p:nvPr/>
        </p:nvSpPr>
        <p:spPr>
          <a:xfrm>
            <a:off x="9025200" y="2907720"/>
            <a:ext cx="456840" cy="237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rgbClr val="B86A1E"/>
                </a:solidFill>
                <a:effectLst/>
                <a:uFillTx/>
                <a:latin typeface="Calibri"/>
              </a:rPr>
              <a:t>oui</a:t>
            </a:r>
            <a:endParaRPr lang="fr-FR" sz="1200" b="0" u="none" strike="noStrike">
              <a:solidFill>
                <a:srgbClr val="000000"/>
              </a:solidFill>
              <a:effectLst/>
              <a:uFillTx/>
              <a:latin typeface="Arial"/>
            </a:endParaRPr>
          </a:p>
        </p:txBody>
      </p:sp>
      <p:sp>
        <p:nvSpPr>
          <p:cNvPr id="305" name="Text 26"/>
          <p:cNvSpPr/>
          <p:nvPr/>
        </p:nvSpPr>
        <p:spPr>
          <a:xfrm>
            <a:off x="9829800" y="2853000"/>
            <a:ext cx="1810080" cy="694440"/>
          </a:xfrm>
          <a:prstGeom prst="roundRect">
            <a:avLst>
              <a:gd name="adj" fmla="val 7895"/>
            </a:avLst>
          </a:prstGeom>
          <a:solidFill>
            <a:schemeClr val="bg1"/>
          </a:solidFill>
          <a:ln w="9525">
            <a:solidFill>
              <a:srgbClr val="F2A33A"/>
            </a:solidFill>
            <a:prstDash val="dash"/>
            <a:round/>
          </a:ln>
        </p:spPr>
        <p:style>
          <a:lnRef idx="0"/>
          <a:fillRef idx="0"/>
          <a:effectRef idx="0"/>
          <a:fontRef idx="minor"/>
        </p:style>
        <p:txBody>
          <a:bodyPr lIns="38160" tIns="101520" rIns="101520" bIns="38160" anchor="ctr">
            <a:noAutofit/>
          </a:bodyPr>
          <a:p>
            <a:pPr algn="ctr" defTabSz="914400">
              <a:lnSpc>
                <a:spcPct val="100000"/>
              </a:lnSpc>
              <a:tabLst>
                <a:tab pos="0" algn="l"/>
              </a:tabLst>
            </a:pPr>
            <a:r>
              <a:rPr lang="en-US" sz="1250" b="1" u="none" strike="noStrike">
                <a:solidFill>
                  <a:schemeClr val="dk1"/>
                </a:solidFill>
                <a:effectLst/>
                <a:uFillTx/>
                <a:latin typeface="Calibri"/>
              </a:rPr>
              <a:t>Diagnostic matériel</a:t>
            </a:r>
            <a:endParaRPr lang="fr-FR"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chemeClr val="dk1"/>
                </a:solidFill>
                <a:effectLst/>
                <a:uFillTx/>
                <a:latin typeface="Calibri"/>
              </a:rPr>
              <a:t>tests + bilan</a:t>
            </a:r>
            <a:endParaRPr lang="fr-FR" sz="1250" b="0" u="none" strike="noStrike">
              <a:solidFill>
                <a:srgbClr val="000000"/>
              </a:solidFill>
              <a:effectLst/>
              <a:uFillTx/>
              <a:latin typeface="Arial"/>
            </a:endParaRPr>
          </a:p>
        </p:txBody>
      </p:sp>
      <p:sp>
        <p:nvSpPr>
          <p:cNvPr id="306" name="Shape 27"/>
          <p:cNvSpPr/>
          <p:nvPr/>
        </p:nvSpPr>
        <p:spPr>
          <a:xfrm>
            <a:off x="7818120" y="3566160"/>
            <a:ext cx="360" cy="182880"/>
          </a:xfrm>
          <a:prstGeom prst="line">
            <a:avLst/>
          </a:prstGeom>
          <a:ln w="22225">
            <a:solidFill>
              <a:srgbClr val="5B6B7D"/>
            </a:solidFill>
            <a:round/>
            <a:tailEnd len="med" type="triangle" w="me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307" name="Text 28"/>
          <p:cNvSpPr/>
          <p:nvPr/>
        </p:nvSpPr>
        <p:spPr>
          <a:xfrm>
            <a:off x="7909560" y="3538800"/>
            <a:ext cx="45684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accent6"/>
                </a:solidFill>
                <a:effectLst/>
                <a:uFillTx/>
                <a:latin typeface="Calibri"/>
              </a:rPr>
              <a:t>non</a:t>
            </a:r>
            <a:endParaRPr lang="fr-FR" sz="1200" b="0" u="none" strike="noStrike">
              <a:solidFill>
                <a:srgbClr val="000000"/>
              </a:solidFill>
              <a:effectLst/>
              <a:uFillTx/>
              <a:latin typeface="Arial"/>
            </a:endParaRPr>
          </a:p>
        </p:txBody>
      </p:sp>
      <p:sp>
        <p:nvSpPr>
          <p:cNvPr id="308" name="Text 29"/>
          <p:cNvSpPr/>
          <p:nvPr/>
        </p:nvSpPr>
        <p:spPr>
          <a:xfrm>
            <a:off x="6080760" y="3749040"/>
            <a:ext cx="3474360" cy="694440"/>
          </a:xfrm>
          <a:prstGeom prst="roundRect">
            <a:avLst>
              <a:gd name="adj" fmla="val 7895"/>
            </a:avLst>
          </a:prstGeom>
          <a:solidFill>
            <a:schemeClr val="bg1"/>
          </a:solidFill>
          <a:ln w="9525">
            <a:solidFill>
              <a:srgbClr val="DDE4EB"/>
            </a:solidFill>
            <a:round/>
          </a:ln>
        </p:spPr>
        <p:style>
          <a:lnRef idx="0"/>
          <a:fillRef idx="0"/>
          <a:effectRef idx="0"/>
          <a:fontRef idx="minor"/>
        </p:style>
        <p:txBody>
          <a:bodyPr lIns="38160" tIns="101520" rIns="101520" bIns="38160" anchor="ctr">
            <a:noAutofit/>
          </a:bodyPr>
          <a:p>
            <a:pPr algn="ctr" defTabSz="914400">
              <a:lnSpc>
                <a:spcPct val="100000"/>
              </a:lnSpc>
              <a:tabLst>
                <a:tab pos="0" algn="l"/>
              </a:tabLst>
            </a:pPr>
            <a:r>
              <a:rPr lang="en-US" sz="1250" b="1" u="none" strike="noStrike">
                <a:solidFill>
                  <a:schemeClr val="dk1"/>
                </a:solidFill>
                <a:effectLst/>
                <a:uFillTx/>
                <a:latin typeface="Calibri"/>
              </a:rPr>
              <a:t>Station_Init()</a:t>
            </a:r>
            <a:endParaRPr lang="fr-FR"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chemeClr val="dk1"/>
                </a:solidFill>
                <a:effectLst/>
                <a:uFillTx/>
                <a:latin typeface="Calibri"/>
              </a:rPr>
              <a:t>paramètres Flash, boutons, UART ; CONFIG si rouge maintenu, sinon STANDARD</a:t>
            </a:r>
            <a:endParaRPr lang="fr-FR" sz="1250" b="0" u="none" strike="noStrike">
              <a:solidFill>
                <a:srgbClr val="000000"/>
              </a:solidFill>
              <a:effectLst/>
              <a:uFillTx/>
              <a:latin typeface="Arial"/>
            </a:endParaRPr>
          </a:p>
        </p:txBody>
      </p:sp>
      <p:sp>
        <p:nvSpPr>
          <p:cNvPr id="309" name="Shape 30"/>
          <p:cNvSpPr/>
          <p:nvPr/>
        </p:nvSpPr>
        <p:spPr>
          <a:xfrm>
            <a:off x="7818120" y="4443840"/>
            <a:ext cx="360" cy="164520"/>
          </a:xfrm>
          <a:prstGeom prst="line">
            <a:avLst/>
          </a:prstGeom>
          <a:ln w="22225">
            <a:solidFill>
              <a:srgbClr val="5B6B7D"/>
            </a:solidFill>
            <a:round/>
            <a:tailEnd len="med" type="triangle" w="me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310" name="Text 31"/>
          <p:cNvSpPr/>
          <p:nvPr/>
        </p:nvSpPr>
        <p:spPr>
          <a:xfrm>
            <a:off x="6080760" y="4608720"/>
            <a:ext cx="3474360" cy="1371240"/>
          </a:xfrm>
          <a:prstGeom prst="roundRect">
            <a:avLst>
              <a:gd name="adj" fmla="val 4000"/>
            </a:avLst>
          </a:prstGeom>
          <a:solidFill>
            <a:schemeClr val="tx2"/>
          </a:solidFill>
          <a:ln w="0">
            <a:noFill/>
          </a:ln>
        </p:spPr>
        <p:style>
          <a:lnRef idx="0"/>
          <a:fillRef idx="0"/>
          <a:effectRef idx="0"/>
          <a:fontRef idx="minor"/>
        </p:style>
        <p:txBody>
          <a:bodyPr lIns="76320" tIns="152280" rIns="152280" bIns="76320" anchor="ctr">
            <a:noAutofit/>
          </a:bodyPr>
          <a:p>
            <a:pPr defTabSz="914400">
              <a:lnSpc>
                <a:spcPct val="100000"/>
              </a:lnSpc>
              <a:spcAft>
                <a:spcPts val="400"/>
              </a:spcAft>
              <a:tabLst>
                <a:tab pos="0" algn="l"/>
              </a:tabLst>
            </a:pPr>
            <a:r>
              <a:rPr lang="en-US" sz="1450" b="1" u="none" strike="noStrike">
                <a:solidFill>
                  <a:schemeClr val="accent5"/>
                </a:solidFill>
                <a:effectLst/>
                <a:uFillTx/>
                <a:latin typeface="Calibri"/>
              </a:rPr>
              <a:t>while (1) → Station_Loop()</a:t>
            </a:r>
            <a:endParaRPr lang="fr-FR" sz="1450" b="0" u="none" strike="noStrike">
              <a:solidFill>
                <a:srgbClr val="FFFFFF"/>
              </a:solidFill>
              <a:effectLst/>
              <a:uFillTx/>
              <a:latin typeface="Arial"/>
            </a:endParaRPr>
          </a:p>
          <a:p>
            <a:pPr defTabSz="914400">
              <a:lnSpc>
                <a:spcPct val="100000"/>
              </a:lnSpc>
              <a:spcAft>
                <a:spcPts val="400"/>
              </a:spcAft>
              <a:tabLst>
                <a:tab pos="0" algn="l"/>
              </a:tabLst>
            </a:pPr>
            <a:r>
              <a:rPr lang="en-US" sz="1350" b="0" u="none" strike="noStrike">
                <a:solidFill>
                  <a:schemeClr val="lt1"/>
                </a:solidFill>
                <a:effectLst/>
                <a:uFillTx/>
                <a:latin typeface="Calibri"/>
              </a:rPr>
              <a:t>1. Traiter les événements des boutons</a:t>
            </a:r>
            <a:endParaRPr lang="fr-FR" sz="1350" b="0" u="none" strike="noStrike">
              <a:solidFill>
                <a:srgbClr val="FFFFFF"/>
              </a:solidFill>
              <a:effectLst/>
              <a:uFillTx/>
              <a:latin typeface="Arial"/>
            </a:endParaRPr>
          </a:p>
          <a:p>
            <a:pPr defTabSz="914400">
              <a:lnSpc>
                <a:spcPct val="100000"/>
              </a:lnSpc>
              <a:spcAft>
                <a:spcPts val="400"/>
              </a:spcAft>
              <a:tabLst>
                <a:tab pos="0" algn="l"/>
              </a:tabLst>
            </a:pPr>
            <a:r>
              <a:rPr lang="en-US" sz="1350" b="0" u="none" strike="noStrike">
                <a:solidFill>
                  <a:schemeClr val="lt1"/>
                </a:solidFill>
                <a:effectLst/>
                <a:uFillTx/>
                <a:latin typeface="Calibri"/>
              </a:rPr>
              <a:t>2. Exécuter le traitement du mode courant</a:t>
            </a:r>
            <a:endParaRPr lang="fr-FR" sz="1350" b="0" u="none" strike="noStrike">
              <a:solidFill>
                <a:srgbClr val="FFFFFF"/>
              </a:solidFill>
              <a:effectLst/>
              <a:uFillTx/>
              <a:latin typeface="Arial"/>
            </a:endParaRPr>
          </a:p>
        </p:txBody>
      </p:sp>
      <p:sp>
        <p:nvSpPr>
          <p:cNvPr id="311" name="Shape 32"/>
          <p:cNvSpPr/>
          <p:nvPr/>
        </p:nvSpPr>
        <p:spPr>
          <a:xfrm>
            <a:off x="9555480" y="5669280"/>
            <a:ext cx="320040" cy="360"/>
          </a:xfrm>
          <a:prstGeom prst="line">
            <a:avLst/>
          </a:prstGeom>
          <a:ln w="22225">
            <a:solidFill>
              <a:srgbClr val="0B8A96"/>
            </a:solidFill>
            <a:roun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312" name="Shape 33"/>
          <p:cNvSpPr/>
          <p:nvPr/>
        </p:nvSpPr>
        <p:spPr>
          <a:xfrm>
            <a:off x="9875520" y="4919400"/>
            <a:ext cx="360" cy="749880"/>
          </a:xfrm>
          <a:prstGeom prst="line">
            <a:avLst/>
          </a:prstGeom>
          <a:ln w="22225">
            <a:solidFill>
              <a:srgbClr val="0B8A96"/>
            </a:solidFill>
            <a:roun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313" name="Shape 34"/>
          <p:cNvSpPr/>
          <p:nvPr/>
        </p:nvSpPr>
        <p:spPr>
          <a:xfrm flipH="1">
            <a:off x="9555480" y="4919400"/>
            <a:ext cx="320040" cy="360"/>
          </a:xfrm>
          <a:prstGeom prst="line">
            <a:avLst/>
          </a:prstGeom>
          <a:ln w="22225">
            <a:solidFill>
              <a:srgbClr val="0B8A96"/>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314" name="Text 35"/>
          <p:cNvSpPr/>
          <p:nvPr/>
        </p:nvSpPr>
        <p:spPr>
          <a:xfrm>
            <a:off x="9966960" y="5157360"/>
            <a:ext cx="1188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chemeClr val="accent1"/>
                </a:solidFill>
                <a:effectLst/>
                <a:uFillTx/>
                <a:latin typeface="Calibri"/>
              </a:rPr>
              <a:t>boucle infinie</a:t>
            </a:r>
            <a:endParaRPr lang="fr-FR" sz="1200" b="0" u="none" strike="noStrike">
              <a:solidFill>
                <a:srgbClr val="000000"/>
              </a:solidFill>
              <a:effectLst/>
              <a:uFillTx/>
              <a:latin typeface="Arial"/>
            </a:endParaRPr>
          </a:p>
        </p:txBody>
      </p:sp>
      <p:sp>
        <p:nvSpPr>
          <p:cNvPr id="315" name="PlaceHolder 3"/>
          <p:cNvSpPr>
            <a:spLocks noGrp="1"/>
          </p:cNvSpPr>
          <p:nvPr>
            <p:ph type="sldNum" idx="10"/>
          </p:nvPr>
        </p:nvSpPr>
        <p:spPr>
          <a:xfrm>
            <a:off x="11091600" y="6437520"/>
            <a:ext cx="548280" cy="219240"/>
          </a:xfrm>
          <a:prstGeom prst="rect">
            <a:avLst/>
          </a:prstGeom>
          <a:noFill/>
          <a:ln w="0">
            <a:noFill/>
          </a:ln>
        </p:spPr>
        <p:txBody>
          <a:bodyPr lIns="0" tIns="0" rIns="0" bIns="0" anchor="ctr" anchorCtr="1">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3979EA30-0262-4E51-A761-D3617F26A599}"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03 · ACQUISITION ET STOCKAGE</a:t>
            </a:r>
            <a:endParaRPr lang="fr-FR" sz="1100" b="0" u="none" strike="noStrike">
              <a:solidFill>
                <a:schemeClr val="dk1"/>
              </a:solidFill>
              <a:effectLst/>
              <a:uFillTx/>
              <a:latin typeface="Calibri"/>
            </a:endParaRPr>
          </a:p>
        </p:txBody>
      </p:sp>
      <p:sp>
        <p:nvSpPr>
          <p:cNvPr id="317"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Chaque acquisition produit une ligne horodatée</a:t>
            </a:r>
            <a:endParaRPr lang="fr-FR" sz="2800" b="0" u="none" strike="noStrike">
              <a:solidFill>
                <a:schemeClr val="dk1"/>
              </a:solidFill>
              <a:effectLst/>
              <a:uFillTx/>
              <a:latin typeface="Calibri"/>
            </a:endParaRPr>
          </a:p>
        </p:txBody>
      </p:sp>
      <p:sp>
        <p:nvSpPr>
          <p:cNvPr id="318"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319" name="Text 3"/>
          <p:cNvSpPr/>
          <p:nvPr/>
        </p:nvSpPr>
        <p:spPr>
          <a:xfrm>
            <a:off x="973368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02</a:t>
            </a:r>
            <a:endParaRPr lang="fr-FR" sz="950" b="0" u="none" strike="noStrike">
              <a:solidFill>
                <a:srgbClr val="FFFFFF"/>
              </a:solidFill>
              <a:effectLst/>
              <a:uFillTx/>
              <a:latin typeface="Arial"/>
            </a:endParaRPr>
          </a:p>
        </p:txBody>
      </p:sp>
      <p:sp>
        <p:nvSpPr>
          <p:cNvPr id="320" name="Text 4"/>
          <p:cNvSpPr/>
          <p:nvPr/>
        </p:nvSpPr>
        <p:spPr>
          <a:xfrm>
            <a:off x="1022292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03</a:t>
            </a:r>
            <a:endParaRPr lang="fr-FR" sz="950" b="0" u="none" strike="noStrike">
              <a:solidFill>
                <a:srgbClr val="FFFFFF"/>
              </a:solidFill>
              <a:effectLst/>
              <a:uFillTx/>
              <a:latin typeface="Arial"/>
            </a:endParaRPr>
          </a:p>
        </p:txBody>
      </p:sp>
      <p:sp>
        <p:nvSpPr>
          <p:cNvPr id="321" name="Text 5"/>
          <p:cNvSpPr/>
          <p:nvPr/>
        </p:nvSpPr>
        <p:spPr>
          <a:xfrm>
            <a:off x="1071216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04</a:t>
            </a:r>
            <a:endParaRPr lang="fr-FR" sz="950" b="0" u="none" strike="noStrike">
              <a:solidFill>
                <a:srgbClr val="000000"/>
              </a:solidFill>
              <a:effectLst/>
              <a:uFillTx/>
              <a:latin typeface="Arial"/>
            </a:endParaRPr>
          </a:p>
        </p:txBody>
      </p:sp>
      <p:sp>
        <p:nvSpPr>
          <p:cNvPr id="322" name="Text 6"/>
          <p:cNvSpPr/>
          <p:nvPr/>
        </p:nvSpPr>
        <p:spPr>
          <a:xfrm>
            <a:off x="1120140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05</a:t>
            </a:r>
            <a:endParaRPr lang="fr-FR" sz="950" b="0" u="none" strike="noStrike">
              <a:solidFill>
                <a:srgbClr val="000000"/>
              </a:solidFill>
              <a:effectLst/>
              <a:uFillTx/>
              <a:latin typeface="Arial"/>
            </a:endParaRPr>
          </a:p>
        </p:txBody>
      </p:sp>
      <p:sp>
        <p:nvSpPr>
          <p:cNvPr id="323" name="Shape 7"/>
          <p:cNvSpPr/>
          <p:nvPr/>
        </p:nvSpPr>
        <p:spPr>
          <a:xfrm>
            <a:off x="548640" y="1572840"/>
            <a:ext cx="2633040" cy="2486880"/>
          </a:xfrm>
          <a:prstGeom prst="roundRect">
            <a:avLst>
              <a:gd name="adj" fmla="val 2206"/>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24" name="Shape 8"/>
          <p:cNvSpPr/>
          <p:nvPr/>
        </p:nvSpPr>
        <p:spPr>
          <a:xfrm>
            <a:off x="731520" y="1737360"/>
            <a:ext cx="548280" cy="5482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325" name="Image 0" descr="Clock"/>
          <p:cNvPicPr/>
          <p:nvPr/>
        </p:nvPicPr>
        <p:blipFill>
          <a:blip r:embed="rId1"/>
          <a:stretch/>
        </p:blipFill>
        <p:spPr>
          <a:xfrm>
            <a:off x="863280" y="1869120"/>
            <a:ext cx="284760" cy="284760"/>
          </a:xfrm>
          <a:prstGeom prst="rect">
            <a:avLst/>
          </a:prstGeom>
          <a:noFill/>
          <a:ln w="0">
            <a:noFill/>
          </a:ln>
        </p:spPr>
      </p:pic>
      <p:sp>
        <p:nvSpPr>
          <p:cNvPr id="326" name="Text 9"/>
          <p:cNvSpPr/>
          <p:nvPr/>
        </p:nvSpPr>
        <p:spPr>
          <a:xfrm>
            <a:off x="1115640" y="1700640"/>
            <a:ext cx="237240" cy="23724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1</a:t>
            </a:r>
            <a:endParaRPr lang="fr-FR" sz="1000" b="0" u="none" strike="noStrike">
              <a:solidFill>
                <a:srgbClr val="FFFFFF"/>
              </a:solidFill>
              <a:effectLst/>
              <a:uFillTx/>
              <a:latin typeface="Arial"/>
            </a:endParaRPr>
          </a:p>
        </p:txBody>
      </p:sp>
      <p:sp>
        <p:nvSpPr>
          <p:cNvPr id="327" name="Text 10"/>
          <p:cNvSpPr/>
          <p:nvPr/>
        </p:nvSpPr>
        <p:spPr>
          <a:xfrm>
            <a:off x="1389960" y="1737360"/>
            <a:ext cx="17370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Horodatage</a:t>
            </a:r>
            <a:endParaRPr lang="fr-FR" sz="1500" b="0" u="none" strike="noStrike">
              <a:solidFill>
                <a:srgbClr val="000000"/>
              </a:solidFill>
              <a:effectLst/>
              <a:uFillTx/>
              <a:latin typeface="Arial"/>
            </a:endParaRPr>
          </a:p>
        </p:txBody>
      </p:sp>
      <p:sp>
        <p:nvSpPr>
          <p:cNvPr id="328" name="Text 11"/>
          <p:cNvSpPr/>
          <p:nvPr/>
        </p:nvSpPr>
        <p:spPr>
          <a:xfrm>
            <a:off x="731520" y="2377440"/>
            <a:ext cx="233136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RTC interne</a:t>
            </a:r>
            <a:endParaRPr lang="fr-FR" sz="1300" b="0" u="none" strike="noStrike">
              <a:solidFill>
                <a:srgbClr val="000000"/>
              </a:solidFill>
              <a:effectLst/>
              <a:uFillTx/>
              <a:latin typeface="Arial"/>
            </a:endParaRPr>
          </a:p>
        </p:txBody>
      </p:sp>
      <p:sp>
        <p:nvSpPr>
          <p:cNvPr id="329" name="Text 12"/>
          <p:cNvSpPr/>
          <p:nvPr/>
        </p:nvSpPr>
        <p:spPr>
          <a:xfrm>
            <a:off x="731520" y="2697480"/>
            <a:ext cx="2358720" cy="1316520"/>
          </a:xfrm>
          <a:prstGeom prst="rect">
            <a:avLst/>
          </a:prstGeom>
          <a:noFill/>
          <a:ln w="0">
            <a:noFill/>
          </a:ln>
        </p:spPr>
        <p:style>
          <a:lnRef idx="0"/>
          <a:fillRef idx="0"/>
          <a:effectRef idx="0"/>
          <a:fontRef idx="minor"/>
        </p:style>
        <p:txBody>
          <a:bodyPr lIns="0" tIns="0" rIns="0" bIns="0" anchor="t">
            <a:noAutofit/>
          </a:bodyPr>
          <a:p>
            <a:pPr marL="152280" indent="-152280" defTabSz="914400">
              <a:lnSpc>
                <a:spcPct val="100000"/>
              </a:lnSpc>
              <a:spcAft>
                <a:spcPts val="499"/>
              </a:spcAft>
              <a:buClr>
                <a:srgbClr val="1A2433"/>
              </a:buClr>
              <a:buFont typeface="Symbol" charset="2"/>
              <a:buChar char=""/>
            </a:pPr>
            <a:r>
              <a:rPr lang="en-US" sz="1300" b="0" u="none" strike="noStrike">
                <a:solidFill>
                  <a:schemeClr val="dk1"/>
                </a:solidFill>
                <a:effectLst/>
                <a:uFillTx/>
                <a:latin typeface="Calibri"/>
              </a:rPr>
              <a:t>Date et heure lues au début de la mesure</a:t>
            </a:r>
            <a:endParaRPr lang="fr-FR" sz="1300" b="0" u="none" strike="noStrike">
              <a:solidFill>
                <a:srgbClr val="000000"/>
              </a:solidFill>
              <a:effectLst/>
              <a:uFillTx/>
              <a:latin typeface="Arial"/>
            </a:endParaRPr>
          </a:p>
          <a:p>
            <a:pPr marL="152280" indent="-152280" defTabSz="914400">
              <a:lnSpc>
                <a:spcPct val="100000"/>
              </a:lnSpc>
              <a:spcAft>
                <a:spcPts val="499"/>
              </a:spcAft>
              <a:buClr>
                <a:srgbClr val="1A2433"/>
              </a:buClr>
              <a:buFont typeface="Symbol" charset="2"/>
              <a:buChar char=""/>
            </a:pPr>
            <a:r>
              <a:rPr lang="en-US" sz="1300" b="0" u="none" strike="noStrike">
                <a:solidFill>
                  <a:schemeClr val="dk1"/>
                </a:solidFill>
                <a:effectLst/>
                <a:uFillTx/>
                <a:latin typeface="Calibri"/>
              </a:rPr>
              <a:t>« NA » si l'horloge n'a jamais été réglée</a:t>
            </a:r>
            <a:endParaRPr lang="fr-FR" sz="1300" b="0" u="none" strike="noStrike">
              <a:solidFill>
                <a:srgbClr val="000000"/>
              </a:solidFill>
              <a:effectLst/>
              <a:uFillTx/>
              <a:latin typeface="Arial"/>
            </a:endParaRPr>
          </a:p>
        </p:txBody>
      </p:sp>
      <p:sp>
        <p:nvSpPr>
          <p:cNvPr id="330" name="Shape 13"/>
          <p:cNvSpPr/>
          <p:nvPr/>
        </p:nvSpPr>
        <p:spPr>
          <a:xfrm>
            <a:off x="3223440" y="2670120"/>
            <a:ext cx="109440" cy="273960"/>
          </a:xfrm>
          <a:prstGeom prst="chevron">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331" name="Shape 14"/>
          <p:cNvSpPr/>
          <p:nvPr/>
        </p:nvSpPr>
        <p:spPr>
          <a:xfrm>
            <a:off x="3364920" y="1572840"/>
            <a:ext cx="2633040" cy="2486880"/>
          </a:xfrm>
          <a:prstGeom prst="roundRect">
            <a:avLst>
              <a:gd name="adj" fmla="val 2206"/>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32" name="Shape 15"/>
          <p:cNvSpPr/>
          <p:nvPr/>
        </p:nvSpPr>
        <p:spPr>
          <a:xfrm>
            <a:off x="3547800" y="1737360"/>
            <a:ext cx="548280" cy="5482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333" name="Image 1" descr="Thermometer"/>
          <p:cNvPicPr/>
          <p:nvPr/>
        </p:nvPicPr>
        <p:blipFill>
          <a:blip r:embed="rId2"/>
          <a:stretch/>
        </p:blipFill>
        <p:spPr>
          <a:xfrm>
            <a:off x="3679560" y="1869120"/>
            <a:ext cx="284760" cy="284760"/>
          </a:xfrm>
          <a:prstGeom prst="rect">
            <a:avLst/>
          </a:prstGeom>
          <a:noFill/>
          <a:ln w="0">
            <a:noFill/>
          </a:ln>
        </p:spPr>
      </p:pic>
      <p:sp>
        <p:nvSpPr>
          <p:cNvPr id="334" name="Text 16"/>
          <p:cNvSpPr/>
          <p:nvPr/>
        </p:nvSpPr>
        <p:spPr>
          <a:xfrm>
            <a:off x="3931920" y="1700640"/>
            <a:ext cx="237240" cy="23724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2</a:t>
            </a:r>
            <a:endParaRPr lang="fr-FR" sz="1000" b="0" u="none" strike="noStrike">
              <a:solidFill>
                <a:srgbClr val="FFFFFF"/>
              </a:solidFill>
              <a:effectLst/>
              <a:uFillTx/>
              <a:latin typeface="Arial"/>
            </a:endParaRPr>
          </a:p>
        </p:txBody>
      </p:sp>
      <p:sp>
        <p:nvSpPr>
          <p:cNvPr id="335" name="Text 17"/>
          <p:cNvSpPr/>
          <p:nvPr/>
        </p:nvSpPr>
        <p:spPr>
          <a:xfrm>
            <a:off x="4206240" y="1737360"/>
            <a:ext cx="17370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Température et humidité</a:t>
            </a:r>
            <a:endParaRPr lang="fr-FR" sz="1500" b="0" u="none" strike="noStrike">
              <a:solidFill>
                <a:srgbClr val="000000"/>
              </a:solidFill>
              <a:effectLst/>
              <a:uFillTx/>
              <a:latin typeface="Arial"/>
            </a:endParaRPr>
          </a:p>
        </p:txBody>
      </p:sp>
      <p:sp>
        <p:nvSpPr>
          <p:cNvPr id="336" name="Text 18"/>
          <p:cNvSpPr/>
          <p:nvPr/>
        </p:nvSpPr>
        <p:spPr>
          <a:xfrm>
            <a:off x="3547800" y="2377440"/>
            <a:ext cx="233136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DHT11 · 1 fil</a:t>
            </a:r>
            <a:endParaRPr lang="fr-FR" sz="1300" b="0" u="none" strike="noStrike">
              <a:solidFill>
                <a:srgbClr val="000000"/>
              </a:solidFill>
              <a:effectLst/>
              <a:uFillTx/>
              <a:latin typeface="Arial"/>
            </a:endParaRPr>
          </a:p>
        </p:txBody>
      </p:sp>
      <p:sp>
        <p:nvSpPr>
          <p:cNvPr id="337" name="Text 19"/>
          <p:cNvSpPr/>
          <p:nvPr/>
        </p:nvSpPr>
        <p:spPr>
          <a:xfrm>
            <a:off x="3547800" y="2697480"/>
            <a:ext cx="2358720" cy="1316520"/>
          </a:xfrm>
          <a:prstGeom prst="rect">
            <a:avLst/>
          </a:prstGeom>
          <a:noFill/>
          <a:ln w="0">
            <a:noFill/>
          </a:ln>
        </p:spPr>
        <p:style>
          <a:lnRef idx="0"/>
          <a:fillRef idx="0"/>
          <a:effectRef idx="0"/>
          <a:fontRef idx="minor"/>
        </p:style>
        <p:txBody>
          <a:bodyPr lIns="0" tIns="0" rIns="0" bIns="0" anchor="t">
            <a:noAutofit/>
          </a:bodyPr>
          <a:p>
            <a:pPr marL="152280" indent="-152280" defTabSz="914400">
              <a:lnSpc>
                <a:spcPct val="100000"/>
              </a:lnSpc>
              <a:spcAft>
                <a:spcPts val="499"/>
              </a:spcAft>
              <a:buClr>
                <a:srgbClr val="1A2433"/>
              </a:buClr>
              <a:buFont typeface="Symbol" charset="2"/>
              <a:buChar char=""/>
            </a:pPr>
            <a:r>
              <a:rPr lang="en-US" sz="1300" b="0" u="none" strike="noStrike">
                <a:solidFill>
                  <a:schemeClr val="dk1"/>
                </a:solidFill>
                <a:effectLst/>
                <a:uFillTx/>
                <a:latin typeface="Calibri"/>
              </a:rPr>
              <a:t>Trame de 40 bits chronométrée (compteur DWT) + checksum</a:t>
            </a:r>
            <a:endParaRPr lang="fr-FR" sz="1300" b="0" u="none" strike="noStrike">
              <a:solidFill>
                <a:srgbClr val="000000"/>
              </a:solidFill>
              <a:effectLst/>
              <a:uFillTx/>
              <a:latin typeface="Arial"/>
            </a:endParaRPr>
          </a:p>
          <a:p>
            <a:pPr marL="152280" indent="-152280" defTabSz="914400">
              <a:lnSpc>
                <a:spcPct val="100000"/>
              </a:lnSpc>
              <a:spcAft>
                <a:spcPts val="499"/>
              </a:spcAft>
              <a:buClr>
                <a:srgbClr val="1A2433"/>
              </a:buClr>
              <a:buFont typeface="Symbol" charset="2"/>
              <a:buChar char=""/>
            </a:pPr>
            <a:r>
              <a:rPr lang="en-US" sz="1300" b="0" u="none" strike="noStrike">
                <a:solidFill>
                  <a:schemeClr val="dk1"/>
                </a:solidFill>
                <a:effectLst/>
                <a:uFillTx/>
                <a:latin typeface="Calibri"/>
              </a:rPr>
              <a:t>Nouvel essai toutes les 2 s jusqu'au TIMEOUT</a:t>
            </a:r>
            <a:endParaRPr lang="fr-FR" sz="1300" b="0" u="none" strike="noStrike">
              <a:solidFill>
                <a:srgbClr val="000000"/>
              </a:solidFill>
              <a:effectLst/>
              <a:uFillTx/>
              <a:latin typeface="Arial"/>
            </a:endParaRPr>
          </a:p>
        </p:txBody>
      </p:sp>
      <p:sp>
        <p:nvSpPr>
          <p:cNvPr id="338" name="Shape 20"/>
          <p:cNvSpPr/>
          <p:nvPr/>
        </p:nvSpPr>
        <p:spPr>
          <a:xfrm>
            <a:off x="6039720" y="2670120"/>
            <a:ext cx="109440" cy="273960"/>
          </a:xfrm>
          <a:prstGeom prst="chevron">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339" name="Shape 21"/>
          <p:cNvSpPr/>
          <p:nvPr/>
        </p:nvSpPr>
        <p:spPr>
          <a:xfrm>
            <a:off x="6181200" y="1572840"/>
            <a:ext cx="2633040" cy="2486880"/>
          </a:xfrm>
          <a:prstGeom prst="roundRect">
            <a:avLst>
              <a:gd name="adj" fmla="val 2206"/>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40" name="Shape 22"/>
          <p:cNvSpPr/>
          <p:nvPr/>
        </p:nvSpPr>
        <p:spPr>
          <a:xfrm>
            <a:off x="6364080" y="1737360"/>
            <a:ext cx="548280" cy="5482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341" name="Image 2" descr="Sun"/>
          <p:cNvPicPr/>
          <p:nvPr/>
        </p:nvPicPr>
        <p:blipFill>
          <a:blip r:embed="rId3"/>
          <a:stretch/>
        </p:blipFill>
        <p:spPr>
          <a:xfrm>
            <a:off x="6495840" y="1869120"/>
            <a:ext cx="284760" cy="284760"/>
          </a:xfrm>
          <a:prstGeom prst="rect">
            <a:avLst/>
          </a:prstGeom>
          <a:noFill/>
          <a:ln w="0">
            <a:noFill/>
          </a:ln>
        </p:spPr>
      </p:pic>
      <p:sp>
        <p:nvSpPr>
          <p:cNvPr id="342" name="Text 23"/>
          <p:cNvSpPr/>
          <p:nvPr/>
        </p:nvSpPr>
        <p:spPr>
          <a:xfrm>
            <a:off x="6748200" y="1700640"/>
            <a:ext cx="237240" cy="23724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3</a:t>
            </a:r>
            <a:endParaRPr lang="fr-FR" sz="1000" b="0" u="none" strike="noStrike">
              <a:solidFill>
                <a:srgbClr val="FFFFFF"/>
              </a:solidFill>
              <a:effectLst/>
              <a:uFillTx/>
              <a:latin typeface="Arial"/>
            </a:endParaRPr>
          </a:p>
        </p:txBody>
      </p:sp>
      <p:sp>
        <p:nvSpPr>
          <p:cNvPr id="343" name="Text 24"/>
          <p:cNvSpPr/>
          <p:nvPr/>
        </p:nvSpPr>
        <p:spPr>
          <a:xfrm>
            <a:off x="7022520" y="1737360"/>
            <a:ext cx="17370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Luminosité</a:t>
            </a:r>
            <a:endParaRPr lang="fr-FR" sz="1500" b="0" u="none" strike="noStrike">
              <a:solidFill>
                <a:srgbClr val="000000"/>
              </a:solidFill>
              <a:effectLst/>
              <a:uFillTx/>
              <a:latin typeface="Arial"/>
            </a:endParaRPr>
          </a:p>
        </p:txBody>
      </p:sp>
      <p:sp>
        <p:nvSpPr>
          <p:cNvPr id="344" name="Text 25"/>
          <p:cNvSpPr/>
          <p:nvPr/>
        </p:nvSpPr>
        <p:spPr>
          <a:xfrm>
            <a:off x="6364080" y="2377440"/>
            <a:ext cx="233136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BH1750 · I2C1</a:t>
            </a:r>
            <a:endParaRPr lang="fr-FR" sz="1300" b="0" u="none" strike="noStrike">
              <a:solidFill>
                <a:srgbClr val="000000"/>
              </a:solidFill>
              <a:effectLst/>
              <a:uFillTx/>
              <a:latin typeface="Arial"/>
            </a:endParaRPr>
          </a:p>
        </p:txBody>
      </p:sp>
      <p:sp>
        <p:nvSpPr>
          <p:cNvPr id="345" name="Text 26"/>
          <p:cNvSpPr/>
          <p:nvPr/>
        </p:nvSpPr>
        <p:spPr>
          <a:xfrm>
            <a:off x="6364080" y="2697480"/>
            <a:ext cx="2358720" cy="1316520"/>
          </a:xfrm>
          <a:prstGeom prst="rect">
            <a:avLst/>
          </a:prstGeom>
          <a:noFill/>
          <a:ln w="0">
            <a:noFill/>
          </a:ln>
        </p:spPr>
        <p:style>
          <a:lnRef idx="0"/>
          <a:fillRef idx="0"/>
          <a:effectRef idx="0"/>
          <a:fontRef idx="minor"/>
        </p:style>
        <p:txBody>
          <a:bodyPr lIns="0" tIns="0" rIns="0" bIns="0" anchor="t">
            <a:noAutofit/>
          </a:bodyPr>
          <a:p>
            <a:pPr marL="152280" indent="-152280" defTabSz="914400">
              <a:lnSpc>
                <a:spcPct val="100000"/>
              </a:lnSpc>
              <a:spcAft>
                <a:spcPts val="499"/>
              </a:spcAft>
              <a:buClr>
                <a:srgbClr val="1A2433"/>
              </a:buClr>
              <a:buFont typeface="Symbol" charset="2"/>
              <a:buChar char=""/>
            </a:pPr>
            <a:r>
              <a:rPr lang="en-US" sz="1300" b="0" u="none" strike="noStrike">
                <a:solidFill>
                  <a:schemeClr val="dk1"/>
                </a:solidFill>
                <a:effectLst/>
                <a:uFillTx/>
                <a:latin typeface="Calibri"/>
              </a:rPr>
              <a:t>Mode continu haute résolution (1 lx)</a:t>
            </a:r>
            <a:endParaRPr lang="fr-FR" sz="1300" b="0" u="none" strike="noStrike">
              <a:solidFill>
                <a:srgbClr val="000000"/>
              </a:solidFill>
              <a:effectLst/>
              <a:uFillTx/>
              <a:latin typeface="Arial"/>
            </a:endParaRPr>
          </a:p>
          <a:p>
            <a:pPr marL="152280" indent="-152280" defTabSz="914400">
              <a:lnSpc>
                <a:spcPct val="100000"/>
              </a:lnSpc>
              <a:spcAft>
                <a:spcPts val="499"/>
              </a:spcAft>
              <a:buClr>
                <a:srgbClr val="1A2433"/>
              </a:buClr>
              <a:buFont typeface="Symbol" charset="2"/>
              <a:buChar char=""/>
            </a:pPr>
            <a:r>
              <a:rPr lang="en-US" sz="1300" b="0" u="none" strike="noStrike">
                <a:solidFill>
                  <a:schemeClr val="dk1"/>
                </a:solidFill>
                <a:effectLst/>
                <a:uFillTx/>
                <a:latin typeface="Calibri"/>
              </a:rPr>
              <a:t>Valeur brute ÷ 1,2 = lux</a:t>
            </a:r>
            <a:endParaRPr lang="fr-FR" sz="1300" b="0" u="none" strike="noStrike">
              <a:solidFill>
                <a:srgbClr val="000000"/>
              </a:solidFill>
              <a:effectLst/>
              <a:uFillTx/>
              <a:latin typeface="Arial"/>
            </a:endParaRPr>
          </a:p>
        </p:txBody>
      </p:sp>
      <p:sp>
        <p:nvSpPr>
          <p:cNvPr id="346" name="Shape 27"/>
          <p:cNvSpPr/>
          <p:nvPr/>
        </p:nvSpPr>
        <p:spPr>
          <a:xfrm>
            <a:off x="8856000" y="2670120"/>
            <a:ext cx="109440" cy="273960"/>
          </a:xfrm>
          <a:prstGeom prst="chevron">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347" name="Shape 28"/>
          <p:cNvSpPr/>
          <p:nvPr/>
        </p:nvSpPr>
        <p:spPr>
          <a:xfrm>
            <a:off x="8997840" y="1572840"/>
            <a:ext cx="2633040" cy="2486880"/>
          </a:xfrm>
          <a:prstGeom prst="roundRect">
            <a:avLst>
              <a:gd name="adj" fmla="val 2206"/>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48" name="Shape 29"/>
          <p:cNvSpPr/>
          <p:nvPr/>
        </p:nvSpPr>
        <p:spPr>
          <a:xfrm>
            <a:off x="9180720" y="1737360"/>
            <a:ext cx="548280" cy="5482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349" name="Image 3" descr="MapPin"/>
          <p:cNvPicPr/>
          <p:nvPr/>
        </p:nvPicPr>
        <p:blipFill>
          <a:blip r:embed="rId4"/>
          <a:stretch/>
        </p:blipFill>
        <p:spPr>
          <a:xfrm>
            <a:off x="9312120" y="1869120"/>
            <a:ext cx="284760" cy="284760"/>
          </a:xfrm>
          <a:prstGeom prst="rect">
            <a:avLst/>
          </a:prstGeom>
          <a:noFill/>
          <a:ln w="0">
            <a:noFill/>
          </a:ln>
        </p:spPr>
      </p:pic>
      <p:sp>
        <p:nvSpPr>
          <p:cNvPr id="350" name="Text 30"/>
          <p:cNvSpPr/>
          <p:nvPr/>
        </p:nvSpPr>
        <p:spPr>
          <a:xfrm>
            <a:off x="9564480" y="1700640"/>
            <a:ext cx="237240" cy="23724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4</a:t>
            </a:r>
            <a:endParaRPr lang="fr-FR" sz="1000" b="0" u="none" strike="noStrike">
              <a:solidFill>
                <a:srgbClr val="FFFFFF"/>
              </a:solidFill>
              <a:effectLst/>
              <a:uFillTx/>
              <a:latin typeface="Arial"/>
            </a:endParaRPr>
          </a:p>
        </p:txBody>
      </p:sp>
      <p:sp>
        <p:nvSpPr>
          <p:cNvPr id="351" name="Text 31"/>
          <p:cNvSpPr/>
          <p:nvPr/>
        </p:nvSpPr>
        <p:spPr>
          <a:xfrm>
            <a:off x="9838800" y="1737360"/>
            <a:ext cx="17370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Position</a:t>
            </a:r>
            <a:endParaRPr lang="fr-FR" sz="1500" b="0" u="none" strike="noStrike">
              <a:solidFill>
                <a:srgbClr val="000000"/>
              </a:solidFill>
              <a:effectLst/>
              <a:uFillTx/>
              <a:latin typeface="Arial"/>
            </a:endParaRPr>
          </a:p>
        </p:txBody>
      </p:sp>
      <p:sp>
        <p:nvSpPr>
          <p:cNvPr id="352" name="Text 32"/>
          <p:cNvSpPr/>
          <p:nvPr/>
        </p:nvSpPr>
        <p:spPr>
          <a:xfrm>
            <a:off x="9180720" y="2377440"/>
            <a:ext cx="233136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alibri"/>
              </a:rPr>
              <a:t>GPS · USART3</a:t>
            </a:r>
            <a:endParaRPr lang="fr-FR" sz="1300" b="0" u="none" strike="noStrike">
              <a:solidFill>
                <a:srgbClr val="000000"/>
              </a:solidFill>
              <a:effectLst/>
              <a:uFillTx/>
              <a:latin typeface="Arial"/>
            </a:endParaRPr>
          </a:p>
        </p:txBody>
      </p:sp>
      <p:sp>
        <p:nvSpPr>
          <p:cNvPr id="353" name="Text 33"/>
          <p:cNvSpPr/>
          <p:nvPr/>
        </p:nvSpPr>
        <p:spPr>
          <a:xfrm>
            <a:off x="9180720" y="2697480"/>
            <a:ext cx="2358720" cy="1316520"/>
          </a:xfrm>
          <a:prstGeom prst="rect">
            <a:avLst/>
          </a:prstGeom>
          <a:noFill/>
          <a:ln w="0">
            <a:noFill/>
          </a:ln>
        </p:spPr>
        <p:style>
          <a:lnRef idx="0"/>
          <a:fillRef idx="0"/>
          <a:effectRef idx="0"/>
          <a:fontRef idx="minor"/>
        </p:style>
        <p:txBody>
          <a:bodyPr lIns="0" tIns="0" rIns="0" bIns="0" anchor="t">
            <a:noAutofit/>
          </a:bodyPr>
          <a:p>
            <a:pPr marL="152280" indent="-152280" defTabSz="914400">
              <a:lnSpc>
                <a:spcPct val="100000"/>
              </a:lnSpc>
              <a:spcAft>
                <a:spcPts val="499"/>
              </a:spcAft>
              <a:buClr>
                <a:srgbClr val="1A2433"/>
              </a:buClr>
              <a:buFont typeface="Symbol" charset="2"/>
              <a:buChar char=""/>
            </a:pPr>
            <a:r>
              <a:rPr lang="en-US" sz="1300" b="0" u="none" strike="noStrike">
                <a:solidFill>
                  <a:schemeClr val="dk1"/>
                </a:solidFill>
                <a:effectLst/>
                <a:uFillTx/>
                <a:latin typeface="Calibri"/>
              </a:rPr>
              <a:t>Dernière trame RMC reçue sous interruption, statut « A » exigé</a:t>
            </a:r>
            <a:endParaRPr lang="fr-FR" sz="1300" b="0" u="none" strike="noStrike">
              <a:solidFill>
                <a:srgbClr val="000000"/>
              </a:solidFill>
              <a:effectLst/>
              <a:uFillTx/>
              <a:latin typeface="Arial"/>
            </a:endParaRPr>
          </a:p>
          <a:p>
            <a:pPr marL="152280" indent="-152280" defTabSz="914400">
              <a:lnSpc>
                <a:spcPct val="100000"/>
              </a:lnSpc>
              <a:spcAft>
                <a:spcPts val="499"/>
              </a:spcAft>
              <a:buClr>
                <a:srgbClr val="1A2433"/>
              </a:buClr>
              <a:buFont typeface="Symbol" charset="2"/>
              <a:buChar char=""/>
            </a:pPr>
            <a:r>
              <a:rPr lang="en-US" sz="1300" b="0" u="none" strike="noStrike">
                <a:solidFill>
                  <a:schemeClr val="dk1"/>
                </a:solidFill>
                <a:effectLst/>
                <a:uFillTx/>
                <a:latin typeface="Calibri"/>
              </a:rPr>
              <a:t>Degrés décimaux, recalage de la RTC</a:t>
            </a:r>
            <a:endParaRPr lang="fr-FR" sz="1300" b="0" u="none" strike="noStrike">
              <a:solidFill>
                <a:srgbClr val="000000"/>
              </a:solidFill>
              <a:effectLst/>
              <a:uFillTx/>
              <a:latin typeface="Arial"/>
            </a:endParaRPr>
          </a:p>
        </p:txBody>
      </p:sp>
      <p:sp>
        <p:nvSpPr>
          <p:cNvPr id="354" name="Shape 34"/>
          <p:cNvSpPr/>
          <p:nvPr/>
        </p:nvSpPr>
        <p:spPr>
          <a:xfrm>
            <a:off x="548640" y="4224600"/>
            <a:ext cx="6720480" cy="1965600"/>
          </a:xfrm>
          <a:prstGeom prst="roundRect">
            <a:avLst>
              <a:gd name="adj" fmla="val 2791"/>
            </a:avLst>
          </a:prstGeom>
          <a:solidFill>
            <a:schemeClr val="tx2"/>
          </a:solidFill>
          <a:ln w="0">
            <a:noFill/>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355" name="Text 35"/>
          <p:cNvSpPr/>
          <p:nvPr/>
        </p:nvSpPr>
        <p:spPr>
          <a:xfrm>
            <a:off x="777240" y="4352400"/>
            <a:ext cx="630900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lt1"/>
                </a:solidFill>
                <a:effectLst/>
                <a:uFillTx/>
                <a:latin typeface="Calibri"/>
              </a:rPr>
              <a:t>Une ligne horodatée par acquisition (séparateur « ; »)</a:t>
            </a:r>
            <a:endParaRPr lang="fr-FR" sz="1500" b="0" u="none" strike="noStrike">
              <a:solidFill>
                <a:srgbClr val="000000"/>
              </a:solidFill>
              <a:effectLst/>
              <a:uFillTx/>
              <a:latin typeface="Arial"/>
            </a:endParaRPr>
          </a:p>
        </p:txBody>
      </p:sp>
      <p:sp>
        <p:nvSpPr>
          <p:cNvPr id="356" name="Text 36"/>
          <p:cNvSpPr/>
          <p:nvPr/>
        </p:nvSpPr>
        <p:spPr>
          <a:xfrm>
            <a:off x="777240" y="4754880"/>
            <a:ext cx="776880" cy="383760"/>
          </a:xfrm>
          <a:prstGeom prst="roundRect">
            <a:avLst>
              <a:gd name="adj" fmla="val 11905"/>
            </a:avLst>
          </a:prstGeom>
          <a:solidFill>
            <a:schemeClr val="accent3"/>
          </a:solidFill>
          <a:ln w="9525">
            <a:solidFill>
              <a:srgbClr val="5CCAD3"/>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chemeClr val="lt1"/>
                </a:solidFill>
                <a:effectLst/>
                <a:uFillTx/>
                <a:latin typeface="Consolas"/>
                <a:ea typeface="Consolas"/>
              </a:rPr>
              <a:t>date</a:t>
            </a:r>
            <a:endParaRPr lang="fr-FR" sz="1250" b="0" u="none" strike="noStrike">
              <a:solidFill>
                <a:srgbClr val="FFFFFF"/>
              </a:solidFill>
              <a:effectLst/>
              <a:uFillTx/>
              <a:latin typeface="Arial"/>
            </a:endParaRPr>
          </a:p>
        </p:txBody>
      </p:sp>
      <p:sp>
        <p:nvSpPr>
          <p:cNvPr id="357" name="Text 37"/>
          <p:cNvSpPr/>
          <p:nvPr/>
        </p:nvSpPr>
        <p:spPr>
          <a:xfrm>
            <a:off x="1618560" y="4754880"/>
            <a:ext cx="776880" cy="383760"/>
          </a:xfrm>
          <a:prstGeom prst="roundRect">
            <a:avLst>
              <a:gd name="adj" fmla="val 11905"/>
            </a:avLst>
          </a:prstGeom>
          <a:solidFill>
            <a:schemeClr val="accent3"/>
          </a:solidFill>
          <a:ln w="9525">
            <a:solidFill>
              <a:srgbClr val="5CCAD3"/>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chemeClr val="lt1"/>
                </a:solidFill>
                <a:effectLst/>
                <a:uFillTx/>
                <a:latin typeface="Consolas"/>
                <a:ea typeface="Consolas"/>
              </a:rPr>
              <a:t>heure</a:t>
            </a:r>
            <a:endParaRPr lang="fr-FR" sz="1250" b="0" u="none" strike="noStrike">
              <a:solidFill>
                <a:srgbClr val="FFFFFF"/>
              </a:solidFill>
              <a:effectLst/>
              <a:uFillTx/>
              <a:latin typeface="Arial"/>
            </a:endParaRPr>
          </a:p>
        </p:txBody>
      </p:sp>
      <p:sp>
        <p:nvSpPr>
          <p:cNvPr id="358" name="Text 38"/>
          <p:cNvSpPr/>
          <p:nvPr/>
        </p:nvSpPr>
        <p:spPr>
          <a:xfrm>
            <a:off x="2459880" y="4754880"/>
            <a:ext cx="895680" cy="383760"/>
          </a:xfrm>
          <a:prstGeom prst="roundRect">
            <a:avLst>
              <a:gd name="adj" fmla="val 11905"/>
            </a:avLst>
          </a:prstGeom>
          <a:solidFill>
            <a:schemeClr val="accent3"/>
          </a:solidFill>
          <a:ln w="9525">
            <a:solidFill>
              <a:srgbClr val="5CCAD3"/>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chemeClr val="lt1"/>
                </a:solidFill>
                <a:effectLst/>
                <a:uFillTx/>
                <a:latin typeface="Consolas"/>
                <a:ea typeface="Consolas"/>
              </a:rPr>
              <a:t>latitude</a:t>
            </a:r>
            <a:endParaRPr lang="fr-FR" sz="1250" b="0" u="none" strike="noStrike">
              <a:solidFill>
                <a:srgbClr val="FFFFFF"/>
              </a:solidFill>
              <a:effectLst/>
              <a:uFillTx/>
              <a:latin typeface="Arial"/>
            </a:endParaRPr>
          </a:p>
        </p:txBody>
      </p:sp>
      <p:sp>
        <p:nvSpPr>
          <p:cNvPr id="359" name="Text 39"/>
          <p:cNvSpPr/>
          <p:nvPr/>
        </p:nvSpPr>
        <p:spPr>
          <a:xfrm>
            <a:off x="3420000" y="4754880"/>
            <a:ext cx="959760" cy="383760"/>
          </a:xfrm>
          <a:prstGeom prst="roundRect">
            <a:avLst>
              <a:gd name="adj" fmla="val 11905"/>
            </a:avLst>
          </a:prstGeom>
          <a:solidFill>
            <a:schemeClr val="accent3"/>
          </a:solidFill>
          <a:ln w="9525">
            <a:solidFill>
              <a:srgbClr val="5CCAD3"/>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chemeClr val="lt1"/>
                </a:solidFill>
                <a:effectLst/>
                <a:uFillTx/>
                <a:latin typeface="Consolas"/>
                <a:ea typeface="Consolas"/>
              </a:rPr>
              <a:t>longitude</a:t>
            </a:r>
            <a:endParaRPr lang="fr-FR" sz="1250" b="0" u="none" strike="noStrike">
              <a:solidFill>
                <a:srgbClr val="FFFFFF"/>
              </a:solidFill>
              <a:effectLst/>
              <a:uFillTx/>
              <a:latin typeface="Arial"/>
            </a:endParaRPr>
          </a:p>
        </p:txBody>
      </p:sp>
      <p:sp>
        <p:nvSpPr>
          <p:cNvPr id="360" name="Text 40"/>
          <p:cNvSpPr/>
          <p:nvPr/>
        </p:nvSpPr>
        <p:spPr>
          <a:xfrm>
            <a:off x="4443840" y="4754880"/>
            <a:ext cx="868320" cy="383760"/>
          </a:xfrm>
          <a:prstGeom prst="roundRect">
            <a:avLst>
              <a:gd name="adj" fmla="val 11905"/>
            </a:avLst>
          </a:prstGeom>
          <a:solidFill>
            <a:schemeClr val="accent3"/>
          </a:solidFill>
          <a:ln w="9525">
            <a:solidFill>
              <a:srgbClr val="5CCAD3"/>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chemeClr val="lt1"/>
                </a:solidFill>
                <a:effectLst/>
                <a:uFillTx/>
                <a:latin typeface="Consolas"/>
                <a:ea typeface="Consolas"/>
              </a:rPr>
              <a:t>temp. °C</a:t>
            </a:r>
            <a:endParaRPr lang="fr-FR" sz="1250" b="0" u="none" strike="noStrike">
              <a:solidFill>
                <a:srgbClr val="FFFFFF"/>
              </a:solidFill>
              <a:effectLst/>
              <a:uFillTx/>
              <a:latin typeface="Arial"/>
            </a:endParaRPr>
          </a:p>
        </p:txBody>
      </p:sp>
      <p:sp>
        <p:nvSpPr>
          <p:cNvPr id="361" name="Text 41"/>
          <p:cNvSpPr/>
          <p:nvPr/>
        </p:nvSpPr>
        <p:spPr>
          <a:xfrm>
            <a:off x="5376600" y="4754880"/>
            <a:ext cx="776880" cy="383760"/>
          </a:xfrm>
          <a:prstGeom prst="roundRect">
            <a:avLst>
              <a:gd name="adj" fmla="val 11905"/>
            </a:avLst>
          </a:prstGeom>
          <a:solidFill>
            <a:schemeClr val="accent3"/>
          </a:solidFill>
          <a:ln w="9525">
            <a:solidFill>
              <a:srgbClr val="5CCAD3"/>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chemeClr val="lt1"/>
                </a:solidFill>
                <a:effectLst/>
                <a:uFillTx/>
                <a:latin typeface="Consolas"/>
                <a:ea typeface="Consolas"/>
              </a:rPr>
              <a:t>hum. %</a:t>
            </a:r>
            <a:endParaRPr lang="fr-FR" sz="1250" b="0" u="none" strike="noStrike">
              <a:solidFill>
                <a:srgbClr val="FFFFFF"/>
              </a:solidFill>
              <a:effectLst/>
              <a:uFillTx/>
              <a:latin typeface="Arial"/>
            </a:endParaRPr>
          </a:p>
        </p:txBody>
      </p:sp>
      <p:sp>
        <p:nvSpPr>
          <p:cNvPr id="362" name="Text 42"/>
          <p:cNvSpPr/>
          <p:nvPr/>
        </p:nvSpPr>
        <p:spPr>
          <a:xfrm>
            <a:off x="6217920" y="4754880"/>
            <a:ext cx="548280" cy="383760"/>
          </a:xfrm>
          <a:prstGeom prst="roundRect">
            <a:avLst>
              <a:gd name="adj" fmla="val 11905"/>
            </a:avLst>
          </a:prstGeom>
          <a:solidFill>
            <a:schemeClr val="accent3"/>
          </a:solidFill>
          <a:ln w="9525">
            <a:solidFill>
              <a:srgbClr val="5CCAD3"/>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chemeClr val="lt1"/>
                </a:solidFill>
                <a:effectLst/>
                <a:uFillTx/>
                <a:latin typeface="Consolas"/>
                <a:ea typeface="Consolas"/>
              </a:rPr>
              <a:t>lux</a:t>
            </a:r>
            <a:endParaRPr lang="fr-FR" sz="1250" b="0" u="none" strike="noStrike">
              <a:solidFill>
                <a:srgbClr val="FFFFFF"/>
              </a:solidFill>
              <a:effectLst/>
              <a:uFillTx/>
              <a:latin typeface="Arial"/>
            </a:endParaRPr>
          </a:p>
        </p:txBody>
      </p:sp>
      <p:sp>
        <p:nvSpPr>
          <p:cNvPr id="363" name="Text 43"/>
          <p:cNvSpPr/>
          <p:nvPr/>
        </p:nvSpPr>
        <p:spPr>
          <a:xfrm>
            <a:off x="777240" y="5285160"/>
            <a:ext cx="630900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0" u="none" strike="noStrike">
                <a:solidFill>
                  <a:schemeClr val="lt2"/>
                </a:solidFill>
                <a:effectLst/>
                <a:uFillTx/>
                <a:latin typeface="Calibri"/>
              </a:rPr>
              <a:t>Valeur absente ou invalide → </a:t>
            </a:r>
            <a:r>
              <a:rPr lang="en-US" sz="1350" b="1" u="none" strike="noStrike">
                <a:solidFill>
                  <a:schemeClr val="accent5"/>
                </a:solidFill>
                <a:effectLst/>
                <a:uFillTx/>
                <a:latin typeface="Calibri"/>
              </a:rPr>
              <a:t>« NA »</a:t>
            </a:r>
            <a:r>
              <a:rPr lang="en-US" sz="1350" b="0" u="none" strike="noStrike">
                <a:solidFill>
                  <a:schemeClr val="lt2"/>
                </a:solidFill>
                <a:effectLst/>
                <a:uFillTx/>
                <a:latin typeface="Calibri"/>
              </a:rPr>
              <a:t> : la ligne garde toujours ses 7 champs</a:t>
            </a:r>
            <a:endParaRPr lang="fr-FR" sz="1350" b="0" u="none" strike="noStrike">
              <a:solidFill>
                <a:srgbClr val="000000"/>
              </a:solidFill>
              <a:effectLst/>
              <a:uFillTx/>
              <a:latin typeface="Arial"/>
            </a:endParaRPr>
          </a:p>
        </p:txBody>
      </p:sp>
      <p:sp>
        <p:nvSpPr>
          <p:cNvPr id="364" name="Text 44"/>
          <p:cNvSpPr/>
          <p:nvPr/>
        </p:nvSpPr>
        <p:spPr>
          <a:xfrm>
            <a:off x="777240" y="5632560"/>
            <a:ext cx="630900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0" u="none" strike="noStrike">
                <a:solidFill>
                  <a:schemeClr val="lt2"/>
                </a:solidFill>
                <a:effectLst/>
                <a:uFillTx/>
                <a:latin typeface="Calibri"/>
              </a:rPr>
              <a:t>Destinations : </a:t>
            </a:r>
            <a:r>
              <a:rPr lang="en-US" sz="1350" b="1" u="none" strike="noStrike">
                <a:solidFill>
                  <a:schemeClr val="lt1"/>
                </a:solidFill>
                <a:effectLst/>
                <a:uFillTx/>
                <a:latin typeface="Calibri"/>
              </a:rPr>
              <a:t>carte SD (STANDARD, ÉCO) · console série</a:t>
            </a:r>
            <a:endParaRPr lang="fr-FR" sz="1350" b="0" u="none" strike="noStrike">
              <a:solidFill>
                <a:srgbClr val="000000"/>
              </a:solidFill>
              <a:effectLst/>
              <a:uFillTx/>
              <a:latin typeface="Arial"/>
            </a:endParaRPr>
          </a:p>
        </p:txBody>
      </p:sp>
      <p:sp>
        <p:nvSpPr>
          <p:cNvPr id="365" name="Shape 45"/>
          <p:cNvSpPr/>
          <p:nvPr/>
        </p:nvSpPr>
        <p:spPr>
          <a:xfrm>
            <a:off x="7498080" y="4224600"/>
            <a:ext cx="4141800" cy="1965600"/>
          </a:xfrm>
          <a:prstGeom prst="roundRect">
            <a:avLst>
              <a:gd name="adj" fmla="val 2791"/>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66" name="Shape 46"/>
          <p:cNvSpPr/>
          <p:nvPr/>
        </p:nvSpPr>
        <p:spPr>
          <a:xfrm>
            <a:off x="7699320" y="4389120"/>
            <a:ext cx="383760" cy="38376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367" name="Image 4" descr="SlidersHorizontal"/>
          <p:cNvPicPr/>
          <p:nvPr/>
        </p:nvPicPr>
        <p:blipFill>
          <a:blip r:embed="rId5"/>
          <a:stretch/>
        </p:blipFill>
        <p:spPr>
          <a:xfrm>
            <a:off x="7779960" y="4469760"/>
            <a:ext cx="222480" cy="222480"/>
          </a:xfrm>
          <a:prstGeom prst="rect">
            <a:avLst/>
          </a:prstGeom>
          <a:noFill/>
          <a:ln w="0">
            <a:noFill/>
          </a:ln>
        </p:spPr>
      </p:pic>
      <p:sp>
        <p:nvSpPr>
          <p:cNvPr id="368" name="Text 47"/>
          <p:cNvSpPr/>
          <p:nvPr/>
        </p:nvSpPr>
        <p:spPr>
          <a:xfrm>
            <a:off x="8183880" y="4389120"/>
            <a:ext cx="3291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Règles de traitement</a:t>
            </a:r>
            <a:endParaRPr lang="fr-FR" sz="1500" b="0" u="none" strike="noStrike">
              <a:solidFill>
                <a:srgbClr val="000000"/>
              </a:solidFill>
              <a:effectLst/>
              <a:uFillTx/>
              <a:latin typeface="Arial"/>
            </a:endParaRPr>
          </a:p>
        </p:txBody>
      </p:sp>
      <p:sp>
        <p:nvSpPr>
          <p:cNvPr id="369" name="Text 48"/>
          <p:cNvSpPr/>
          <p:nvPr/>
        </p:nvSpPr>
        <p:spPr>
          <a:xfrm>
            <a:off x="7726680" y="4846320"/>
            <a:ext cx="3794400" cy="1298160"/>
          </a:xfrm>
          <a:prstGeom prst="rect">
            <a:avLst/>
          </a:prstGeom>
          <a:noFill/>
          <a:ln w="0">
            <a:noFill/>
          </a:ln>
        </p:spPr>
        <p:style>
          <a:lnRef idx="0"/>
          <a:fillRef idx="0"/>
          <a:effectRef idx="0"/>
          <a:fontRef idx="minor"/>
        </p:style>
        <p:txBody>
          <a:bodyPr lIns="0" tIns="0" rIns="0" bIns="0" anchor="t">
            <a:noAutofit/>
          </a:bodyPr>
          <a:p>
            <a:pPr marL="152280" indent="-152280" defTabSz="914400">
              <a:lnSpc>
                <a:spcPct val="100000"/>
              </a:lnSpc>
              <a:spcAft>
                <a:spcPts val="400"/>
              </a:spcAft>
              <a:buClr>
                <a:srgbClr val="1A2433"/>
              </a:buClr>
              <a:buFont typeface="Symbol" charset="2"/>
              <a:buChar char=""/>
            </a:pPr>
            <a:r>
              <a:rPr lang="en-US" sz="1300" b="0" u="none" strike="noStrike">
                <a:solidFill>
                  <a:schemeClr val="dk1"/>
                </a:solidFill>
                <a:effectLst/>
                <a:uFillTx/>
                <a:latin typeface="Calibri"/>
              </a:rPr>
              <a:t>Capteur muet ou désactivé → NA</a:t>
            </a:r>
            <a:endParaRPr lang="fr-FR" sz="1300" b="0" u="none" strike="noStrike">
              <a:solidFill>
                <a:srgbClr val="000000"/>
              </a:solidFill>
              <a:effectLst/>
              <a:uFillTx/>
              <a:latin typeface="Arial"/>
            </a:endParaRPr>
          </a:p>
          <a:p>
            <a:pPr marL="152280" indent="-152280" defTabSz="914400">
              <a:lnSpc>
                <a:spcPct val="100000"/>
              </a:lnSpc>
              <a:spcAft>
                <a:spcPts val="400"/>
              </a:spcAft>
              <a:buClr>
                <a:srgbClr val="1A2433"/>
              </a:buClr>
              <a:buFont typeface="Symbol" charset="2"/>
              <a:buChar char=""/>
            </a:pPr>
            <a:r>
              <a:rPr lang="en-US" sz="1300" b="0" u="none" strike="noStrike">
                <a:solidFill>
                  <a:schemeClr val="dk1"/>
                </a:solidFill>
                <a:effectLst/>
                <a:uFillTx/>
                <a:latin typeface="Calibri"/>
              </a:rPr>
              <a:t>Température hors seuils → NA + erreur « incohérente »</a:t>
            </a:r>
            <a:endParaRPr lang="fr-FR" sz="1300" b="0" u="none" strike="noStrike">
              <a:solidFill>
                <a:srgbClr val="000000"/>
              </a:solidFill>
              <a:effectLst/>
              <a:uFillTx/>
              <a:latin typeface="Arial"/>
            </a:endParaRPr>
          </a:p>
          <a:p>
            <a:pPr marL="152280" indent="-152280" defTabSz="914400">
              <a:lnSpc>
                <a:spcPct val="100000"/>
              </a:lnSpc>
              <a:spcAft>
                <a:spcPts val="400"/>
              </a:spcAft>
              <a:buClr>
                <a:srgbClr val="1A2433"/>
              </a:buClr>
              <a:buFont typeface="Symbol" charset="2"/>
              <a:buChar char=""/>
            </a:pPr>
            <a:r>
              <a:rPr lang="en-US" sz="1300" b="0" u="none" strike="noStrike">
                <a:solidFill>
                  <a:schemeClr val="dk1"/>
                </a:solidFill>
                <a:effectLst/>
                <a:uFillTx/>
                <a:latin typeface="Calibri"/>
              </a:rPr>
              <a:t>Humidité ignorée hors [HYGR_MINT ; HYGR_MAXT]</a:t>
            </a:r>
            <a:endParaRPr lang="fr-FR" sz="1300" b="0" u="none" strike="noStrike">
              <a:solidFill>
                <a:srgbClr val="000000"/>
              </a:solidFill>
              <a:effectLst/>
              <a:uFillTx/>
              <a:latin typeface="Arial"/>
            </a:endParaRPr>
          </a:p>
          <a:p>
            <a:pPr marL="152280" indent="-152280" defTabSz="914400">
              <a:lnSpc>
                <a:spcPct val="100000"/>
              </a:lnSpc>
              <a:spcAft>
                <a:spcPts val="400"/>
              </a:spcAft>
              <a:buClr>
                <a:srgbClr val="1A2433"/>
              </a:buClr>
              <a:buFont typeface="Symbol" charset="2"/>
              <a:buChar char=""/>
            </a:pPr>
            <a:r>
              <a:rPr lang="en-US" sz="1300" b="0" u="none" strike="noStrike">
                <a:solidFill>
                  <a:schemeClr val="dk1"/>
                </a:solidFill>
                <a:effectLst/>
                <a:uFillTx/>
                <a:latin typeface="Calibri"/>
              </a:rPr>
              <a:t>Luminosité classée faible / moyenne / forte</a:t>
            </a:r>
            <a:endParaRPr lang="fr-FR" sz="1300" b="0" u="none" strike="noStrike">
              <a:solidFill>
                <a:srgbClr val="000000"/>
              </a:solidFill>
              <a:effectLst/>
              <a:uFillTx/>
              <a:latin typeface="Arial"/>
            </a:endParaRPr>
          </a:p>
        </p:txBody>
      </p:sp>
      <p:sp>
        <p:nvSpPr>
          <p:cNvPr id="370" name="PlaceHolder 3"/>
          <p:cNvSpPr>
            <a:spLocks noGrp="1"/>
          </p:cNvSpPr>
          <p:nvPr>
            <p:ph type="sldNum" idx="11"/>
          </p:nvPr>
        </p:nvSpPr>
        <p:spPr>
          <a:xfrm>
            <a:off x="11091600" y="6437520"/>
            <a:ext cx="548280" cy="219240"/>
          </a:xfrm>
          <a:prstGeom prst="rect">
            <a:avLst/>
          </a:prstGeom>
          <a:noFill/>
          <a:ln w="0">
            <a:noFill/>
          </a:ln>
        </p:spPr>
        <p:txBody>
          <a:bodyPr lIns="0" tIns="0" rIns="0" bIns="0" anchor="ctr" anchorCtr="1">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0A3EF963-2840-4060-A9EF-BE683218BC88}"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03 · ACQUISITION ET STOCKAGE</a:t>
            </a:r>
            <a:endParaRPr lang="fr-FR" sz="1100" b="0" u="none" strike="noStrike">
              <a:solidFill>
                <a:schemeClr val="dk1"/>
              </a:solidFill>
              <a:effectLst/>
              <a:uFillTx/>
              <a:latin typeface="Calibri"/>
            </a:endParaRPr>
          </a:p>
        </p:txBody>
      </p:sp>
      <p:sp>
        <p:nvSpPr>
          <p:cNvPr id="372"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Enregistrement des mesures sur la carte SD</a:t>
            </a:r>
            <a:endParaRPr lang="fr-FR" sz="2800" b="0" u="none" strike="noStrike">
              <a:solidFill>
                <a:schemeClr val="dk1"/>
              </a:solidFill>
              <a:effectLst/>
              <a:uFillTx/>
              <a:latin typeface="Calibri"/>
            </a:endParaRPr>
          </a:p>
        </p:txBody>
      </p:sp>
      <p:sp>
        <p:nvSpPr>
          <p:cNvPr id="373"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374" name="Text 3"/>
          <p:cNvSpPr/>
          <p:nvPr/>
        </p:nvSpPr>
        <p:spPr>
          <a:xfrm>
            <a:off x="973368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02</a:t>
            </a:r>
            <a:endParaRPr lang="fr-FR" sz="950" b="0" u="none" strike="noStrike">
              <a:solidFill>
                <a:srgbClr val="FFFFFF"/>
              </a:solidFill>
              <a:effectLst/>
              <a:uFillTx/>
              <a:latin typeface="Arial"/>
            </a:endParaRPr>
          </a:p>
        </p:txBody>
      </p:sp>
      <p:sp>
        <p:nvSpPr>
          <p:cNvPr id="375" name="Text 4"/>
          <p:cNvSpPr/>
          <p:nvPr/>
        </p:nvSpPr>
        <p:spPr>
          <a:xfrm>
            <a:off x="1022292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03</a:t>
            </a:r>
            <a:endParaRPr lang="fr-FR" sz="950" b="0" u="none" strike="noStrike">
              <a:solidFill>
                <a:srgbClr val="FFFFFF"/>
              </a:solidFill>
              <a:effectLst/>
              <a:uFillTx/>
              <a:latin typeface="Arial"/>
            </a:endParaRPr>
          </a:p>
        </p:txBody>
      </p:sp>
      <p:sp>
        <p:nvSpPr>
          <p:cNvPr id="376" name="Text 5"/>
          <p:cNvSpPr/>
          <p:nvPr/>
        </p:nvSpPr>
        <p:spPr>
          <a:xfrm>
            <a:off x="1071216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04</a:t>
            </a:r>
            <a:endParaRPr lang="fr-FR" sz="950" b="0" u="none" strike="noStrike">
              <a:solidFill>
                <a:srgbClr val="000000"/>
              </a:solidFill>
              <a:effectLst/>
              <a:uFillTx/>
              <a:latin typeface="Arial"/>
            </a:endParaRPr>
          </a:p>
        </p:txBody>
      </p:sp>
      <p:sp>
        <p:nvSpPr>
          <p:cNvPr id="377" name="Text 6"/>
          <p:cNvSpPr/>
          <p:nvPr/>
        </p:nvSpPr>
        <p:spPr>
          <a:xfrm>
            <a:off x="1120140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05</a:t>
            </a:r>
            <a:endParaRPr lang="fr-FR" sz="950" b="0" u="none" strike="noStrike">
              <a:solidFill>
                <a:srgbClr val="000000"/>
              </a:solidFill>
              <a:effectLst/>
              <a:uFillTx/>
              <a:latin typeface="Arial"/>
            </a:endParaRPr>
          </a:p>
        </p:txBody>
      </p:sp>
      <p:sp>
        <p:nvSpPr>
          <p:cNvPr id="378" name="Shape 7"/>
          <p:cNvSpPr/>
          <p:nvPr/>
        </p:nvSpPr>
        <p:spPr>
          <a:xfrm>
            <a:off x="548640" y="1572840"/>
            <a:ext cx="2071800" cy="1737000"/>
          </a:xfrm>
          <a:prstGeom prst="roundRect">
            <a:avLst>
              <a:gd name="adj" fmla="val 315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79" name="Shape 8"/>
          <p:cNvSpPr/>
          <p:nvPr/>
        </p:nvSpPr>
        <p:spPr>
          <a:xfrm>
            <a:off x="713160" y="1737360"/>
            <a:ext cx="511560" cy="511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380" name="Image 0" descr="HardDrive"/>
          <p:cNvPicPr/>
          <p:nvPr/>
        </p:nvPicPr>
        <p:blipFill>
          <a:blip r:embed="rId1"/>
          <a:stretch/>
        </p:blipFill>
        <p:spPr>
          <a:xfrm>
            <a:off x="836280" y="1860120"/>
            <a:ext cx="266040" cy="266040"/>
          </a:xfrm>
          <a:prstGeom prst="rect">
            <a:avLst/>
          </a:prstGeom>
          <a:noFill/>
          <a:ln w="0">
            <a:noFill/>
          </a:ln>
        </p:spPr>
      </p:pic>
      <p:sp>
        <p:nvSpPr>
          <p:cNvPr id="381" name="Text 9"/>
          <p:cNvSpPr/>
          <p:nvPr/>
        </p:nvSpPr>
        <p:spPr>
          <a:xfrm>
            <a:off x="1060560" y="1691640"/>
            <a:ext cx="228240" cy="22824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1</a:t>
            </a:r>
            <a:endParaRPr lang="fr-FR" sz="1000" b="0" u="none" strike="noStrike">
              <a:solidFill>
                <a:srgbClr val="FFFFFF"/>
              </a:solidFill>
              <a:effectLst/>
              <a:uFillTx/>
              <a:latin typeface="Arial"/>
            </a:endParaRPr>
          </a:p>
        </p:txBody>
      </p:sp>
      <p:sp>
        <p:nvSpPr>
          <p:cNvPr id="382" name="Text 10"/>
          <p:cNvSpPr/>
          <p:nvPr/>
        </p:nvSpPr>
        <p:spPr>
          <a:xfrm>
            <a:off x="1334880" y="1700640"/>
            <a:ext cx="1193760" cy="585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Monter la carte</a:t>
            </a:r>
            <a:endParaRPr lang="fr-FR" sz="1500" b="0" u="none" strike="noStrike">
              <a:solidFill>
                <a:srgbClr val="000000"/>
              </a:solidFill>
              <a:effectLst/>
              <a:uFillTx/>
              <a:latin typeface="Arial"/>
            </a:endParaRPr>
          </a:p>
        </p:txBody>
      </p:sp>
      <p:sp>
        <p:nvSpPr>
          <p:cNvPr id="383" name="Text 11"/>
          <p:cNvSpPr/>
          <p:nvPr/>
        </p:nvSpPr>
        <p:spPr>
          <a:xfrm>
            <a:off x="713160" y="2395800"/>
            <a:ext cx="17791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Par FatFS, via le SPI1, si elle n'est pas déjà montée</a:t>
            </a:r>
            <a:endParaRPr lang="fr-FR" sz="1300" b="0" u="none" strike="noStrike">
              <a:solidFill>
                <a:srgbClr val="000000"/>
              </a:solidFill>
              <a:effectLst/>
              <a:uFillTx/>
              <a:latin typeface="Arial"/>
            </a:endParaRPr>
          </a:p>
        </p:txBody>
      </p:sp>
      <p:sp>
        <p:nvSpPr>
          <p:cNvPr id="384" name="Shape 12"/>
          <p:cNvSpPr/>
          <p:nvPr/>
        </p:nvSpPr>
        <p:spPr>
          <a:xfrm>
            <a:off x="2657160" y="2304360"/>
            <a:ext cx="109440" cy="273960"/>
          </a:xfrm>
          <a:prstGeom prst="chevron">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385" name="Shape 13"/>
          <p:cNvSpPr/>
          <p:nvPr/>
        </p:nvSpPr>
        <p:spPr>
          <a:xfrm>
            <a:off x="2803680" y="1572840"/>
            <a:ext cx="2071800" cy="1737000"/>
          </a:xfrm>
          <a:prstGeom prst="roundRect">
            <a:avLst>
              <a:gd name="adj" fmla="val 315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86" name="Shape 14"/>
          <p:cNvSpPr/>
          <p:nvPr/>
        </p:nvSpPr>
        <p:spPr>
          <a:xfrm>
            <a:off x="2968200" y="1737360"/>
            <a:ext cx="511560" cy="511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387" name="Image 1" descr="Gauge"/>
          <p:cNvPicPr/>
          <p:nvPr/>
        </p:nvPicPr>
        <p:blipFill>
          <a:blip r:embed="rId2"/>
          <a:stretch/>
        </p:blipFill>
        <p:spPr>
          <a:xfrm>
            <a:off x="3090960" y="1860120"/>
            <a:ext cx="266040" cy="266040"/>
          </a:xfrm>
          <a:prstGeom prst="rect">
            <a:avLst/>
          </a:prstGeom>
          <a:noFill/>
          <a:ln w="0">
            <a:noFill/>
          </a:ln>
        </p:spPr>
      </p:pic>
      <p:sp>
        <p:nvSpPr>
          <p:cNvPr id="388" name="Text 15"/>
          <p:cNvSpPr/>
          <p:nvPr/>
        </p:nvSpPr>
        <p:spPr>
          <a:xfrm>
            <a:off x="3315600" y="1691640"/>
            <a:ext cx="228240" cy="22824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2</a:t>
            </a:r>
            <a:endParaRPr lang="fr-FR" sz="1000" b="0" u="none" strike="noStrike">
              <a:solidFill>
                <a:srgbClr val="FFFFFF"/>
              </a:solidFill>
              <a:effectLst/>
              <a:uFillTx/>
              <a:latin typeface="Arial"/>
            </a:endParaRPr>
          </a:p>
        </p:txBody>
      </p:sp>
      <p:sp>
        <p:nvSpPr>
          <p:cNvPr id="389" name="Text 16"/>
          <p:cNvSpPr/>
          <p:nvPr/>
        </p:nvSpPr>
        <p:spPr>
          <a:xfrm>
            <a:off x="3589920" y="1700640"/>
            <a:ext cx="1193760" cy="585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Vérifier la place</a:t>
            </a:r>
            <a:endParaRPr lang="fr-FR" sz="1500" b="0" u="none" strike="noStrike">
              <a:solidFill>
                <a:srgbClr val="000000"/>
              </a:solidFill>
              <a:effectLst/>
              <a:uFillTx/>
              <a:latin typeface="Arial"/>
            </a:endParaRPr>
          </a:p>
        </p:txBody>
      </p:sp>
      <p:sp>
        <p:nvSpPr>
          <p:cNvPr id="390" name="Text 17"/>
          <p:cNvSpPr/>
          <p:nvPr/>
        </p:nvSpPr>
        <p:spPr>
          <a:xfrm>
            <a:off x="2968200" y="2395800"/>
            <a:ext cx="17791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Place libre ≥ ligne + FILE_MAX_SIZE, sinon erreur « carte pleine »</a:t>
            </a:r>
            <a:endParaRPr lang="fr-FR" sz="1300" b="0" u="none" strike="noStrike">
              <a:solidFill>
                <a:srgbClr val="000000"/>
              </a:solidFill>
              <a:effectLst/>
              <a:uFillTx/>
              <a:latin typeface="Arial"/>
            </a:endParaRPr>
          </a:p>
        </p:txBody>
      </p:sp>
      <p:sp>
        <p:nvSpPr>
          <p:cNvPr id="391" name="Shape 18"/>
          <p:cNvSpPr/>
          <p:nvPr/>
        </p:nvSpPr>
        <p:spPr>
          <a:xfrm>
            <a:off x="4912200" y="2304360"/>
            <a:ext cx="109440" cy="273960"/>
          </a:xfrm>
          <a:prstGeom prst="chevron">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392" name="Shape 19"/>
          <p:cNvSpPr/>
          <p:nvPr/>
        </p:nvSpPr>
        <p:spPr>
          <a:xfrm>
            <a:off x="5058360" y="1572840"/>
            <a:ext cx="2071800" cy="1737000"/>
          </a:xfrm>
          <a:prstGeom prst="roundRect">
            <a:avLst>
              <a:gd name="adj" fmla="val 315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393" name="Shape 20"/>
          <p:cNvSpPr/>
          <p:nvPr/>
        </p:nvSpPr>
        <p:spPr>
          <a:xfrm>
            <a:off x="5222880" y="1737360"/>
            <a:ext cx="511560" cy="511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394" name="Image 2" descr="FolderOpen"/>
          <p:cNvPicPr/>
          <p:nvPr/>
        </p:nvPicPr>
        <p:blipFill>
          <a:blip r:embed="rId3"/>
          <a:stretch/>
        </p:blipFill>
        <p:spPr>
          <a:xfrm>
            <a:off x="5346000" y="1860120"/>
            <a:ext cx="266040" cy="266040"/>
          </a:xfrm>
          <a:prstGeom prst="rect">
            <a:avLst/>
          </a:prstGeom>
          <a:noFill/>
          <a:ln w="0">
            <a:noFill/>
          </a:ln>
        </p:spPr>
      </p:pic>
      <p:sp>
        <p:nvSpPr>
          <p:cNvPr id="395" name="Text 21"/>
          <p:cNvSpPr/>
          <p:nvPr/>
        </p:nvSpPr>
        <p:spPr>
          <a:xfrm>
            <a:off x="5570640" y="1691640"/>
            <a:ext cx="228240" cy="22824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3</a:t>
            </a:r>
            <a:endParaRPr lang="fr-FR" sz="1000" b="0" u="none" strike="noStrike">
              <a:solidFill>
                <a:srgbClr val="FFFFFF"/>
              </a:solidFill>
              <a:effectLst/>
              <a:uFillTx/>
              <a:latin typeface="Arial"/>
            </a:endParaRPr>
          </a:p>
        </p:txBody>
      </p:sp>
      <p:sp>
        <p:nvSpPr>
          <p:cNvPr id="396" name="Text 22"/>
          <p:cNvSpPr/>
          <p:nvPr/>
        </p:nvSpPr>
        <p:spPr>
          <a:xfrm>
            <a:off x="5844960" y="1700640"/>
            <a:ext cx="1193760" cy="585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Ouvrir le fichier</a:t>
            </a:r>
            <a:endParaRPr lang="fr-FR" sz="1500" b="0" u="none" strike="noStrike">
              <a:solidFill>
                <a:srgbClr val="000000"/>
              </a:solidFill>
              <a:effectLst/>
              <a:uFillTx/>
              <a:latin typeface="Arial"/>
            </a:endParaRPr>
          </a:p>
        </p:txBody>
      </p:sp>
      <p:sp>
        <p:nvSpPr>
          <p:cNvPr id="397" name="Text 23"/>
          <p:cNvSpPr/>
          <p:nvPr/>
        </p:nvSpPr>
        <p:spPr>
          <a:xfrm>
            <a:off x="5222880" y="2395800"/>
            <a:ext cx="17791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Fichier du jour AAMMJJ_0.LOG, créé s'il n'existe pas</a:t>
            </a:r>
            <a:endParaRPr lang="fr-FR" sz="1300" b="0" u="none" strike="noStrike">
              <a:solidFill>
                <a:srgbClr val="000000"/>
              </a:solidFill>
              <a:effectLst/>
              <a:uFillTx/>
              <a:latin typeface="Arial"/>
            </a:endParaRPr>
          </a:p>
        </p:txBody>
      </p:sp>
      <p:sp>
        <p:nvSpPr>
          <p:cNvPr id="398" name="Shape 24"/>
          <p:cNvSpPr/>
          <p:nvPr/>
        </p:nvSpPr>
        <p:spPr>
          <a:xfrm>
            <a:off x="7167240" y="2304360"/>
            <a:ext cx="109440" cy="273960"/>
          </a:xfrm>
          <a:prstGeom prst="chevron">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399" name="Shape 25"/>
          <p:cNvSpPr/>
          <p:nvPr/>
        </p:nvSpPr>
        <p:spPr>
          <a:xfrm>
            <a:off x="7313400" y="1572840"/>
            <a:ext cx="2071800" cy="1737000"/>
          </a:xfrm>
          <a:prstGeom prst="roundRect">
            <a:avLst>
              <a:gd name="adj" fmla="val 315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00" name="Shape 26"/>
          <p:cNvSpPr/>
          <p:nvPr/>
        </p:nvSpPr>
        <p:spPr>
          <a:xfrm>
            <a:off x="7477920" y="1737360"/>
            <a:ext cx="511560" cy="511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401" name="Image 3" descr="Archive"/>
          <p:cNvPicPr/>
          <p:nvPr/>
        </p:nvPicPr>
        <p:blipFill>
          <a:blip r:embed="rId4"/>
          <a:stretch/>
        </p:blipFill>
        <p:spPr>
          <a:xfrm>
            <a:off x="7600680" y="1860120"/>
            <a:ext cx="266040" cy="266040"/>
          </a:xfrm>
          <a:prstGeom prst="rect">
            <a:avLst/>
          </a:prstGeom>
          <a:noFill/>
          <a:ln w="0">
            <a:noFill/>
          </a:ln>
        </p:spPr>
      </p:pic>
      <p:sp>
        <p:nvSpPr>
          <p:cNvPr id="402" name="Text 27"/>
          <p:cNvSpPr/>
          <p:nvPr/>
        </p:nvSpPr>
        <p:spPr>
          <a:xfrm>
            <a:off x="7825320" y="1691640"/>
            <a:ext cx="228240" cy="22824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4</a:t>
            </a:r>
            <a:endParaRPr lang="fr-FR" sz="1000" b="0" u="none" strike="noStrike">
              <a:solidFill>
                <a:srgbClr val="FFFFFF"/>
              </a:solidFill>
              <a:effectLst/>
              <a:uFillTx/>
              <a:latin typeface="Arial"/>
            </a:endParaRPr>
          </a:p>
        </p:txBody>
      </p:sp>
      <p:sp>
        <p:nvSpPr>
          <p:cNvPr id="403" name="Text 28"/>
          <p:cNvSpPr/>
          <p:nvPr/>
        </p:nvSpPr>
        <p:spPr>
          <a:xfrm>
            <a:off x="8099640" y="1700640"/>
            <a:ext cx="1193760" cy="585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Archiver si plein</a:t>
            </a:r>
            <a:endParaRPr lang="fr-FR" sz="1500" b="0" u="none" strike="noStrike">
              <a:solidFill>
                <a:srgbClr val="000000"/>
              </a:solidFill>
              <a:effectLst/>
              <a:uFillTx/>
              <a:latin typeface="Arial"/>
            </a:endParaRPr>
          </a:p>
        </p:txBody>
      </p:sp>
      <p:sp>
        <p:nvSpPr>
          <p:cNvPr id="404" name="Text 29"/>
          <p:cNvSpPr/>
          <p:nvPr/>
        </p:nvSpPr>
        <p:spPr>
          <a:xfrm>
            <a:off x="7477920" y="2395800"/>
            <a:ext cx="17791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Fichier plein (FILE_MAX_SIZE) : copié en _1 … _9, puis vidé</a:t>
            </a:r>
            <a:endParaRPr lang="fr-FR" sz="1300" b="0" u="none" strike="noStrike">
              <a:solidFill>
                <a:srgbClr val="000000"/>
              </a:solidFill>
              <a:effectLst/>
              <a:uFillTx/>
              <a:latin typeface="Arial"/>
            </a:endParaRPr>
          </a:p>
        </p:txBody>
      </p:sp>
      <p:sp>
        <p:nvSpPr>
          <p:cNvPr id="405" name="Shape 30"/>
          <p:cNvSpPr/>
          <p:nvPr/>
        </p:nvSpPr>
        <p:spPr>
          <a:xfrm>
            <a:off x="9421920" y="2304360"/>
            <a:ext cx="109440" cy="273960"/>
          </a:xfrm>
          <a:prstGeom prst="chevron">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406" name="Shape 31"/>
          <p:cNvSpPr/>
          <p:nvPr/>
        </p:nvSpPr>
        <p:spPr>
          <a:xfrm>
            <a:off x="9568440" y="1572840"/>
            <a:ext cx="2071800" cy="1737000"/>
          </a:xfrm>
          <a:prstGeom prst="roundRect">
            <a:avLst>
              <a:gd name="adj" fmla="val 315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07" name="Shape 32"/>
          <p:cNvSpPr/>
          <p:nvPr/>
        </p:nvSpPr>
        <p:spPr>
          <a:xfrm>
            <a:off x="9732960" y="1737360"/>
            <a:ext cx="511560" cy="511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408" name="Image 4" descr="Save"/>
          <p:cNvPicPr/>
          <p:nvPr/>
        </p:nvPicPr>
        <p:blipFill>
          <a:blip r:embed="rId5"/>
          <a:stretch/>
        </p:blipFill>
        <p:spPr>
          <a:xfrm>
            <a:off x="9855720" y="1860120"/>
            <a:ext cx="266040" cy="266040"/>
          </a:xfrm>
          <a:prstGeom prst="rect">
            <a:avLst/>
          </a:prstGeom>
          <a:noFill/>
          <a:ln w="0">
            <a:noFill/>
          </a:ln>
        </p:spPr>
      </p:pic>
      <p:sp>
        <p:nvSpPr>
          <p:cNvPr id="409" name="Text 33"/>
          <p:cNvSpPr/>
          <p:nvPr/>
        </p:nvSpPr>
        <p:spPr>
          <a:xfrm>
            <a:off x="10080360" y="1691640"/>
            <a:ext cx="228240" cy="22824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5</a:t>
            </a:r>
            <a:endParaRPr lang="fr-FR" sz="1000" b="0" u="none" strike="noStrike">
              <a:solidFill>
                <a:srgbClr val="FFFFFF"/>
              </a:solidFill>
              <a:effectLst/>
              <a:uFillTx/>
              <a:latin typeface="Arial"/>
            </a:endParaRPr>
          </a:p>
        </p:txBody>
      </p:sp>
      <p:sp>
        <p:nvSpPr>
          <p:cNvPr id="410" name="Text 34"/>
          <p:cNvSpPr/>
          <p:nvPr/>
        </p:nvSpPr>
        <p:spPr>
          <a:xfrm>
            <a:off x="10354680" y="1700640"/>
            <a:ext cx="1193760" cy="585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Écrire et fermer</a:t>
            </a:r>
            <a:endParaRPr lang="fr-FR" sz="1500" b="0" u="none" strike="noStrike">
              <a:solidFill>
                <a:srgbClr val="000000"/>
              </a:solidFill>
              <a:effectLst/>
              <a:uFillTx/>
              <a:latin typeface="Arial"/>
            </a:endParaRPr>
          </a:p>
        </p:txBody>
      </p:sp>
      <p:sp>
        <p:nvSpPr>
          <p:cNvPr id="411" name="Text 35"/>
          <p:cNvSpPr/>
          <p:nvPr/>
        </p:nvSpPr>
        <p:spPr>
          <a:xfrm>
            <a:off x="9732960" y="2395800"/>
            <a:ext cx="17791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En-tête si le fichier est vide, ajout de la ligne, fermeture</a:t>
            </a:r>
            <a:endParaRPr lang="fr-FR" sz="1300" b="0" u="none" strike="noStrike">
              <a:solidFill>
                <a:srgbClr val="000000"/>
              </a:solidFill>
              <a:effectLst/>
              <a:uFillTx/>
              <a:latin typeface="Arial"/>
            </a:endParaRPr>
          </a:p>
        </p:txBody>
      </p:sp>
      <p:sp>
        <p:nvSpPr>
          <p:cNvPr id="412" name="Shape 36"/>
          <p:cNvSpPr/>
          <p:nvPr/>
        </p:nvSpPr>
        <p:spPr>
          <a:xfrm>
            <a:off x="548640" y="3520440"/>
            <a:ext cx="7497720" cy="2678760"/>
          </a:xfrm>
          <a:prstGeom prst="roundRect">
            <a:avLst>
              <a:gd name="adj" fmla="val 204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13" name="Text 37"/>
          <p:cNvSpPr/>
          <p:nvPr/>
        </p:nvSpPr>
        <p:spPr>
          <a:xfrm>
            <a:off x="777240" y="3648600"/>
            <a:ext cx="7040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Captures réelles de notre carte SD</a:t>
            </a:r>
            <a:r>
              <a:rPr lang="en-US" sz="1400" b="0" u="none" strike="noStrike">
                <a:solidFill>
                  <a:schemeClr val="accent6"/>
                </a:solidFill>
                <a:effectLst/>
                <a:uFillTx/>
                <a:latin typeface="Calibri"/>
              </a:rPr>
              <a:t>  ·  Exemple: essai du 21/10/2026</a:t>
            </a:r>
            <a:endParaRPr lang="fr-FR" sz="1400" b="0" u="none" strike="noStrike">
              <a:solidFill>
                <a:srgbClr val="000000"/>
              </a:solidFill>
              <a:effectLst/>
              <a:uFillTx/>
              <a:latin typeface="Arial"/>
            </a:endParaRPr>
          </a:p>
        </p:txBody>
      </p:sp>
      <p:pic>
        <p:nvPicPr>
          <p:cNvPr id="414" name="Image 5" descr="Capture : fichier 261021_0 sur la carte SD"/>
          <p:cNvPicPr/>
          <p:nvPr/>
        </p:nvPicPr>
        <p:blipFill>
          <a:blip r:embed="rId6"/>
          <a:stretch/>
        </p:blipFill>
        <p:spPr>
          <a:xfrm>
            <a:off x="777240" y="4050720"/>
            <a:ext cx="7040520" cy="425880"/>
          </a:xfrm>
          <a:prstGeom prst="rect">
            <a:avLst/>
          </a:prstGeom>
          <a:noFill/>
          <a:ln w="0">
            <a:noFill/>
          </a:ln>
        </p:spPr>
      </p:pic>
      <p:sp>
        <p:nvSpPr>
          <p:cNvPr id="415" name="Shape 38"/>
          <p:cNvSpPr/>
          <p:nvPr/>
        </p:nvSpPr>
        <p:spPr>
          <a:xfrm>
            <a:off x="777240" y="4050720"/>
            <a:ext cx="7040520" cy="425880"/>
          </a:xfrm>
          <a:prstGeom prst="rect">
            <a:avLst/>
          </a:prstGeom>
          <a:noFill/>
          <a:ln w="9525">
            <a:solidFill>
              <a:srgbClr val="C5D0DB"/>
            </a:solidFill>
            <a:round/>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416" name="Image 6" descr="Capture : contenu du fichier 261021_0"/>
          <p:cNvPicPr/>
          <p:nvPr/>
        </p:nvPicPr>
        <p:blipFill>
          <a:blip r:embed="rId7"/>
          <a:stretch/>
        </p:blipFill>
        <p:spPr>
          <a:xfrm>
            <a:off x="777240" y="4599360"/>
            <a:ext cx="7040520" cy="1122480"/>
          </a:xfrm>
          <a:prstGeom prst="rect">
            <a:avLst/>
          </a:prstGeom>
          <a:noFill/>
          <a:ln w="0">
            <a:noFill/>
          </a:ln>
        </p:spPr>
      </p:pic>
      <p:sp>
        <p:nvSpPr>
          <p:cNvPr id="417" name="Shape 39"/>
          <p:cNvSpPr/>
          <p:nvPr/>
        </p:nvSpPr>
        <p:spPr>
          <a:xfrm>
            <a:off x="777240" y="4599360"/>
            <a:ext cx="7040520" cy="1122480"/>
          </a:xfrm>
          <a:prstGeom prst="rect">
            <a:avLst/>
          </a:prstGeom>
          <a:noFill/>
          <a:ln w="9525">
            <a:solidFill>
              <a:srgbClr val="C5D0DB"/>
            </a:solidFill>
            <a:round/>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18" name="Text 40"/>
          <p:cNvSpPr/>
          <p:nvPr/>
        </p:nvSpPr>
        <p:spPr>
          <a:xfrm>
            <a:off x="777240" y="5824800"/>
            <a:ext cx="704052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i="1" u="none" strike="noStrike">
                <a:solidFill>
                  <a:schemeClr val="accent6"/>
                </a:solidFill>
                <a:effectLst/>
                <a:uFillTx/>
                <a:latin typeface="Calibri"/>
              </a:rPr>
              <a:t>261021_0 = fichier du 21/10/2026, révision 0  ·  contenu ouvert sur PC dans un éditeur de texte</a:t>
            </a:r>
            <a:endParaRPr lang="fr-FR" sz="1150" b="0" u="none" strike="noStrike">
              <a:solidFill>
                <a:srgbClr val="000000"/>
              </a:solidFill>
              <a:effectLst/>
              <a:uFillTx/>
              <a:latin typeface="Arial"/>
            </a:endParaRPr>
          </a:p>
        </p:txBody>
      </p:sp>
      <p:sp>
        <p:nvSpPr>
          <p:cNvPr id="419" name="Shape 41"/>
          <p:cNvSpPr/>
          <p:nvPr/>
        </p:nvSpPr>
        <p:spPr>
          <a:xfrm>
            <a:off x="8229600" y="3520440"/>
            <a:ext cx="3410280" cy="2678760"/>
          </a:xfrm>
          <a:prstGeom prst="roundRect">
            <a:avLst>
              <a:gd name="adj" fmla="val 204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20" name="Shape 42"/>
          <p:cNvSpPr/>
          <p:nvPr/>
        </p:nvSpPr>
        <p:spPr>
          <a:xfrm>
            <a:off x="8430840" y="3703320"/>
            <a:ext cx="420120" cy="42012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421" name="Image 7" descr="Save"/>
          <p:cNvPicPr/>
          <p:nvPr/>
        </p:nvPicPr>
        <p:blipFill>
          <a:blip r:embed="rId8"/>
          <a:stretch/>
        </p:blipFill>
        <p:spPr>
          <a:xfrm>
            <a:off x="8523360" y="3795840"/>
            <a:ext cx="235080" cy="235080"/>
          </a:xfrm>
          <a:prstGeom prst="rect">
            <a:avLst/>
          </a:prstGeom>
          <a:noFill/>
          <a:ln w="0">
            <a:noFill/>
          </a:ln>
        </p:spPr>
      </p:pic>
      <p:sp>
        <p:nvSpPr>
          <p:cNvPr id="422" name="Text 43"/>
          <p:cNvSpPr/>
          <p:nvPr/>
        </p:nvSpPr>
        <p:spPr>
          <a:xfrm>
            <a:off x="8961120" y="3703320"/>
            <a:ext cx="2559960" cy="420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Rôle de la carte SD</a:t>
            </a:r>
            <a:endParaRPr lang="fr-FR" sz="1500" b="0" u="none" strike="noStrike">
              <a:solidFill>
                <a:srgbClr val="000000"/>
              </a:solidFill>
              <a:effectLst/>
              <a:uFillTx/>
              <a:latin typeface="Arial"/>
            </a:endParaRPr>
          </a:p>
        </p:txBody>
      </p:sp>
      <p:sp>
        <p:nvSpPr>
          <p:cNvPr id="423" name="Text 44"/>
          <p:cNvSpPr/>
          <p:nvPr/>
        </p:nvSpPr>
        <p:spPr>
          <a:xfrm>
            <a:off x="8430840" y="4325040"/>
            <a:ext cx="3062880" cy="1782720"/>
          </a:xfrm>
          <a:prstGeom prst="rect">
            <a:avLst/>
          </a:prstGeom>
          <a:noFill/>
          <a:ln w="0">
            <a:noFill/>
          </a:ln>
        </p:spPr>
        <p:style>
          <a:lnRef idx="0"/>
          <a:fillRef idx="0"/>
          <a:effectRef idx="0"/>
          <a:fontRef idx="minor"/>
        </p:style>
        <p:txBody>
          <a:bodyPr lIns="0" tIns="0" rIns="0" bIns="0" anchor="t">
            <a:noAutofit/>
          </a:bodyPr>
          <a:p>
            <a:pPr marL="152280" indent="-152280" defTabSz="914400">
              <a:lnSpc>
                <a:spcPct val="100000"/>
              </a:lnSpc>
              <a:spcAft>
                <a:spcPts val="700"/>
              </a:spcAft>
              <a:buClr>
                <a:srgbClr val="1A2433"/>
              </a:buClr>
              <a:buFont typeface="Symbol" charset="2"/>
              <a:buChar char=""/>
            </a:pPr>
            <a:r>
              <a:rPr lang="en-US" sz="1350" b="0" u="none" strike="noStrike">
                <a:solidFill>
                  <a:schemeClr val="dk1"/>
                </a:solidFill>
                <a:effectLst/>
                <a:uFillTx/>
                <a:latin typeface="Calibri"/>
              </a:rPr>
              <a:t>Conserve toutes les mesures, sans PC connecté</a:t>
            </a:r>
            <a:endParaRPr lang="fr-FR" sz="1350" b="0" u="none" strike="noStrike">
              <a:solidFill>
                <a:srgbClr val="000000"/>
              </a:solidFill>
              <a:effectLst/>
              <a:uFillTx/>
              <a:latin typeface="Arial"/>
            </a:endParaRPr>
          </a:p>
          <a:p>
            <a:pPr marL="152280" indent="-152280" defTabSz="914400">
              <a:lnSpc>
                <a:spcPct val="100000"/>
              </a:lnSpc>
              <a:spcAft>
                <a:spcPts val="700"/>
              </a:spcAft>
              <a:buClr>
                <a:srgbClr val="1A2433"/>
              </a:buClr>
              <a:buFont typeface="Symbol" charset="2"/>
              <a:buChar char=""/>
            </a:pPr>
            <a:r>
              <a:rPr lang="en-US" sz="1350" b="0" u="none" strike="noStrike">
                <a:solidFill>
                  <a:schemeClr val="dk1"/>
                </a:solidFill>
                <a:effectLst/>
                <a:uFillTx/>
                <a:latin typeface="Calibri"/>
              </a:rPr>
              <a:t>Fichiers texte lisibles sur PC (FAT32)</a:t>
            </a:r>
            <a:endParaRPr lang="fr-FR" sz="1350" b="0" u="none" strike="noStrike">
              <a:solidFill>
                <a:srgbClr val="000000"/>
              </a:solidFill>
              <a:effectLst/>
              <a:uFillTx/>
              <a:latin typeface="Arial"/>
            </a:endParaRPr>
          </a:p>
          <a:p>
            <a:pPr marL="152280" indent="-152280" defTabSz="914400">
              <a:lnSpc>
                <a:spcPct val="100000"/>
              </a:lnSpc>
              <a:spcAft>
                <a:spcPts val="700"/>
              </a:spcAft>
              <a:buClr>
                <a:srgbClr val="1A2433"/>
              </a:buClr>
              <a:buFont typeface="Symbol" charset="2"/>
              <a:buChar char=""/>
            </a:pPr>
            <a:r>
              <a:rPr lang="en-US" sz="1350" b="0" u="none" strike="noStrike">
                <a:solidFill>
                  <a:schemeClr val="dk1"/>
                </a:solidFill>
                <a:effectLst/>
                <a:uFillTx/>
                <a:latin typeface="Calibri"/>
              </a:rPr>
              <a:t>Retrait sans risque en mode MAINTENANCE</a:t>
            </a:r>
            <a:endParaRPr lang="fr-FR" sz="1350" b="0" u="none" strike="noStrike">
              <a:solidFill>
                <a:srgbClr val="000000"/>
              </a:solidFill>
              <a:effectLst/>
              <a:uFillTx/>
              <a:latin typeface="Arial"/>
            </a:endParaRPr>
          </a:p>
          <a:p>
            <a:pPr marL="152280" indent="-152280" defTabSz="914400">
              <a:lnSpc>
                <a:spcPct val="100000"/>
              </a:lnSpc>
              <a:spcAft>
                <a:spcPts val="700"/>
              </a:spcAft>
              <a:buClr>
                <a:srgbClr val="1A2433"/>
              </a:buClr>
              <a:buFont typeface="Symbol" charset="2"/>
              <a:buChar char=""/>
            </a:pPr>
            <a:r>
              <a:rPr lang="en-US" sz="1350" b="0" u="none" strike="noStrike">
                <a:solidFill>
                  <a:schemeClr val="dk1"/>
                </a:solidFill>
                <a:effectLst/>
                <a:uFillTx/>
                <a:latin typeface="Calibri"/>
              </a:rPr>
              <a:t>« NA » : donnée indisponible (ici, aucune position GPS)</a:t>
            </a:r>
            <a:endParaRPr lang="fr-FR" sz="1350" b="0" u="none" strike="noStrike">
              <a:solidFill>
                <a:srgbClr val="000000"/>
              </a:solidFill>
              <a:effectLst/>
              <a:uFillTx/>
              <a:latin typeface="Arial"/>
            </a:endParaRPr>
          </a:p>
        </p:txBody>
      </p:sp>
      <p:sp>
        <p:nvSpPr>
          <p:cNvPr id="424" name="PlaceHolder 3"/>
          <p:cNvSpPr>
            <a:spLocks noGrp="1"/>
          </p:cNvSpPr>
          <p:nvPr>
            <p:ph type="sldNum" idx="12"/>
          </p:nvPr>
        </p:nvSpPr>
        <p:spPr>
          <a:xfrm>
            <a:off x="11091600" y="6437520"/>
            <a:ext cx="548280" cy="219240"/>
          </a:xfrm>
          <a:prstGeom prst="rect">
            <a:avLst/>
          </a:prstGeom>
          <a:noFill/>
          <a:ln w="0">
            <a:noFill/>
          </a:ln>
        </p:spPr>
        <p:txBody>
          <a:bodyPr lIns="0" tIns="0" rIns="0" bIns="0" anchor="ctr" anchorCtr="1">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7012879D-CD48-4C92-8D14-705CBA55A709}"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04 · MODES, INTERRUPTIONS ET ERREURS</a:t>
            </a:r>
            <a:endParaRPr lang="fr-FR" sz="1100" b="0" u="none" strike="noStrike">
              <a:solidFill>
                <a:schemeClr val="dk1"/>
              </a:solidFill>
              <a:effectLst/>
              <a:uFillTx/>
              <a:latin typeface="Calibri"/>
            </a:endParaRPr>
          </a:p>
        </p:txBody>
      </p:sp>
      <p:sp>
        <p:nvSpPr>
          <p:cNvPr id="426"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Quatre modes, pilotés par deux boutons</a:t>
            </a:r>
            <a:endParaRPr lang="fr-FR" sz="2800" b="0" u="none" strike="noStrike">
              <a:solidFill>
                <a:schemeClr val="dk1"/>
              </a:solidFill>
              <a:effectLst/>
              <a:uFillTx/>
              <a:latin typeface="Calibri"/>
            </a:endParaRPr>
          </a:p>
        </p:txBody>
      </p:sp>
      <p:sp>
        <p:nvSpPr>
          <p:cNvPr id="427"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428" name="Text 3"/>
          <p:cNvSpPr/>
          <p:nvPr/>
        </p:nvSpPr>
        <p:spPr>
          <a:xfrm>
            <a:off x="973368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02</a:t>
            </a:r>
            <a:endParaRPr lang="fr-FR" sz="950" b="0" u="none" strike="noStrike">
              <a:solidFill>
                <a:srgbClr val="FFFFFF"/>
              </a:solidFill>
              <a:effectLst/>
              <a:uFillTx/>
              <a:latin typeface="Arial"/>
            </a:endParaRPr>
          </a:p>
        </p:txBody>
      </p:sp>
      <p:sp>
        <p:nvSpPr>
          <p:cNvPr id="429" name="Text 4"/>
          <p:cNvSpPr/>
          <p:nvPr/>
        </p:nvSpPr>
        <p:spPr>
          <a:xfrm>
            <a:off x="1022292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03</a:t>
            </a:r>
            <a:endParaRPr lang="fr-FR" sz="950" b="0" u="none" strike="noStrike">
              <a:solidFill>
                <a:srgbClr val="FFFFFF"/>
              </a:solidFill>
              <a:effectLst/>
              <a:uFillTx/>
              <a:latin typeface="Arial"/>
            </a:endParaRPr>
          </a:p>
        </p:txBody>
      </p:sp>
      <p:sp>
        <p:nvSpPr>
          <p:cNvPr id="430" name="Text 5"/>
          <p:cNvSpPr/>
          <p:nvPr/>
        </p:nvSpPr>
        <p:spPr>
          <a:xfrm>
            <a:off x="1071216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04</a:t>
            </a:r>
            <a:endParaRPr lang="fr-FR" sz="950" b="0" u="none" strike="noStrike">
              <a:solidFill>
                <a:srgbClr val="FFFFFF"/>
              </a:solidFill>
              <a:effectLst/>
              <a:uFillTx/>
              <a:latin typeface="Arial"/>
            </a:endParaRPr>
          </a:p>
        </p:txBody>
      </p:sp>
      <p:sp>
        <p:nvSpPr>
          <p:cNvPr id="431" name="Text 6"/>
          <p:cNvSpPr/>
          <p:nvPr/>
        </p:nvSpPr>
        <p:spPr>
          <a:xfrm>
            <a:off x="1120140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05</a:t>
            </a:r>
            <a:endParaRPr lang="fr-FR" sz="950" b="0" u="none" strike="noStrike">
              <a:solidFill>
                <a:srgbClr val="000000"/>
              </a:solidFill>
              <a:effectLst/>
              <a:uFillTx/>
              <a:latin typeface="Arial"/>
            </a:endParaRPr>
          </a:p>
        </p:txBody>
      </p:sp>
      <p:sp>
        <p:nvSpPr>
          <p:cNvPr id="432" name="Shape 7"/>
          <p:cNvSpPr/>
          <p:nvPr/>
        </p:nvSpPr>
        <p:spPr>
          <a:xfrm>
            <a:off x="548640" y="1572840"/>
            <a:ext cx="7452000" cy="4626360"/>
          </a:xfrm>
          <a:prstGeom prst="roundRect">
            <a:avLst>
              <a:gd name="adj" fmla="val 1186"/>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33" name="Text 8"/>
          <p:cNvSpPr/>
          <p:nvPr/>
        </p:nvSpPr>
        <p:spPr>
          <a:xfrm>
            <a:off x="3456360" y="1783080"/>
            <a:ext cx="1645560" cy="402120"/>
          </a:xfrm>
          <a:prstGeom prst="roundRect">
            <a:avLst>
              <a:gd name="adj" fmla="val 45455"/>
            </a:avLst>
          </a:prstGeom>
          <a:solidFill>
            <a:schemeClr val="accent6"/>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Mise sous tension</a:t>
            </a:r>
            <a:endParaRPr lang="fr-FR" sz="1300" b="0" u="none" strike="noStrike">
              <a:solidFill>
                <a:srgbClr val="FFFFFF"/>
              </a:solidFill>
              <a:effectLst/>
              <a:uFillTx/>
              <a:latin typeface="Arial"/>
            </a:endParaRPr>
          </a:p>
        </p:txBody>
      </p:sp>
      <p:sp>
        <p:nvSpPr>
          <p:cNvPr id="434" name="Text 9"/>
          <p:cNvSpPr/>
          <p:nvPr/>
        </p:nvSpPr>
        <p:spPr>
          <a:xfrm>
            <a:off x="731520" y="3520440"/>
            <a:ext cx="1691280" cy="731160"/>
          </a:xfrm>
          <a:prstGeom prst="roundRect">
            <a:avLst>
              <a:gd name="adj" fmla="val 12500"/>
            </a:avLst>
          </a:prstGeom>
          <a:solidFill>
            <a:srgbClr val="FDF3D0"/>
          </a:solidFill>
          <a:ln w="25400">
            <a:solidFill>
              <a:srgbClr val="F2C230"/>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F2C230"/>
                </a:solidFill>
                <a:effectLst/>
                <a:uFillTx/>
                <a:latin typeface="Calibri"/>
              </a:rPr>
              <a:t>●  </a:t>
            </a:r>
            <a:r>
              <a:rPr lang="en-US" sz="1350" b="1" u="none" strike="noStrike">
                <a:solidFill>
                  <a:schemeClr val="dk2"/>
                </a:solidFill>
                <a:effectLst/>
                <a:uFillTx/>
                <a:latin typeface="Calibri"/>
              </a:rPr>
              <a:t>CONFIGURATION</a:t>
            </a:r>
            <a:endParaRPr lang="fr-FR" sz="1350" b="0" u="none" strike="noStrike">
              <a:solidFill>
                <a:srgbClr val="000000"/>
              </a:solidFill>
              <a:effectLst/>
              <a:uFillTx/>
              <a:latin typeface="Arial"/>
            </a:endParaRPr>
          </a:p>
        </p:txBody>
      </p:sp>
      <p:sp>
        <p:nvSpPr>
          <p:cNvPr id="435" name="Text 10"/>
          <p:cNvSpPr/>
          <p:nvPr/>
        </p:nvSpPr>
        <p:spPr>
          <a:xfrm>
            <a:off x="3429000" y="3520440"/>
            <a:ext cx="1691280" cy="731160"/>
          </a:xfrm>
          <a:prstGeom prst="roundRect">
            <a:avLst>
              <a:gd name="adj" fmla="val 12500"/>
            </a:avLst>
          </a:prstGeom>
          <a:solidFill>
            <a:srgbClr val="DDF3E4"/>
          </a:solidFill>
          <a:ln w="25400">
            <a:solidFill>
              <a:srgbClr val="2EAD5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2EAD5B"/>
                </a:solidFill>
                <a:effectLst/>
                <a:uFillTx/>
                <a:latin typeface="Calibri"/>
              </a:rPr>
              <a:t>●  </a:t>
            </a:r>
            <a:r>
              <a:rPr lang="en-US" sz="1350" b="1" u="none" strike="noStrike">
                <a:solidFill>
                  <a:schemeClr val="dk2"/>
                </a:solidFill>
                <a:effectLst/>
                <a:uFillTx/>
                <a:latin typeface="Calibri"/>
              </a:rPr>
              <a:t>STANDARD</a:t>
            </a:r>
            <a:endParaRPr lang="fr-FR" sz="1350" b="0" u="none" strike="noStrike">
              <a:solidFill>
                <a:srgbClr val="000000"/>
              </a:solidFill>
              <a:effectLst/>
              <a:uFillTx/>
              <a:latin typeface="Arial"/>
            </a:endParaRPr>
          </a:p>
        </p:txBody>
      </p:sp>
      <p:sp>
        <p:nvSpPr>
          <p:cNvPr id="436" name="Text 11"/>
          <p:cNvSpPr/>
          <p:nvPr/>
        </p:nvSpPr>
        <p:spPr>
          <a:xfrm>
            <a:off x="6126480" y="3520440"/>
            <a:ext cx="1691280" cy="731160"/>
          </a:xfrm>
          <a:prstGeom prst="roundRect">
            <a:avLst>
              <a:gd name="adj" fmla="val 12500"/>
            </a:avLst>
          </a:prstGeom>
          <a:solidFill>
            <a:srgbClr val="FDE6D2"/>
          </a:solidFill>
          <a:ln w="25400">
            <a:solidFill>
              <a:srgbClr val="F28C2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F28C28"/>
                </a:solidFill>
                <a:effectLst/>
                <a:uFillTx/>
                <a:latin typeface="Calibri"/>
              </a:rPr>
              <a:t>●  </a:t>
            </a:r>
            <a:r>
              <a:rPr lang="en-US" sz="1350" b="1" u="none" strike="noStrike">
                <a:solidFill>
                  <a:schemeClr val="dk2"/>
                </a:solidFill>
                <a:effectLst/>
                <a:uFillTx/>
                <a:latin typeface="Calibri"/>
              </a:rPr>
              <a:t>MAINTENANCE</a:t>
            </a:r>
            <a:endParaRPr lang="fr-FR" sz="1350" b="0" u="none" strike="noStrike">
              <a:solidFill>
                <a:srgbClr val="000000"/>
              </a:solidFill>
              <a:effectLst/>
              <a:uFillTx/>
              <a:latin typeface="Arial"/>
            </a:endParaRPr>
          </a:p>
        </p:txBody>
      </p:sp>
      <p:sp>
        <p:nvSpPr>
          <p:cNvPr id="437" name="Text 12"/>
          <p:cNvSpPr/>
          <p:nvPr/>
        </p:nvSpPr>
        <p:spPr>
          <a:xfrm>
            <a:off x="3429000" y="5257800"/>
            <a:ext cx="1691280" cy="731160"/>
          </a:xfrm>
          <a:prstGeom prst="roundRect">
            <a:avLst>
              <a:gd name="adj" fmla="val 12500"/>
            </a:avLst>
          </a:prstGeom>
          <a:solidFill>
            <a:srgbClr val="DCE8FB"/>
          </a:solidFill>
          <a:ln w="25400">
            <a:solidFill>
              <a:srgbClr val="2F6FD6"/>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2F6FD6"/>
                </a:solidFill>
                <a:effectLst/>
                <a:uFillTx/>
                <a:latin typeface="Calibri"/>
              </a:rPr>
              <a:t>●  </a:t>
            </a:r>
            <a:r>
              <a:rPr lang="en-US" sz="1350" b="1" u="none" strike="noStrike">
                <a:solidFill>
                  <a:schemeClr val="dk2"/>
                </a:solidFill>
                <a:effectLst/>
                <a:uFillTx/>
                <a:latin typeface="Calibri"/>
              </a:rPr>
              <a:t>ÉCONOMIQUE</a:t>
            </a:r>
            <a:endParaRPr lang="fr-FR" sz="1350" b="0" u="none" strike="noStrike">
              <a:solidFill>
                <a:srgbClr val="000000"/>
              </a:solidFill>
              <a:effectLst/>
              <a:uFillTx/>
              <a:latin typeface="Arial"/>
            </a:endParaRPr>
          </a:p>
        </p:txBody>
      </p:sp>
      <p:sp>
        <p:nvSpPr>
          <p:cNvPr id="438" name="Shape 13"/>
          <p:cNvSpPr/>
          <p:nvPr/>
        </p:nvSpPr>
        <p:spPr>
          <a:xfrm>
            <a:off x="4274640" y="2185200"/>
            <a:ext cx="360" cy="1335240"/>
          </a:xfrm>
          <a:prstGeom prst="line">
            <a:avLst/>
          </a:prstGeom>
          <a:ln w="22225">
            <a:solidFill>
              <a:srgbClr val="0B1F3A"/>
            </a:solidFill>
            <a:round/>
            <a:tailEnd len="med" type="triangle" w="me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439" name="Text 14"/>
          <p:cNvSpPr/>
          <p:nvPr/>
        </p:nvSpPr>
        <p:spPr>
          <a:xfrm>
            <a:off x="4370760" y="2697480"/>
            <a:ext cx="14626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Calibri"/>
              </a:rPr>
              <a:t>aucun bouton</a:t>
            </a:r>
            <a:endParaRPr lang="fr-FR" sz="1250" b="0" u="none" strike="noStrike">
              <a:solidFill>
                <a:srgbClr val="000000"/>
              </a:solidFill>
              <a:effectLst/>
              <a:uFillTx/>
              <a:latin typeface="Arial"/>
            </a:endParaRPr>
          </a:p>
        </p:txBody>
      </p:sp>
      <p:sp>
        <p:nvSpPr>
          <p:cNvPr id="440" name="Shape 15"/>
          <p:cNvSpPr/>
          <p:nvPr/>
        </p:nvSpPr>
        <p:spPr>
          <a:xfrm>
            <a:off x="1577160" y="1983960"/>
            <a:ext cx="1879200" cy="360"/>
          </a:xfrm>
          <a:prstGeom prst="line">
            <a:avLst/>
          </a:prstGeom>
          <a:ln w="22225">
            <a:solidFill>
              <a:srgbClr val="0B1F3A"/>
            </a:solidFill>
            <a:roun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441" name="Shape 16"/>
          <p:cNvSpPr/>
          <p:nvPr/>
        </p:nvSpPr>
        <p:spPr>
          <a:xfrm>
            <a:off x="1577160" y="1983960"/>
            <a:ext cx="360" cy="1536480"/>
          </a:xfrm>
          <a:prstGeom prst="line">
            <a:avLst/>
          </a:prstGeom>
          <a:ln w="22225">
            <a:solidFill>
              <a:srgbClr val="0B1F3A"/>
            </a:solidFill>
            <a:round/>
            <a:tailEnd len="med" type="triangle" w="me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442" name="Text 17"/>
          <p:cNvSpPr/>
          <p:nvPr/>
        </p:nvSpPr>
        <p:spPr>
          <a:xfrm>
            <a:off x="1673280" y="2240280"/>
            <a:ext cx="17370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Calibri"/>
              </a:rPr>
              <a:t>rouge maintenu au démarrage</a:t>
            </a:r>
            <a:endParaRPr lang="fr-FR" sz="1250" b="0" u="none" strike="noStrike">
              <a:solidFill>
                <a:srgbClr val="000000"/>
              </a:solidFill>
              <a:effectLst/>
              <a:uFillTx/>
              <a:latin typeface="Arial"/>
            </a:endParaRPr>
          </a:p>
        </p:txBody>
      </p:sp>
      <p:sp>
        <p:nvSpPr>
          <p:cNvPr id="443" name="Shape 18"/>
          <p:cNvSpPr/>
          <p:nvPr/>
        </p:nvSpPr>
        <p:spPr>
          <a:xfrm>
            <a:off x="2423160" y="3886200"/>
            <a:ext cx="1005840" cy="360"/>
          </a:xfrm>
          <a:prstGeom prst="line">
            <a:avLst/>
          </a:prstGeom>
          <a:ln w="22225">
            <a:solidFill>
              <a:srgbClr val="0B1F3A"/>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444" name="Text 19"/>
          <p:cNvSpPr/>
          <p:nvPr/>
        </p:nvSpPr>
        <p:spPr>
          <a:xfrm>
            <a:off x="2331720" y="3959280"/>
            <a:ext cx="1188360" cy="47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chemeClr val="dk1"/>
                </a:solidFill>
                <a:effectLst/>
                <a:uFillTx/>
                <a:latin typeface="Calibri"/>
              </a:rPr>
              <a:t>30 min sans commande</a:t>
            </a:r>
            <a:endParaRPr lang="fr-FR" sz="1250" b="0" u="none" strike="noStrike">
              <a:solidFill>
                <a:srgbClr val="000000"/>
              </a:solidFill>
              <a:effectLst/>
              <a:uFillTx/>
              <a:latin typeface="Arial"/>
            </a:endParaRPr>
          </a:p>
        </p:txBody>
      </p:sp>
      <p:sp>
        <p:nvSpPr>
          <p:cNvPr id="445" name="Shape 20"/>
          <p:cNvSpPr/>
          <p:nvPr/>
        </p:nvSpPr>
        <p:spPr>
          <a:xfrm>
            <a:off x="5120640" y="3749040"/>
            <a:ext cx="1005840" cy="360"/>
          </a:xfrm>
          <a:prstGeom prst="line">
            <a:avLst/>
          </a:prstGeom>
          <a:ln w="22225">
            <a:solidFill>
              <a:srgbClr val="0B1F3A"/>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446" name="Shape 21"/>
          <p:cNvSpPr/>
          <p:nvPr/>
        </p:nvSpPr>
        <p:spPr>
          <a:xfrm flipH="1">
            <a:off x="5120640" y="4023360"/>
            <a:ext cx="1005840" cy="360"/>
          </a:xfrm>
          <a:prstGeom prst="line">
            <a:avLst/>
          </a:prstGeom>
          <a:ln w="22225">
            <a:solidFill>
              <a:srgbClr val="0B1F3A"/>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447" name="Text 22"/>
          <p:cNvSpPr/>
          <p:nvPr/>
        </p:nvSpPr>
        <p:spPr>
          <a:xfrm>
            <a:off x="5029200" y="3420000"/>
            <a:ext cx="11883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chemeClr val="dk1"/>
                </a:solidFill>
                <a:effectLst/>
                <a:uFillTx/>
                <a:latin typeface="Calibri"/>
              </a:rPr>
              <a:t>rouge 5 s</a:t>
            </a:r>
            <a:endParaRPr lang="fr-FR" sz="1250" b="0" u="none" strike="noStrike">
              <a:solidFill>
                <a:srgbClr val="000000"/>
              </a:solidFill>
              <a:effectLst/>
              <a:uFillTx/>
              <a:latin typeface="Arial"/>
            </a:endParaRPr>
          </a:p>
        </p:txBody>
      </p:sp>
      <p:sp>
        <p:nvSpPr>
          <p:cNvPr id="448" name="Text 23"/>
          <p:cNvSpPr/>
          <p:nvPr/>
        </p:nvSpPr>
        <p:spPr>
          <a:xfrm>
            <a:off x="4937760" y="4087440"/>
            <a:ext cx="1371240" cy="4752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50" b="1" u="none" strike="noStrike">
                <a:solidFill>
                  <a:schemeClr val="dk1"/>
                </a:solidFill>
                <a:effectLst/>
                <a:uFillTx/>
                <a:latin typeface="Calibri"/>
              </a:rPr>
              <a:t>rouge 5 s</a:t>
            </a:r>
            <a:endParaRPr lang="fr-FR" sz="1250" b="0" u="none" strike="noStrike">
              <a:solidFill>
                <a:srgbClr val="000000"/>
              </a:solidFill>
              <a:effectLst/>
              <a:uFillTx/>
              <a:latin typeface="Arial"/>
            </a:endParaRPr>
          </a:p>
          <a:p>
            <a:pPr algn="ctr" defTabSz="914400">
              <a:lnSpc>
                <a:spcPct val="100000"/>
              </a:lnSpc>
              <a:tabLst>
                <a:tab pos="0" algn="l"/>
              </a:tabLst>
            </a:pPr>
            <a:r>
              <a:rPr lang="en-US" sz="1150" b="0" u="none" strike="noStrike">
                <a:solidFill>
                  <a:schemeClr val="accent6"/>
                </a:solidFill>
                <a:effectLst/>
                <a:uFillTx/>
                <a:latin typeface="Calibri"/>
              </a:rPr>
              <a:t>(mode précédent)</a:t>
            </a:r>
            <a:endParaRPr lang="fr-FR" sz="1150" b="0" u="none" strike="noStrike">
              <a:solidFill>
                <a:srgbClr val="000000"/>
              </a:solidFill>
              <a:effectLst/>
              <a:uFillTx/>
              <a:latin typeface="Arial"/>
            </a:endParaRPr>
          </a:p>
        </p:txBody>
      </p:sp>
      <p:sp>
        <p:nvSpPr>
          <p:cNvPr id="449" name="Shape 24"/>
          <p:cNvSpPr/>
          <p:nvPr/>
        </p:nvSpPr>
        <p:spPr>
          <a:xfrm>
            <a:off x="4091760" y="4251960"/>
            <a:ext cx="360" cy="1005840"/>
          </a:xfrm>
          <a:prstGeom prst="line">
            <a:avLst/>
          </a:prstGeom>
          <a:ln w="22225">
            <a:solidFill>
              <a:srgbClr val="0B1F3A"/>
            </a:solidFill>
            <a:round/>
            <a:tailEnd len="med" type="triangle" w="me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450" name="Shape 25"/>
          <p:cNvSpPr/>
          <p:nvPr/>
        </p:nvSpPr>
        <p:spPr>
          <a:xfrm flipV="1">
            <a:off x="4457520" y="4251960"/>
            <a:ext cx="360" cy="1005840"/>
          </a:xfrm>
          <a:prstGeom prst="line">
            <a:avLst/>
          </a:prstGeom>
          <a:ln w="22225">
            <a:solidFill>
              <a:srgbClr val="0B1F3A"/>
            </a:solidFill>
            <a:round/>
            <a:tailEnd len="med" type="triangle" w="me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451" name="Text 26"/>
          <p:cNvSpPr/>
          <p:nvPr/>
        </p:nvSpPr>
        <p:spPr>
          <a:xfrm>
            <a:off x="2834640" y="4626720"/>
            <a:ext cx="11883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50" b="1" u="none" strike="noStrike">
                <a:solidFill>
                  <a:schemeClr val="dk1"/>
                </a:solidFill>
                <a:effectLst/>
                <a:uFillTx/>
                <a:latin typeface="Calibri"/>
              </a:rPr>
              <a:t>vert 5 s</a:t>
            </a:r>
            <a:endParaRPr lang="fr-FR" sz="1250" b="0" u="none" strike="noStrike">
              <a:solidFill>
                <a:srgbClr val="000000"/>
              </a:solidFill>
              <a:effectLst/>
              <a:uFillTx/>
              <a:latin typeface="Arial"/>
            </a:endParaRPr>
          </a:p>
        </p:txBody>
      </p:sp>
      <p:sp>
        <p:nvSpPr>
          <p:cNvPr id="452" name="Text 27"/>
          <p:cNvSpPr/>
          <p:nvPr/>
        </p:nvSpPr>
        <p:spPr>
          <a:xfrm>
            <a:off x="4572000" y="4626720"/>
            <a:ext cx="1188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Calibri"/>
              </a:rPr>
              <a:t>rouge 5 s</a:t>
            </a:r>
            <a:endParaRPr lang="fr-FR" sz="1250" b="0" u="none" strike="noStrike">
              <a:solidFill>
                <a:srgbClr val="000000"/>
              </a:solidFill>
              <a:effectLst/>
              <a:uFillTx/>
              <a:latin typeface="Arial"/>
            </a:endParaRPr>
          </a:p>
        </p:txBody>
      </p:sp>
      <p:sp>
        <p:nvSpPr>
          <p:cNvPr id="453" name="Text 28"/>
          <p:cNvSpPr/>
          <p:nvPr/>
        </p:nvSpPr>
        <p:spPr>
          <a:xfrm>
            <a:off x="5440680" y="4937760"/>
            <a:ext cx="2377080" cy="1096920"/>
          </a:xfrm>
          <a:prstGeom prst="roundRect">
            <a:avLst>
              <a:gd name="adj" fmla="val 5000"/>
            </a:avLst>
          </a:prstGeom>
          <a:solidFill>
            <a:schemeClr val="accent1">
              <a:alpha val="12000"/>
            </a:schemeClr>
          </a:solidFill>
          <a:ln w="12700">
            <a:solidFill>
              <a:srgbClr val="0B8A96"/>
            </a:solidFill>
            <a:round/>
          </a:ln>
        </p:spPr>
        <p:style>
          <a:lnRef idx="0"/>
          <a:fillRef idx="0"/>
          <a:effectRef idx="0"/>
          <a:fontRef idx="minor"/>
        </p:style>
        <p:txBody>
          <a:bodyPr lIns="50760" tIns="101520" rIns="101520" bIns="50760" anchor="ctr">
            <a:noAutofit/>
          </a:bodyPr>
          <a:p>
            <a:pPr defTabSz="914400">
              <a:lnSpc>
                <a:spcPct val="100000"/>
              </a:lnSpc>
              <a:tabLst>
                <a:tab pos="0" algn="l"/>
              </a:tabLst>
            </a:pPr>
            <a:r>
              <a:rPr lang="en-US" sz="1200" b="1" u="none" strike="noStrike">
                <a:solidFill>
                  <a:schemeClr val="dk2"/>
                </a:solidFill>
                <a:effectLst/>
                <a:uFillTx/>
                <a:latin typeface="Calibri"/>
              </a:rPr>
              <a:t>À noter : </a:t>
            </a:r>
            <a:r>
              <a:rPr lang="en-US" sz="1200" b="0" u="none" strike="noStrike">
                <a:solidFill>
                  <a:schemeClr val="dk1"/>
                </a:solidFill>
                <a:effectLst/>
                <a:uFillTx/>
                <a:latin typeface="Calibri"/>
              </a:rPr>
              <a:t>depuis ÉCONOMIQUE, rouge 5 s ramène en STANDARD ; on passe en MAINTENANCE depuis STANDARD.</a:t>
            </a:r>
            <a:endParaRPr lang="fr-FR" sz="1200" b="0" u="none" strike="noStrike">
              <a:solidFill>
                <a:srgbClr val="FFFFFF"/>
              </a:solidFill>
              <a:effectLst/>
              <a:uFillTx/>
              <a:latin typeface="Arial"/>
            </a:endParaRPr>
          </a:p>
        </p:txBody>
      </p:sp>
      <p:sp>
        <p:nvSpPr>
          <p:cNvPr id="454" name="Shape 29"/>
          <p:cNvSpPr/>
          <p:nvPr/>
        </p:nvSpPr>
        <p:spPr>
          <a:xfrm>
            <a:off x="8229600" y="1572840"/>
            <a:ext cx="3410280" cy="1069560"/>
          </a:xfrm>
          <a:prstGeom prst="roundRect">
            <a:avLst>
              <a:gd name="adj" fmla="val 512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55" name="Shape 30"/>
          <p:cNvSpPr/>
          <p:nvPr/>
        </p:nvSpPr>
        <p:spPr>
          <a:xfrm>
            <a:off x="8412480" y="1737360"/>
            <a:ext cx="237240" cy="237240"/>
          </a:xfrm>
          <a:prstGeom prst="ellipse">
            <a:avLst/>
          </a:prstGeom>
          <a:solidFill>
            <a:srgbClr val="2EAD5B"/>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456" name="Text 31"/>
          <p:cNvSpPr/>
          <p:nvPr/>
        </p:nvSpPr>
        <p:spPr>
          <a:xfrm>
            <a:off x="8732520" y="1691640"/>
            <a:ext cx="28342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STANDARD  </a:t>
            </a:r>
            <a:r>
              <a:rPr lang="en-US" sz="1400" b="0" u="none" strike="noStrike">
                <a:solidFill>
                  <a:schemeClr val="accent6"/>
                </a:solidFill>
                <a:effectLst/>
                <a:uFillTx/>
                <a:latin typeface="Calibri"/>
              </a:rPr>
              <a:t>LED verte</a:t>
            </a:r>
            <a:endParaRPr lang="fr-FR" sz="1400" b="0" u="none" strike="noStrike">
              <a:solidFill>
                <a:srgbClr val="000000"/>
              </a:solidFill>
              <a:effectLst/>
              <a:uFillTx/>
              <a:latin typeface="Arial"/>
            </a:endParaRPr>
          </a:p>
        </p:txBody>
      </p:sp>
      <p:sp>
        <p:nvSpPr>
          <p:cNvPr id="457" name="Text 32"/>
          <p:cNvSpPr/>
          <p:nvPr/>
        </p:nvSpPr>
        <p:spPr>
          <a:xfrm>
            <a:off x="8412480" y="2030040"/>
            <a:ext cx="3126960" cy="585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Une mesure toutes les LOG_INTERVAL (10 min par défaut), écrite sur la carte SD</a:t>
            </a:r>
            <a:endParaRPr lang="fr-FR" sz="1300" b="0" u="none" strike="noStrike">
              <a:solidFill>
                <a:srgbClr val="000000"/>
              </a:solidFill>
              <a:effectLst/>
              <a:uFillTx/>
              <a:latin typeface="Arial"/>
            </a:endParaRPr>
          </a:p>
        </p:txBody>
      </p:sp>
      <p:sp>
        <p:nvSpPr>
          <p:cNvPr id="458" name="Shape 33"/>
          <p:cNvSpPr/>
          <p:nvPr/>
        </p:nvSpPr>
        <p:spPr>
          <a:xfrm>
            <a:off x="8229600" y="2761560"/>
            <a:ext cx="3410280" cy="1069560"/>
          </a:xfrm>
          <a:prstGeom prst="roundRect">
            <a:avLst>
              <a:gd name="adj" fmla="val 512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59" name="Shape 34"/>
          <p:cNvSpPr/>
          <p:nvPr/>
        </p:nvSpPr>
        <p:spPr>
          <a:xfrm>
            <a:off x="8412480" y="2926080"/>
            <a:ext cx="237240" cy="237240"/>
          </a:xfrm>
          <a:prstGeom prst="ellipse">
            <a:avLst/>
          </a:prstGeom>
          <a:solidFill>
            <a:srgbClr val="F2C230"/>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60" name="Text 35"/>
          <p:cNvSpPr/>
          <p:nvPr/>
        </p:nvSpPr>
        <p:spPr>
          <a:xfrm>
            <a:off x="8732520" y="2880360"/>
            <a:ext cx="28342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CONFIGURATION  </a:t>
            </a:r>
            <a:r>
              <a:rPr lang="en-US" sz="1400" b="0" u="none" strike="noStrike">
                <a:solidFill>
                  <a:schemeClr val="accent6"/>
                </a:solidFill>
                <a:effectLst/>
                <a:uFillTx/>
                <a:latin typeface="Calibri"/>
              </a:rPr>
              <a:t>LED jaune</a:t>
            </a:r>
            <a:endParaRPr lang="fr-FR" sz="1400" b="0" u="none" strike="noStrike">
              <a:solidFill>
                <a:srgbClr val="000000"/>
              </a:solidFill>
              <a:effectLst/>
              <a:uFillTx/>
              <a:latin typeface="Arial"/>
            </a:endParaRPr>
          </a:p>
        </p:txBody>
      </p:sp>
      <p:sp>
        <p:nvSpPr>
          <p:cNvPr id="461" name="Text 36"/>
          <p:cNvSpPr/>
          <p:nvPr/>
        </p:nvSpPr>
        <p:spPr>
          <a:xfrm>
            <a:off x="8412480" y="3218760"/>
            <a:ext cx="3126960" cy="585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Acquisition arrêtée ; réglages par la console série, sauvegardés en Flash</a:t>
            </a:r>
            <a:endParaRPr lang="fr-FR" sz="1300" b="0" u="none" strike="noStrike">
              <a:solidFill>
                <a:srgbClr val="000000"/>
              </a:solidFill>
              <a:effectLst/>
              <a:uFillTx/>
              <a:latin typeface="Arial"/>
            </a:endParaRPr>
          </a:p>
        </p:txBody>
      </p:sp>
      <p:sp>
        <p:nvSpPr>
          <p:cNvPr id="462" name="Shape 37"/>
          <p:cNvSpPr/>
          <p:nvPr/>
        </p:nvSpPr>
        <p:spPr>
          <a:xfrm>
            <a:off x="8229600" y="3950280"/>
            <a:ext cx="3410280" cy="1069560"/>
          </a:xfrm>
          <a:prstGeom prst="roundRect">
            <a:avLst>
              <a:gd name="adj" fmla="val 512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63" name="Shape 38"/>
          <p:cNvSpPr/>
          <p:nvPr/>
        </p:nvSpPr>
        <p:spPr>
          <a:xfrm>
            <a:off x="8412480" y="4114800"/>
            <a:ext cx="237240" cy="237240"/>
          </a:xfrm>
          <a:prstGeom prst="ellipse">
            <a:avLst/>
          </a:prstGeom>
          <a:solidFill>
            <a:srgbClr val="F28C28"/>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64" name="Text 39"/>
          <p:cNvSpPr/>
          <p:nvPr/>
        </p:nvSpPr>
        <p:spPr>
          <a:xfrm>
            <a:off x="8732520" y="4069080"/>
            <a:ext cx="28342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MAINTENANCE  </a:t>
            </a:r>
            <a:r>
              <a:rPr lang="en-US" sz="1400" b="0" u="none" strike="noStrike">
                <a:solidFill>
                  <a:schemeClr val="accent6"/>
                </a:solidFill>
                <a:effectLst/>
                <a:uFillTx/>
                <a:latin typeface="Calibri"/>
              </a:rPr>
              <a:t>LED orange</a:t>
            </a:r>
            <a:endParaRPr lang="fr-FR" sz="1400" b="0" u="none" strike="noStrike">
              <a:solidFill>
                <a:srgbClr val="000000"/>
              </a:solidFill>
              <a:effectLst/>
              <a:uFillTx/>
              <a:latin typeface="Arial"/>
            </a:endParaRPr>
          </a:p>
        </p:txBody>
      </p:sp>
      <p:sp>
        <p:nvSpPr>
          <p:cNvPr id="465" name="Text 40"/>
          <p:cNvSpPr/>
          <p:nvPr/>
        </p:nvSpPr>
        <p:spPr>
          <a:xfrm>
            <a:off x="8412480" y="4407480"/>
            <a:ext cx="3126960" cy="585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Carte SD démontée, retrait sans risque ; mesures en direct sur la console</a:t>
            </a:r>
            <a:endParaRPr lang="fr-FR" sz="1300" b="0" u="none" strike="noStrike">
              <a:solidFill>
                <a:srgbClr val="000000"/>
              </a:solidFill>
              <a:effectLst/>
              <a:uFillTx/>
              <a:latin typeface="Arial"/>
            </a:endParaRPr>
          </a:p>
        </p:txBody>
      </p:sp>
      <p:sp>
        <p:nvSpPr>
          <p:cNvPr id="466" name="Shape 41"/>
          <p:cNvSpPr/>
          <p:nvPr/>
        </p:nvSpPr>
        <p:spPr>
          <a:xfrm>
            <a:off x="8229600" y="5139000"/>
            <a:ext cx="3410280" cy="1069560"/>
          </a:xfrm>
          <a:prstGeom prst="roundRect">
            <a:avLst>
              <a:gd name="adj" fmla="val 5128"/>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67" name="Shape 42"/>
          <p:cNvSpPr/>
          <p:nvPr/>
        </p:nvSpPr>
        <p:spPr>
          <a:xfrm>
            <a:off x="8412480" y="5303520"/>
            <a:ext cx="237240" cy="237240"/>
          </a:xfrm>
          <a:prstGeom prst="ellipse">
            <a:avLst/>
          </a:prstGeom>
          <a:solidFill>
            <a:srgbClr val="2F6FD6"/>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468" name="Text 43"/>
          <p:cNvSpPr/>
          <p:nvPr/>
        </p:nvSpPr>
        <p:spPr>
          <a:xfrm>
            <a:off x="8732520" y="5257800"/>
            <a:ext cx="28342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ÉCONOMIQUE  </a:t>
            </a:r>
            <a:r>
              <a:rPr lang="en-US" sz="1400" b="0" u="none" strike="noStrike">
                <a:solidFill>
                  <a:schemeClr val="accent6"/>
                </a:solidFill>
                <a:effectLst/>
                <a:uFillTx/>
                <a:latin typeface="Calibri"/>
              </a:rPr>
              <a:t>LED bleue</a:t>
            </a:r>
            <a:endParaRPr lang="fr-FR" sz="1400" b="0" u="none" strike="noStrike">
              <a:solidFill>
                <a:srgbClr val="000000"/>
              </a:solidFill>
              <a:effectLst/>
              <a:uFillTx/>
              <a:latin typeface="Arial"/>
            </a:endParaRPr>
          </a:p>
        </p:txBody>
      </p:sp>
      <p:sp>
        <p:nvSpPr>
          <p:cNvPr id="469" name="Text 44"/>
          <p:cNvSpPr/>
          <p:nvPr/>
        </p:nvSpPr>
        <p:spPr>
          <a:xfrm>
            <a:off x="8412480" y="5596200"/>
            <a:ext cx="3126960" cy="585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Intervalle × 2 ; GPS lu une mesure sur deux</a:t>
            </a:r>
            <a:endParaRPr lang="fr-FR" sz="1300" b="0" u="none" strike="noStrike">
              <a:solidFill>
                <a:srgbClr val="000000"/>
              </a:solidFill>
              <a:effectLst/>
              <a:uFillTx/>
              <a:latin typeface="Arial"/>
            </a:endParaRPr>
          </a:p>
        </p:txBody>
      </p:sp>
      <p:sp>
        <p:nvSpPr>
          <p:cNvPr id="470" name="PlaceHolder 3"/>
          <p:cNvSpPr>
            <a:spLocks noGrp="1"/>
          </p:cNvSpPr>
          <p:nvPr>
            <p:ph type="sldNum" idx="13"/>
          </p:nvPr>
        </p:nvSpPr>
        <p:spPr>
          <a:xfrm>
            <a:off x="11091600" y="6437520"/>
            <a:ext cx="548280" cy="219240"/>
          </a:xfrm>
          <a:prstGeom prst="rect">
            <a:avLst/>
          </a:prstGeom>
          <a:noFill/>
          <a:ln w="0">
            <a:noFill/>
          </a:ln>
        </p:spPr>
        <p:txBody>
          <a:bodyPr lIns="0" tIns="0" rIns="0" bIns="0" anchor="ctr" anchorCtr="1">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5756F784-2083-4D47-A56A-43AD222A7E21}"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04 · MODES, INTERRUPTIONS ET ERREURS</a:t>
            </a:r>
            <a:endParaRPr lang="fr-FR" sz="1100" b="0" u="none" strike="noStrike">
              <a:solidFill>
                <a:schemeClr val="dk1"/>
              </a:solidFill>
              <a:effectLst/>
              <a:uFillTx/>
              <a:latin typeface="Calibri"/>
            </a:endParaRPr>
          </a:p>
        </p:txBody>
      </p:sp>
      <p:sp>
        <p:nvSpPr>
          <p:cNvPr id="472"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Les interruptions détectent, la boucle principale décide</a:t>
            </a:r>
            <a:endParaRPr lang="fr-FR" sz="2800" b="0" u="none" strike="noStrike">
              <a:solidFill>
                <a:schemeClr val="dk1"/>
              </a:solidFill>
              <a:effectLst/>
              <a:uFillTx/>
              <a:latin typeface="Calibri"/>
            </a:endParaRPr>
          </a:p>
        </p:txBody>
      </p:sp>
      <p:sp>
        <p:nvSpPr>
          <p:cNvPr id="473"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474" name="Text 3"/>
          <p:cNvSpPr/>
          <p:nvPr/>
        </p:nvSpPr>
        <p:spPr>
          <a:xfrm>
            <a:off x="973368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02</a:t>
            </a:r>
            <a:endParaRPr lang="fr-FR" sz="950" b="0" u="none" strike="noStrike">
              <a:solidFill>
                <a:srgbClr val="FFFFFF"/>
              </a:solidFill>
              <a:effectLst/>
              <a:uFillTx/>
              <a:latin typeface="Arial"/>
            </a:endParaRPr>
          </a:p>
        </p:txBody>
      </p:sp>
      <p:sp>
        <p:nvSpPr>
          <p:cNvPr id="475" name="Text 4"/>
          <p:cNvSpPr/>
          <p:nvPr/>
        </p:nvSpPr>
        <p:spPr>
          <a:xfrm>
            <a:off x="1022292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03</a:t>
            </a:r>
            <a:endParaRPr lang="fr-FR" sz="950" b="0" u="none" strike="noStrike">
              <a:solidFill>
                <a:srgbClr val="FFFFFF"/>
              </a:solidFill>
              <a:effectLst/>
              <a:uFillTx/>
              <a:latin typeface="Arial"/>
            </a:endParaRPr>
          </a:p>
        </p:txBody>
      </p:sp>
      <p:sp>
        <p:nvSpPr>
          <p:cNvPr id="476" name="Text 5"/>
          <p:cNvSpPr/>
          <p:nvPr/>
        </p:nvSpPr>
        <p:spPr>
          <a:xfrm>
            <a:off x="1071216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04</a:t>
            </a:r>
            <a:endParaRPr lang="fr-FR" sz="950" b="0" u="none" strike="noStrike">
              <a:solidFill>
                <a:srgbClr val="FFFFFF"/>
              </a:solidFill>
              <a:effectLst/>
              <a:uFillTx/>
              <a:latin typeface="Arial"/>
            </a:endParaRPr>
          </a:p>
        </p:txBody>
      </p:sp>
      <p:sp>
        <p:nvSpPr>
          <p:cNvPr id="477" name="Text 6"/>
          <p:cNvSpPr/>
          <p:nvPr/>
        </p:nvSpPr>
        <p:spPr>
          <a:xfrm>
            <a:off x="1120140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05</a:t>
            </a:r>
            <a:endParaRPr lang="fr-FR" sz="950" b="0" u="none" strike="noStrike">
              <a:solidFill>
                <a:srgbClr val="000000"/>
              </a:solidFill>
              <a:effectLst/>
              <a:uFillTx/>
              <a:latin typeface="Arial"/>
            </a:endParaRPr>
          </a:p>
        </p:txBody>
      </p:sp>
      <p:graphicFrame>
        <p:nvGraphicFramePr>
          <p:cNvPr id="478" name="Table 0"/>
          <p:cNvGraphicFramePr/>
          <p:nvPr/>
        </p:nvGraphicFramePr>
        <p:xfrm>
          <a:off x="548640" y="1572840"/>
          <a:ext cx="6583320" cy="3163320"/>
        </p:xfrm>
        <a:graphic>
          <a:graphicData uri="http://schemas.openxmlformats.org/drawingml/2006/table">
            <a:tbl>
              <a:tblPr/>
              <a:tblGrid>
                <a:gridCol w="1645920"/>
                <a:gridCol w="1920240"/>
                <a:gridCol w="3017520"/>
              </a:tblGrid>
              <a:tr h="383760">
                <a:tc>
                  <a:txBody>
                    <a:bodyPr tIns="2736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Source</a:t>
                      </a:r>
                      <a:endParaRPr lang="fr-FR" sz="1300" b="0" u="none" strike="noStrike">
                        <a:solidFill>
                          <a:srgbClr val="FFFFFF"/>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tIns="2736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Déclenchée par</a:t>
                      </a:r>
                      <a:endParaRPr lang="fr-FR" sz="1300" b="0" u="none" strike="noStrike">
                        <a:solidFill>
                          <a:srgbClr val="FFFFFF"/>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tIns="2736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Rôle de la routine d'interruption</a:t>
                      </a:r>
                      <a:endParaRPr lang="fr-FR" sz="1300" b="0" u="none" strike="noStrike">
                        <a:solidFill>
                          <a:srgbClr val="FFFFFF"/>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r>
              <a:tr h="694800">
                <a:tc>
                  <a:txBody>
                    <a:bodyPr tIns="2736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SysTick · 1 ms</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Horloge système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Détecte l'appui long (≥ 5 s) ; anime la LED (couleurs, 1 Hz)</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694800">
                <a:tc>
                  <a:txBody>
                    <a:bodyPr tIns="2736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EXTI3 · EXTI15_10</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Front montant ou descendant sur PC3 / PC13</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Anti-rebond 20 ms ; mémorise l'instant de l'appui</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694800">
                <a:tc>
                  <a:txBody>
                    <a:bodyPr tIns="2736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USART2 RX</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Octet reçu de la console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Assemble la commande jusqu'à « Entrée » → drapeau cmd_prete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694800">
                <a:tc>
                  <a:txBody>
                    <a:bodyPr tIns="2736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USART3 RX</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Octet reçu du GPS</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Assemble la trame NMEA ; garde la dernière RMC et son instant</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bl>
          </a:graphicData>
        </a:graphic>
      </p:graphicFrame>
      <p:sp>
        <p:nvSpPr>
          <p:cNvPr id="479" name="Shape 7"/>
          <p:cNvSpPr/>
          <p:nvPr/>
        </p:nvSpPr>
        <p:spPr>
          <a:xfrm>
            <a:off x="548640" y="4983480"/>
            <a:ext cx="2102760" cy="1215720"/>
          </a:xfrm>
          <a:prstGeom prst="roundRect">
            <a:avLst>
              <a:gd name="adj" fmla="val 4511"/>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480" name="Image 0" descr="Zap"/>
          <p:cNvPicPr/>
          <p:nvPr/>
        </p:nvPicPr>
        <p:blipFill>
          <a:blip r:embed="rId1"/>
          <a:stretch/>
        </p:blipFill>
        <p:spPr>
          <a:xfrm>
            <a:off x="713160" y="5120640"/>
            <a:ext cx="273960" cy="273960"/>
          </a:xfrm>
          <a:prstGeom prst="rect">
            <a:avLst/>
          </a:prstGeom>
          <a:noFill/>
          <a:ln w="0">
            <a:noFill/>
          </a:ln>
        </p:spPr>
      </p:pic>
      <p:sp>
        <p:nvSpPr>
          <p:cNvPr id="481" name="Text 8"/>
          <p:cNvSpPr/>
          <p:nvPr/>
        </p:nvSpPr>
        <p:spPr>
          <a:xfrm>
            <a:off x="1060560" y="5120640"/>
            <a:ext cx="1554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chemeClr val="dk2"/>
                </a:solidFill>
                <a:effectLst/>
                <a:uFillTx/>
                <a:latin typeface="Calibri"/>
              </a:rPr>
              <a:t>Routines courtes</a:t>
            </a:r>
            <a:endParaRPr lang="fr-FR" sz="1350" b="0" u="none" strike="noStrike">
              <a:solidFill>
                <a:srgbClr val="000000"/>
              </a:solidFill>
              <a:effectLst/>
              <a:uFillTx/>
              <a:latin typeface="Arial"/>
            </a:endParaRPr>
          </a:p>
        </p:txBody>
      </p:sp>
      <p:sp>
        <p:nvSpPr>
          <p:cNvPr id="482" name="Text 9"/>
          <p:cNvSpPr/>
          <p:nvPr/>
        </p:nvSpPr>
        <p:spPr>
          <a:xfrm>
            <a:off x="713160" y="5486400"/>
            <a:ext cx="1846800" cy="676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1"/>
                </a:solidFill>
                <a:effectLst/>
                <a:uFillTx/>
                <a:latin typeface="Calibri"/>
              </a:rPr>
              <a:t>aucun changement de mode dans une interruption</a:t>
            </a:r>
            <a:endParaRPr lang="fr-FR" sz="1250" b="0" u="none" strike="noStrike">
              <a:solidFill>
                <a:srgbClr val="000000"/>
              </a:solidFill>
              <a:effectLst/>
              <a:uFillTx/>
              <a:latin typeface="Arial"/>
            </a:endParaRPr>
          </a:p>
        </p:txBody>
      </p:sp>
      <p:sp>
        <p:nvSpPr>
          <p:cNvPr id="483" name="Shape 10"/>
          <p:cNvSpPr/>
          <p:nvPr/>
        </p:nvSpPr>
        <p:spPr>
          <a:xfrm>
            <a:off x="2788920" y="4983480"/>
            <a:ext cx="2102760" cy="1215720"/>
          </a:xfrm>
          <a:prstGeom prst="roundRect">
            <a:avLst>
              <a:gd name="adj" fmla="val 4511"/>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484" name="Image 1" descr="ShieldCheck"/>
          <p:cNvPicPr/>
          <p:nvPr/>
        </p:nvPicPr>
        <p:blipFill>
          <a:blip r:embed="rId2"/>
          <a:stretch/>
        </p:blipFill>
        <p:spPr>
          <a:xfrm>
            <a:off x="2953440" y="5120640"/>
            <a:ext cx="273960" cy="273960"/>
          </a:xfrm>
          <a:prstGeom prst="rect">
            <a:avLst/>
          </a:prstGeom>
          <a:noFill/>
          <a:ln w="0">
            <a:noFill/>
          </a:ln>
        </p:spPr>
      </p:pic>
      <p:sp>
        <p:nvSpPr>
          <p:cNvPr id="485" name="Text 11"/>
          <p:cNvSpPr/>
          <p:nvPr/>
        </p:nvSpPr>
        <p:spPr>
          <a:xfrm>
            <a:off x="3300840" y="5120640"/>
            <a:ext cx="1554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chemeClr val="dk2"/>
                </a:solidFill>
                <a:effectLst/>
                <a:uFillTx/>
                <a:latin typeface="Calibri"/>
              </a:rPr>
              <a:t>Partage sûr</a:t>
            </a:r>
            <a:endParaRPr lang="fr-FR" sz="1350" b="0" u="none" strike="noStrike">
              <a:solidFill>
                <a:srgbClr val="000000"/>
              </a:solidFill>
              <a:effectLst/>
              <a:uFillTx/>
              <a:latin typeface="Arial"/>
            </a:endParaRPr>
          </a:p>
        </p:txBody>
      </p:sp>
      <p:sp>
        <p:nvSpPr>
          <p:cNvPr id="486" name="Text 12"/>
          <p:cNvSpPr/>
          <p:nvPr/>
        </p:nvSpPr>
        <p:spPr>
          <a:xfrm>
            <a:off x="2953440" y="5486400"/>
            <a:ext cx="1846800" cy="676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1"/>
                </a:solidFill>
                <a:effectLst/>
                <a:uFillTx/>
                <a:latin typeface="Calibri"/>
              </a:rPr>
              <a:t>volatile, file de 8 événements, copies sous __disable_irq()</a:t>
            </a:r>
            <a:endParaRPr lang="fr-FR" sz="1250" b="0" u="none" strike="noStrike">
              <a:solidFill>
                <a:srgbClr val="000000"/>
              </a:solidFill>
              <a:effectLst/>
              <a:uFillTx/>
              <a:latin typeface="Arial"/>
            </a:endParaRPr>
          </a:p>
        </p:txBody>
      </p:sp>
      <p:sp>
        <p:nvSpPr>
          <p:cNvPr id="487" name="Shape 13"/>
          <p:cNvSpPr/>
          <p:nvPr/>
        </p:nvSpPr>
        <p:spPr>
          <a:xfrm>
            <a:off x="5029200" y="4983480"/>
            <a:ext cx="2102760" cy="1215720"/>
          </a:xfrm>
          <a:prstGeom prst="roundRect">
            <a:avLst>
              <a:gd name="adj" fmla="val 4511"/>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488" name="Image 2" descr="Timer"/>
          <p:cNvPicPr/>
          <p:nvPr/>
        </p:nvPicPr>
        <p:blipFill>
          <a:blip r:embed="rId3"/>
          <a:stretch/>
        </p:blipFill>
        <p:spPr>
          <a:xfrm>
            <a:off x="5193720" y="5120640"/>
            <a:ext cx="273960" cy="273960"/>
          </a:xfrm>
          <a:prstGeom prst="rect">
            <a:avLst/>
          </a:prstGeom>
          <a:noFill/>
          <a:ln w="0">
            <a:noFill/>
          </a:ln>
        </p:spPr>
      </p:pic>
      <p:sp>
        <p:nvSpPr>
          <p:cNvPr id="489" name="Text 14"/>
          <p:cNvSpPr/>
          <p:nvPr/>
        </p:nvSpPr>
        <p:spPr>
          <a:xfrm>
            <a:off x="5541120" y="5120640"/>
            <a:ext cx="1554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chemeClr val="dk2"/>
                </a:solidFill>
                <a:effectLst/>
                <a:uFillTx/>
                <a:latin typeface="Calibri"/>
              </a:rPr>
              <a:t>Mesures périodiques</a:t>
            </a:r>
            <a:endParaRPr lang="fr-FR" sz="1350" b="0" u="none" strike="noStrike">
              <a:solidFill>
                <a:srgbClr val="000000"/>
              </a:solidFill>
              <a:effectLst/>
              <a:uFillTx/>
              <a:latin typeface="Arial"/>
            </a:endParaRPr>
          </a:p>
        </p:txBody>
      </p:sp>
      <p:sp>
        <p:nvSpPr>
          <p:cNvPr id="490" name="Text 15"/>
          <p:cNvSpPr/>
          <p:nvPr/>
        </p:nvSpPr>
        <p:spPr>
          <a:xfrm>
            <a:off x="5193720" y="5486400"/>
            <a:ext cx="1846800" cy="676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1"/>
                </a:solidFill>
                <a:effectLst/>
                <a:uFillTx/>
                <a:latin typeface="Calibri"/>
              </a:rPr>
              <a:t>comparaison de HAL_GetTick(), sans timer dédié</a:t>
            </a:r>
            <a:endParaRPr lang="fr-FR" sz="1250" b="0" u="none" strike="noStrike">
              <a:solidFill>
                <a:srgbClr val="000000"/>
              </a:solidFill>
              <a:effectLst/>
              <a:uFillTx/>
              <a:latin typeface="Arial"/>
            </a:endParaRPr>
          </a:p>
        </p:txBody>
      </p:sp>
      <p:sp>
        <p:nvSpPr>
          <p:cNvPr id="491" name="Shape 16"/>
          <p:cNvSpPr/>
          <p:nvPr/>
        </p:nvSpPr>
        <p:spPr>
          <a:xfrm>
            <a:off x="7406640" y="1572840"/>
            <a:ext cx="4233240" cy="4626360"/>
          </a:xfrm>
          <a:prstGeom prst="roundRect">
            <a:avLst>
              <a:gd name="adj" fmla="val 1296"/>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492" name="Text 17"/>
          <p:cNvSpPr/>
          <p:nvPr/>
        </p:nvSpPr>
        <p:spPr>
          <a:xfrm>
            <a:off x="7635240" y="1719000"/>
            <a:ext cx="384012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Exemple : appui long sur le bouton rouge</a:t>
            </a:r>
            <a:endParaRPr lang="fr-FR" sz="1500" b="0" u="none" strike="noStrike">
              <a:solidFill>
                <a:srgbClr val="000000"/>
              </a:solidFill>
              <a:effectLst/>
              <a:uFillTx/>
              <a:latin typeface="Arial"/>
            </a:endParaRPr>
          </a:p>
        </p:txBody>
      </p:sp>
      <p:sp>
        <p:nvSpPr>
          <p:cNvPr id="493" name="Shape 18"/>
          <p:cNvSpPr/>
          <p:nvPr/>
        </p:nvSpPr>
        <p:spPr>
          <a:xfrm>
            <a:off x="7872840" y="2331720"/>
            <a:ext cx="360" cy="2697480"/>
          </a:xfrm>
          <a:prstGeom prst="line">
            <a:avLst/>
          </a:prstGeom>
          <a:ln w="19050">
            <a:solidFill>
              <a:srgbClr val="C5D0DB"/>
            </a:solidFill>
            <a:roun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494" name="Text 19"/>
          <p:cNvSpPr/>
          <p:nvPr/>
        </p:nvSpPr>
        <p:spPr>
          <a:xfrm>
            <a:off x="7680960" y="2194560"/>
            <a:ext cx="383760" cy="38376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1</a:t>
            </a:r>
            <a:endParaRPr lang="fr-FR" sz="1300" b="0" u="none" strike="noStrike">
              <a:solidFill>
                <a:srgbClr val="FFFFFF"/>
              </a:solidFill>
              <a:effectLst/>
              <a:uFillTx/>
              <a:latin typeface="Arial"/>
            </a:endParaRPr>
          </a:p>
        </p:txBody>
      </p:sp>
      <p:sp>
        <p:nvSpPr>
          <p:cNvPr id="495" name="Text 20"/>
          <p:cNvSpPr/>
          <p:nvPr/>
        </p:nvSpPr>
        <p:spPr>
          <a:xfrm>
            <a:off x="8229600" y="2139840"/>
            <a:ext cx="330984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Front descendant sur PC3 → EXTI3 mémorise l'instant</a:t>
            </a:r>
            <a:endParaRPr lang="fr-FR" sz="1300" b="0" u="none" strike="noStrike">
              <a:solidFill>
                <a:srgbClr val="000000"/>
              </a:solidFill>
              <a:effectLst/>
              <a:uFillTx/>
              <a:latin typeface="Arial"/>
            </a:endParaRPr>
          </a:p>
        </p:txBody>
      </p:sp>
      <p:sp>
        <p:nvSpPr>
          <p:cNvPr id="496" name="Text 21"/>
          <p:cNvSpPr/>
          <p:nvPr/>
        </p:nvSpPr>
        <p:spPr>
          <a:xfrm>
            <a:off x="7680960" y="2834640"/>
            <a:ext cx="383760" cy="38376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2</a:t>
            </a:r>
            <a:endParaRPr lang="fr-FR" sz="1300" b="0" u="none" strike="noStrike">
              <a:solidFill>
                <a:srgbClr val="FFFFFF"/>
              </a:solidFill>
              <a:effectLst/>
              <a:uFillTx/>
              <a:latin typeface="Arial"/>
            </a:endParaRPr>
          </a:p>
        </p:txBody>
      </p:sp>
      <p:sp>
        <p:nvSpPr>
          <p:cNvPr id="497" name="Text 22"/>
          <p:cNvSpPr/>
          <p:nvPr/>
        </p:nvSpPr>
        <p:spPr>
          <a:xfrm>
            <a:off x="8229600" y="2779920"/>
            <a:ext cx="330984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SysTick, chaque ms : appui maintenu depuis 5 s ?</a:t>
            </a:r>
            <a:endParaRPr lang="fr-FR" sz="1300" b="0" u="none" strike="noStrike">
              <a:solidFill>
                <a:srgbClr val="000000"/>
              </a:solidFill>
              <a:effectLst/>
              <a:uFillTx/>
              <a:latin typeface="Arial"/>
            </a:endParaRPr>
          </a:p>
        </p:txBody>
      </p:sp>
      <p:sp>
        <p:nvSpPr>
          <p:cNvPr id="498" name="Text 23"/>
          <p:cNvSpPr/>
          <p:nvPr/>
        </p:nvSpPr>
        <p:spPr>
          <a:xfrm>
            <a:off x="7680960" y="3474720"/>
            <a:ext cx="383760" cy="383760"/>
          </a:xfrm>
          <a:prstGeom prst="ellipse">
            <a:avLst/>
          </a:prstGeom>
          <a:solidFill>
            <a:srgbClr val="F2A33A"/>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3</a:t>
            </a:r>
            <a:endParaRPr lang="fr-FR" sz="1300" b="0" u="none" strike="noStrike">
              <a:solidFill>
                <a:srgbClr val="000000"/>
              </a:solidFill>
              <a:effectLst/>
              <a:uFillTx/>
              <a:latin typeface="Arial"/>
            </a:endParaRPr>
          </a:p>
        </p:txBody>
      </p:sp>
      <p:sp>
        <p:nvSpPr>
          <p:cNvPr id="499" name="Text 24"/>
          <p:cNvSpPr/>
          <p:nvPr/>
        </p:nvSpPr>
        <p:spPr>
          <a:xfrm>
            <a:off x="8229600" y="3420000"/>
            <a:ext cx="330984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Événement EV_LONG_ROUGE déposé dans la file</a:t>
            </a:r>
            <a:endParaRPr lang="fr-FR" sz="1300" b="0" u="none" strike="noStrike">
              <a:solidFill>
                <a:srgbClr val="000000"/>
              </a:solidFill>
              <a:effectLst/>
              <a:uFillTx/>
              <a:latin typeface="Arial"/>
            </a:endParaRPr>
          </a:p>
        </p:txBody>
      </p:sp>
      <p:sp>
        <p:nvSpPr>
          <p:cNvPr id="500" name="Text 25"/>
          <p:cNvSpPr/>
          <p:nvPr/>
        </p:nvSpPr>
        <p:spPr>
          <a:xfrm>
            <a:off x="7680960" y="4114800"/>
            <a:ext cx="383760" cy="38376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4</a:t>
            </a:r>
            <a:endParaRPr lang="fr-FR" sz="1300" b="0" u="none" strike="noStrike">
              <a:solidFill>
                <a:srgbClr val="FFFFFF"/>
              </a:solidFill>
              <a:effectLst/>
              <a:uFillTx/>
              <a:latin typeface="Arial"/>
            </a:endParaRPr>
          </a:p>
        </p:txBody>
      </p:sp>
      <p:sp>
        <p:nvSpPr>
          <p:cNvPr id="501" name="Text 26"/>
          <p:cNvSpPr/>
          <p:nvPr/>
        </p:nvSpPr>
        <p:spPr>
          <a:xfrm>
            <a:off x="8229600" y="4060080"/>
            <a:ext cx="330984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Boucle principale : gerer_evenements() lit la file</a:t>
            </a:r>
            <a:endParaRPr lang="fr-FR" sz="1300" b="0" u="none" strike="noStrike">
              <a:solidFill>
                <a:srgbClr val="000000"/>
              </a:solidFill>
              <a:effectLst/>
              <a:uFillTx/>
              <a:latin typeface="Arial"/>
            </a:endParaRPr>
          </a:p>
        </p:txBody>
      </p:sp>
      <p:sp>
        <p:nvSpPr>
          <p:cNvPr id="502" name="Text 27"/>
          <p:cNvSpPr/>
          <p:nvPr/>
        </p:nvSpPr>
        <p:spPr>
          <a:xfrm>
            <a:off x="7680960" y="4754880"/>
            <a:ext cx="383760" cy="38376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5</a:t>
            </a:r>
            <a:endParaRPr lang="fr-FR" sz="1300" b="0" u="none" strike="noStrike">
              <a:solidFill>
                <a:srgbClr val="FFFFFF"/>
              </a:solidFill>
              <a:effectLst/>
              <a:uFillTx/>
              <a:latin typeface="Arial"/>
            </a:endParaRPr>
          </a:p>
        </p:txBody>
      </p:sp>
      <p:sp>
        <p:nvSpPr>
          <p:cNvPr id="503" name="Text 28"/>
          <p:cNvSpPr/>
          <p:nvPr/>
        </p:nvSpPr>
        <p:spPr>
          <a:xfrm>
            <a:off x="8229600" y="4700160"/>
            <a:ext cx="330984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changer_mode(MAINTENANCE) : carte SD démontée, LED orange</a:t>
            </a:r>
            <a:endParaRPr lang="fr-FR" sz="1300" b="0" u="none" strike="noStrike">
              <a:solidFill>
                <a:srgbClr val="000000"/>
              </a:solidFill>
              <a:effectLst/>
              <a:uFillTx/>
              <a:latin typeface="Arial"/>
            </a:endParaRPr>
          </a:p>
        </p:txBody>
      </p:sp>
      <p:sp>
        <p:nvSpPr>
          <p:cNvPr id="504" name="Shape 29"/>
          <p:cNvSpPr/>
          <p:nvPr/>
        </p:nvSpPr>
        <p:spPr>
          <a:xfrm>
            <a:off x="7699320" y="5486400"/>
            <a:ext cx="136800" cy="136800"/>
          </a:xfrm>
          <a:prstGeom prst="ellipse">
            <a:avLst/>
          </a:prstGeom>
          <a:solidFill>
            <a:schemeClr val="tx2"/>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05" name="Text 30"/>
          <p:cNvSpPr/>
          <p:nvPr/>
        </p:nvSpPr>
        <p:spPr>
          <a:xfrm>
            <a:off x="7918560" y="5440680"/>
            <a:ext cx="2742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chemeClr val="dk1"/>
                </a:solidFill>
                <a:effectLst/>
                <a:uFillTx/>
                <a:latin typeface="Calibri"/>
              </a:rPr>
              <a:t>Interruption matérielle</a:t>
            </a:r>
            <a:endParaRPr lang="fr-FR" sz="1150" b="0" u="none" strike="noStrike">
              <a:solidFill>
                <a:srgbClr val="000000"/>
              </a:solidFill>
              <a:effectLst/>
              <a:uFillTx/>
              <a:latin typeface="Arial"/>
            </a:endParaRPr>
          </a:p>
        </p:txBody>
      </p:sp>
      <p:sp>
        <p:nvSpPr>
          <p:cNvPr id="506" name="Shape 31"/>
          <p:cNvSpPr/>
          <p:nvPr/>
        </p:nvSpPr>
        <p:spPr>
          <a:xfrm>
            <a:off x="7699320" y="5715000"/>
            <a:ext cx="136800" cy="136800"/>
          </a:xfrm>
          <a:prstGeom prst="ellipse">
            <a:avLst/>
          </a:prstGeom>
          <a:solidFill>
            <a:srgbClr val="F2A33A"/>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07" name="Text 32"/>
          <p:cNvSpPr/>
          <p:nvPr/>
        </p:nvSpPr>
        <p:spPr>
          <a:xfrm>
            <a:off x="7918560" y="5669280"/>
            <a:ext cx="2742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chemeClr val="dk1"/>
                </a:solidFill>
                <a:effectLst/>
                <a:uFillTx/>
                <a:latin typeface="Calibri"/>
              </a:rPr>
              <a:t>Événement logiciel</a:t>
            </a:r>
            <a:endParaRPr lang="fr-FR" sz="1150" b="0" u="none" strike="noStrike">
              <a:solidFill>
                <a:srgbClr val="000000"/>
              </a:solidFill>
              <a:effectLst/>
              <a:uFillTx/>
              <a:latin typeface="Arial"/>
            </a:endParaRPr>
          </a:p>
        </p:txBody>
      </p:sp>
      <p:sp>
        <p:nvSpPr>
          <p:cNvPr id="508" name="Shape 33"/>
          <p:cNvSpPr/>
          <p:nvPr/>
        </p:nvSpPr>
        <p:spPr>
          <a:xfrm>
            <a:off x="7699320" y="5943600"/>
            <a:ext cx="136800" cy="13680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09" name="Text 34"/>
          <p:cNvSpPr/>
          <p:nvPr/>
        </p:nvSpPr>
        <p:spPr>
          <a:xfrm>
            <a:off x="7918560" y="5897880"/>
            <a:ext cx="2742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chemeClr val="dk1"/>
                </a:solidFill>
                <a:effectLst/>
                <a:uFillTx/>
                <a:latin typeface="Calibri"/>
              </a:rPr>
              <a:t>Boucle principale</a:t>
            </a:r>
            <a:endParaRPr lang="fr-FR" sz="1150" b="0" u="none" strike="noStrike">
              <a:solidFill>
                <a:srgbClr val="000000"/>
              </a:solidFill>
              <a:effectLst/>
              <a:uFillTx/>
              <a:latin typeface="Arial"/>
            </a:endParaRPr>
          </a:p>
        </p:txBody>
      </p:sp>
      <p:sp>
        <p:nvSpPr>
          <p:cNvPr id="510" name="PlaceHolder 3"/>
          <p:cNvSpPr>
            <a:spLocks noGrp="1"/>
          </p:cNvSpPr>
          <p:nvPr>
            <p:ph type="sldNum" idx="14"/>
          </p:nvPr>
        </p:nvSpPr>
        <p:spPr>
          <a:xfrm>
            <a:off x="11091600" y="6437520"/>
            <a:ext cx="548280" cy="219240"/>
          </a:xfrm>
          <a:prstGeom prst="rect">
            <a:avLst/>
          </a:prstGeom>
          <a:noFill/>
          <a:ln w="0">
            <a:noFill/>
          </a:ln>
        </p:spPr>
        <p:txBody>
          <a:bodyPr lIns="0" tIns="0" rIns="0" bIns="0" anchor="ctr">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C14D91AC-DA5C-46F6-BCCD-332406FFF6D1}"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04 · MODES, INTERRUPTIONS ET ERREURS</a:t>
            </a:r>
            <a:endParaRPr lang="fr-FR" sz="1100" b="0" u="none" strike="noStrike">
              <a:solidFill>
                <a:schemeClr val="dk1"/>
              </a:solidFill>
              <a:effectLst/>
              <a:uFillTx/>
              <a:latin typeface="Calibri"/>
            </a:endParaRPr>
          </a:p>
        </p:txBody>
      </p:sp>
      <p:sp>
        <p:nvSpPr>
          <p:cNvPr id="512"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Six erreurs détectées, signalées puis récupérées</a:t>
            </a:r>
            <a:endParaRPr lang="fr-FR" sz="2800" b="0" u="none" strike="noStrike">
              <a:solidFill>
                <a:schemeClr val="dk1"/>
              </a:solidFill>
              <a:effectLst/>
              <a:uFillTx/>
              <a:latin typeface="Calibri"/>
            </a:endParaRPr>
          </a:p>
        </p:txBody>
      </p:sp>
      <p:sp>
        <p:nvSpPr>
          <p:cNvPr id="513"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514" name="Text 3"/>
          <p:cNvSpPr/>
          <p:nvPr/>
        </p:nvSpPr>
        <p:spPr>
          <a:xfrm>
            <a:off x="973368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02</a:t>
            </a:r>
            <a:endParaRPr lang="fr-FR" sz="950" b="0" u="none" strike="noStrike">
              <a:solidFill>
                <a:srgbClr val="FFFFFF"/>
              </a:solidFill>
              <a:effectLst/>
              <a:uFillTx/>
              <a:latin typeface="Arial"/>
            </a:endParaRPr>
          </a:p>
        </p:txBody>
      </p:sp>
      <p:sp>
        <p:nvSpPr>
          <p:cNvPr id="515" name="Text 4"/>
          <p:cNvSpPr/>
          <p:nvPr/>
        </p:nvSpPr>
        <p:spPr>
          <a:xfrm>
            <a:off x="1022292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03</a:t>
            </a:r>
            <a:endParaRPr lang="fr-FR" sz="950" b="0" u="none" strike="noStrike">
              <a:solidFill>
                <a:srgbClr val="FFFFFF"/>
              </a:solidFill>
              <a:effectLst/>
              <a:uFillTx/>
              <a:latin typeface="Arial"/>
            </a:endParaRPr>
          </a:p>
        </p:txBody>
      </p:sp>
      <p:sp>
        <p:nvSpPr>
          <p:cNvPr id="516" name="Text 5"/>
          <p:cNvSpPr/>
          <p:nvPr/>
        </p:nvSpPr>
        <p:spPr>
          <a:xfrm>
            <a:off x="1071216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04</a:t>
            </a:r>
            <a:endParaRPr lang="fr-FR" sz="950" b="0" u="none" strike="noStrike">
              <a:solidFill>
                <a:srgbClr val="FFFFFF"/>
              </a:solidFill>
              <a:effectLst/>
              <a:uFillTx/>
              <a:latin typeface="Arial"/>
            </a:endParaRPr>
          </a:p>
        </p:txBody>
      </p:sp>
      <p:sp>
        <p:nvSpPr>
          <p:cNvPr id="517" name="Text 6"/>
          <p:cNvSpPr/>
          <p:nvPr/>
        </p:nvSpPr>
        <p:spPr>
          <a:xfrm>
            <a:off x="11201400" y="384120"/>
            <a:ext cx="429480" cy="246600"/>
          </a:xfrm>
          <a:prstGeom prst="roundRect">
            <a:avLst>
              <a:gd name="adj" fmla="val 48148"/>
            </a:avLst>
          </a:prstGeom>
          <a:solidFill>
            <a:schemeClr val="bg2"/>
          </a:solidFill>
          <a:ln w="9525">
            <a:solidFill>
              <a:srgbClr val="C5D0D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8C99A8"/>
                </a:solidFill>
                <a:effectLst/>
                <a:uFillTx/>
                <a:latin typeface="Calibri"/>
              </a:rPr>
              <a:t>05</a:t>
            </a:r>
            <a:endParaRPr lang="fr-FR" sz="950" b="0" u="none" strike="noStrike">
              <a:solidFill>
                <a:srgbClr val="000000"/>
              </a:solidFill>
              <a:effectLst/>
              <a:uFillTx/>
              <a:latin typeface="Arial"/>
            </a:endParaRPr>
          </a:p>
        </p:txBody>
      </p:sp>
      <p:graphicFrame>
        <p:nvGraphicFramePr>
          <p:cNvPr id="518" name="Table 0"/>
          <p:cNvGraphicFramePr/>
          <p:nvPr/>
        </p:nvGraphicFramePr>
        <p:xfrm>
          <a:off x="548640" y="1572840"/>
          <a:ext cx="11091240" cy="3675600"/>
        </p:xfrm>
        <a:graphic>
          <a:graphicData uri="http://schemas.openxmlformats.org/drawingml/2006/table">
            <a:tbl>
              <a:tblPr/>
              <a:tblGrid>
                <a:gridCol w="2240280"/>
                <a:gridCol w="3291840"/>
                <a:gridCol w="1463040"/>
                <a:gridCol w="4096440"/>
              </a:tblGrid>
              <a:tr h="383760">
                <a:tc>
                  <a:txBody>
                    <a:bodyPr tIns="2736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Erreur (par priorité)</a:t>
                      </a:r>
                      <a:endParaRPr lang="fr-FR" sz="1300" b="0" u="none" strike="noStrike">
                        <a:solidFill>
                          <a:srgbClr val="FFFFFF"/>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tIns="2736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Détection</a:t>
                      </a:r>
                      <a:endParaRPr lang="fr-FR" sz="1300" b="0" u="none" strike="noStrike">
                        <a:solidFill>
                          <a:srgbClr val="FFFFFF"/>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tIns="27360" bIns="27360" anchor="ctr">
                      <a:noAutofit/>
                    </a:bodyPr>
                    <a:p>
                      <a:pPr algn="ctr" defTabSz="914400">
                        <a:lnSpc>
                          <a:spcPct val="100000"/>
                        </a:lnSpc>
                        <a:tabLst>
                          <a:tab pos="0" algn="l"/>
                        </a:tabLst>
                      </a:pPr>
                      <a:r>
                        <a:rPr lang="en-US" sz="1300" b="1" u="none" strike="noStrike">
                          <a:solidFill>
                            <a:schemeClr val="lt1"/>
                          </a:solidFill>
                          <a:effectLst/>
                          <a:uFillTx/>
                          <a:latin typeface="Calibri"/>
                          <a:ea typeface="Calibri"/>
                        </a:rPr>
                        <a:t>Signal LED</a:t>
                      </a:r>
                      <a:endParaRPr lang="fr-FR" sz="1300" b="0" u="none" strike="noStrike">
                        <a:solidFill>
                          <a:srgbClr val="FFFFFF"/>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tIns="2736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Réaction et reprise</a:t>
                      </a:r>
                      <a:endParaRPr lang="fr-FR" sz="1300" b="0" u="none" strike="noStrike">
                        <a:solidFill>
                          <a:srgbClr val="FFFFFF"/>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r>
              <a:tr h="548640">
                <a:tc>
                  <a:txBody>
                    <a:bodyPr tIns="2736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Accès / écriture SD</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Montage, ouverture, écriture ou fermeture en échec</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a:endParaRPr lang="en-US" sz="1300" b="0" u="none" strike="noStrike">
                        <a:solidFill>
                          <a:schemeClr val="dk1"/>
                        </a:solidFill>
                        <a:effectLst/>
                        <a:uFillTx/>
                        <a:latin typeface="Calibri"/>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Carte démontée ; nouveau montage tenté à l'écriture suivante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548640">
                <a:tc>
                  <a:txBody>
                    <a:bodyPr tIns="2736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Carte SD pleine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Espace libre &lt; ligne + FILE_MAX_SIZE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a:endParaRPr lang="en-US" sz="1300" b="0" u="none" strike="noStrike">
                        <a:solidFill>
                          <a:schemeClr val="dk1"/>
                        </a:solidFill>
                        <a:effectLst/>
                        <a:uFillTx/>
                        <a:latin typeface="Calibri"/>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Ligne non écrite ; reprise dès qu'il y a de la place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548640">
                <a:tc>
                  <a:txBody>
                    <a:bodyPr tIns="2736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Horloge RTC</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Lecture de l'heure ou de la date en échec</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a:endParaRPr lang="en-US" sz="1300" b="0" u="none" strike="noStrike">
                        <a:solidFill>
                          <a:schemeClr val="dk1"/>
                        </a:solidFill>
                        <a:effectLst/>
                        <a:uFillTx/>
                        <a:latin typeface="Calibri"/>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Erreur levée à la première lecture réussie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548640">
                <a:tc>
                  <a:txBody>
                    <a:bodyPr tIns="2736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Capteur (DHT11, BH1750)</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2 acquisitions consécutives en TIMEOUT</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a:endParaRPr lang="en-US" sz="1300" b="0" u="none" strike="noStrike">
                        <a:solidFill>
                          <a:schemeClr val="dk1"/>
                        </a:solidFill>
                        <a:effectLst/>
                        <a:uFillTx/>
                        <a:latin typeface="Calibri"/>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Valeur « NA » ; reprise dès une lecture valide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548640">
                <a:tc>
                  <a:txBody>
                    <a:bodyPr tIns="2736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GPS</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2 acquisitions consécutives sans trame RMC</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a:endParaRPr lang="en-US" sz="1300" b="0" u="none" strike="noStrike">
                        <a:solidFill>
                          <a:schemeClr val="dk1"/>
                        </a:solidFill>
                        <a:effectLst/>
                        <a:uFillTx/>
                        <a:latin typeface="Calibri"/>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Position « NA » ; reprise dès la trame suivante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548640">
                <a:tc>
                  <a:txBody>
                    <a:bodyPr tIns="2736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Donnée incohérente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Température hors [MIN_TEMP_AIR ; MAX_TEMP_AIR]</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a:endParaRPr lang="en-US" sz="1300" b="0" u="none" strike="noStrike">
                        <a:solidFill>
                          <a:schemeClr val="dk1"/>
                        </a:solidFill>
                        <a:effectLst/>
                        <a:uFillTx/>
                        <a:latin typeface="Calibri"/>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tIns="2736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Température « NA » ; reprise quand la valeur redevient plausible</a:t>
                      </a:r>
                      <a:endParaRPr lang="fr-FR" sz="1300" b="0" u="none" strike="noStrike">
                        <a:solidFill>
                          <a:srgbClr val="000000"/>
                        </a:solidFill>
                        <a:effectLst/>
                        <a:uFillTx/>
                        <a:latin typeface="Arial"/>
                      </a:endParaRPr>
                    </a:p>
                  </a:txBody>
                  <a:tcPr anchor="ctr" marL="91440" marR="9144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bl>
          </a:graphicData>
        </a:graphic>
      </p:graphicFrame>
      <p:sp>
        <p:nvSpPr>
          <p:cNvPr id="519" name="Shape 7"/>
          <p:cNvSpPr/>
          <p:nvPr/>
        </p:nvSpPr>
        <p:spPr>
          <a:xfrm>
            <a:off x="6309360" y="2112120"/>
            <a:ext cx="334800" cy="237240"/>
          </a:xfrm>
          <a:prstGeom prst="rect">
            <a:avLst/>
          </a:prstGeom>
          <a:solidFill>
            <a:srgbClr val="D93A3A"/>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20" name="Shape 8"/>
          <p:cNvSpPr/>
          <p:nvPr/>
        </p:nvSpPr>
        <p:spPr>
          <a:xfrm>
            <a:off x="6644520" y="2112120"/>
            <a:ext cx="670320" cy="237240"/>
          </a:xfrm>
          <a:prstGeom prst="rect">
            <a:avLst/>
          </a:prstGeom>
          <a:solidFill>
            <a:srgbClr val="FFFFFF"/>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21" name="Shape 9"/>
          <p:cNvSpPr/>
          <p:nvPr/>
        </p:nvSpPr>
        <p:spPr>
          <a:xfrm>
            <a:off x="6309360" y="2660760"/>
            <a:ext cx="502560" cy="237240"/>
          </a:xfrm>
          <a:prstGeom prst="rect">
            <a:avLst/>
          </a:prstGeom>
          <a:solidFill>
            <a:srgbClr val="D93A3A"/>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22" name="Shape 10"/>
          <p:cNvSpPr/>
          <p:nvPr/>
        </p:nvSpPr>
        <p:spPr>
          <a:xfrm>
            <a:off x="6812280" y="2660760"/>
            <a:ext cx="502560" cy="237240"/>
          </a:xfrm>
          <a:prstGeom prst="rect">
            <a:avLst/>
          </a:prstGeom>
          <a:solidFill>
            <a:srgbClr val="FFFFFF"/>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23" name="Shape 11"/>
          <p:cNvSpPr/>
          <p:nvPr/>
        </p:nvSpPr>
        <p:spPr>
          <a:xfrm>
            <a:off x="6309360" y="3209400"/>
            <a:ext cx="502560" cy="237240"/>
          </a:xfrm>
          <a:prstGeom prst="rect">
            <a:avLst/>
          </a:prstGeom>
          <a:solidFill>
            <a:srgbClr val="D93A3A"/>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24" name="Shape 12"/>
          <p:cNvSpPr/>
          <p:nvPr/>
        </p:nvSpPr>
        <p:spPr>
          <a:xfrm>
            <a:off x="6812280" y="3209400"/>
            <a:ext cx="502560" cy="237240"/>
          </a:xfrm>
          <a:prstGeom prst="rect">
            <a:avLst/>
          </a:prstGeom>
          <a:solidFill>
            <a:srgbClr val="2F6FD6"/>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25" name="Shape 13"/>
          <p:cNvSpPr/>
          <p:nvPr/>
        </p:nvSpPr>
        <p:spPr>
          <a:xfrm>
            <a:off x="6309360" y="3758040"/>
            <a:ext cx="502560" cy="237240"/>
          </a:xfrm>
          <a:prstGeom prst="rect">
            <a:avLst/>
          </a:prstGeom>
          <a:solidFill>
            <a:srgbClr val="D93A3A"/>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26" name="Shape 14"/>
          <p:cNvSpPr/>
          <p:nvPr/>
        </p:nvSpPr>
        <p:spPr>
          <a:xfrm>
            <a:off x="6812280" y="3758040"/>
            <a:ext cx="502560" cy="237240"/>
          </a:xfrm>
          <a:prstGeom prst="rect">
            <a:avLst/>
          </a:prstGeom>
          <a:solidFill>
            <a:srgbClr val="2EAD5B"/>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27" name="Shape 15"/>
          <p:cNvSpPr/>
          <p:nvPr/>
        </p:nvSpPr>
        <p:spPr>
          <a:xfrm>
            <a:off x="6309360" y="4306680"/>
            <a:ext cx="502560" cy="237240"/>
          </a:xfrm>
          <a:prstGeom prst="rect">
            <a:avLst/>
          </a:prstGeom>
          <a:solidFill>
            <a:srgbClr val="D93A3A"/>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28" name="Shape 16"/>
          <p:cNvSpPr/>
          <p:nvPr/>
        </p:nvSpPr>
        <p:spPr>
          <a:xfrm>
            <a:off x="6812280" y="4306680"/>
            <a:ext cx="502560" cy="237240"/>
          </a:xfrm>
          <a:prstGeom prst="rect">
            <a:avLst/>
          </a:prstGeom>
          <a:solidFill>
            <a:srgbClr val="F2C230"/>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29" name="Shape 17"/>
          <p:cNvSpPr/>
          <p:nvPr/>
        </p:nvSpPr>
        <p:spPr>
          <a:xfrm>
            <a:off x="6309360" y="4855320"/>
            <a:ext cx="334800" cy="237240"/>
          </a:xfrm>
          <a:prstGeom prst="rect">
            <a:avLst/>
          </a:prstGeom>
          <a:solidFill>
            <a:srgbClr val="D93A3A"/>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30" name="Shape 18"/>
          <p:cNvSpPr/>
          <p:nvPr/>
        </p:nvSpPr>
        <p:spPr>
          <a:xfrm>
            <a:off x="6644520" y="4855320"/>
            <a:ext cx="670320" cy="237240"/>
          </a:xfrm>
          <a:prstGeom prst="rect">
            <a:avLst/>
          </a:prstGeom>
          <a:solidFill>
            <a:srgbClr val="2EAD5B"/>
          </a:solidFill>
          <a:ln w="6350">
            <a:solidFill>
              <a:srgbClr val="9AA8B6"/>
            </a:solidFill>
            <a:round/>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31" name="Shape 19"/>
          <p:cNvSpPr/>
          <p:nvPr/>
        </p:nvSpPr>
        <p:spPr>
          <a:xfrm>
            <a:off x="548640" y="5431680"/>
            <a:ext cx="6354720" cy="767880"/>
          </a:xfrm>
          <a:prstGeom prst="roundRect">
            <a:avLst>
              <a:gd name="adj" fmla="val 7143"/>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532" name="Image 0" descr="BellRing"/>
          <p:cNvPicPr/>
          <p:nvPr/>
        </p:nvPicPr>
        <p:blipFill>
          <a:blip r:embed="rId1"/>
          <a:stretch/>
        </p:blipFill>
        <p:spPr>
          <a:xfrm>
            <a:off x="731520" y="5660280"/>
            <a:ext cx="310680" cy="310680"/>
          </a:xfrm>
          <a:prstGeom prst="rect">
            <a:avLst/>
          </a:prstGeom>
          <a:noFill/>
          <a:ln w="0">
            <a:noFill/>
          </a:ln>
        </p:spPr>
      </p:pic>
      <p:sp>
        <p:nvSpPr>
          <p:cNvPr id="533" name="Text 20"/>
          <p:cNvSpPr/>
          <p:nvPr/>
        </p:nvSpPr>
        <p:spPr>
          <a:xfrm>
            <a:off x="1188720" y="5431680"/>
            <a:ext cx="5577480" cy="76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accent1"/>
                </a:solidFill>
                <a:effectLst/>
                <a:uFillTx/>
                <a:latin typeface="Calibri"/>
              </a:rPr>
              <a:t>Principe — </a:t>
            </a:r>
            <a:r>
              <a:rPr lang="en-US" sz="1300" b="0" u="none" strike="noStrike">
                <a:solidFill>
                  <a:schemeClr val="dk1"/>
                </a:solidFill>
                <a:effectLst/>
                <a:uFillTx/>
                <a:latin typeface="Calibri"/>
              </a:rPr>
              <a:t>clignotement à 1 Hz entre le rouge et une 2e couleur (durées 1:1 ou 1:2) ; la plus prioritaire est affichée ; erreurs réévaluées à chaque acquisition.</a:t>
            </a:r>
            <a:endParaRPr lang="fr-FR" sz="1300" b="0" u="none" strike="noStrike">
              <a:solidFill>
                <a:srgbClr val="000000"/>
              </a:solidFill>
              <a:effectLst/>
              <a:uFillTx/>
              <a:latin typeface="Arial"/>
            </a:endParaRPr>
          </a:p>
        </p:txBody>
      </p:sp>
      <p:sp>
        <p:nvSpPr>
          <p:cNvPr id="534" name="Shape 21"/>
          <p:cNvSpPr/>
          <p:nvPr/>
        </p:nvSpPr>
        <p:spPr>
          <a:xfrm>
            <a:off x="7086600" y="5431680"/>
            <a:ext cx="4553280" cy="767880"/>
          </a:xfrm>
          <a:prstGeom prst="roundRect">
            <a:avLst>
              <a:gd name="adj" fmla="val 7143"/>
            </a:avLst>
          </a:prstGeom>
          <a:solidFill>
            <a:schemeClr val="accent2">
              <a:alpha val="14000"/>
            </a:schemeClr>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535" name="Image 1" descr="AlertTriangle"/>
          <p:cNvPicPr/>
          <p:nvPr/>
        </p:nvPicPr>
        <p:blipFill>
          <a:blip r:embed="rId2"/>
          <a:stretch/>
        </p:blipFill>
        <p:spPr>
          <a:xfrm>
            <a:off x="7269480" y="5660280"/>
            <a:ext cx="310680" cy="310680"/>
          </a:xfrm>
          <a:prstGeom prst="rect">
            <a:avLst/>
          </a:prstGeom>
          <a:noFill/>
          <a:ln w="0">
            <a:noFill/>
          </a:ln>
        </p:spPr>
      </p:pic>
      <p:sp>
        <p:nvSpPr>
          <p:cNvPr id="536" name="Text 22"/>
          <p:cNvSpPr/>
          <p:nvPr/>
        </p:nvSpPr>
        <p:spPr>
          <a:xfrm>
            <a:off x="7726680" y="5431680"/>
            <a:ext cx="3794400" cy="76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2"/>
                </a:solidFill>
                <a:effectLst/>
                <a:uFillTx/>
                <a:latin typeface="Calibri"/>
              </a:rPr>
              <a:t>Limites — </a:t>
            </a:r>
            <a:r>
              <a:rPr lang="en-US" sz="1300" b="0" u="none" strike="noStrike">
                <a:solidFill>
                  <a:schemeClr val="dk1"/>
                </a:solidFill>
                <a:effectLst/>
                <a:uFillTx/>
                <a:latin typeface="Calibri"/>
              </a:rPr>
              <a:t>échec d'initialisation : arrêt (Error_Handler) ; pas de chien de garde ; erreurs non journalisées.</a:t>
            </a:r>
            <a:endParaRPr lang="fr-FR" sz="1300" b="0" u="none" strike="noStrike">
              <a:solidFill>
                <a:srgbClr val="000000"/>
              </a:solidFill>
              <a:effectLst/>
              <a:uFillTx/>
              <a:latin typeface="Arial"/>
            </a:endParaRPr>
          </a:p>
        </p:txBody>
      </p:sp>
      <p:sp>
        <p:nvSpPr>
          <p:cNvPr id="537" name="PlaceHolder 3"/>
          <p:cNvSpPr>
            <a:spLocks noGrp="1"/>
          </p:cNvSpPr>
          <p:nvPr>
            <p:ph type="sldNum" idx="15"/>
          </p:nvPr>
        </p:nvSpPr>
        <p:spPr>
          <a:xfrm>
            <a:off x="11091600" y="6437520"/>
            <a:ext cx="548280" cy="219240"/>
          </a:xfrm>
          <a:prstGeom prst="rect">
            <a:avLst/>
          </a:prstGeom>
          <a:noFill/>
          <a:ln w="0">
            <a:noFill/>
          </a:ln>
        </p:spPr>
        <p:txBody>
          <a:bodyPr lIns="0" tIns="0" rIns="0" bIns="0" anchor="ctr">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8B008CD0-55C9-46FA-8B20-FD85B0530A66}"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05 · SCRIPT, TESTS ET DÉMONSTRATION</a:t>
            </a:r>
            <a:endParaRPr lang="fr-FR" sz="1100" b="0" u="none" strike="noStrike">
              <a:solidFill>
                <a:schemeClr val="dk1"/>
              </a:solidFill>
              <a:effectLst/>
              <a:uFillTx/>
              <a:latin typeface="Calibri"/>
            </a:endParaRPr>
          </a:p>
        </p:txBody>
      </p:sp>
      <p:sp>
        <p:nvSpPr>
          <p:cNvPr id="539"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Un script : compiler, vérifier, puis téléverser</a:t>
            </a:r>
            <a:endParaRPr lang="fr-FR" sz="2800" b="0" u="none" strike="noStrike">
              <a:solidFill>
                <a:schemeClr val="dk1"/>
              </a:solidFill>
              <a:effectLst/>
              <a:uFillTx/>
              <a:latin typeface="Calibri"/>
            </a:endParaRPr>
          </a:p>
        </p:txBody>
      </p:sp>
      <p:sp>
        <p:nvSpPr>
          <p:cNvPr id="540"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541" name="Text 3"/>
          <p:cNvSpPr/>
          <p:nvPr/>
        </p:nvSpPr>
        <p:spPr>
          <a:xfrm>
            <a:off x="973368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02</a:t>
            </a:r>
            <a:endParaRPr lang="fr-FR" sz="950" b="0" u="none" strike="noStrike">
              <a:solidFill>
                <a:srgbClr val="FFFFFF"/>
              </a:solidFill>
              <a:effectLst/>
              <a:uFillTx/>
              <a:latin typeface="Arial"/>
            </a:endParaRPr>
          </a:p>
        </p:txBody>
      </p:sp>
      <p:sp>
        <p:nvSpPr>
          <p:cNvPr id="542" name="Text 4"/>
          <p:cNvSpPr/>
          <p:nvPr/>
        </p:nvSpPr>
        <p:spPr>
          <a:xfrm>
            <a:off x="1022292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03</a:t>
            </a:r>
            <a:endParaRPr lang="fr-FR" sz="950" b="0" u="none" strike="noStrike">
              <a:solidFill>
                <a:srgbClr val="FFFFFF"/>
              </a:solidFill>
              <a:effectLst/>
              <a:uFillTx/>
              <a:latin typeface="Arial"/>
            </a:endParaRPr>
          </a:p>
        </p:txBody>
      </p:sp>
      <p:sp>
        <p:nvSpPr>
          <p:cNvPr id="543" name="Text 5"/>
          <p:cNvSpPr/>
          <p:nvPr/>
        </p:nvSpPr>
        <p:spPr>
          <a:xfrm>
            <a:off x="1071216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04</a:t>
            </a:r>
            <a:endParaRPr lang="fr-FR" sz="950" b="0" u="none" strike="noStrike">
              <a:solidFill>
                <a:srgbClr val="FFFFFF"/>
              </a:solidFill>
              <a:effectLst/>
              <a:uFillTx/>
              <a:latin typeface="Arial"/>
            </a:endParaRPr>
          </a:p>
        </p:txBody>
      </p:sp>
      <p:sp>
        <p:nvSpPr>
          <p:cNvPr id="544" name="Text 6"/>
          <p:cNvSpPr/>
          <p:nvPr/>
        </p:nvSpPr>
        <p:spPr>
          <a:xfrm>
            <a:off x="1120140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05</a:t>
            </a:r>
            <a:endParaRPr lang="fr-FR" sz="950" b="0" u="none" strike="noStrike">
              <a:solidFill>
                <a:srgbClr val="FFFFFF"/>
              </a:solidFill>
              <a:effectLst/>
              <a:uFillTx/>
              <a:latin typeface="Arial"/>
            </a:endParaRPr>
          </a:p>
        </p:txBody>
      </p:sp>
      <p:sp>
        <p:nvSpPr>
          <p:cNvPr id="545" name="Shape 7"/>
          <p:cNvSpPr/>
          <p:nvPr/>
        </p:nvSpPr>
        <p:spPr>
          <a:xfrm>
            <a:off x="548640" y="1572840"/>
            <a:ext cx="11091240" cy="2239920"/>
          </a:xfrm>
          <a:prstGeom prst="roundRect">
            <a:avLst>
              <a:gd name="adj" fmla="val 1633"/>
            </a:avLst>
          </a:prstGeom>
          <a:solidFill>
            <a:srgbClr val="0F1C2E"/>
          </a:solidFill>
          <a:ln w="0">
            <a:noFill/>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46" name="Shape 8"/>
          <p:cNvSpPr/>
          <p:nvPr/>
        </p:nvSpPr>
        <p:spPr>
          <a:xfrm>
            <a:off x="548640" y="1609200"/>
            <a:ext cx="11091240" cy="328680"/>
          </a:xfrm>
          <a:prstGeom prst="rect">
            <a:avLst/>
          </a:prstGeom>
          <a:solidFill>
            <a:srgbClr val="16283F"/>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547" name="Text 9"/>
          <p:cNvSpPr/>
          <p:nvPr/>
        </p:nvSpPr>
        <p:spPr>
          <a:xfrm>
            <a:off x="685800" y="1609200"/>
            <a:ext cx="2742840" cy="328680"/>
          </a:xfrm>
          <a:prstGeom prst="rect">
            <a:avLst/>
          </a:prstGeom>
          <a:solidFill>
            <a:srgbClr val="0F1C2E"/>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0" u="none" strike="noStrike">
                <a:solidFill>
                  <a:srgbClr val="D5DEE7"/>
                </a:solidFill>
                <a:effectLst/>
                <a:uFillTx/>
                <a:latin typeface="Consolas"/>
                <a:ea typeface="Consolas"/>
              </a:rPr>
              <a:t>compiler_televerser.sh</a:t>
            </a:r>
            <a:endParaRPr lang="fr-FR" sz="1150" b="0" u="none" strike="noStrike">
              <a:solidFill>
                <a:srgbClr val="FFFFFF"/>
              </a:solidFill>
              <a:effectLst/>
              <a:uFillTx/>
              <a:latin typeface="Arial"/>
            </a:endParaRPr>
          </a:p>
        </p:txBody>
      </p:sp>
      <p:sp>
        <p:nvSpPr>
          <p:cNvPr id="548" name="Text 10"/>
          <p:cNvSpPr/>
          <p:nvPr/>
        </p:nvSpPr>
        <p:spPr>
          <a:xfrm>
            <a:off x="5486400" y="1609200"/>
            <a:ext cx="5988960" cy="328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8FA3B8"/>
                </a:solidFill>
                <a:effectLst/>
                <a:uFillTx/>
                <a:latin typeface="Calibri"/>
              </a:rPr>
              <a:t>Bash  ·  contenu exact du fichier scripts/compiler_televerser.sh</a:t>
            </a:r>
            <a:endParaRPr lang="fr-FR" sz="1100" b="0" u="none" strike="noStrike">
              <a:solidFill>
                <a:srgbClr val="000000"/>
              </a:solidFill>
              <a:effectLst/>
              <a:uFillTx/>
              <a:latin typeface="Arial"/>
            </a:endParaRPr>
          </a:p>
        </p:txBody>
      </p:sp>
      <p:sp>
        <p:nvSpPr>
          <p:cNvPr id="549" name="Text 11"/>
          <p:cNvSpPr/>
          <p:nvPr/>
        </p:nvSpPr>
        <p:spPr>
          <a:xfrm>
            <a:off x="1188720" y="2084760"/>
            <a:ext cx="10332360" cy="1645560"/>
          </a:xfrm>
          <a:prstGeom prst="rect">
            <a:avLst/>
          </a:prstGeom>
          <a:noFill/>
          <a:ln w="0">
            <a:noFill/>
          </a:ln>
        </p:spPr>
        <p:style>
          <a:lnRef idx="0"/>
          <a:fillRef idx="0"/>
          <a:effectRef idx="0"/>
          <a:fontRef idx="minor"/>
        </p:style>
        <p:txBody>
          <a:bodyPr lIns="0" tIns="0" rIns="0" bIns="0" anchor="t">
            <a:noAutofit/>
          </a:bodyPr>
          <a:p>
            <a:pPr defTabSz="914400">
              <a:lnSpc>
                <a:spcPts val="2100"/>
              </a:lnSpc>
              <a:tabLst>
                <a:tab pos="0" algn="l"/>
              </a:tabLst>
            </a:pPr>
            <a:r>
              <a:rPr lang="en-US" sz="1600" b="0" u="none" strike="noStrike">
                <a:solidFill>
                  <a:srgbClr val="8FA3B8"/>
                </a:solidFill>
                <a:effectLst/>
                <a:uFillTx/>
                <a:latin typeface="Consolas"/>
                <a:ea typeface="Consolas"/>
              </a:rPr>
              <a:t>#!/usr/bin/env bash</a:t>
            </a:r>
            <a:endParaRPr lang="fr-FR" sz="1600" b="0" u="none" strike="noStrike">
              <a:solidFill>
                <a:srgbClr val="000000"/>
              </a:solidFill>
              <a:effectLst/>
              <a:uFillTx/>
              <a:latin typeface="Arial"/>
            </a:endParaRPr>
          </a:p>
          <a:p>
            <a:pPr defTabSz="914400">
              <a:lnSpc>
                <a:spcPts val="2100"/>
              </a:lnSpc>
              <a:tabLst>
                <a:tab pos="0" algn="l"/>
              </a:tabLst>
            </a:pPr>
            <a:r>
              <a:rPr lang="en-US" sz="1600" b="0" u="none" strike="noStrike">
                <a:solidFill>
                  <a:srgbClr val="7FD1DA"/>
                </a:solidFill>
                <a:effectLst/>
                <a:uFillTx/>
                <a:latin typeface="Consolas"/>
                <a:ea typeface="Consolas"/>
              </a:rPr>
              <a:t>cd </a:t>
            </a:r>
            <a:r>
              <a:rPr lang="en-US" sz="1600" b="0" u="none" strike="noStrike">
                <a:solidFill>
                  <a:srgbClr val="F2C27B"/>
                </a:solidFill>
                <a:effectLst/>
                <a:uFillTx/>
                <a:latin typeface="Consolas"/>
                <a:ea typeface="Consolas"/>
              </a:rPr>
              <a:t>"$(dirname "$0")/.."</a:t>
            </a:r>
            <a:r>
              <a:rPr lang="en-US" sz="1600" b="0" u="none" strike="noStrike">
                <a:solidFill>
                  <a:srgbClr val="A9B7C6"/>
                </a:solidFill>
                <a:effectLst/>
                <a:uFillTx/>
                <a:latin typeface="Consolas"/>
                <a:ea typeface="Consolas"/>
              </a:rPr>
              <a:t> || </a:t>
            </a:r>
            <a:r>
              <a:rPr lang="en-US" sz="1600" b="0" u="none" strike="noStrike">
                <a:solidFill>
                  <a:srgbClr val="7FD1DA"/>
                </a:solidFill>
                <a:effectLst/>
                <a:uFillTx/>
                <a:latin typeface="Consolas"/>
                <a:ea typeface="Consolas"/>
              </a:rPr>
              <a:t>exit </a:t>
            </a:r>
            <a:r>
              <a:rPr lang="en-US" sz="1600" b="0" u="none" strike="noStrike">
                <a:solidFill>
                  <a:srgbClr val="F2C27B"/>
                </a:solidFill>
                <a:effectLst/>
                <a:uFillTx/>
                <a:latin typeface="Consolas"/>
                <a:ea typeface="Consolas"/>
              </a:rPr>
              <a:t>1</a:t>
            </a:r>
            <a:endParaRPr lang="fr-FR" sz="1600" b="0" u="none" strike="noStrike">
              <a:solidFill>
                <a:srgbClr val="000000"/>
              </a:solidFill>
              <a:effectLst/>
              <a:uFillTx/>
              <a:latin typeface="Arial"/>
            </a:endParaRPr>
          </a:p>
          <a:p>
            <a:pPr defTabSz="914400">
              <a:lnSpc>
                <a:spcPts val="2100"/>
              </a:lnSpc>
              <a:tabLst>
                <a:tab pos="0" algn="l"/>
              </a:tabLst>
            </a:pPr>
            <a:r>
              <a:rPr lang="en-US" sz="1600" b="0" u="none" strike="noStrike">
                <a:solidFill>
                  <a:srgbClr val="7FD1DA"/>
                </a:solidFill>
                <a:effectLst/>
                <a:uFillTx/>
                <a:latin typeface="Consolas"/>
                <a:ea typeface="Consolas"/>
              </a:rPr>
              <a:t>if </a:t>
            </a:r>
            <a:r>
              <a:rPr lang="en-US" sz="1600" b="1" u="none" strike="noStrike">
                <a:solidFill>
                  <a:srgbClr val="FFFFFF"/>
                </a:solidFill>
                <a:effectLst/>
                <a:uFillTx/>
                <a:latin typeface="Consolas"/>
                <a:ea typeface="Consolas"/>
              </a:rPr>
              <a:t>cmake</a:t>
            </a:r>
            <a:r>
              <a:rPr lang="en-US" sz="1600" b="0" u="none" strike="noStrike">
                <a:solidFill>
                  <a:srgbClr val="D5DEE7"/>
                </a:solidFill>
                <a:effectLst/>
                <a:uFillTx/>
                <a:latin typeface="Consolas"/>
                <a:ea typeface="Consolas"/>
              </a:rPr>
              <a:t> --preset Debug </a:t>
            </a:r>
            <a:r>
              <a:rPr lang="en-US" sz="1600" b="0" u="none" strike="noStrike">
                <a:solidFill>
                  <a:srgbClr val="A9B7C6"/>
                </a:solidFill>
                <a:effectLst/>
                <a:uFillTx/>
                <a:latin typeface="Consolas"/>
                <a:ea typeface="Consolas"/>
              </a:rPr>
              <a:t>&amp;&amp;</a:t>
            </a:r>
            <a:r>
              <a:rPr lang="en-US" sz="1600" b="1" u="none" strike="noStrike">
                <a:solidFill>
                  <a:srgbClr val="FFFFFF"/>
                </a:solidFill>
                <a:effectLst/>
                <a:uFillTx/>
                <a:latin typeface="Consolas"/>
                <a:ea typeface="Consolas"/>
              </a:rPr>
              <a:t> cmake</a:t>
            </a:r>
            <a:r>
              <a:rPr lang="en-US" sz="1600" b="0" u="none" strike="noStrike">
                <a:solidFill>
                  <a:srgbClr val="D5DEE7"/>
                </a:solidFill>
                <a:effectLst/>
                <a:uFillTx/>
                <a:latin typeface="Consolas"/>
                <a:ea typeface="Consolas"/>
              </a:rPr>
              <a:t> --build build/Debug</a:t>
            </a:r>
            <a:r>
              <a:rPr lang="en-US" sz="1600" b="0" u="none" strike="noStrike">
                <a:solidFill>
                  <a:srgbClr val="A9B7C6"/>
                </a:solidFill>
                <a:effectLst/>
                <a:uFillTx/>
                <a:latin typeface="Consolas"/>
                <a:ea typeface="Consolas"/>
              </a:rPr>
              <a:t>; </a:t>
            </a:r>
            <a:r>
              <a:rPr lang="en-US" sz="1600" b="0" u="none" strike="noStrike">
                <a:solidFill>
                  <a:srgbClr val="7FD1DA"/>
                </a:solidFill>
                <a:effectLst/>
                <a:uFillTx/>
                <a:latin typeface="Consolas"/>
                <a:ea typeface="Consolas"/>
              </a:rPr>
              <a:t>then</a:t>
            </a:r>
            <a:endParaRPr lang="fr-FR" sz="1600" b="0" u="none" strike="noStrike">
              <a:solidFill>
                <a:srgbClr val="000000"/>
              </a:solidFill>
              <a:effectLst/>
              <a:uFillTx/>
              <a:latin typeface="Arial"/>
            </a:endParaRPr>
          </a:p>
          <a:p>
            <a:pPr defTabSz="914400">
              <a:lnSpc>
                <a:spcPts val="2100"/>
              </a:lnSpc>
              <a:tabLst>
                <a:tab pos="0" algn="l"/>
              </a:tabLst>
            </a:pPr>
            <a:r>
              <a:rPr lang="en-US" sz="1600" b="1" u="none" strike="noStrike">
                <a:solidFill>
                  <a:srgbClr val="FFFFFF"/>
                </a:solidFill>
                <a:effectLst/>
                <a:uFillTx/>
                <a:latin typeface="Consolas"/>
                <a:ea typeface="Consolas"/>
              </a:rPr>
              <a:t>  STM32_Programmer_CLI</a:t>
            </a:r>
            <a:r>
              <a:rPr lang="en-US" sz="1600" b="0" u="none" strike="noStrike">
                <a:solidFill>
                  <a:srgbClr val="D5DEE7"/>
                </a:solidFill>
                <a:effectLst/>
                <a:uFillTx/>
                <a:latin typeface="Consolas"/>
                <a:ea typeface="Consolas"/>
              </a:rPr>
              <a:t> -c port=SWD mode=UR reset=HWrst -w build/Debug/Aura.elf -v -rst</a:t>
            </a:r>
            <a:endParaRPr lang="fr-FR" sz="1600" b="0" u="none" strike="noStrike">
              <a:solidFill>
                <a:srgbClr val="000000"/>
              </a:solidFill>
              <a:effectLst/>
              <a:uFillTx/>
              <a:latin typeface="Arial"/>
            </a:endParaRPr>
          </a:p>
          <a:p>
            <a:pPr defTabSz="914400">
              <a:lnSpc>
                <a:spcPts val="2100"/>
              </a:lnSpc>
              <a:tabLst>
                <a:tab pos="0" algn="l"/>
              </a:tabLst>
            </a:pPr>
            <a:r>
              <a:rPr lang="en-US" sz="1600" b="0" u="none" strike="noStrike">
                <a:solidFill>
                  <a:srgbClr val="7FD1DA"/>
                </a:solidFill>
                <a:effectLst/>
                <a:uFillTx/>
                <a:latin typeface="Consolas"/>
                <a:ea typeface="Consolas"/>
              </a:rPr>
              <a:t>else </a:t>
            </a:r>
            <a:r>
              <a:rPr lang="en-US" sz="1600" b="1" u="none" strike="noStrike">
                <a:solidFill>
                  <a:srgbClr val="FFFFFF"/>
                </a:solidFill>
                <a:effectLst/>
                <a:uFillTx/>
                <a:latin typeface="Consolas"/>
                <a:ea typeface="Consolas"/>
              </a:rPr>
              <a:t>echo </a:t>
            </a:r>
            <a:r>
              <a:rPr lang="en-US" sz="1600" b="0" u="none" strike="noStrike">
                <a:solidFill>
                  <a:srgbClr val="F2C27B"/>
                </a:solidFill>
                <a:effectLst/>
                <a:uFillTx/>
                <a:latin typeface="Consolas"/>
                <a:ea typeface="Consolas"/>
              </a:rPr>
              <a:t>"Échec de compilation : téléversement annulé"</a:t>
            </a:r>
            <a:r>
              <a:rPr lang="en-US" sz="1600" b="0" u="none" strike="noStrike">
                <a:solidFill>
                  <a:srgbClr val="A9B7C6"/>
                </a:solidFill>
                <a:effectLst/>
                <a:uFillTx/>
                <a:latin typeface="Consolas"/>
                <a:ea typeface="Consolas"/>
              </a:rPr>
              <a:t> &gt;&amp;2; </a:t>
            </a:r>
            <a:r>
              <a:rPr lang="en-US" sz="1600" b="0" u="none" strike="noStrike">
                <a:solidFill>
                  <a:srgbClr val="7FD1DA"/>
                </a:solidFill>
                <a:effectLst/>
                <a:uFillTx/>
                <a:latin typeface="Consolas"/>
                <a:ea typeface="Consolas"/>
              </a:rPr>
              <a:t>exit </a:t>
            </a:r>
            <a:r>
              <a:rPr lang="en-US" sz="1600" b="0" u="none" strike="noStrike">
                <a:solidFill>
                  <a:srgbClr val="F2C27B"/>
                </a:solidFill>
                <a:effectLst/>
                <a:uFillTx/>
                <a:latin typeface="Consolas"/>
                <a:ea typeface="Consolas"/>
              </a:rPr>
              <a:t>1</a:t>
            </a:r>
            <a:r>
              <a:rPr lang="en-US" sz="1600" b="0" u="none" strike="noStrike">
                <a:solidFill>
                  <a:srgbClr val="A9B7C6"/>
                </a:solidFill>
                <a:effectLst/>
                <a:uFillTx/>
                <a:latin typeface="Consolas"/>
                <a:ea typeface="Consolas"/>
              </a:rPr>
              <a:t>; </a:t>
            </a:r>
            <a:r>
              <a:rPr lang="en-US" sz="1600" b="0" u="none" strike="noStrike">
                <a:solidFill>
                  <a:srgbClr val="7FD1DA"/>
                </a:solidFill>
                <a:effectLst/>
                <a:uFillTx/>
                <a:latin typeface="Consolas"/>
                <a:ea typeface="Consolas"/>
              </a:rPr>
              <a:t>fi</a:t>
            </a:r>
            <a:endParaRPr lang="fr-FR" sz="1600" b="0" u="none" strike="noStrike">
              <a:solidFill>
                <a:srgbClr val="000000"/>
              </a:solidFill>
              <a:effectLst/>
              <a:uFillTx/>
              <a:latin typeface="Arial"/>
            </a:endParaRPr>
          </a:p>
        </p:txBody>
      </p:sp>
      <p:sp>
        <p:nvSpPr>
          <p:cNvPr id="550" name="Text 12"/>
          <p:cNvSpPr/>
          <p:nvPr/>
        </p:nvSpPr>
        <p:spPr>
          <a:xfrm>
            <a:off x="713160" y="2084760"/>
            <a:ext cx="319680" cy="1645560"/>
          </a:xfrm>
          <a:prstGeom prst="rect">
            <a:avLst/>
          </a:prstGeom>
          <a:noFill/>
          <a:ln w="0">
            <a:noFill/>
          </a:ln>
        </p:spPr>
        <p:style>
          <a:lnRef idx="0"/>
          <a:fillRef idx="0"/>
          <a:effectRef idx="0"/>
          <a:fontRef idx="minor"/>
        </p:style>
        <p:txBody>
          <a:bodyPr lIns="0" tIns="0" rIns="0" bIns="0" anchor="t">
            <a:noAutofit/>
          </a:bodyPr>
          <a:p>
            <a:pPr algn="r" defTabSz="914400">
              <a:lnSpc>
                <a:spcPts val="2100"/>
              </a:lnSpc>
              <a:tabLst>
                <a:tab pos="0" algn="l"/>
              </a:tabLst>
            </a:pPr>
            <a:r>
              <a:rPr lang="en-US" sz="1600" b="0" u="none" strike="noStrike">
                <a:solidFill>
                  <a:srgbClr val="5E7186"/>
                </a:solidFill>
                <a:effectLst/>
                <a:uFillTx/>
                <a:latin typeface="Consolas"/>
                <a:ea typeface="Consolas"/>
              </a:rPr>
              <a:t>1</a:t>
            </a:r>
            <a:endParaRPr lang="fr-FR" sz="1600" b="0" u="none" strike="noStrike">
              <a:solidFill>
                <a:srgbClr val="000000"/>
              </a:solidFill>
              <a:effectLst/>
              <a:uFillTx/>
              <a:latin typeface="Arial"/>
            </a:endParaRPr>
          </a:p>
          <a:p>
            <a:pPr algn="r" defTabSz="914400">
              <a:lnSpc>
                <a:spcPts val="2100"/>
              </a:lnSpc>
              <a:tabLst>
                <a:tab pos="0" algn="l"/>
              </a:tabLst>
            </a:pPr>
            <a:r>
              <a:rPr lang="en-US" sz="1600" b="0" u="none" strike="noStrike">
                <a:solidFill>
                  <a:srgbClr val="5E7186"/>
                </a:solidFill>
                <a:effectLst/>
                <a:uFillTx/>
                <a:latin typeface="Consolas"/>
                <a:ea typeface="Consolas"/>
              </a:rPr>
              <a:t>2</a:t>
            </a:r>
            <a:endParaRPr lang="fr-FR" sz="1600" b="0" u="none" strike="noStrike">
              <a:solidFill>
                <a:srgbClr val="000000"/>
              </a:solidFill>
              <a:effectLst/>
              <a:uFillTx/>
              <a:latin typeface="Arial"/>
            </a:endParaRPr>
          </a:p>
          <a:p>
            <a:pPr algn="r" defTabSz="914400">
              <a:lnSpc>
                <a:spcPts val="2100"/>
              </a:lnSpc>
              <a:tabLst>
                <a:tab pos="0" algn="l"/>
              </a:tabLst>
            </a:pPr>
            <a:r>
              <a:rPr lang="en-US" sz="1600" b="0" u="none" strike="noStrike">
                <a:solidFill>
                  <a:srgbClr val="5E7186"/>
                </a:solidFill>
                <a:effectLst/>
                <a:uFillTx/>
                <a:latin typeface="Consolas"/>
                <a:ea typeface="Consolas"/>
              </a:rPr>
              <a:t>3</a:t>
            </a:r>
            <a:endParaRPr lang="fr-FR" sz="1600" b="0" u="none" strike="noStrike">
              <a:solidFill>
                <a:srgbClr val="000000"/>
              </a:solidFill>
              <a:effectLst/>
              <a:uFillTx/>
              <a:latin typeface="Arial"/>
            </a:endParaRPr>
          </a:p>
          <a:p>
            <a:pPr algn="r" defTabSz="914400">
              <a:lnSpc>
                <a:spcPts val="2100"/>
              </a:lnSpc>
              <a:tabLst>
                <a:tab pos="0" algn="l"/>
              </a:tabLst>
            </a:pPr>
            <a:r>
              <a:rPr lang="en-US" sz="1600" b="0" u="none" strike="noStrike">
                <a:solidFill>
                  <a:srgbClr val="5E7186"/>
                </a:solidFill>
                <a:effectLst/>
                <a:uFillTx/>
                <a:latin typeface="Consolas"/>
                <a:ea typeface="Consolas"/>
              </a:rPr>
              <a:t>4</a:t>
            </a:r>
            <a:endParaRPr lang="fr-FR" sz="1600" b="0" u="none" strike="noStrike">
              <a:solidFill>
                <a:srgbClr val="000000"/>
              </a:solidFill>
              <a:effectLst/>
              <a:uFillTx/>
              <a:latin typeface="Arial"/>
            </a:endParaRPr>
          </a:p>
          <a:p>
            <a:pPr algn="r" defTabSz="914400">
              <a:lnSpc>
                <a:spcPts val="2100"/>
              </a:lnSpc>
              <a:tabLst>
                <a:tab pos="0" algn="l"/>
              </a:tabLst>
            </a:pPr>
            <a:r>
              <a:rPr lang="en-US" sz="1600" b="0" u="none" strike="noStrike">
                <a:solidFill>
                  <a:srgbClr val="5E7186"/>
                </a:solidFill>
                <a:effectLst/>
                <a:uFillTx/>
                <a:latin typeface="Consolas"/>
                <a:ea typeface="Consolas"/>
              </a:rPr>
              <a:t>5</a:t>
            </a:r>
            <a:endParaRPr lang="fr-FR" sz="1600" b="0" u="none" strike="noStrike">
              <a:solidFill>
                <a:srgbClr val="000000"/>
              </a:solidFill>
              <a:effectLst/>
              <a:uFillTx/>
              <a:latin typeface="Arial"/>
            </a:endParaRPr>
          </a:p>
        </p:txBody>
      </p:sp>
      <p:sp>
        <p:nvSpPr>
          <p:cNvPr id="551" name="Shape 13"/>
          <p:cNvSpPr/>
          <p:nvPr/>
        </p:nvSpPr>
        <p:spPr>
          <a:xfrm>
            <a:off x="548640" y="3996000"/>
            <a:ext cx="6811920" cy="2203200"/>
          </a:xfrm>
          <a:prstGeom prst="roundRect">
            <a:avLst>
              <a:gd name="adj" fmla="val 249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52" name="Text 14"/>
          <p:cNvSpPr/>
          <p:nvPr/>
        </p:nvSpPr>
        <p:spPr>
          <a:xfrm>
            <a:off x="731520" y="4160520"/>
            <a:ext cx="273960" cy="273960"/>
          </a:xfrm>
          <a:prstGeom prst="ellipse">
            <a:avLst/>
          </a:prstGeom>
          <a:solidFill>
            <a:schemeClr val="accent6"/>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lt1"/>
                </a:solidFill>
                <a:effectLst/>
                <a:uFillTx/>
                <a:latin typeface="Calibri"/>
              </a:rPr>
              <a:t>1</a:t>
            </a:r>
            <a:endParaRPr lang="fr-FR" sz="1100" b="0" u="none" strike="noStrike">
              <a:solidFill>
                <a:srgbClr val="FFFFFF"/>
              </a:solidFill>
              <a:effectLst/>
              <a:uFillTx/>
              <a:latin typeface="Arial"/>
            </a:endParaRPr>
          </a:p>
        </p:txBody>
      </p:sp>
      <p:sp>
        <p:nvSpPr>
          <p:cNvPr id="553" name="Text 15"/>
          <p:cNvSpPr/>
          <p:nvPr/>
        </p:nvSpPr>
        <p:spPr>
          <a:xfrm>
            <a:off x="1143000" y="4114800"/>
            <a:ext cx="61261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Exécuter le script avec Bash</a:t>
            </a:r>
            <a:endParaRPr lang="fr-FR" sz="1300" b="0" u="none" strike="noStrike">
              <a:solidFill>
                <a:srgbClr val="000000"/>
              </a:solidFill>
              <a:effectLst/>
              <a:uFillTx/>
              <a:latin typeface="Arial"/>
            </a:endParaRPr>
          </a:p>
        </p:txBody>
      </p:sp>
      <p:sp>
        <p:nvSpPr>
          <p:cNvPr id="554" name="Text 16"/>
          <p:cNvSpPr/>
          <p:nvPr/>
        </p:nvSpPr>
        <p:spPr>
          <a:xfrm>
            <a:off x="731520" y="4563000"/>
            <a:ext cx="273960" cy="273960"/>
          </a:xfrm>
          <a:prstGeom prst="ellipse">
            <a:avLst/>
          </a:prstGeom>
          <a:solidFill>
            <a:schemeClr val="accent6"/>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lt1"/>
                </a:solidFill>
                <a:effectLst/>
                <a:uFillTx/>
                <a:latin typeface="Calibri"/>
              </a:rPr>
              <a:t>2</a:t>
            </a:r>
            <a:endParaRPr lang="fr-FR" sz="1100" b="0" u="none" strike="noStrike">
              <a:solidFill>
                <a:srgbClr val="FFFFFF"/>
              </a:solidFill>
              <a:effectLst/>
              <a:uFillTx/>
              <a:latin typeface="Arial"/>
            </a:endParaRPr>
          </a:p>
        </p:txBody>
      </p:sp>
      <p:sp>
        <p:nvSpPr>
          <p:cNvPr id="555" name="Text 17"/>
          <p:cNvSpPr/>
          <p:nvPr/>
        </p:nvSpPr>
        <p:spPr>
          <a:xfrm>
            <a:off x="1143000" y="4517280"/>
            <a:ext cx="61261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Se placer à la racine du projet, d'où que le script soit lancé</a:t>
            </a:r>
            <a:endParaRPr lang="fr-FR" sz="1300" b="0" u="none" strike="noStrike">
              <a:solidFill>
                <a:srgbClr val="000000"/>
              </a:solidFill>
              <a:effectLst/>
              <a:uFillTx/>
              <a:latin typeface="Arial"/>
            </a:endParaRPr>
          </a:p>
        </p:txBody>
      </p:sp>
      <p:sp>
        <p:nvSpPr>
          <p:cNvPr id="556" name="Text 18"/>
          <p:cNvSpPr/>
          <p:nvPr/>
        </p:nvSpPr>
        <p:spPr>
          <a:xfrm>
            <a:off x="731520" y="4965120"/>
            <a:ext cx="273960" cy="27396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lt1"/>
                </a:solidFill>
                <a:effectLst/>
                <a:uFillTx/>
                <a:latin typeface="Calibri"/>
              </a:rPr>
              <a:t>3</a:t>
            </a:r>
            <a:endParaRPr lang="fr-FR" sz="1100" b="0" u="none" strike="noStrike">
              <a:solidFill>
                <a:srgbClr val="FFFFFF"/>
              </a:solidFill>
              <a:effectLst/>
              <a:uFillTx/>
              <a:latin typeface="Arial"/>
            </a:endParaRPr>
          </a:p>
        </p:txBody>
      </p:sp>
      <p:sp>
        <p:nvSpPr>
          <p:cNvPr id="557" name="Text 19"/>
          <p:cNvSpPr/>
          <p:nvPr/>
        </p:nvSpPr>
        <p:spPr>
          <a:xfrm>
            <a:off x="1143000" y="4919400"/>
            <a:ext cx="61261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Configurer et compiler (CMake, Ninja, arm-none-eabi-gcc) ; le if teste le résultat</a:t>
            </a:r>
            <a:endParaRPr lang="fr-FR" sz="1300" b="0" u="none" strike="noStrike">
              <a:solidFill>
                <a:srgbClr val="000000"/>
              </a:solidFill>
              <a:effectLst/>
              <a:uFillTx/>
              <a:latin typeface="Arial"/>
            </a:endParaRPr>
          </a:p>
        </p:txBody>
      </p:sp>
      <p:sp>
        <p:nvSpPr>
          <p:cNvPr id="558" name="Text 20"/>
          <p:cNvSpPr/>
          <p:nvPr/>
        </p:nvSpPr>
        <p:spPr>
          <a:xfrm>
            <a:off x="731520" y="5367600"/>
            <a:ext cx="273960" cy="27396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lt1"/>
                </a:solidFill>
                <a:effectLst/>
                <a:uFillTx/>
                <a:latin typeface="Calibri"/>
              </a:rPr>
              <a:t>4</a:t>
            </a:r>
            <a:endParaRPr lang="fr-FR" sz="1100" b="0" u="none" strike="noStrike">
              <a:solidFill>
                <a:srgbClr val="FFFFFF"/>
              </a:solidFill>
              <a:effectLst/>
              <a:uFillTx/>
              <a:latin typeface="Arial"/>
            </a:endParaRPr>
          </a:p>
        </p:txBody>
      </p:sp>
      <p:sp>
        <p:nvSpPr>
          <p:cNvPr id="559" name="Text 21"/>
          <p:cNvSpPr/>
          <p:nvPr/>
        </p:nvSpPr>
        <p:spPr>
          <a:xfrm>
            <a:off x="1143000" y="5321880"/>
            <a:ext cx="61261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Si tout a réussi : écrire Aura.elf via le ST-LINK, vérifier, redémarrer</a:t>
            </a:r>
            <a:endParaRPr lang="fr-FR" sz="1300" b="0" u="none" strike="noStrike">
              <a:solidFill>
                <a:srgbClr val="000000"/>
              </a:solidFill>
              <a:effectLst/>
              <a:uFillTx/>
              <a:latin typeface="Arial"/>
            </a:endParaRPr>
          </a:p>
        </p:txBody>
      </p:sp>
      <p:sp>
        <p:nvSpPr>
          <p:cNvPr id="560" name="Text 22"/>
          <p:cNvSpPr/>
          <p:nvPr/>
        </p:nvSpPr>
        <p:spPr>
          <a:xfrm>
            <a:off x="731520" y="5769720"/>
            <a:ext cx="273960" cy="27396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lt1"/>
                </a:solidFill>
                <a:effectLst/>
                <a:uFillTx/>
                <a:latin typeface="Calibri"/>
              </a:rPr>
              <a:t>5</a:t>
            </a:r>
            <a:endParaRPr lang="fr-FR" sz="1100" b="0" u="none" strike="noStrike">
              <a:solidFill>
                <a:srgbClr val="FFFFFF"/>
              </a:solidFill>
              <a:effectLst/>
              <a:uFillTx/>
              <a:latin typeface="Arial"/>
            </a:endParaRPr>
          </a:p>
        </p:txBody>
      </p:sp>
      <p:sp>
        <p:nvSpPr>
          <p:cNvPr id="561" name="Text 23"/>
          <p:cNvSpPr/>
          <p:nvPr/>
        </p:nvSpPr>
        <p:spPr>
          <a:xfrm>
            <a:off x="1143000" y="5724000"/>
            <a:ext cx="61261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Sinon : message d'erreur, code de sortie 1, la carte n'est pas touchée</a:t>
            </a:r>
            <a:endParaRPr lang="fr-FR" sz="1300" b="0" u="none" strike="noStrike">
              <a:solidFill>
                <a:srgbClr val="000000"/>
              </a:solidFill>
              <a:effectLst/>
              <a:uFillTx/>
              <a:latin typeface="Arial"/>
            </a:endParaRPr>
          </a:p>
        </p:txBody>
      </p:sp>
      <p:sp>
        <p:nvSpPr>
          <p:cNvPr id="562" name="Shape 24"/>
          <p:cNvSpPr/>
          <p:nvPr/>
        </p:nvSpPr>
        <p:spPr>
          <a:xfrm>
            <a:off x="7589520" y="3996000"/>
            <a:ext cx="4050360" cy="2203200"/>
          </a:xfrm>
          <a:prstGeom prst="roundRect">
            <a:avLst>
              <a:gd name="adj" fmla="val 249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63" name="Text 25"/>
          <p:cNvSpPr/>
          <p:nvPr/>
        </p:nvSpPr>
        <p:spPr>
          <a:xfrm>
            <a:off x="7772400" y="4206240"/>
            <a:ext cx="1005480" cy="511560"/>
          </a:xfrm>
          <a:prstGeom prst="roundRect">
            <a:avLst>
              <a:gd name="adj" fmla="val 10714"/>
            </a:avLst>
          </a:prstGeom>
          <a:solidFill>
            <a:schemeClr val="accent3"/>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Compiler</a:t>
            </a:r>
            <a:endParaRPr lang="fr-FR" sz="1300" b="0" u="none" strike="noStrike">
              <a:solidFill>
                <a:srgbClr val="FFFFFF"/>
              </a:solidFill>
              <a:effectLst/>
              <a:uFillTx/>
              <a:latin typeface="Arial"/>
            </a:endParaRPr>
          </a:p>
        </p:txBody>
      </p:sp>
      <p:sp>
        <p:nvSpPr>
          <p:cNvPr id="564" name="Shape 26"/>
          <p:cNvSpPr/>
          <p:nvPr/>
        </p:nvSpPr>
        <p:spPr>
          <a:xfrm>
            <a:off x="8778240" y="4462200"/>
            <a:ext cx="182880" cy="360"/>
          </a:xfrm>
          <a:prstGeom prst="line">
            <a:avLst/>
          </a:prstGeom>
          <a:ln w="22225">
            <a:solidFill>
              <a:srgbClr val="0B1F3A"/>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565" name="Text 27"/>
          <p:cNvSpPr/>
          <p:nvPr/>
        </p:nvSpPr>
        <p:spPr>
          <a:xfrm>
            <a:off x="8961120" y="4133160"/>
            <a:ext cx="1142640" cy="658080"/>
          </a:xfrm>
          <a:prstGeom prst="diamond">
            <a:avLst/>
          </a:prstGeom>
          <a:solidFill>
            <a:schemeClr val="bg1"/>
          </a:solidFill>
          <a:ln w="19050">
            <a:solidFill>
              <a:srgbClr val="F2A33A"/>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chemeClr val="dk2"/>
                </a:solidFill>
                <a:effectLst/>
                <a:uFillTx/>
                <a:latin typeface="Calibri"/>
              </a:rPr>
              <a:t>Succès ?</a:t>
            </a:r>
            <a:endParaRPr lang="fr-FR" sz="1250" b="0" u="none" strike="noStrike">
              <a:solidFill>
                <a:srgbClr val="000000"/>
              </a:solidFill>
              <a:effectLst/>
              <a:uFillTx/>
              <a:latin typeface="Arial"/>
            </a:endParaRPr>
          </a:p>
        </p:txBody>
      </p:sp>
      <p:sp>
        <p:nvSpPr>
          <p:cNvPr id="566" name="Shape 28"/>
          <p:cNvSpPr/>
          <p:nvPr/>
        </p:nvSpPr>
        <p:spPr>
          <a:xfrm>
            <a:off x="10104120" y="4462200"/>
            <a:ext cx="182880" cy="360"/>
          </a:xfrm>
          <a:prstGeom prst="line">
            <a:avLst/>
          </a:prstGeom>
          <a:ln w="22225">
            <a:solidFill>
              <a:srgbClr val="2E9E5B"/>
            </a:solidFill>
            <a:round/>
            <a:tailEnd len="med" type="triangle" w="me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567" name="Text 29"/>
          <p:cNvSpPr/>
          <p:nvPr/>
        </p:nvSpPr>
        <p:spPr>
          <a:xfrm>
            <a:off x="10058400" y="4114800"/>
            <a:ext cx="36540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1" u="none" strike="noStrike">
                <a:solidFill>
                  <a:schemeClr val="accent4"/>
                </a:solidFill>
                <a:effectLst/>
                <a:uFillTx/>
                <a:latin typeface="Calibri"/>
              </a:rPr>
              <a:t>oui</a:t>
            </a:r>
            <a:endParaRPr lang="fr-FR" sz="1150" b="0" u="none" strike="noStrike">
              <a:solidFill>
                <a:srgbClr val="000000"/>
              </a:solidFill>
              <a:effectLst/>
              <a:uFillTx/>
              <a:latin typeface="Arial"/>
            </a:endParaRPr>
          </a:p>
        </p:txBody>
      </p:sp>
      <p:sp>
        <p:nvSpPr>
          <p:cNvPr id="568" name="Text 30"/>
          <p:cNvSpPr/>
          <p:nvPr/>
        </p:nvSpPr>
        <p:spPr>
          <a:xfrm>
            <a:off x="10287000" y="4206240"/>
            <a:ext cx="1188360" cy="511560"/>
          </a:xfrm>
          <a:prstGeom prst="roundRect">
            <a:avLst>
              <a:gd name="adj" fmla="val 10714"/>
            </a:avLst>
          </a:prstGeom>
          <a:solidFill>
            <a:schemeClr val="accent4"/>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Téléverser</a:t>
            </a:r>
            <a:endParaRPr lang="fr-FR" sz="1300" b="0" u="none" strike="noStrike">
              <a:solidFill>
                <a:srgbClr val="FFFFFF"/>
              </a:solidFill>
              <a:effectLst/>
              <a:uFillTx/>
              <a:latin typeface="Arial"/>
            </a:endParaRPr>
          </a:p>
        </p:txBody>
      </p:sp>
      <p:sp>
        <p:nvSpPr>
          <p:cNvPr id="569" name="Shape 31"/>
          <p:cNvSpPr/>
          <p:nvPr/>
        </p:nvSpPr>
        <p:spPr>
          <a:xfrm>
            <a:off x="9532440" y="4791240"/>
            <a:ext cx="360" cy="255960"/>
          </a:xfrm>
          <a:prstGeom prst="line">
            <a:avLst/>
          </a:prstGeom>
          <a:ln w="22225">
            <a:solidFill>
              <a:srgbClr val="C0392B"/>
            </a:solidFill>
            <a:round/>
            <a:tailEnd len="med" type="triangle" w="med"/>
          </a:ln>
        </p:spPr>
        <p:style>
          <a:lnRef idx="0"/>
          <a:fillRef idx="0"/>
          <a:effectRef idx="0"/>
          <a:fontRef idx="minor"/>
        </p:style>
        <p:txBody>
          <a:bodyPr lIns="90000" tIns="45000" rIns="90000" bIns="45000" anchor="t" anchorCtr="1">
            <a:noAutofit/>
          </a:bodyPr>
          <a:p>
            <a:pPr/>
            <a:endParaRPr lang="fr-FR" sz="1800" b="0" u="none" strike="noStrike">
              <a:solidFill>
                <a:srgbClr val="000000"/>
              </a:solidFill>
              <a:effectLst/>
              <a:uFillTx/>
              <a:latin typeface="Arial"/>
            </a:endParaRPr>
          </a:p>
        </p:txBody>
      </p:sp>
      <p:sp>
        <p:nvSpPr>
          <p:cNvPr id="570" name="Text 32"/>
          <p:cNvSpPr/>
          <p:nvPr/>
        </p:nvSpPr>
        <p:spPr>
          <a:xfrm>
            <a:off x="9601200" y="4791600"/>
            <a:ext cx="36540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1" u="none" strike="noStrike">
                <a:solidFill>
                  <a:srgbClr val="C0392B"/>
                </a:solidFill>
                <a:effectLst/>
                <a:uFillTx/>
                <a:latin typeface="Calibri"/>
              </a:rPr>
              <a:t>non</a:t>
            </a:r>
            <a:endParaRPr lang="fr-FR" sz="1150" b="0" u="none" strike="noStrike">
              <a:solidFill>
                <a:srgbClr val="000000"/>
              </a:solidFill>
              <a:effectLst/>
              <a:uFillTx/>
              <a:latin typeface="Arial"/>
            </a:endParaRPr>
          </a:p>
        </p:txBody>
      </p:sp>
      <p:sp>
        <p:nvSpPr>
          <p:cNvPr id="571" name="Text 33"/>
          <p:cNvSpPr/>
          <p:nvPr/>
        </p:nvSpPr>
        <p:spPr>
          <a:xfrm>
            <a:off x="8366760" y="5047560"/>
            <a:ext cx="2331360" cy="383760"/>
          </a:xfrm>
          <a:prstGeom prst="roundRect">
            <a:avLst>
              <a:gd name="adj" fmla="val 14286"/>
            </a:avLst>
          </a:prstGeom>
          <a:solidFill>
            <a:srgbClr val="C0392B"/>
          </a:solid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200" b="1" u="none" strike="noStrike">
                <a:solidFill>
                  <a:schemeClr val="lt1"/>
                </a:solidFill>
                <a:effectLst/>
                <a:uFillTx/>
                <a:latin typeface="Calibri"/>
              </a:rPr>
              <a:t>Arrêt + message, carte intacte</a:t>
            </a:r>
            <a:endParaRPr lang="fr-FR" sz="1200" b="0" u="none" strike="noStrike">
              <a:solidFill>
                <a:srgbClr val="FFFFFF"/>
              </a:solidFill>
              <a:effectLst/>
              <a:uFillTx/>
              <a:latin typeface="Arial"/>
            </a:endParaRPr>
          </a:p>
        </p:txBody>
      </p:sp>
      <p:pic>
        <p:nvPicPr>
          <p:cNvPr id="572" name="Image 0" descr="Terminal"/>
          <p:cNvPicPr/>
          <p:nvPr/>
        </p:nvPicPr>
        <p:blipFill>
          <a:blip r:embed="rId1"/>
          <a:stretch/>
        </p:blipFill>
        <p:spPr>
          <a:xfrm>
            <a:off x="7772400" y="5513760"/>
            <a:ext cx="173520" cy="173520"/>
          </a:xfrm>
          <a:prstGeom prst="rect">
            <a:avLst/>
          </a:prstGeom>
          <a:noFill/>
          <a:ln w="0">
            <a:noFill/>
          </a:ln>
        </p:spPr>
      </p:pic>
      <p:sp>
        <p:nvSpPr>
          <p:cNvPr id="573" name="Text 34"/>
          <p:cNvSpPr/>
          <p:nvPr/>
        </p:nvSpPr>
        <p:spPr>
          <a:xfrm>
            <a:off x="8046720" y="5486400"/>
            <a:ext cx="34743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chemeClr val="dk1"/>
                </a:solidFill>
                <a:effectLst/>
                <a:uFillTx/>
                <a:latin typeface="Calibri"/>
              </a:rPr>
              <a:t>Une seule commande</a:t>
            </a:r>
            <a:endParaRPr lang="fr-FR" sz="1200" b="0" u="none" strike="noStrike">
              <a:solidFill>
                <a:srgbClr val="000000"/>
              </a:solidFill>
              <a:effectLst/>
              <a:uFillTx/>
              <a:latin typeface="Arial"/>
            </a:endParaRPr>
          </a:p>
        </p:txBody>
      </p:sp>
      <p:pic>
        <p:nvPicPr>
          <p:cNvPr id="574" name="Image 1" descr="ShieldCheck"/>
          <p:cNvPicPr/>
          <p:nvPr/>
        </p:nvPicPr>
        <p:blipFill>
          <a:blip r:embed="rId2"/>
          <a:stretch/>
        </p:blipFill>
        <p:spPr>
          <a:xfrm>
            <a:off x="7772400" y="5742360"/>
            <a:ext cx="173520" cy="173520"/>
          </a:xfrm>
          <a:prstGeom prst="rect">
            <a:avLst/>
          </a:prstGeom>
          <a:noFill/>
          <a:ln w="0">
            <a:noFill/>
          </a:ln>
        </p:spPr>
      </p:pic>
      <p:sp>
        <p:nvSpPr>
          <p:cNvPr id="575" name="Text 35"/>
          <p:cNvSpPr/>
          <p:nvPr/>
        </p:nvSpPr>
        <p:spPr>
          <a:xfrm>
            <a:off x="8046720" y="5715000"/>
            <a:ext cx="34743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dk1"/>
                </a:solidFill>
                <a:effectLst/>
                <a:uFillTx/>
                <a:latin typeface="Calibri"/>
              </a:rPr>
              <a:t>Jamais de binaire périmé flashé</a:t>
            </a:r>
            <a:endParaRPr lang="fr-FR" sz="1200" b="0" u="none" strike="noStrike">
              <a:solidFill>
                <a:srgbClr val="000000"/>
              </a:solidFill>
              <a:effectLst/>
              <a:uFillTx/>
              <a:latin typeface="Arial"/>
            </a:endParaRPr>
          </a:p>
        </p:txBody>
      </p:sp>
      <p:pic>
        <p:nvPicPr>
          <p:cNvPr id="576" name="Image 2" descr="RefreshCw"/>
          <p:cNvPicPr/>
          <p:nvPr/>
        </p:nvPicPr>
        <p:blipFill>
          <a:blip r:embed="rId3"/>
          <a:stretch/>
        </p:blipFill>
        <p:spPr>
          <a:xfrm>
            <a:off x="7772400" y="5970960"/>
            <a:ext cx="173520" cy="173520"/>
          </a:xfrm>
          <a:prstGeom prst="rect">
            <a:avLst/>
          </a:prstGeom>
          <a:noFill/>
          <a:ln w="0">
            <a:noFill/>
          </a:ln>
        </p:spPr>
      </p:pic>
      <p:sp>
        <p:nvSpPr>
          <p:cNvPr id="577" name="Text 36"/>
          <p:cNvSpPr/>
          <p:nvPr/>
        </p:nvSpPr>
        <p:spPr>
          <a:xfrm>
            <a:off x="8046720" y="5943600"/>
            <a:ext cx="34743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dk1"/>
                </a:solidFill>
                <a:effectLst/>
                <a:uFillTx/>
                <a:latin typeface="Calibri"/>
              </a:rPr>
              <a:t>Même procédure sur chaque poste</a:t>
            </a:r>
            <a:endParaRPr lang="fr-FR" sz="1200" b="0" u="none" strike="noStrike">
              <a:solidFill>
                <a:srgbClr val="000000"/>
              </a:solidFill>
              <a:effectLst/>
              <a:uFillTx/>
              <a:latin typeface="Arial"/>
            </a:endParaRPr>
          </a:p>
        </p:txBody>
      </p:sp>
      <p:sp>
        <p:nvSpPr>
          <p:cNvPr id="578" name="PlaceHolder 3"/>
          <p:cNvSpPr>
            <a:spLocks noGrp="1"/>
          </p:cNvSpPr>
          <p:nvPr>
            <p:ph type="sldNum" idx="16"/>
          </p:nvPr>
        </p:nvSpPr>
        <p:spPr>
          <a:xfrm>
            <a:off x="11091600" y="6437520"/>
            <a:ext cx="548280" cy="219240"/>
          </a:xfrm>
          <a:prstGeom prst="rect">
            <a:avLst/>
          </a:prstGeom>
          <a:noFill/>
          <a:ln w="0">
            <a:noFill/>
          </a:ln>
        </p:spPr>
        <p:txBody>
          <a:bodyPr lIns="0" tIns="0" rIns="0" bIns="0" anchor="ctr">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858A0A17-FCE9-4AF8-9ED6-33A798DA104A}"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05 · SCRIPT, TESTS ET DÉMONSTRATION</a:t>
            </a:r>
            <a:endParaRPr lang="fr-FR" sz="1100" b="0" u="none" strike="noStrike">
              <a:solidFill>
                <a:schemeClr val="dk1"/>
              </a:solidFill>
              <a:effectLst/>
              <a:uFillTx/>
              <a:latin typeface="Calibri"/>
            </a:endParaRPr>
          </a:p>
        </p:txBody>
      </p:sp>
      <p:sp>
        <p:nvSpPr>
          <p:cNvPr id="580"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Une validation progressive</a:t>
            </a:r>
            <a:endParaRPr lang="fr-FR" sz="2800" b="0" u="none" strike="noStrike">
              <a:solidFill>
                <a:schemeClr val="dk1"/>
              </a:solidFill>
              <a:effectLst/>
              <a:uFillTx/>
              <a:latin typeface="Calibri"/>
            </a:endParaRPr>
          </a:p>
        </p:txBody>
      </p:sp>
      <p:sp>
        <p:nvSpPr>
          <p:cNvPr id="581"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582" name="Text 3"/>
          <p:cNvSpPr/>
          <p:nvPr/>
        </p:nvSpPr>
        <p:spPr>
          <a:xfrm>
            <a:off x="973368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02</a:t>
            </a:r>
            <a:endParaRPr lang="fr-FR" sz="950" b="0" u="none" strike="noStrike">
              <a:solidFill>
                <a:srgbClr val="FFFFFF"/>
              </a:solidFill>
              <a:effectLst/>
              <a:uFillTx/>
              <a:latin typeface="Arial"/>
            </a:endParaRPr>
          </a:p>
        </p:txBody>
      </p:sp>
      <p:sp>
        <p:nvSpPr>
          <p:cNvPr id="583" name="Text 4"/>
          <p:cNvSpPr/>
          <p:nvPr/>
        </p:nvSpPr>
        <p:spPr>
          <a:xfrm>
            <a:off x="1022292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03</a:t>
            </a:r>
            <a:endParaRPr lang="fr-FR" sz="950" b="0" u="none" strike="noStrike">
              <a:solidFill>
                <a:srgbClr val="FFFFFF"/>
              </a:solidFill>
              <a:effectLst/>
              <a:uFillTx/>
              <a:latin typeface="Arial"/>
            </a:endParaRPr>
          </a:p>
        </p:txBody>
      </p:sp>
      <p:sp>
        <p:nvSpPr>
          <p:cNvPr id="584" name="Text 5"/>
          <p:cNvSpPr/>
          <p:nvPr/>
        </p:nvSpPr>
        <p:spPr>
          <a:xfrm>
            <a:off x="1071216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04</a:t>
            </a:r>
            <a:endParaRPr lang="fr-FR" sz="950" b="0" u="none" strike="noStrike">
              <a:solidFill>
                <a:srgbClr val="FFFFFF"/>
              </a:solidFill>
              <a:effectLst/>
              <a:uFillTx/>
              <a:latin typeface="Arial"/>
            </a:endParaRPr>
          </a:p>
        </p:txBody>
      </p:sp>
      <p:sp>
        <p:nvSpPr>
          <p:cNvPr id="585" name="Text 6"/>
          <p:cNvSpPr/>
          <p:nvPr/>
        </p:nvSpPr>
        <p:spPr>
          <a:xfrm>
            <a:off x="1120140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05</a:t>
            </a:r>
            <a:endParaRPr lang="fr-FR" sz="950" b="0" u="none" strike="noStrike">
              <a:solidFill>
                <a:srgbClr val="FFFFFF"/>
              </a:solidFill>
              <a:effectLst/>
              <a:uFillTx/>
              <a:latin typeface="Arial"/>
            </a:endParaRPr>
          </a:p>
        </p:txBody>
      </p:sp>
      <p:sp>
        <p:nvSpPr>
          <p:cNvPr id="586" name="Shape 7"/>
          <p:cNvSpPr/>
          <p:nvPr/>
        </p:nvSpPr>
        <p:spPr>
          <a:xfrm>
            <a:off x="548640" y="1572840"/>
            <a:ext cx="11091672" cy="3428640"/>
          </a:xfrm>
          <a:prstGeom prst="roundRect">
            <a:avLst>
              <a:gd name="adj" fmla="val 160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587" name="Text 8"/>
          <p:cNvSpPr/>
          <p:nvPr/>
        </p:nvSpPr>
        <p:spPr>
          <a:xfrm>
            <a:off x="777240" y="1700640"/>
            <a:ext cx="45716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Démarche de test</a:t>
            </a:r>
            <a:endParaRPr lang="fr-FR" sz="1600" b="0" u="none" strike="noStrike">
              <a:solidFill>
                <a:srgbClr val="000000"/>
              </a:solidFill>
              <a:effectLst/>
              <a:uFillTx/>
              <a:latin typeface="Arial"/>
            </a:endParaRPr>
          </a:p>
        </p:txBody>
      </p:sp>
      <p:sp>
        <p:nvSpPr>
          <p:cNvPr id="588" name="Shape 9"/>
          <p:cNvSpPr/>
          <p:nvPr/>
        </p:nvSpPr>
        <p:spPr>
          <a:xfrm>
            <a:off x="777240" y="2157840"/>
            <a:ext cx="420120" cy="42012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589" name="Image 0" descr="Bug"/>
          <p:cNvPicPr/>
          <p:nvPr/>
        </p:nvPicPr>
        <p:blipFill>
          <a:blip r:embed="rId1"/>
          <a:stretch/>
        </p:blipFill>
        <p:spPr>
          <a:xfrm>
            <a:off x="878040" y="2259000"/>
            <a:ext cx="218520" cy="218520"/>
          </a:xfrm>
          <a:prstGeom prst="rect">
            <a:avLst/>
          </a:prstGeom>
          <a:noFill/>
          <a:ln w="0">
            <a:noFill/>
          </a:ln>
        </p:spPr>
      </p:pic>
      <p:sp>
        <p:nvSpPr>
          <p:cNvPr id="590" name="Text 10"/>
          <p:cNvSpPr/>
          <p:nvPr/>
        </p:nvSpPr>
        <p:spPr>
          <a:xfrm>
            <a:off x="1344240" y="2103120"/>
            <a:ext cx="10058400" cy="694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dk2"/>
                </a:solidFill>
                <a:effectLst/>
                <a:uFillTx/>
                <a:latin typeface="Calibri"/>
              </a:rPr>
              <a:t>Tests unitaires</a:t>
            </a:r>
            <a:endParaRPr lang="fr-FR"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Chaque composant seul, suivi sur le moniteur série</a:t>
            </a:r>
            <a:endParaRPr lang="fr-FR" sz="1300" b="0" u="none" strike="noStrike">
              <a:solidFill>
                <a:srgbClr val="000000"/>
              </a:solidFill>
              <a:effectLst/>
              <a:uFillTx/>
              <a:latin typeface="Arial"/>
            </a:endParaRPr>
          </a:p>
        </p:txBody>
      </p:sp>
      <p:sp>
        <p:nvSpPr>
          <p:cNvPr id="591" name="Shape 11"/>
          <p:cNvSpPr/>
          <p:nvPr/>
        </p:nvSpPr>
        <p:spPr>
          <a:xfrm>
            <a:off x="777240" y="2871360"/>
            <a:ext cx="420120" cy="42012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592" name="Image 1" descr="Activity"/>
          <p:cNvPicPr/>
          <p:nvPr/>
        </p:nvPicPr>
        <p:blipFill>
          <a:blip r:embed="rId2"/>
          <a:stretch/>
        </p:blipFill>
        <p:spPr>
          <a:xfrm>
            <a:off x="878040" y="2972160"/>
            <a:ext cx="218520" cy="218520"/>
          </a:xfrm>
          <a:prstGeom prst="rect">
            <a:avLst/>
          </a:prstGeom>
          <a:noFill/>
          <a:ln w="0">
            <a:noFill/>
          </a:ln>
        </p:spPr>
      </p:pic>
      <p:sp>
        <p:nvSpPr>
          <p:cNvPr id="593" name="Text 12"/>
          <p:cNvSpPr/>
          <p:nvPr/>
        </p:nvSpPr>
        <p:spPr>
          <a:xfrm>
            <a:off x="1344240" y="2816280"/>
            <a:ext cx="10058400" cy="694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dk2"/>
                </a:solidFill>
                <a:effectLst/>
                <a:uFillTx/>
                <a:latin typeface="Calibri"/>
              </a:rPr>
              <a:t>Diagnostic intégré</a:t>
            </a:r>
            <a:endParaRPr lang="fr-FR"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B1 maintenu au reset : test de chaque composant, puis bilan</a:t>
            </a:r>
            <a:endParaRPr lang="fr-FR" sz="1300" b="0" u="none" strike="noStrike">
              <a:solidFill>
                <a:srgbClr val="000000"/>
              </a:solidFill>
              <a:effectLst/>
              <a:uFillTx/>
              <a:latin typeface="Arial"/>
            </a:endParaRPr>
          </a:p>
        </p:txBody>
      </p:sp>
      <p:sp>
        <p:nvSpPr>
          <p:cNvPr id="594" name="Shape 13"/>
          <p:cNvSpPr/>
          <p:nvPr/>
        </p:nvSpPr>
        <p:spPr>
          <a:xfrm>
            <a:off x="777240" y="3584520"/>
            <a:ext cx="420120" cy="42012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595" name="Image 2" descr="Timer"/>
          <p:cNvPicPr/>
          <p:nvPr/>
        </p:nvPicPr>
        <p:blipFill>
          <a:blip r:embed="rId3"/>
          <a:stretch/>
        </p:blipFill>
        <p:spPr>
          <a:xfrm>
            <a:off x="878040" y="3685320"/>
            <a:ext cx="218520" cy="218520"/>
          </a:xfrm>
          <a:prstGeom prst="rect">
            <a:avLst/>
          </a:prstGeom>
          <a:noFill/>
          <a:ln w="0">
            <a:noFill/>
          </a:ln>
        </p:spPr>
      </p:pic>
      <p:sp>
        <p:nvSpPr>
          <p:cNvPr id="596" name="Text 14"/>
          <p:cNvSpPr/>
          <p:nvPr/>
        </p:nvSpPr>
        <p:spPr>
          <a:xfrm>
            <a:off x="1344240" y="3529440"/>
            <a:ext cx="10058400" cy="694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dk2"/>
                </a:solidFill>
                <a:effectLst/>
                <a:uFillTx/>
                <a:latin typeface="Calibri"/>
              </a:rPr>
              <a:t>Intégration</a:t>
            </a:r>
            <a:endParaRPr lang="fr-FR"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LOG_INTERVAL=20S pour accélérer les cycles ; suivi sur la console</a:t>
            </a:r>
            <a:endParaRPr lang="fr-FR" sz="1300" b="0" u="none" strike="noStrike">
              <a:solidFill>
                <a:srgbClr val="000000"/>
              </a:solidFill>
              <a:effectLst/>
              <a:uFillTx/>
              <a:latin typeface="Arial"/>
            </a:endParaRPr>
          </a:p>
        </p:txBody>
      </p:sp>
      <p:sp>
        <p:nvSpPr>
          <p:cNvPr id="597" name="Shape 15"/>
          <p:cNvSpPr/>
          <p:nvPr/>
        </p:nvSpPr>
        <p:spPr>
          <a:xfrm>
            <a:off x="777240" y="4297680"/>
            <a:ext cx="420120" cy="42012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598" name="Image 3" descr="FileText"/>
          <p:cNvPicPr/>
          <p:nvPr/>
        </p:nvPicPr>
        <p:blipFill>
          <a:blip r:embed="rId4"/>
          <a:stretch/>
        </p:blipFill>
        <p:spPr>
          <a:xfrm>
            <a:off x="878040" y="4398480"/>
            <a:ext cx="218520" cy="218520"/>
          </a:xfrm>
          <a:prstGeom prst="rect">
            <a:avLst/>
          </a:prstGeom>
          <a:noFill/>
          <a:ln w="0">
            <a:noFill/>
          </a:ln>
        </p:spPr>
      </p:pic>
      <p:sp>
        <p:nvSpPr>
          <p:cNvPr id="599" name="Text 16"/>
          <p:cNvSpPr/>
          <p:nvPr/>
        </p:nvSpPr>
        <p:spPr>
          <a:xfrm>
            <a:off x="1344240" y="4242960"/>
            <a:ext cx="10058400" cy="694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dk2"/>
                </a:solidFill>
                <a:effectLst/>
                <a:uFillTx/>
                <a:latin typeface="Calibri"/>
              </a:rPr>
              <a:t>Contrôle des fichiers</a:t>
            </a:r>
            <a:endParaRPr lang="fr-FR"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Lecture sur PC des fichiers enregistrés sur la carte SD</a:t>
            </a:r>
            <a:endParaRPr lang="fr-FR" sz="1300" b="0" u="none" strike="noStrike">
              <a:solidFill>
                <a:srgbClr val="000000"/>
              </a:solidFill>
              <a:effectLst/>
              <a:uFillTx/>
              <a:latin typeface="Arial"/>
            </a:endParaRPr>
          </a:p>
        </p:txBody>
      </p:sp>
      <p:sp>
        <p:nvSpPr>
          <p:cNvPr id="602" name="Shape 18"/>
          <p:cNvSpPr/>
          <p:nvPr/>
        </p:nvSpPr>
        <p:spPr>
          <a:xfrm>
            <a:off x="548640" y="5166360"/>
            <a:ext cx="3574800" cy="1032840"/>
          </a:xfrm>
          <a:prstGeom prst="roundRect">
            <a:avLst>
              <a:gd name="adj" fmla="val 531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603" name="Shape 19"/>
          <p:cNvSpPr/>
          <p:nvPr/>
        </p:nvSpPr>
        <p:spPr>
          <a:xfrm>
            <a:off x="749880" y="5394960"/>
            <a:ext cx="566640" cy="56664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604" name="Image 4" descr="CheckCircle"/>
          <p:cNvPicPr/>
          <p:nvPr/>
        </p:nvPicPr>
        <p:blipFill>
          <a:blip r:embed="rId5"/>
          <a:stretch/>
        </p:blipFill>
        <p:spPr>
          <a:xfrm>
            <a:off x="877320" y="5522400"/>
            <a:ext cx="311400" cy="311400"/>
          </a:xfrm>
          <a:prstGeom prst="rect">
            <a:avLst/>
          </a:prstGeom>
          <a:noFill/>
          <a:ln w="0">
            <a:noFill/>
          </a:ln>
        </p:spPr>
      </p:pic>
      <p:sp>
        <p:nvSpPr>
          <p:cNvPr id="605" name="Text 20"/>
          <p:cNvSpPr/>
          <p:nvPr/>
        </p:nvSpPr>
        <p:spPr>
          <a:xfrm>
            <a:off x="1481400" y="5266800"/>
            <a:ext cx="255996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accent1"/>
                </a:solidFill>
                <a:effectLst/>
                <a:uFillTx/>
                <a:latin typeface="Calibri"/>
              </a:rPr>
              <a:t>Compilation OK</a:t>
            </a:r>
            <a:endParaRPr lang="fr-FR" sz="2200" b="0" u="none" strike="noStrike">
              <a:solidFill>
                <a:srgbClr val="000000"/>
              </a:solidFill>
              <a:effectLst/>
              <a:uFillTx/>
              <a:latin typeface="Arial"/>
            </a:endParaRPr>
          </a:p>
        </p:txBody>
      </p:sp>
      <p:sp>
        <p:nvSpPr>
          <p:cNvPr id="606" name="Text 21"/>
          <p:cNvSpPr/>
          <p:nvPr/>
        </p:nvSpPr>
        <p:spPr>
          <a:xfrm>
            <a:off x="1481400" y="5724000"/>
            <a:ext cx="2559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Sans erreur, le 23/10/2026</a:t>
            </a:r>
            <a:endParaRPr lang="fr-FR" sz="1300" b="0" u="none" strike="noStrike">
              <a:solidFill>
                <a:srgbClr val="000000"/>
              </a:solidFill>
              <a:effectLst/>
              <a:uFillTx/>
              <a:latin typeface="Arial"/>
            </a:endParaRPr>
          </a:p>
        </p:txBody>
      </p:sp>
      <p:sp>
        <p:nvSpPr>
          <p:cNvPr id="607" name="Shape 22"/>
          <p:cNvSpPr/>
          <p:nvPr/>
        </p:nvSpPr>
        <p:spPr>
          <a:xfrm>
            <a:off x="4306680" y="5166360"/>
            <a:ext cx="3574800" cy="1032840"/>
          </a:xfrm>
          <a:prstGeom prst="roundRect">
            <a:avLst>
              <a:gd name="adj" fmla="val 531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608" name="Shape 23"/>
          <p:cNvSpPr/>
          <p:nvPr/>
        </p:nvSpPr>
        <p:spPr>
          <a:xfrm>
            <a:off x="4507920" y="5394960"/>
            <a:ext cx="566640" cy="56664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609" name="Image 5" descr="Cpu"/>
          <p:cNvPicPr/>
          <p:nvPr/>
        </p:nvPicPr>
        <p:blipFill>
          <a:blip r:embed="rId6"/>
          <a:stretch/>
        </p:blipFill>
        <p:spPr>
          <a:xfrm>
            <a:off x="4635720" y="5522400"/>
            <a:ext cx="311400" cy="311400"/>
          </a:xfrm>
          <a:prstGeom prst="rect">
            <a:avLst/>
          </a:prstGeom>
          <a:noFill/>
          <a:ln w="0">
            <a:noFill/>
          </a:ln>
        </p:spPr>
      </p:pic>
      <p:sp>
        <p:nvSpPr>
          <p:cNvPr id="610" name="Text 24"/>
          <p:cNvSpPr/>
          <p:nvPr/>
        </p:nvSpPr>
        <p:spPr>
          <a:xfrm>
            <a:off x="5239440" y="5266800"/>
            <a:ext cx="255996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accent1"/>
                </a:solidFill>
                <a:effectLst/>
                <a:uFillTx/>
                <a:latin typeface="Calibri"/>
              </a:rPr>
              <a:t>≈ 72 Ko</a:t>
            </a:r>
            <a:endParaRPr lang="fr-FR" sz="2200" b="0" u="none" strike="noStrike">
              <a:solidFill>
                <a:srgbClr val="000000"/>
              </a:solidFill>
              <a:effectLst/>
              <a:uFillTx/>
              <a:latin typeface="Arial"/>
            </a:endParaRPr>
          </a:p>
        </p:txBody>
      </p:sp>
      <p:sp>
        <p:nvSpPr>
          <p:cNvPr id="611" name="Text 25"/>
          <p:cNvSpPr/>
          <p:nvPr/>
        </p:nvSpPr>
        <p:spPr>
          <a:xfrm>
            <a:off x="5239440" y="5724000"/>
            <a:ext cx="2559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Flash : 7 % de 1 Mo (build Debug)</a:t>
            </a:r>
            <a:endParaRPr lang="fr-FR" sz="1300" b="0" u="none" strike="noStrike">
              <a:solidFill>
                <a:srgbClr val="000000"/>
              </a:solidFill>
              <a:effectLst/>
              <a:uFillTx/>
              <a:latin typeface="Arial"/>
            </a:endParaRPr>
          </a:p>
        </p:txBody>
      </p:sp>
      <p:sp>
        <p:nvSpPr>
          <p:cNvPr id="612" name="Shape 26"/>
          <p:cNvSpPr/>
          <p:nvPr/>
        </p:nvSpPr>
        <p:spPr>
          <a:xfrm>
            <a:off x="8065080" y="5166360"/>
            <a:ext cx="3574800" cy="1032840"/>
          </a:xfrm>
          <a:prstGeom prst="roundRect">
            <a:avLst>
              <a:gd name="adj" fmla="val 5310"/>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613" name="Shape 27"/>
          <p:cNvSpPr/>
          <p:nvPr/>
        </p:nvSpPr>
        <p:spPr>
          <a:xfrm>
            <a:off x="8266320" y="5394960"/>
            <a:ext cx="566640" cy="566640"/>
          </a:xfrm>
          <a:prstGeom prst="ellipse">
            <a:avLst/>
          </a:prstGeom>
          <a:solidFill>
            <a:schemeClr val="bg2"/>
          </a:solidFill>
          <a:ln w="0">
            <a:noFill/>
          </a:ln>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pic>
        <p:nvPicPr>
          <p:cNvPr id="614" name="Image 6" descr="MemoryStick"/>
          <p:cNvPicPr/>
          <p:nvPr/>
        </p:nvPicPr>
        <p:blipFill>
          <a:blip r:embed="rId7"/>
          <a:stretch/>
        </p:blipFill>
        <p:spPr>
          <a:xfrm>
            <a:off x="8393760" y="5522400"/>
            <a:ext cx="311400" cy="311400"/>
          </a:xfrm>
          <a:prstGeom prst="rect">
            <a:avLst/>
          </a:prstGeom>
          <a:noFill/>
          <a:ln w="0">
            <a:noFill/>
          </a:ln>
        </p:spPr>
      </p:pic>
      <p:sp>
        <p:nvSpPr>
          <p:cNvPr id="615" name="Text 28"/>
          <p:cNvSpPr/>
          <p:nvPr/>
        </p:nvSpPr>
        <p:spPr>
          <a:xfrm>
            <a:off x="8997840" y="5266800"/>
            <a:ext cx="255996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accent1"/>
                </a:solidFill>
                <a:effectLst/>
                <a:uFillTx/>
                <a:latin typeface="Calibri"/>
              </a:rPr>
              <a:t>≈ 4,8 Ko</a:t>
            </a:r>
            <a:endParaRPr lang="fr-FR" sz="2200" b="0" u="none" strike="noStrike">
              <a:solidFill>
                <a:srgbClr val="000000"/>
              </a:solidFill>
              <a:effectLst/>
              <a:uFillTx/>
              <a:latin typeface="Arial"/>
            </a:endParaRPr>
          </a:p>
        </p:txBody>
      </p:sp>
      <p:sp>
        <p:nvSpPr>
          <p:cNvPr id="616" name="Text 29"/>
          <p:cNvSpPr/>
          <p:nvPr/>
        </p:nvSpPr>
        <p:spPr>
          <a:xfrm>
            <a:off x="8997840" y="5724000"/>
            <a:ext cx="2559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RAM : 5 % de 96 Ko (build Debug)</a:t>
            </a:r>
            <a:endParaRPr lang="fr-FR" sz="1300" b="0" u="none" strike="noStrike">
              <a:solidFill>
                <a:srgbClr val="000000"/>
              </a:solidFill>
              <a:effectLst/>
              <a:uFillTx/>
              <a:latin typeface="Arial"/>
            </a:endParaRPr>
          </a:p>
        </p:txBody>
      </p:sp>
      <p:sp>
        <p:nvSpPr>
          <p:cNvPr id="617" name="PlaceHolder 3"/>
          <p:cNvSpPr>
            <a:spLocks noGrp="1"/>
          </p:cNvSpPr>
          <p:nvPr>
            <p:ph type="sldNum" idx="17"/>
          </p:nvPr>
        </p:nvSpPr>
        <p:spPr>
          <a:xfrm>
            <a:off x="11091600" y="6437520"/>
            <a:ext cx="548280" cy="219240"/>
          </a:xfrm>
          <a:prstGeom prst="rect">
            <a:avLst/>
          </a:prstGeom>
          <a:noFill/>
          <a:ln w="0">
            <a:noFill/>
          </a:ln>
        </p:spPr>
        <p:txBody>
          <a:bodyPr lIns="0" tIns="0" rIns="0" bIns="0" anchor="ctr">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CAC8E7C7-ED1B-4E10-924A-8A8DFD1A6EA4}"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05 · SCRIPT, TESTS ET DÉMONSTRATION</a:t>
            </a:r>
            <a:endParaRPr lang="fr-FR" sz="1100" b="0" u="none" strike="noStrike">
              <a:solidFill>
                <a:schemeClr val="dk1"/>
              </a:solidFill>
              <a:effectLst/>
              <a:uFillTx/>
              <a:latin typeface="Calibri"/>
            </a:endParaRPr>
          </a:p>
        </p:txBody>
      </p:sp>
      <p:sp>
        <p:nvSpPr>
          <p:cNvPr id="619"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Démonstration : sept étapes</a:t>
            </a:r>
            <a:endParaRPr lang="fr-FR" sz="2800" b="0" u="none" strike="noStrike">
              <a:solidFill>
                <a:schemeClr val="dk1"/>
              </a:solidFill>
              <a:effectLst/>
              <a:uFillTx/>
              <a:latin typeface="Calibri"/>
            </a:endParaRPr>
          </a:p>
        </p:txBody>
      </p:sp>
      <p:sp>
        <p:nvSpPr>
          <p:cNvPr id="620" name="Text 2"/>
          <p:cNvSpPr/>
          <p:nvPr/>
        </p:nvSpPr>
        <p:spPr>
          <a:xfrm>
            <a:off x="924444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01</a:t>
            </a:r>
            <a:endParaRPr lang="fr-FR" sz="950" b="0" u="none" strike="noStrike">
              <a:solidFill>
                <a:srgbClr val="FFFFFF"/>
              </a:solidFill>
              <a:effectLst/>
              <a:uFillTx/>
              <a:latin typeface="Arial"/>
            </a:endParaRPr>
          </a:p>
        </p:txBody>
      </p:sp>
      <p:sp>
        <p:nvSpPr>
          <p:cNvPr id="621" name="Text 3"/>
          <p:cNvSpPr/>
          <p:nvPr/>
        </p:nvSpPr>
        <p:spPr>
          <a:xfrm>
            <a:off x="973368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02</a:t>
            </a:r>
            <a:endParaRPr lang="fr-FR" sz="950" b="0" u="none" strike="noStrike">
              <a:solidFill>
                <a:srgbClr val="FFFFFF"/>
              </a:solidFill>
              <a:effectLst/>
              <a:uFillTx/>
              <a:latin typeface="Arial"/>
            </a:endParaRPr>
          </a:p>
        </p:txBody>
      </p:sp>
      <p:sp>
        <p:nvSpPr>
          <p:cNvPr id="622" name="Text 4"/>
          <p:cNvSpPr/>
          <p:nvPr/>
        </p:nvSpPr>
        <p:spPr>
          <a:xfrm>
            <a:off x="1022292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03</a:t>
            </a:r>
            <a:endParaRPr lang="fr-FR" sz="950" b="0" u="none" strike="noStrike">
              <a:solidFill>
                <a:srgbClr val="FFFFFF"/>
              </a:solidFill>
              <a:effectLst/>
              <a:uFillTx/>
              <a:latin typeface="Arial"/>
            </a:endParaRPr>
          </a:p>
        </p:txBody>
      </p:sp>
      <p:sp>
        <p:nvSpPr>
          <p:cNvPr id="623" name="Text 5"/>
          <p:cNvSpPr/>
          <p:nvPr/>
        </p:nvSpPr>
        <p:spPr>
          <a:xfrm>
            <a:off x="10712160" y="384120"/>
            <a:ext cx="429480" cy="246600"/>
          </a:xfrm>
          <a:prstGeom prst="roundRect">
            <a:avLst>
              <a:gd name="adj" fmla="val 48148"/>
            </a:avLst>
          </a:prstGeom>
          <a:solidFill>
            <a:schemeClr val="accent1">
              <a:alpha val="20000"/>
            </a:schemeClr>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accent1"/>
                </a:solidFill>
                <a:effectLst/>
                <a:uFillTx/>
                <a:latin typeface="Calibri"/>
              </a:rPr>
              <a:t>04</a:t>
            </a:r>
            <a:endParaRPr lang="fr-FR" sz="950" b="0" u="none" strike="noStrike">
              <a:solidFill>
                <a:srgbClr val="FFFFFF"/>
              </a:solidFill>
              <a:effectLst/>
              <a:uFillTx/>
              <a:latin typeface="Arial"/>
            </a:endParaRPr>
          </a:p>
        </p:txBody>
      </p:sp>
      <p:sp>
        <p:nvSpPr>
          <p:cNvPr id="624" name="Text 6"/>
          <p:cNvSpPr/>
          <p:nvPr/>
        </p:nvSpPr>
        <p:spPr>
          <a:xfrm>
            <a:off x="11201400" y="384120"/>
            <a:ext cx="429480" cy="246600"/>
          </a:xfrm>
          <a:prstGeom prst="roundRect">
            <a:avLst>
              <a:gd name="adj" fmla="val 48148"/>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lt1"/>
                </a:solidFill>
                <a:effectLst/>
                <a:uFillTx/>
                <a:latin typeface="Calibri"/>
              </a:rPr>
              <a:t>05</a:t>
            </a:r>
            <a:endParaRPr lang="fr-FR" sz="950" b="0" u="none" strike="noStrike">
              <a:solidFill>
                <a:srgbClr val="FFFFFF"/>
              </a:solidFill>
              <a:effectLst/>
              <a:uFillTx/>
              <a:latin typeface="Arial"/>
            </a:endParaRPr>
          </a:p>
        </p:txBody>
      </p:sp>
      <p:sp>
        <p:nvSpPr>
          <p:cNvPr id="625" name="Shape 7"/>
          <p:cNvSpPr/>
          <p:nvPr/>
        </p:nvSpPr>
        <p:spPr>
          <a:xfrm>
            <a:off x="1325880" y="2331720"/>
            <a:ext cx="9537120" cy="360"/>
          </a:xfrm>
          <a:prstGeom prst="line">
            <a:avLst/>
          </a:prstGeom>
          <a:ln w="25400">
            <a:solidFill>
              <a:srgbClr val="C5D0DB"/>
            </a:solidFill>
            <a:round/>
          </a:ln>
        </p:spPr>
        <p:style>
          <a:lnRef idx="0"/>
          <a:fillRef idx="0"/>
          <a:effectRef idx="0"/>
          <a:fontRef idx="minor"/>
        </p:style>
        <p:txBody>
          <a:bodyPr lIns="90000" tIns="-44640" rIns="90000" bIns="-44640" anchor="t" anchorCtr="1">
            <a:noAutofit/>
          </a:bodyPr>
          <a:p>
            <a:pPr/>
            <a:endParaRPr lang="fr-FR" sz="1800" b="0" u="none" strike="noStrike">
              <a:solidFill>
                <a:srgbClr val="000000"/>
              </a:solidFill>
              <a:effectLst/>
              <a:uFillTx/>
              <a:latin typeface="Arial"/>
            </a:endParaRPr>
          </a:p>
        </p:txBody>
      </p:sp>
      <p:sp>
        <p:nvSpPr>
          <p:cNvPr id="626" name="Text 8"/>
          <p:cNvSpPr/>
          <p:nvPr/>
        </p:nvSpPr>
        <p:spPr>
          <a:xfrm>
            <a:off x="594360" y="1554480"/>
            <a:ext cx="1462680" cy="255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accent6"/>
                </a:solidFill>
                <a:effectLst/>
                <a:uFillTx/>
                <a:latin typeface="Calibri"/>
              </a:rPr>
              <a:t>2 min</a:t>
            </a:r>
            <a:endParaRPr lang="fr-FR" sz="1300" b="0" u="none" strike="noStrike">
              <a:solidFill>
                <a:srgbClr val="000000"/>
              </a:solidFill>
              <a:effectLst/>
              <a:uFillTx/>
              <a:latin typeface="Arial"/>
            </a:endParaRPr>
          </a:p>
        </p:txBody>
      </p:sp>
      <p:sp>
        <p:nvSpPr>
          <p:cNvPr id="627" name="Shape 9"/>
          <p:cNvSpPr/>
          <p:nvPr/>
        </p:nvSpPr>
        <p:spPr>
          <a:xfrm>
            <a:off x="996840" y="2002680"/>
            <a:ext cx="658080" cy="658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28" name="Image 0" descr="Terminal"/>
          <p:cNvPicPr/>
          <p:nvPr/>
        </p:nvPicPr>
        <p:blipFill>
          <a:blip r:embed="rId1"/>
          <a:stretch/>
        </p:blipFill>
        <p:spPr>
          <a:xfrm>
            <a:off x="1154880" y="2160720"/>
            <a:ext cx="342000" cy="342000"/>
          </a:xfrm>
          <a:prstGeom prst="rect">
            <a:avLst/>
          </a:prstGeom>
          <a:noFill/>
          <a:ln w="0">
            <a:noFill/>
          </a:ln>
        </p:spPr>
      </p:pic>
      <p:sp>
        <p:nvSpPr>
          <p:cNvPr id="629" name="Text 10"/>
          <p:cNvSpPr/>
          <p:nvPr/>
        </p:nvSpPr>
        <p:spPr>
          <a:xfrm>
            <a:off x="1472040" y="1901880"/>
            <a:ext cx="246600" cy="24660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1</a:t>
            </a:r>
            <a:endParaRPr lang="fr-FR" sz="1000" b="0" u="none" strike="noStrike">
              <a:solidFill>
                <a:srgbClr val="FFFFFF"/>
              </a:solidFill>
              <a:effectLst/>
              <a:uFillTx/>
              <a:latin typeface="Arial"/>
            </a:endParaRPr>
          </a:p>
        </p:txBody>
      </p:sp>
      <p:sp>
        <p:nvSpPr>
          <p:cNvPr id="630" name="Text 11"/>
          <p:cNvSpPr/>
          <p:nvPr/>
        </p:nvSpPr>
        <p:spPr>
          <a:xfrm>
            <a:off x="640080" y="2788920"/>
            <a:ext cx="137124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1" u="none" strike="noStrike">
                <a:solidFill>
                  <a:schemeClr val="dk2"/>
                </a:solidFill>
                <a:effectLst/>
                <a:uFillTx/>
                <a:latin typeface="Calibri"/>
              </a:rPr>
              <a:t>Script</a:t>
            </a:r>
            <a:endParaRPr lang="fr-FR" sz="1400" b="0" u="none" strike="noStrike">
              <a:solidFill>
                <a:srgbClr val="000000"/>
              </a:solidFill>
              <a:effectLst/>
              <a:uFillTx/>
              <a:latin typeface="Arial"/>
            </a:endParaRPr>
          </a:p>
        </p:txBody>
      </p:sp>
      <p:sp>
        <p:nvSpPr>
          <p:cNvPr id="631" name="Text 12"/>
          <p:cNvSpPr/>
          <p:nvPr/>
        </p:nvSpPr>
        <p:spPr>
          <a:xfrm>
            <a:off x="567000" y="3291840"/>
            <a:ext cx="1517400" cy="12340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0" u="none" strike="noStrike">
                <a:solidFill>
                  <a:schemeClr val="dk1"/>
                </a:solidFill>
                <a:effectLst/>
                <a:uFillTx/>
                <a:latin typeface="Calibri"/>
              </a:rPr>
              <a:t>Compilation puis téléversement en une commande</a:t>
            </a:r>
            <a:endParaRPr lang="fr-FR" sz="1300" b="0" u="none" strike="noStrike">
              <a:solidFill>
                <a:srgbClr val="000000"/>
              </a:solidFill>
              <a:effectLst/>
              <a:uFillTx/>
              <a:latin typeface="Arial"/>
            </a:endParaRPr>
          </a:p>
        </p:txBody>
      </p:sp>
      <p:sp>
        <p:nvSpPr>
          <p:cNvPr id="632" name="Text 13"/>
          <p:cNvSpPr/>
          <p:nvPr/>
        </p:nvSpPr>
        <p:spPr>
          <a:xfrm>
            <a:off x="2183760" y="1554480"/>
            <a:ext cx="1462680" cy="255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accent6"/>
                </a:solidFill>
                <a:effectLst/>
                <a:uFillTx/>
                <a:latin typeface="Calibri"/>
              </a:rPr>
              <a:t>3 min</a:t>
            </a:r>
            <a:endParaRPr lang="fr-FR" sz="1300" b="0" u="none" strike="noStrike">
              <a:solidFill>
                <a:srgbClr val="000000"/>
              </a:solidFill>
              <a:effectLst/>
              <a:uFillTx/>
              <a:latin typeface="Arial"/>
            </a:endParaRPr>
          </a:p>
        </p:txBody>
      </p:sp>
      <p:sp>
        <p:nvSpPr>
          <p:cNvPr id="633" name="Shape 14"/>
          <p:cNvSpPr/>
          <p:nvPr/>
        </p:nvSpPr>
        <p:spPr>
          <a:xfrm>
            <a:off x="2586240" y="2002680"/>
            <a:ext cx="658080" cy="658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34" name="Image 1" descr="Activity"/>
          <p:cNvPicPr/>
          <p:nvPr/>
        </p:nvPicPr>
        <p:blipFill>
          <a:blip r:embed="rId2"/>
          <a:stretch/>
        </p:blipFill>
        <p:spPr>
          <a:xfrm>
            <a:off x="2744280" y="2160720"/>
            <a:ext cx="342000" cy="342000"/>
          </a:xfrm>
          <a:prstGeom prst="rect">
            <a:avLst/>
          </a:prstGeom>
          <a:noFill/>
          <a:ln w="0">
            <a:noFill/>
          </a:ln>
        </p:spPr>
      </p:pic>
      <p:sp>
        <p:nvSpPr>
          <p:cNvPr id="635" name="Text 15"/>
          <p:cNvSpPr/>
          <p:nvPr/>
        </p:nvSpPr>
        <p:spPr>
          <a:xfrm>
            <a:off x="3061800" y="1901880"/>
            <a:ext cx="246600" cy="24660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2</a:t>
            </a:r>
            <a:endParaRPr lang="fr-FR" sz="1000" b="0" u="none" strike="noStrike">
              <a:solidFill>
                <a:srgbClr val="FFFFFF"/>
              </a:solidFill>
              <a:effectLst/>
              <a:uFillTx/>
              <a:latin typeface="Arial"/>
            </a:endParaRPr>
          </a:p>
        </p:txBody>
      </p:sp>
      <p:sp>
        <p:nvSpPr>
          <p:cNvPr id="636" name="Text 16"/>
          <p:cNvSpPr/>
          <p:nvPr/>
        </p:nvSpPr>
        <p:spPr>
          <a:xfrm>
            <a:off x="2229480" y="2788920"/>
            <a:ext cx="137124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1" u="none" strike="noStrike">
                <a:solidFill>
                  <a:schemeClr val="dk2"/>
                </a:solidFill>
                <a:effectLst/>
                <a:uFillTx/>
                <a:latin typeface="Calibri"/>
              </a:rPr>
              <a:t>Diagnostic</a:t>
            </a:r>
            <a:endParaRPr lang="fr-FR" sz="1400" b="0" u="none" strike="noStrike">
              <a:solidFill>
                <a:srgbClr val="000000"/>
              </a:solidFill>
              <a:effectLst/>
              <a:uFillTx/>
              <a:latin typeface="Arial"/>
            </a:endParaRPr>
          </a:p>
        </p:txBody>
      </p:sp>
      <p:sp>
        <p:nvSpPr>
          <p:cNvPr id="637" name="Text 17"/>
          <p:cNvSpPr/>
          <p:nvPr/>
        </p:nvSpPr>
        <p:spPr>
          <a:xfrm>
            <a:off x="2156400" y="3291840"/>
            <a:ext cx="1517400" cy="12340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0" u="none" strike="noStrike">
                <a:solidFill>
                  <a:schemeClr val="dk1"/>
                </a:solidFill>
                <a:effectLst/>
                <a:uFillTx/>
                <a:latin typeface="Calibri"/>
              </a:rPr>
              <a:t>B1 maintenu au reset : tests et bilan</a:t>
            </a:r>
            <a:endParaRPr lang="fr-FR" sz="1300" b="0" u="none" strike="noStrike">
              <a:solidFill>
                <a:srgbClr val="000000"/>
              </a:solidFill>
              <a:effectLst/>
              <a:uFillTx/>
              <a:latin typeface="Arial"/>
            </a:endParaRPr>
          </a:p>
        </p:txBody>
      </p:sp>
      <p:sp>
        <p:nvSpPr>
          <p:cNvPr id="638" name="Text 18"/>
          <p:cNvSpPr/>
          <p:nvPr/>
        </p:nvSpPr>
        <p:spPr>
          <a:xfrm>
            <a:off x="3773520" y="1554480"/>
            <a:ext cx="1462680" cy="255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accent6"/>
                </a:solidFill>
                <a:effectLst/>
                <a:uFillTx/>
                <a:latin typeface="Calibri"/>
              </a:rPr>
              <a:t>3 min</a:t>
            </a:r>
            <a:endParaRPr lang="fr-FR" sz="1300" b="0" u="none" strike="noStrike">
              <a:solidFill>
                <a:srgbClr val="000000"/>
              </a:solidFill>
              <a:effectLst/>
              <a:uFillTx/>
              <a:latin typeface="Arial"/>
            </a:endParaRPr>
          </a:p>
        </p:txBody>
      </p:sp>
      <p:sp>
        <p:nvSpPr>
          <p:cNvPr id="639" name="Shape 19"/>
          <p:cNvSpPr/>
          <p:nvPr/>
        </p:nvSpPr>
        <p:spPr>
          <a:xfrm>
            <a:off x="4175640" y="2002680"/>
            <a:ext cx="658080" cy="658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40" name="Image 2" descr="Settings"/>
          <p:cNvPicPr/>
          <p:nvPr/>
        </p:nvPicPr>
        <p:blipFill>
          <a:blip r:embed="rId3"/>
          <a:stretch/>
        </p:blipFill>
        <p:spPr>
          <a:xfrm>
            <a:off x="4333680" y="2160720"/>
            <a:ext cx="342000" cy="342000"/>
          </a:xfrm>
          <a:prstGeom prst="rect">
            <a:avLst/>
          </a:prstGeom>
          <a:noFill/>
          <a:ln w="0">
            <a:noFill/>
          </a:ln>
        </p:spPr>
      </p:pic>
      <p:sp>
        <p:nvSpPr>
          <p:cNvPr id="641" name="Text 20"/>
          <p:cNvSpPr/>
          <p:nvPr/>
        </p:nvSpPr>
        <p:spPr>
          <a:xfrm>
            <a:off x="4651200" y="1901880"/>
            <a:ext cx="246600" cy="24660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3</a:t>
            </a:r>
            <a:endParaRPr lang="fr-FR" sz="1000" b="0" u="none" strike="noStrike">
              <a:solidFill>
                <a:srgbClr val="FFFFFF"/>
              </a:solidFill>
              <a:effectLst/>
              <a:uFillTx/>
              <a:latin typeface="Arial"/>
            </a:endParaRPr>
          </a:p>
        </p:txBody>
      </p:sp>
      <p:sp>
        <p:nvSpPr>
          <p:cNvPr id="642" name="Text 21"/>
          <p:cNvSpPr/>
          <p:nvPr/>
        </p:nvSpPr>
        <p:spPr>
          <a:xfrm>
            <a:off x="3819240" y="2788920"/>
            <a:ext cx="137124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1" u="none" strike="noStrike">
                <a:solidFill>
                  <a:schemeClr val="dk2"/>
                </a:solidFill>
                <a:effectLst/>
                <a:uFillTx/>
                <a:latin typeface="Calibri"/>
              </a:rPr>
              <a:t>Configuration</a:t>
            </a:r>
            <a:endParaRPr lang="fr-FR" sz="1400" b="0" u="none" strike="noStrike">
              <a:solidFill>
                <a:srgbClr val="000000"/>
              </a:solidFill>
              <a:effectLst/>
              <a:uFillTx/>
              <a:latin typeface="Arial"/>
            </a:endParaRPr>
          </a:p>
        </p:txBody>
      </p:sp>
      <p:sp>
        <p:nvSpPr>
          <p:cNvPr id="643" name="Text 22"/>
          <p:cNvSpPr/>
          <p:nvPr/>
        </p:nvSpPr>
        <p:spPr>
          <a:xfrm>
            <a:off x="3746160" y="3291840"/>
            <a:ext cx="1517400" cy="12340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0" u="none" strike="noStrike">
                <a:solidFill>
                  <a:schemeClr val="dk1"/>
                </a:solidFill>
                <a:effectLst/>
                <a:uFillTx/>
                <a:latin typeface="Calibri"/>
              </a:rPr>
              <a:t>Démarrage rouge maintenu : VERSION, LOG_INTERVAL=20S, CLOCK, DATE</a:t>
            </a:r>
            <a:endParaRPr lang="fr-FR" sz="1300" b="0" u="none" strike="noStrike">
              <a:solidFill>
                <a:srgbClr val="000000"/>
              </a:solidFill>
              <a:effectLst/>
              <a:uFillTx/>
              <a:latin typeface="Arial"/>
            </a:endParaRPr>
          </a:p>
        </p:txBody>
      </p:sp>
      <p:sp>
        <p:nvSpPr>
          <p:cNvPr id="644" name="Text 23"/>
          <p:cNvSpPr/>
          <p:nvPr/>
        </p:nvSpPr>
        <p:spPr>
          <a:xfrm>
            <a:off x="5362920" y="1554480"/>
            <a:ext cx="1462680" cy="255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accent6"/>
                </a:solidFill>
                <a:effectLst/>
                <a:uFillTx/>
                <a:latin typeface="Calibri"/>
              </a:rPr>
              <a:t>3 min</a:t>
            </a:r>
            <a:endParaRPr lang="fr-FR" sz="1300" b="0" u="none" strike="noStrike">
              <a:solidFill>
                <a:srgbClr val="000000"/>
              </a:solidFill>
              <a:effectLst/>
              <a:uFillTx/>
              <a:latin typeface="Arial"/>
            </a:endParaRPr>
          </a:p>
        </p:txBody>
      </p:sp>
      <p:sp>
        <p:nvSpPr>
          <p:cNvPr id="645" name="Shape 24"/>
          <p:cNvSpPr/>
          <p:nvPr/>
        </p:nvSpPr>
        <p:spPr>
          <a:xfrm>
            <a:off x="5765400" y="2002680"/>
            <a:ext cx="658080" cy="658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46" name="Image 3" descr="Play"/>
          <p:cNvPicPr/>
          <p:nvPr/>
        </p:nvPicPr>
        <p:blipFill>
          <a:blip r:embed="rId4"/>
          <a:stretch/>
        </p:blipFill>
        <p:spPr>
          <a:xfrm>
            <a:off x="5923440" y="2160720"/>
            <a:ext cx="342000" cy="342000"/>
          </a:xfrm>
          <a:prstGeom prst="rect">
            <a:avLst/>
          </a:prstGeom>
          <a:noFill/>
          <a:ln w="0">
            <a:noFill/>
          </a:ln>
        </p:spPr>
      </p:pic>
      <p:sp>
        <p:nvSpPr>
          <p:cNvPr id="647" name="Text 25"/>
          <p:cNvSpPr/>
          <p:nvPr/>
        </p:nvSpPr>
        <p:spPr>
          <a:xfrm>
            <a:off x="6240960" y="1901880"/>
            <a:ext cx="246600" cy="24660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4</a:t>
            </a:r>
            <a:endParaRPr lang="fr-FR" sz="1000" b="0" u="none" strike="noStrike">
              <a:solidFill>
                <a:srgbClr val="FFFFFF"/>
              </a:solidFill>
              <a:effectLst/>
              <a:uFillTx/>
              <a:latin typeface="Arial"/>
            </a:endParaRPr>
          </a:p>
        </p:txBody>
      </p:sp>
      <p:sp>
        <p:nvSpPr>
          <p:cNvPr id="648" name="Text 26"/>
          <p:cNvSpPr/>
          <p:nvPr/>
        </p:nvSpPr>
        <p:spPr>
          <a:xfrm>
            <a:off x="5408640" y="2788920"/>
            <a:ext cx="137124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1" u="none" strike="noStrike">
                <a:solidFill>
                  <a:schemeClr val="dk2"/>
                </a:solidFill>
                <a:effectLst/>
                <a:uFillTx/>
                <a:latin typeface="Calibri"/>
              </a:rPr>
              <a:t>Standard</a:t>
            </a:r>
            <a:endParaRPr lang="fr-FR" sz="1400" b="0" u="none" strike="noStrike">
              <a:solidFill>
                <a:srgbClr val="000000"/>
              </a:solidFill>
              <a:effectLst/>
              <a:uFillTx/>
              <a:latin typeface="Arial"/>
            </a:endParaRPr>
          </a:p>
        </p:txBody>
      </p:sp>
      <p:sp>
        <p:nvSpPr>
          <p:cNvPr id="649" name="Text 27"/>
          <p:cNvSpPr/>
          <p:nvPr/>
        </p:nvSpPr>
        <p:spPr>
          <a:xfrm>
            <a:off x="5335560" y="3291840"/>
            <a:ext cx="1517400" cy="12340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0" u="none" strike="noStrike">
                <a:solidFill>
                  <a:schemeClr val="dk1"/>
                </a:solidFill>
                <a:effectLst/>
                <a:uFillTx/>
                <a:latin typeface="Calibri"/>
              </a:rPr>
              <a:t>LED verte, mesures sur la console, ligne écrite sur la carte SD</a:t>
            </a:r>
            <a:endParaRPr lang="fr-FR" sz="1300" b="0" u="none" strike="noStrike">
              <a:solidFill>
                <a:srgbClr val="000000"/>
              </a:solidFill>
              <a:effectLst/>
              <a:uFillTx/>
              <a:latin typeface="Arial"/>
            </a:endParaRPr>
          </a:p>
        </p:txBody>
      </p:sp>
      <p:sp>
        <p:nvSpPr>
          <p:cNvPr id="650" name="Text 28"/>
          <p:cNvSpPr/>
          <p:nvPr/>
        </p:nvSpPr>
        <p:spPr>
          <a:xfrm>
            <a:off x="6952320" y="1554480"/>
            <a:ext cx="1462680" cy="255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accent6"/>
                </a:solidFill>
                <a:effectLst/>
                <a:uFillTx/>
                <a:latin typeface="Calibri"/>
              </a:rPr>
              <a:t>4 min</a:t>
            </a:r>
            <a:endParaRPr lang="fr-FR" sz="1300" b="0" u="none" strike="noStrike">
              <a:solidFill>
                <a:srgbClr val="000000"/>
              </a:solidFill>
              <a:effectLst/>
              <a:uFillTx/>
              <a:latin typeface="Arial"/>
            </a:endParaRPr>
          </a:p>
        </p:txBody>
      </p:sp>
      <p:sp>
        <p:nvSpPr>
          <p:cNvPr id="651" name="Shape 29"/>
          <p:cNvSpPr/>
          <p:nvPr/>
        </p:nvSpPr>
        <p:spPr>
          <a:xfrm>
            <a:off x="7354800" y="2002680"/>
            <a:ext cx="658080" cy="658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52" name="Image 4" descr="Wrench"/>
          <p:cNvPicPr/>
          <p:nvPr/>
        </p:nvPicPr>
        <p:blipFill>
          <a:blip r:embed="rId5"/>
          <a:stretch/>
        </p:blipFill>
        <p:spPr>
          <a:xfrm>
            <a:off x="7512840" y="2160720"/>
            <a:ext cx="342000" cy="342000"/>
          </a:xfrm>
          <a:prstGeom prst="rect">
            <a:avLst/>
          </a:prstGeom>
          <a:noFill/>
          <a:ln w="0">
            <a:noFill/>
          </a:ln>
        </p:spPr>
      </p:pic>
      <p:sp>
        <p:nvSpPr>
          <p:cNvPr id="653" name="Text 30"/>
          <p:cNvSpPr/>
          <p:nvPr/>
        </p:nvSpPr>
        <p:spPr>
          <a:xfrm>
            <a:off x="7830360" y="1901880"/>
            <a:ext cx="246600" cy="24660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5</a:t>
            </a:r>
            <a:endParaRPr lang="fr-FR" sz="1000" b="0" u="none" strike="noStrike">
              <a:solidFill>
                <a:srgbClr val="FFFFFF"/>
              </a:solidFill>
              <a:effectLst/>
              <a:uFillTx/>
              <a:latin typeface="Arial"/>
            </a:endParaRPr>
          </a:p>
        </p:txBody>
      </p:sp>
      <p:sp>
        <p:nvSpPr>
          <p:cNvPr id="654" name="Text 31"/>
          <p:cNvSpPr/>
          <p:nvPr/>
        </p:nvSpPr>
        <p:spPr>
          <a:xfrm>
            <a:off x="6998040" y="2788920"/>
            <a:ext cx="137124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1" u="none" strike="noStrike">
                <a:solidFill>
                  <a:schemeClr val="dk2"/>
                </a:solidFill>
                <a:effectLst/>
                <a:uFillTx/>
                <a:latin typeface="Calibri"/>
              </a:rPr>
              <a:t>Éco et maintenance</a:t>
            </a:r>
            <a:endParaRPr lang="fr-FR" sz="1400" b="0" u="none" strike="noStrike">
              <a:solidFill>
                <a:srgbClr val="000000"/>
              </a:solidFill>
              <a:effectLst/>
              <a:uFillTx/>
              <a:latin typeface="Arial"/>
            </a:endParaRPr>
          </a:p>
        </p:txBody>
      </p:sp>
      <p:sp>
        <p:nvSpPr>
          <p:cNvPr id="655" name="Text 32"/>
          <p:cNvSpPr/>
          <p:nvPr/>
        </p:nvSpPr>
        <p:spPr>
          <a:xfrm>
            <a:off x="6924960" y="3291840"/>
            <a:ext cx="1517400" cy="12340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0" u="none" strike="noStrike">
                <a:solidFill>
                  <a:schemeClr val="dk1"/>
                </a:solidFill>
                <a:effectLst/>
                <a:uFillTx/>
                <a:latin typeface="Calibri"/>
              </a:rPr>
              <a:t>LED bleue puis orange ; retrait de la carte SD en sécurité</a:t>
            </a:r>
            <a:endParaRPr lang="fr-FR" sz="1300" b="0" u="none" strike="noStrike">
              <a:solidFill>
                <a:srgbClr val="000000"/>
              </a:solidFill>
              <a:effectLst/>
              <a:uFillTx/>
              <a:latin typeface="Arial"/>
            </a:endParaRPr>
          </a:p>
        </p:txBody>
      </p:sp>
      <p:sp>
        <p:nvSpPr>
          <p:cNvPr id="656" name="Text 33"/>
          <p:cNvSpPr/>
          <p:nvPr/>
        </p:nvSpPr>
        <p:spPr>
          <a:xfrm>
            <a:off x="8542080" y="1554480"/>
            <a:ext cx="1462680" cy="255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accent6"/>
                </a:solidFill>
                <a:effectLst/>
                <a:uFillTx/>
                <a:latin typeface="Calibri"/>
              </a:rPr>
              <a:t>3 min</a:t>
            </a:r>
            <a:endParaRPr lang="fr-FR" sz="1300" b="0" u="none" strike="noStrike">
              <a:solidFill>
                <a:srgbClr val="000000"/>
              </a:solidFill>
              <a:effectLst/>
              <a:uFillTx/>
              <a:latin typeface="Arial"/>
            </a:endParaRPr>
          </a:p>
        </p:txBody>
      </p:sp>
      <p:sp>
        <p:nvSpPr>
          <p:cNvPr id="657" name="Shape 34"/>
          <p:cNvSpPr/>
          <p:nvPr/>
        </p:nvSpPr>
        <p:spPr>
          <a:xfrm>
            <a:off x="8944200" y="2002680"/>
            <a:ext cx="658080" cy="658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58" name="Image 5" descr="AlertTriangle"/>
          <p:cNvPicPr/>
          <p:nvPr/>
        </p:nvPicPr>
        <p:blipFill>
          <a:blip r:embed="rId6"/>
          <a:stretch/>
        </p:blipFill>
        <p:spPr>
          <a:xfrm>
            <a:off x="9102240" y="2160720"/>
            <a:ext cx="342000" cy="342000"/>
          </a:xfrm>
          <a:prstGeom prst="rect">
            <a:avLst/>
          </a:prstGeom>
          <a:noFill/>
          <a:ln w="0">
            <a:noFill/>
          </a:ln>
        </p:spPr>
      </p:pic>
      <p:sp>
        <p:nvSpPr>
          <p:cNvPr id="659" name="Text 35"/>
          <p:cNvSpPr/>
          <p:nvPr/>
        </p:nvSpPr>
        <p:spPr>
          <a:xfrm>
            <a:off x="9419760" y="1901880"/>
            <a:ext cx="246600" cy="24660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6</a:t>
            </a:r>
            <a:endParaRPr lang="fr-FR" sz="1000" b="0" u="none" strike="noStrike">
              <a:solidFill>
                <a:srgbClr val="FFFFFF"/>
              </a:solidFill>
              <a:effectLst/>
              <a:uFillTx/>
              <a:latin typeface="Arial"/>
            </a:endParaRPr>
          </a:p>
        </p:txBody>
      </p:sp>
      <p:sp>
        <p:nvSpPr>
          <p:cNvPr id="660" name="Text 36"/>
          <p:cNvSpPr/>
          <p:nvPr/>
        </p:nvSpPr>
        <p:spPr>
          <a:xfrm>
            <a:off x="8587800" y="2788920"/>
            <a:ext cx="137124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1" u="none" strike="noStrike">
                <a:solidFill>
                  <a:schemeClr val="dk2"/>
                </a:solidFill>
                <a:effectLst/>
                <a:uFillTx/>
                <a:latin typeface="Calibri"/>
              </a:rPr>
              <a:t>Erreurs provoquées</a:t>
            </a:r>
            <a:endParaRPr lang="fr-FR" sz="1400" b="0" u="none" strike="noStrike">
              <a:solidFill>
                <a:srgbClr val="000000"/>
              </a:solidFill>
              <a:effectLst/>
              <a:uFillTx/>
              <a:latin typeface="Arial"/>
            </a:endParaRPr>
          </a:p>
        </p:txBody>
      </p:sp>
      <p:sp>
        <p:nvSpPr>
          <p:cNvPr id="661" name="Text 37"/>
          <p:cNvSpPr/>
          <p:nvPr/>
        </p:nvSpPr>
        <p:spPr>
          <a:xfrm>
            <a:off x="8514720" y="3291840"/>
            <a:ext cx="1517400" cy="12340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0" u="none" strike="noStrike">
                <a:solidFill>
                  <a:schemeClr val="dk1"/>
                </a:solidFill>
                <a:effectLst/>
                <a:uFillTx/>
                <a:latin typeface="Calibri"/>
              </a:rPr>
              <a:t>Capteur débranché, carte SD retirée : signal LED puis reprise</a:t>
            </a:r>
            <a:endParaRPr lang="fr-FR" sz="1300" b="0" u="none" strike="noStrike">
              <a:solidFill>
                <a:srgbClr val="000000"/>
              </a:solidFill>
              <a:effectLst/>
              <a:uFillTx/>
              <a:latin typeface="Arial"/>
            </a:endParaRPr>
          </a:p>
        </p:txBody>
      </p:sp>
      <p:sp>
        <p:nvSpPr>
          <p:cNvPr id="662" name="Text 38"/>
          <p:cNvSpPr/>
          <p:nvPr/>
        </p:nvSpPr>
        <p:spPr>
          <a:xfrm>
            <a:off x="10131480" y="1554480"/>
            <a:ext cx="1462680" cy="255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accent6"/>
                </a:solidFill>
                <a:effectLst/>
                <a:uFillTx/>
                <a:latin typeface="Calibri"/>
              </a:rPr>
              <a:t>2 min</a:t>
            </a:r>
            <a:endParaRPr lang="fr-FR" sz="1300" b="0" u="none" strike="noStrike">
              <a:solidFill>
                <a:srgbClr val="000000"/>
              </a:solidFill>
              <a:effectLst/>
              <a:uFillTx/>
              <a:latin typeface="Arial"/>
            </a:endParaRPr>
          </a:p>
        </p:txBody>
      </p:sp>
      <p:sp>
        <p:nvSpPr>
          <p:cNvPr id="663" name="Shape 39"/>
          <p:cNvSpPr/>
          <p:nvPr/>
        </p:nvSpPr>
        <p:spPr>
          <a:xfrm>
            <a:off x="10533960" y="2002680"/>
            <a:ext cx="658080" cy="658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64" name="Image 6" descr="FileText"/>
          <p:cNvPicPr/>
          <p:nvPr/>
        </p:nvPicPr>
        <p:blipFill>
          <a:blip r:embed="rId7"/>
          <a:stretch/>
        </p:blipFill>
        <p:spPr>
          <a:xfrm>
            <a:off x="10692000" y="2160720"/>
            <a:ext cx="342000" cy="342000"/>
          </a:xfrm>
          <a:prstGeom prst="rect">
            <a:avLst/>
          </a:prstGeom>
          <a:noFill/>
          <a:ln w="0">
            <a:noFill/>
          </a:ln>
        </p:spPr>
      </p:pic>
      <p:sp>
        <p:nvSpPr>
          <p:cNvPr id="665" name="Text 40"/>
          <p:cNvSpPr/>
          <p:nvPr/>
        </p:nvSpPr>
        <p:spPr>
          <a:xfrm>
            <a:off x="11009520" y="1901880"/>
            <a:ext cx="246600" cy="24660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Calibri"/>
              </a:rPr>
              <a:t>7</a:t>
            </a:r>
            <a:endParaRPr lang="fr-FR" sz="1000" b="0" u="none" strike="noStrike">
              <a:solidFill>
                <a:srgbClr val="FFFFFF"/>
              </a:solidFill>
              <a:effectLst/>
              <a:uFillTx/>
              <a:latin typeface="Arial"/>
            </a:endParaRPr>
          </a:p>
        </p:txBody>
      </p:sp>
      <p:sp>
        <p:nvSpPr>
          <p:cNvPr id="666" name="Text 41"/>
          <p:cNvSpPr/>
          <p:nvPr/>
        </p:nvSpPr>
        <p:spPr>
          <a:xfrm>
            <a:off x="10177200" y="2788920"/>
            <a:ext cx="137124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1" u="none" strike="noStrike">
                <a:solidFill>
                  <a:schemeClr val="dk2"/>
                </a:solidFill>
                <a:effectLst/>
                <a:uFillTx/>
                <a:latin typeface="Calibri"/>
              </a:rPr>
              <a:t>Fichier .LOG</a:t>
            </a:r>
            <a:endParaRPr lang="fr-FR" sz="1400" b="0" u="none" strike="noStrike">
              <a:solidFill>
                <a:srgbClr val="000000"/>
              </a:solidFill>
              <a:effectLst/>
              <a:uFillTx/>
              <a:latin typeface="Arial"/>
            </a:endParaRPr>
          </a:p>
        </p:txBody>
      </p:sp>
      <p:sp>
        <p:nvSpPr>
          <p:cNvPr id="667" name="Text 42"/>
          <p:cNvSpPr/>
          <p:nvPr/>
        </p:nvSpPr>
        <p:spPr>
          <a:xfrm>
            <a:off x="10104120" y="3291840"/>
            <a:ext cx="1517400" cy="12340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0" u="none" strike="noStrike">
                <a:solidFill>
                  <a:schemeClr val="dk1"/>
                </a:solidFill>
                <a:effectLst/>
                <a:uFillTx/>
                <a:latin typeface="Calibri"/>
              </a:rPr>
              <a:t>Ouverture du fichier enregistré sur PC</a:t>
            </a:r>
            <a:endParaRPr lang="fr-FR" sz="1300" b="0" u="none" strike="noStrike">
              <a:solidFill>
                <a:srgbClr val="000000"/>
              </a:solidFill>
              <a:effectLst/>
              <a:uFillTx/>
              <a:latin typeface="Arial"/>
            </a:endParaRPr>
          </a:p>
        </p:txBody>
      </p:sp>
      <p:sp>
        <p:nvSpPr>
          <p:cNvPr id="668" name="Shape 43"/>
          <p:cNvSpPr/>
          <p:nvPr/>
        </p:nvSpPr>
        <p:spPr>
          <a:xfrm>
            <a:off x="548640" y="4617720"/>
            <a:ext cx="11091240" cy="1581480"/>
          </a:xfrm>
          <a:prstGeom prst="roundRect">
            <a:avLst>
              <a:gd name="adj" fmla="val 3468"/>
            </a:avLst>
          </a:prstGeom>
          <a:solidFill>
            <a:schemeClr val="tx2"/>
          </a:solidFill>
          <a:ln w="0">
            <a:noFill/>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669" name="Text 44"/>
          <p:cNvSpPr/>
          <p:nvPr/>
        </p:nvSpPr>
        <p:spPr>
          <a:xfrm>
            <a:off x="822960" y="4754880"/>
            <a:ext cx="7314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accent5"/>
                </a:solidFill>
                <a:effectLst/>
                <a:uFillTx/>
                <a:latin typeface="Calibri"/>
              </a:rPr>
              <a:t>Ce que la démonstration va montrer</a:t>
            </a:r>
            <a:endParaRPr lang="fr-FR" sz="1500" b="0" u="none" strike="noStrike">
              <a:solidFill>
                <a:srgbClr val="000000"/>
              </a:solidFill>
              <a:effectLst/>
              <a:uFillTx/>
              <a:latin typeface="Arial"/>
            </a:endParaRPr>
          </a:p>
        </p:txBody>
      </p:sp>
      <p:pic>
        <p:nvPicPr>
          <p:cNvPr id="670" name="Image 7" descr="CheckCircle"/>
          <p:cNvPicPr/>
          <p:nvPr/>
        </p:nvPicPr>
        <p:blipFill>
          <a:blip r:embed="rId8"/>
          <a:stretch/>
        </p:blipFill>
        <p:spPr>
          <a:xfrm>
            <a:off x="822960" y="5285160"/>
            <a:ext cx="328680" cy="328680"/>
          </a:xfrm>
          <a:prstGeom prst="rect">
            <a:avLst/>
          </a:prstGeom>
          <a:noFill/>
          <a:ln w="0">
            <a:noFill/>
          </a:ln>
        </p:spPr>
      </p:pic>
      <p:sp>
        <p:nvSpPr>
          <p:cNvPr id="671" name="Text 45"/>
          <p:cNvSpPr/>
          <p:nvPr/>
        </p:nvSpPr>
        <p:spPr>
          <a:xfrm>
            <a:off x="1261800" y="5193720"/>
            <a:ext cx="219420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Chaque mode et transition</a:t>
            </a:r>
            <a:endParaRPr lang="fr-FR" sz="1400" b="0" u="none" strike="noStrike">
              <a:solidFill>
                <a:srgbClr val="000000"/>
              </a:solidFill>
              <a:effectLst/>
              <a:uFillTx/>
              <a:latin typeface="Arial"/>
            </a:endParaRPr>
          </a:p>
        </p:txBody>
      </p:sp>
      <p:pic>
        <p:nvPicPr>
          <p:cNvPr id="672" name="Image 8" descr="CheckCircle"/>
          <p:cNvPicPr/>
          <p:nvPr/>
        </p:nvPicPr>
        <p:blipFill>
          <a:blip r:embed="rId9"/>
          <a:stretch/>
        </p:blipFill>
        <p:spPr>
          <a:xfrm>
            <a:off x="3520440" y="5285160"/>
            <a:ext cx="328680" cy="328680"/>
          </a:xfrm>
          <a:prstGeom prst="rect">
            <a:avLst/>
          </a:prstGeom>
          <a:noFill/>
          <a:ln w="0">
            <a:noFill/>
          </a:ln>
        </p:spPr>
      </p:pic>
      <p:sp>
        <p:nvSpPr>
          <p:cNvPr id="673" name="Text 46"/>
          <p:cNvSpPr/>
          <p:nvPr/>
        </p:nvSpPr>
        <p:spPr>
          <a:xfrm>
            <a:off x="3959280" y="5193720"/>
            <a:ext cx="219420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La signalisation des erreurs</a:t>
            </a:r>
            <a:endParaRPr lang="fr-FR" sz="1400" b="0" u="none" strike="noStrike">
              <a:solidFill>
                <a:srgbClr val="000000"/>
              </a:solidFill>
              <a:effectLst/>
              <a:uFillTx/>
              <a:latin typeface="Arial"/>
            </a:endParaRPr>
          </a:p>
        </p:txBody>
      </p:sp>
      <p:pic>
        <p:nvPicPr>
          <p:cNvPr id="674" name="Image 9" descr="CheckCircle"/>
          <p:cNvPicPr/>
          <p:nvPr/>
        </p:nvPicPr>
        <p:blipFill>
          <a:blip r:embed="rId10"/>
          <a:stretch/>
        </p:blipFill>
        <p:spPr>
          <a:xfrm>
            <a:off x="6217920" y="5285160"/>
            <a:ext cx="328680" cy="328680"/>
          </a:xfrm>
          <a:prstGeom prst="rect">
            <a:avLst/>
          </a:prstGeom>
          <a:noFill/>
          <a:ln w="0">
            <a:noFill/>
          </a:ln>
        </p:spPr>
      </p:pic>
      <p:sp>
        <p:nvSpPr>
          <p:cNvPr id="675" name="Text 47"/>
          <p:cNvSpPr/>
          <p:nvPr/>
        </p:nvSpPr>
        <p:spPr>
          <a:xfrm>
            <a:off x="6656760" y="5193720"/>
            <a:ext cx="219420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La reprise automatique</a:t>
            </a:r>
            <a:endParaRPr lang="fr-FR" sz="1400" b="0" u="none" strike="noStrike">
              <a:solidFill>
                <a:srgbClr val="000000"/>
              </a:solidFill>
              <a:effectLst/>
              <a:uFillTx/>
              <a:latin typeface="Arial"/>
            </a:endParaRPr>
          </a:p>
        </p:txBody>
      </p:sp>
      <p:pic>
        <p:nvPicPr>
          <p:cNvPr id="676" name="Image 10" descr="CheckCircle"/>
          <p:cNvPicPr/>
          <p:nvPr/>
        </p:nvPicPr>
        <p:blipFill>
          <a:blip r:embed="rId11"/>
          <a:stretch/>
        </p:blipFill>
        <p:spPr>
          <a:xfrm>
            <a:off x="8915400" y="5285160"/>
            <a:ext cx="328680" cy="328680"/>
          </a:xfrm>
          <a:prstGeom prst="rect">
            <a:avLst/>
          </a:prstGeom>
          <a:noFill/>
          <a:ln w="0">
            <a:noFill/>
          </a:ln>
        </p:spPr>
      </p:pic>
      <p:sp>
        <p:nvSpPr>
          <p:cNvPr id="677" name="Text 48"/>
          <p:cNvSpPr/>
          <p:nvPr/>
        </p:nvSpPr>
        <p:spPr>
          <a:xfrm>
            <a:off x="9354240" y="5193720"/>
            <a:ext cx="219420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L'enregistrement sur SD</a:t>
            </a:r>
            <a:endParaRPr lang="fr-FR" sz="1400" b="0" u="none" strike="noStrike">
              <a:solidFill>
                <a:srgbClr val="000000"/>
              </a:solidFill>
              <a:effectLst/>
              <a:uFillTx/>
              <a:latin typeface="Arial"/>
            </a:endParaRPr>
          </a:p>
        </p:txBody>
      </p:sp>
      <p:sp>
        <p:nvSpPr>
          <p:cNvPr id="678" name="PlaceHolder 3"/>
          <p:cNvSpPr>
            <a:spLocks noGrp="1"/>
          </p:cNvSpPr>
          <p:nvPr>
            <p:ph type="sldNum" idx="18"/>
          </p:nvPr>
        </p:nvSpPr>
        <p:spPr>
          <a:xfrm>
            <a:off x="11091600" y="6437520"/>
            <a:ext cx="548280" cy="219240"/>
          </a:xfrm>
          <a:prstGeom prst="rect">
            <a:avLst/>
          </a:prstGeom>
          <a:noFill/>
          <a:ln w="0">
            <a:noFill/>
          </a:ln>
        </p:spPr>
        <p:txBody>
          <a:bodyPr lIns="0" tIns="0" rIns="0" bIns="0" anchor="ctr">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E3120D54-4E07-4EB5-BF43-72353BB8B34A}"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5"/>
                </a:solidFill>
                <a:effectLst/>
                <a:uFillTx/>
                <a:latin typeface="Calibri"/>
              </a:rPr>
              <a:t>CONCLUSION</a:t>
            </a:r>
            <a:endParaRPr lang="fr-FR" sz="1100" b="0" u="none" strike="noStrike">
              <a:solidFill>
                <a:schemeClr val="dk1"/>
              </a:solidFill>
              <a:effectLst/>
              <a:uFillTx/>
              <a:latin typeface="Calibri"/>
            </a:endParaRPr>
          </a:p>
        </p:txBody>
      </p:sp>
      <p:sp>
        <p:nvSpPr>
          <p:cNvPr id="680"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lt1"/>
                </a:solidFill>
                <a:effectLst/>
                <a:uFillTx/>
                <a:latin typeface="Calibri"/>
              </a:rPr>
              <a:t>Conclusion</a:t>
            </a:r>
            <a:endParaRPr lang="fr-FR" sz="2800" b="0" u="none" strike="noStrike">
              <a:solidFill>
                <a:schemeClr val="dk1"/>
              </a:solidFill>
              <a:effectLst/>
              <a:uFillTx/>
              <a:latin typeface="Calibri"/>
            </a:endParaRPr>
          </a:p>
        </p:txBody>
      </p:sp>
      <p:sp>
        <p:nvSpPr>
          <p:cNvPr id="681" name="Shape 2"/>
          <p:cNvSpPr/>
          <p:nvPr/>
        </p:nvSpPr>
        <p:spPr>
          <a:xfrm>
            <a:off x="548640" y="1536120"/>
            <a:ext cx="2633040" cy="2852640"/>
          </a:xfrm>
          <a:prstGeom prst="roundRect">
            <a:avLst>
              <a:gd name="adj" fmla="val 2083"/>
            </a:avLst>
          </a:prstGeom>
          <a:solidFill>
            <a:schemeClr val="accent3"/>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682" name="Shape 3"/>
          <p:cNvSpPr/>
          <p:nvPr/>
        </p:nvSpPr>
        <p:spPr>
          <a:xfrm>
            <a:off x="777240" y="1737360"/>
            <a:ext cx="511560" cy="511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83" name="Image 0" descr="Target"/>
          <p:cNvPicPr/>
          <p:nvPr/>
        </p:nvPicPr>
        <p:blipFill>
          <a:blip r:embed="rId1"/>
          <a:stretch/>
        </p:blipFill>
        <p:spPr>
          <a:xfrm>
            <a:off x="900000" y="1860120"/>
            <a:ext cx="266040" cy="266040"/>
          </a:xfrm>
          <a:prstGeom prst="rect">
            <a:avLst/>
          </a:prstGeom>
          <a:noFill/>
          <a:ln w="0">
            <a:noFill/>
          </a:ln>
        </p:spPr>
      </p:pic>
      <p:sp>
        <p:nvSpPr>
          <p:cNvPr id="684" name="Text 4"/>
          <p:cNvSpPr/>
          <p:nvPr/>
        </p:nvSpPr>
        <p:spPr>
          <a:xfrm>
            <a:off x="1417320" y="1737360"/>
            <a:ext cx="169128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chemeClr val="accent5"/>
                </a:solidFill>
                <a:effectLst/>
                <a:uFillTx/>
                <a:latin typeface="Calibri"/>
              </a:rPr>
              <a:t>Objectif</a:t>
            </a:r>
            <a:endParaRPr lang="fr-FR" sz="1700" b="0" u="none" strike="noStrike">
              <a:solidFill>
                <a:srgbClr val="FFFFFF"/>
              </a:solidFill>
              <a:effectLst/>
              <a:uFillTx/>
              <a:latin typeface="Arial"/>
            </a:endParaRPr>
          </a:p>
        </p:txBody>
      </p:sp>
      <p:sp>
        <p:nvSpPr>
          <p:cNvPr id="685" name="Text 5"/>
          <p:cNvSpPr/>
          <p:nvPr/>
        </p:nvSpPr>
        <p:spPr>
          <a:xfrm>
            <a:off x="777240" y="2468880"/>
            <a:ext cx="2267280" cy="1828440"/>
          </a:xfrm>
          <a:prstGeom prst="rect">
            <a:avLst/>
          </a:prstGeom>
          <a:noFill/>
          <a:ln w="0">
            <a:noFill/>
          </a:ln>
        </p:spPr>
        <p:style>
          <a:lnRef idx="0"/>
          <a:fillRef idx="0"/>
          <a:effectRef idx="0"/>
          <a:fontRef idx="minor"/>
        </p:style>
        <p:txBody>
          <a:bodyPr lIns="0" tIns="0" rIns="0" bIns="0" anchor="t">
            <a:noAutofit/>
          </a:bodyPr>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Mesurer la météo à bord d'un navire</a:t>
            </a:r>
            <a:endParaRPr lang="fr-FR" sz="1400" b="0" u="none" strike="noStrike">
              <a:solidFill>
                <a:srgbClr val="FFFFFF"/>
              </a:solidFill>
              <a:effectLst/>
              <a:uFillTx/>
              <a:latin typeface="Arial"/>
            </a:endParaRPr>
          </a:p>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Rester simple, pilotable par l'équipage</a:t>
            </a:r>
            <a:endParaRPr lang="fr-FR" sz="1400" b="0" u="none" strike="noStrike">
              <a:solidFill>
                <a:srgbClr val="FFFFFF"/>
              </a:solidFill>
              <a:effectLst/>
              <a:uFillTx/>
              <a:latin typeface="Arial"/>
            </a:endParaRPr>
          </a:p>
        </p:txBody>
      </p:sp>
      <p:sp>
        <p:nvSpPr>
          <p:cNvPr id="686" name="Shape 6"/>
          <p:cNvSpPr/>
          <p:nvPr/>
        </p:nvSpPr>
        <p:spPr>
          <a:xfrm>
            <a:off x="3364920" y="1536120"/>
            <a:ext cx="2633040" cy="2852640"/>
          </a:xfrm>
          <a:prstGeom prst="roundRect">
            <a:avLst>
              <a:gd name="adj" fmla="val 2083"/>
            </a:avLst>
          </a:prstGeom>
          <a:solidFill>
            <a:schemeClr val="accent3"/>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687" name="Shape 7"/>
          <p:cNvSpPr/>
          <p:nvPr/>
        </p:nvSpPr>
        <p:spPr>
          <a:xfrm>
            <a:off x="3593520" y="1737360"/>
            <a:ext cx="511560" cy="511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88" name="Image 1" descr="Cpu"/>
          <p:cNvPicPr/>
          <p:nvPr/>
        </p:nvPicPr>
        <p:blipFill>
          <a:blip r:embed="rId2"/>
          <a:stretch/>
        </p:blipFill>
        <p:spPr>
          <a:xfrm>
            <a:off x="3716640" y="1860120"/>
            <a:ext cx="266040" cy="266040"/>
          </a:xfrm>
          <a:prstGeom prst="rect">
            <a:avLst/>
          </a:prstGeom>
          <a:noFill/>
          <a:ln w="0">
            <a:noFill/>
          </a:ln>
        </p:spPr>
      </p:pic>
      <p:sp>
        <p:nvSpPr>
          <p:cNvPr id="689" name="Text 8"/>
          <p:cNvSpPr/>
          <p:nvPr/>
        </p:nvSpPr>
        <p:spPr>
          <a:xfrm>
            <a:off x="4233600" y="1737360"/>
            <a:ext cx="169128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chemeClr val="accent5"/>
                </a:solidFill>
                <a:effectLst/>
                <a:uFillTx/>
                <a:latin typeface="Calibri"/>
              </a:rPr>
              <a:t>Solution réalisée</a:t>
            </a:r>
            <a:endParaRPr lang="fr-FR" sz="1700" b="0" u="none" strike="noStrike">
              <a:solidFill>
                <a:srgbClr val="FFFFFF"/>
              </a:solidFill>
              <a:effectLst/>
              <a:uFillTx/>
              <a:latin typeface="Arial"/>
            </a:endParaRPr>
          </a:p>
        </p:txBody>
      </p:sp>
      <p:sp>
        <p:nvSpPr>
          <p:cNvPr id="690" name="Text 9"/>
          <p:cNvSpPr/>
          <p:nvPr/>
        </p:nvSpPr>
        <p:spPr>
          <a:xfrm>
            <a:off x="3593520" y="2468880"/>
            <a:ext cx="2267280" cy="1828440"/>
          </a:xfrm>
          <a:prstGeom prst="rect">
            <a:avLst/>
          </a:prstGeom>
          <a:noFill/>
          <a:ln w="0">
            <a:noFill/>
          </a:ln>
        </p:spPr>
        <p:style>
          <a:lnRef idx="0"/>
          <a:fillRef idx="0"/>
          <a:effectRef idx="0"/>
          <a:fontRef idx="minor"/>
        </p:style>
        <p:txBody>
          <a:bodyPr lIns="0" tIns="0" rIns="0" bIns="0" anchor="t">
            <a:noAutofit/>
          </a:bodyPr>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Programme en C sur NUCLEO-L476RG</a:t>
            </a:r>
            <a:endParaRPr lang="fr-FR" sz="1400" b="0" u="none" strike="noStrike">
              <a:solidFill>
                <a:srgbClr val="FFFFFF"/>
              </a:solidFill>
              <a:effectLst/>
              <a:uFillTx/>
              <a:latin typeface="Arial"/>
            </a:endParaRPr>
          </a:p>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Capteurs, RTC, carte SD, LED et console série</a:t>
            </a:r>
            <a:endParaRPr lang="fr-FR" sz="1400" b="0" u="none" strike="noStrike">
              <a:solidFill>
                <a:srgbClr val="FFFFFF"/>
              </a:solidFill>
              <a:effectLst/>
              <a:uFillTx/>
              <a:latin typeface="Arial"/>
            </a:endParaRPr>
          </a:p>
        </p:txBody>
      </p:sp>
      <p:sp>
        <p:nvSpPr>
          <p:cNvPr id="691" name="Shape 10"/>
          <p:cNvSpPr/>
          <p:nvPr/>
        </p:nvSpPr>
        <p:spPr>
          <a:xfrm>
            <a:off x="6181200" y="1536120"/>
            <a:ext cx="2633040" cy="2852640"/>
          </a:xfrm>
          <a:prstGeom prst="roundRect">
            <a:avLst>
              <a:gd name="adj" fmla="val 2083"/>
            </a:avLst>
          </a:prstGeom>
          <a:solidFill>
            <a:schemeClr val="accent3"/>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692" name="Shape 11"/>
          <p:cNvSpPr/>
          <p:nvPr/>
        </p:nvSpPr>
        <p:spPr>
          <a:xfrm>
            <a:off x="6409800" y="1737360"/>
            <a:ext cx="511560" cy="511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93" name="Image 2" descr="ListChecks"/>
          <p:cNvPicPr/>
          <p:nvPr/>
        </p:nvPicPr>
        <p:blipFill>
          <a:blip r:embed="rId3"/>
          <a:stretch/>
        </p:blipFill>
        <p:spPr>
          <a:xfrm>
            <a:off x="6532920" y="1860120"/>
            <a:ext cx="266040" cy="266040"/>
          </a:xfrm>
          <a:prstGeom prst="rect">
            <a:avLst/>
          </a:prstGeom>
          <a:noFill/>
          <a:ln w="0">
            <a:noFill/>
          </a:ln>
        </p:spPr>
      </p:pic>
      <p:sp>
        <p:nvSpPr>
          <p:cNvPr id="694" name="Text 12"/>
          <p:cNvSpPr/>
          <p:nvPr/>
        </p:nvSpPr>
        <p:spPr>
          <a:xfrm>
            <a:off x="7049880" y="1737360"/>
            <a:ext cx="169128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chemeClr val="accent5"/>
                </a:solidFill>
                <a:effectLst/>
                <a:uFillTx/>
                <a:latin typeface="Calibri"/>
              </a:rPr>
              <a:t>Fonctionnalités</a:t>
            </a:r>
            <a:endParaRPr lang="fr-FR" sz="1700" b="0" u="none" strike="noStrike">
              <a:solidFill>
                <a:srgbClr val="FFFFFF"/>
              </a:solidFill>
              <a:effectLst/>
              <a:uFillTx/>
              <a:latin typeface="Arial"/>
            </a:endParaRPr>
          </a:p>
        </p:txBody>
      </p:sp>
      <p:sp>
        <p:nvSpPr>
          <p:cNvPr id="695" name="Text 13"/>
          <p:cNvSpPr/>
          <p:nvPr/>
        </p:nvSpPr>
        <p:spPr>
          <a:xfrm>
            <a:off x="6409800" y="2468880"/>
            <a:ext cx="2267280" cy="1828440"/>
          </a:xfrm>
          <a:prstGeom prst="rect">
            <a:avLst/>
          </a:prstGeom>
          <a:noFill/>
          <a:ln w="0">
            <a:noFill/>
          </a:ln>
        </p:spPr>
        <p:style>
          <a:lnRef idx="0"/>
          <a:fillRef idx="0"/>
          <a:effectRef idx="0"/>
          <a:fontRef idx="minor"/>
        </p:style>
        <p:txBody>
          <a:bodyPr lIns="0" tIns="0" rIns="0" bIns="0" anchor="t">
            <a:noAutofit/>
          </a:bodyPr>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4 modes pilotés par 2 boutons</a:t>
            </a:r>
            <a:endParaRPr lang="fr-FR" sz="1400" b="0" u="none" strike="noStrike">
              <a:solidFill>
                <a:srgbClr val="FFFFFF"/>
              </a:solidFill>
              <a:effectLst/>
              <a:uFillTx/>
              <a:latin typeface="Arial"/>
            </a:endParaRPr>
          </a:p>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6 erreurs signalées par la LED</a:t>
            </a:r>
            <a:endParaRPr lang="fr-FR" sz="1400" b="0" u="none" strike="noStrike">
              <a:solidFill>
                <a:srgbClr val="FFFFFF"/>
              </a:solidFill>
              <a:effectLst/>
              <a:uFillTx/>
              <a:latin typeface="Arial"/>
            </a:endParaRPr>
          </a:p>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Une ligne horodatée par mesure sur SD</a:t>
            </a:r>
            <a:endParaRPr lang="fr-FR" sz="1400" b="0" u="none" strike="noStrike">
              <a:solidFill>
                <a:srgbClr val="FFFFFF"/>
              </a:solidFill>
              <a:effectLst/>
              <a:uFillTx/>
              <a:latin typeface="Arial"/>
            </a:endParaRPr>
          </a:p>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Script : compiler puis téléverser</a:t>
            </a:r>
            <a:endParaRPr lang="fr-FR" sz="1400" b="0" u="none" strike="noStrike">
              <a:solidFill>
                <a:srgbClr val="FFFFFF"/>
              </a:solidFill>
              <a:effectLst/>
              <a:uFillTx/>
              <a:latin typeface="Arial"/>
            </a:endParaRPr>
          </a:p>
        </p:txBody>
      </p:sp>
      <p:sp>
        <p:nvSpPr>
          <p:cNvPr id="696" name="Shape 14"/>
          <p:cNvSpPr/>
          <p:nvPr/>
        </p:nvSpPr>
        <p:spPr>
          <a:xfrm>
            <a:off x="8997840" y="1536120"/>
            <a:ext cx="2633040" cy="2852640"/>
          </a:xfrm>
          <a:prstGeom prst="roundRect">
            <a:avLst>
              <a:gd name="adj" fmla="val 2083"/>
            </a:avLst>
          </a:prstGeom>
          <a:solidFill>
            <a:schemeClr val="accent3"/>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sp>
        <p:nvSpPr>
          <p:cNvPr id="697" name="Shape 15"/>
          <p:cNvSpPr/>
          <p:nvPr/>
        </p:nvSpPr>
        <p:spPr>
          <a:xfrm>
            <a:off x="9226440" y="1737360"/>
            <a:ext cx="511560" cy="511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fr-FR" sz="1800" b="0" u="none" strike="noStrike">
              <a:solidFill>
                <a:srgbClr val="FFFFFF"/>
              </a:solidFill>
              <a:effectLst/>
              <a:uFillTx/>
              <a:latin typeface="Arial"/>
            </a:endParaRPr>
          </a:p>
        </p:txBody>
      </p:sp>
      <p:pic>
        <p:nvPicPr>
          <p:cNvPr id="698" name="Image 3" descr="Ship"/>
          <p:cNvPicPr/>
          <p:nvPr/>
        </p:nvPicPr>
        <p:blipFill>
          <a:blip r:embed="rId4"/>
          <a:stretch/>
        </p:blipFill>
        <p:spPr>
          <a:xfrm>
            <a:off x="9349200" y="1860120"/>
            <a:ext cx="266040" cy="266040"/>
          </a:xfrm>
          <a:prstGeom prst="rect">
            <a:avLst/>
          </a:prstGeom>
          <a:noFill/>
          <a:ln w="0">
            <a:noFill/>
          </a:ln>
        </p:spPr>
      </p:pic>
      <p:sp>
        <p:nvSpPr>
          <p:cNvPr id="699" name="Text 16"/>
          <p:cNvSpPr/>
          <p:nvPr/>
        </p:nvSpPr>
        <p:spPr>
          <a:xfrm>
            <a:off x="9866520" y="1737360"/>
            <a:ext cx="169128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chemeClr val="accent5"/>
                </a:solidFill>
                <a:effectLst/>
                <a:uFillTx/>
                <a:latin typeface="Calibri"/>
              </a:rPr>
              <a:t>Intérêt maritime</a:t>
            </a:r>
            <a:endParaRPr lang="fr-FR" sz="1700" b="0" u="none" strike="noStrike">
              <a:solidFill>
                <a:srgbClr val="FFFFFF"/>
              </a:solidFill>
              <a:effectLst/>
              <a:uFillTx/>
              <a:latin typeface="Arial"/>
            </a:endParaRPr>
          </a:p>
        </p:txBody>
      </p:sp>
      <p:sp>
        <p:nvSpPr>
          <p:cNvPr id="700" name="Text 17"/>
          <p:cNvSpPr/>
          <p:nvPr/>
        </p:nvSpPr>
        <p:spPr>
          <a:xfrm>
            <a:off x="9226440" y="2468880"/>
            <a:ext cx="2267280" cy="1828440"/>
          </a:xfrm>
          <a:prstGeom prst="rect">
            <a:avLst/>
          </a:prstGeom>
          <a:noFill/>
          <a:ln w="0">
            <a:noFill/>
          </a:ln>
        </p:spPr>
        <p:style>
          <a:lnRef idx="0"/>
          <a:fillRef idx="0"/>
          <a:effectRef idx="0"/>
          <a:fontRef idx="minor"/>
        </p:style>
        <p:txBody>
          <a:bodyPr lIns="0" tIns="0" rIns="0" bIns="0" anchor="t">
            <a:noAutofit/>
          </a:bodyPr>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Station autonome, sans PC à bord</a:t>
            </a:r>
            <a:endParaRPr lang="fr-FR" sz="1400" b="0" u="none" strike="noStrike">
              <a:solidFill>
                <a:srgbClr val="FFFFFF"/>
              </a:solidFill>
              <a:effectLst/>
              <a:uFillTx/>
              <a:latin typeface="Arial"/>
            </a:endParaRPr>
          </a:p>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État lisible d'un coup d'œil</a:t>
            </a:r>
            <a:endParaRPr lang="fr-FR" sz="1400" b="0" u="none" strike="noStrike">
              <a:solidFill>
                <a:srgbClr val="FFFFFF"/>
              </a:solidFill>
              <a:effectLst/>
              <a:uFillTx/>
              <a:latin typeface="Arial"/>
            </a:endParaRPr>
          </a:p>
          <a:p>
            <a:pPr marL="152280" indent="-152280" defTabSz="914400">
              <a:lnSpc>
                <a:spcPct val="100000"/>
              </a:lnSpc>
              <a:spcAft>
                <a:spcPts val="799"/>
              </a:spcAft>
              <a:buClr>
                <a:srgbClr val="FFFFFF"/>
              </a:buClr>
              <a:buFont typeface="Symbol" charset="2"/>
              <a:buChar char=""/>
            </a:pPr>
            <a:r>
              <a:rPr lang="en-US" sz="1400" b="0" u="none" strike="noStrike">
                <a:solidFill>
                  <a:schemeClr val="lt1"/>
                </a:solidFill>
                <a:effectLst/>
                <a:uFillTx/>
                <a:latin typeface="Calibri"/>
              </a:rPr>
              <a:t>Carte SD retirable sans risque</a:t>
            </a:r>
            <a:endParaRPr lang="fr-FR" sz="1400" b="0" u="none" strike="noStrike">
              <a:solidFill>
                <a:srgbClr val="FFFFFF"/>
              </a:solidFill>
              <a:effectLst/>
              <a:uFillTx/>
              <a:latin typeface="Arial"/>
            </a:endParaRPr>
          </a:p>
        </p:txBody>
      </p:sp>
      <p:sp>
        <p:nvSpPr>
          <p:cNvPr id="701" name="Text 18"/>
          <p:cNvSpPr/>
          <p:nvPr/>
        </p:nvSpPr>
        <p:spPr>
          <a:xfrm>
            <a:off x="548640" y="4681800"/>
            <a:ext cx="1109124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800" b="1" u="none" strike="noStrike">
                <a:solidFill>
                  <a:schemeClr val="lt1"/>
                </a:solidFill>
                <a:effectLst/>
                <a:uFillTx/>
                <a:latin typeface="Calibri"/>
              </a:rPr>
              <a:t>Merci pour votre attention !</a:t>
            </a:r>
            <a:endParaRPr lang="fr-FR" sz="3800" b="0" u="none" strike="noStrike">
              <a:solidFill>
                <a:srgbClr val="FFFFFF"/>
              </a:solidFill>
              <a:effectLst/>
              <a:uFillTx/>
              <a:latin typeface="Arial"/>
            </a:endParaRPr>
          </a:p>
        </p:txBody>
      </p:sp>
      <p:sp>
        <p:nvSpPr>
          <p:cNvPr id="702" name="Text 19"/>
          <p:cNvSpPr/>
          <p:nvPr/>
        </p:nvSpPr>
        <p:spPr>
          <a:xfrm>
            <a:off x="548640" y="5440680"/>
            <a:ext cx="110912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u="none" strike="noStrike">
                <a:solidFill>
                  <a:schemeClr val="accent5"/>
                </a:solidFill>
                <a:effectLst/>
                <a:uFillTx/>
                <a:latin typeface="Calibri"/>
              </a:rPr>
              <a:t>Nous sommes maintenant à votre disposition pour vos questions.</a:t>
            </a:r>
            <a:endParaRPr lang="fr-FR" sz="1700" b="0" u="none" strike="noStrike">
              <a:solidFill>
                <a:srgbClr val="FFFFFF"/>
              </a:solidFill>
              <a:effectLst/>
              <a:uFillTx/>
              <a:latin typeface="Arial"/>
            </a:endParaRPr>
          </a:p>
        </p:txBody>
      </p:sp>
      <p:sp>
        <p:nvSpPr>
          <p:cNvPr id="703" name="PlaceHolder 3"/>
          <p:cNvSpPr>
            <a:spLocks noGrp="1"/>
          </p:cNvSpPr>
          <p:nvPr>
            <p:ph type="sldNum" idx="19"/>
          </p:nvPr>
        </p:nvSpPr>
        <p:spPr>
          <a:xfrm>
            <a:off x="11174760" y="6437520"/>
            <a:ext cx="548280" cy="219240"/>
          </a:xfrm>
          <a:prstGeom prst="rect">
            <a:avLst/>
          </a:prstGeom>
          <a:noFill/>
          <a:ln w="0">
            <a:noFill/>
          </a:ln>
        </p:spPr>
        <p:txBody>
          <a:bodyPr lIns="0" tIns="0" rIns="0" bIns="0" anchor="ctr">
            <a:noAutofit/>
          </a:bodyPr>
          <a:lstStyle>
            <a:lvl1pPr indent="0" algn="ctr" defTabSz="914400">
              <a:lnSpc>
                <a:spcPct val="100000"/>
              </a:lnSpc>
              <a:buNone/>
              <a:defRPr lang="en-US" sz="950" b="0" u="none" strike="noStrike">
                <a:solidFill>
                  <a:schemeClr val="accent5"/>
                </a:solidFill>
                <a:effectLst/>
                <a:uFillTx/>
                <a:latin typeface="Calibri"/>
              </a:defRPr>
            </a:lvl1pPr>
          </a:lstStyle>
          <a:p>
            <a:pPr indent="0" algn="ctr" defTabSz="914400">
              <a:lnSpc>
                <a:spcPct val="100000"/>
              </a:lnSpc>
              <a:buNone/>
            </a:pPr>
            <a:fld id="{43DD6E7C-CD17-461A-AE3C-D70289F3368E}" type="slidenum">
              <a:rPr lang="en-US" sz="950" b="0" u="none" strike="noStrike">
                <a:solidFill>
                  <a:schemeClr val="accent5"/>
                </a:solidFill>
                <a:effectLst/>
                <a:uFillTx/>
                <a:latin typeface="Calibri"/>
              </a:rPr>
              <a:t>&lt;numéro&gt;</a:t>
            </a:fld>
            <a:endParaRPr lang="fr-FR" sz="9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704"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ANNEXE · RÉSERVE POUR LES QUESTIONS</a:t>
            </a:r>
            <a:endParaRPr lang="fr-FR" sz="1100" b="0" u="none" strike="noStrike">
              <a:solidFill>
                <a:schemeClr val="dk1"/>
              </a:solidFill>
              <a:effectLst/>
              <a:uFillTx/>
              <a:latin typeface="Calibri"/>
            </a:endParaRPr>
          </a:p>
        </p:txBody>
      </p:sp>
      <p:sp>
        <p:nvSpPr>
          <p:cNvPr id="705"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Brochage et paramètres de configuration</a:t>
            </a:r>
            <a:endParaRPr lang="fr-FR" sz="2800" b="0" u="none" strike="noStrike">
              <a:solidFill>
                <a:schemeClr val="dk1"/>
              </a:solidFill>
              <a:effectLst/>
              <a:uFillTx/>
              <a:latin typeface="Calibri"/>
            </a:endParaRPr>
          </a:p>
        </p:txBody>
      </p:sp>
      <p:graphicFrame>
        <p:nvGraphicFramePr>
          <p:cNvPr id="706" name="Table 0"/>
          <p:cNvGraphicFramePr/>
          <p:nvPr/>
        </p:nvGraphicFramePr>
        <p:xfrm>
          <a:off x="548640" y="1572840"/>
          <a:ext cx="5394600" cy="3456000"/>
        </p:xfrm>
        <a:graphic>
          <a:graphicData uri="http://schemas.openxmlformats.org/drawingml/2006/table">
            <a:tbl>
              <a:tblPr/>
              <a:tblGrid>
                <a:gridCol w="1691640"/>
                <a:gridCol w="2103120"/>
                <a:gridCol w="1600200"/>
              </a:tblGrid>
              <a:tr h="383760">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Fonction</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Broches</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Périphérique</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LED RGB (R, V, B)</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PA0 · PA1 · PA4</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GPIO</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Bouton rouge</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PC3</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EXTI3, pull-up</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Bouton vert (B1)</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PC13</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EXTI15_10</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DHT11</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PB0</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GPIO bidirectionnel</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BH1750</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PB8 (SCL) · PB9 (SDA)</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I2C1, 100 kHz</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Carte SD</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PA5 · PA6 · PA7 · CS PB6</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SPI1 + FatFS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GPS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PC10 (TX) · PC11 (RX)</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USART3, 9600 Bd</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Console</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PA2 · PA3 (ST-LINK)</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USART2, 115 200 Bd</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bl>
          </a:graphicData>
        </a:graphic>
      </p:graphicFrame>
      <p:graphicFrame>
        <p:nvGraphicFramePr>
          <p:cNvPr id="707" name="Table 1"/>
          <p:cNvGraphicFramePr/>
          <p:nvPr/>
        </p:nvGraphicFramePr>
        <p:xfrm>
          <a:off x="6245280" y="1572840"/>
          <a:ext cx="5394600" cy="3071880"/>
        </p:xfrm>
        <a:graphic>
          <a:graphicData uri="http://schemas.openxmlformats.org/drawingml/2006/table">
            <a:tbl>
              <a:tblPr/>
              <a:tblGrid>
                <a:gridCol w="2057400"/>
                <a:gridCol w="1417320"/>
                <a:gridCol w="1920240"/>
              </a:tblGrid>
              <a:tr h="383760">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Paramètre</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Défaut</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Plage</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LOG_INTERVAL</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10 min</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1–1440 min ou 5–86400S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FILE_MAX_SIZE</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2 Ko (2 048 o)</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256–4 194 304 o</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TIMEOUT</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30 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1–300 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LUMIN / _LOW / _HIGH</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 / 255 / 768</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0–1 / 0–1023</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TEMP_AIR / MIN / MAX</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 / −10 / 60 °C</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0–1 / −40–85</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HYGR / _MINT / _MAXT</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 / 0 / 50 °C</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0–1 / −40–85</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GPS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 (marche)</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0–1</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bl>
          </a:graphicData>
        </a:graphic>
      </p:graphicFrame>
      <p:sp>
        <p:nvSpPr>
          <p:cNvPr id="708" name="Shape 2"/>
          <p:cNvSpPr/>
          <p:nvPr/>
        </p:nvSpPr>
        <p:spPr>
          <a:xfrm>
            <a:off x="6125400" y="4891680"/>
            <a:ext cx="5394600" cy="868320"/>
          </a:xfrm>
          <a:prstGeom prst="roundRect">
            <a:avLst>
              <a:gd name="adj" fmla="val 6316"/>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709" name="Text 3"/>
          <p:cNvSpPr/>
          <p:nvPr/>
        </p:nvSpPr>
        <p:spPr>
          <a:xfrm>
            <a:off x="6428160" y="4846320"/>
            <a:ext cx="507456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2"/>
                </a:solidFill>
                <a:effectLst/>
                <a:uFillTx/>
                <a:latin typeface="Calibri"/>
              </a:rPr>
              <a:t>Autres commandes</a:t>
            </a:r>
            <a:endParaRPr lang="fr-FR" sz="1300" b="0" u="none" strike="noStrike">
              <a:solidFill>
                <a:srgbClr val="000000"/>
              </a:solidFill>
              <a:effectLst/>
              <a:uFillTx/>
              <a:latin typeface="Arial"/>
            </a:endParaRPr>
          </a:p>
          <a:p>
            <a:pPr defTabSz="914400">
              <a:lnSpc>
                <a:spcPct val="100000"/>
              </a:lnSpc>
              <a:tabLst>
                <a:tab pos="0" algn="l"/>
              </a:tabLst>
            </a:pPr>
            <a:r>
              <a:rPr lang="en-US" sz="1150" b="0" u="none" strike="noStrike">
                <a:solidFill>
                  <a:schemeClr val="dk1"/>
                </a:solidFill>
                <a:effectLst/>
                <a:uFillTx/>
                <a:latin typeface="Consolas"/>
                <a:ea typeface="Consolas"/>
              </a:rPr>
              <a:t>CLOCK=HH:MM:SS · DATE=MM,JJ,AAAA · DAY=MON…SUN · RESET · VERSION · PARAMS · EXIT</a:t>
            </a:r>
            <a:endParaRPr lang="fr-FR" sz="1150" b="0" u="none" strike="noStrike">
              <a:solidFill>
                <a:srgbClr val="000000"/>
              </a:solidFill>
              <a:effectLst/>
              <a:uFillTx/>
              <a:latin typeface="Arial"/>
            </a:endParaRPr>
          </a:p>
        </p:txBody>
      </p:sp>
      <p:sp>
        <p:nvSpPr>
          <p:cNvPr id="710" name="PlaceHolder 3"/>
          <p:cNvSpPr>
            <a:spLocks noGrp="1"/>
          </p:cNvSpPr>
          <p:nvPr>
            <p:ph type="sldNum" idx="20"/>
          </p:nvPr>
        </p:nvSpPr>
        <p:spPr>
          <a:xfrm>
            <a:off x="11091600" y="6437520"/>
            <a:ext cx="548280" cy="219240"/>
          </a:xfrm>
          <a:prstGeom prst="rect">
            <a:avLst/>
          </a:prstGeom>
          <a:noFill/>
          <a:ln w="0">
            <a:noFill/>
          </a:ln>
        </p:spPr>
        <p:txBody>
          <a:bodyPr lIns="0" tIns="0" rIns="0" bIns="0" anchor="ctr">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D112C4FB-2644-4344-A3CF-38B6548A695B}"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04" name="PlaceHolder 1"/>
          <p:cNvSpPr>
            <a:spLocks noGrp="1"/>
          </p:cNvSpPr>
          <p:nvPr>
            <p:ph hasCustomPrompt="1"/>
          </p:nvPr>
        </p:nvSpPr>
        <p:spPr>
          <a:xfrm>
            <a:off x="548640" y="384120"/>
            <a:ext cx="7772040" cy="255600"/>
          </a:xfrm>
          <a:prstGeom prst="rect">
            <a:avLst/>
          </a:prstGeom>
          <a:noFill/>
          <a:ln w="0">
            <a:noFill/>
          </a:ln>
        </p:spPr>
        <p:txBody>
          <a:bodyPr lIns="0" tIns="0" rIns="0" bIns="0" anchor="ctr">
            <a:noAutofit/>
          </a:bodyPr>
          <a:p>
            <a:pPr indent="0" algn="l" defTabSz="914400">
              <a:lnSpc>
                <a:spcPct val="100000"/>
              </a:lnSpc>
              <a:spcBef>
                <a:spcPts val="221"/>
              </a:spcBef>
              <a:buNone/>
              <a:tabLst>
                <a:tab pos="0" algn="l"/>
              </a:tabLst>
            </a:pPr>
            <a:r>
              <a:rPr lang="en-US" sz="1100" b="1" u="none" spc="150" strike="noStrike">
                <a:solidFill>
                  <a:schemeClr val="accent1"/>
                </a:solidFill>
                <a:effectLst/>
                <a:uFillTx/>
                <a:latin typeface="Calibri"/>
              </a:rPr>
              <a:t>SYNTHÈSE TECHNIQUE</a:t>
            </a:r>
            <a:endParaRPr lang="fr-FR" sz="1100" b="0" u="none" strike="noStrike">
              <a:solidFill>
                <a:schemeClr val="dk1"/>
              </a:solidFill>
              <a:effectLst/>
              <a:uFillTx/>
              <a:latin typeface="Calibri"/>
            </a:endParaRPr>
          </a:p>
        </p:txBody>
      </p:sp>
      <p:sp>
        <p:nvSpPr>
          <p:cNvPr id="705" name="PlaceHolder 2"/>
          <p:cNvSpPr>
            <a:spLocks noGrp="1"/>
          </p:cNvSpPr>
          <p:nvPr>
            <p:ph type="title" hasCustomPrompt="1"/>
          </p:nvPr>
        </p:nvSpPr>
        <p:spPr>
          <a:xfrm>
            <a:off x="548640" y="694800"/>
            <a:ext cx="11091240" cy="566640"/>
          </a:xfrm>
          <a:prstGeom prst="rect">
            <a:avLst/>
          </a:prstGeom>
          <a:noFill/>
          <a:ln w="0">
            <a:noFill/>
          </a:ln>
        </p:spPr>
        <p:txBody>
          <a:bodyPr lIns="0" tIns="0" rIns="0" bIns="0" anchor="t">
            <a:noAutofit/>
          </a:bodyPr>
          <a:p>
            <a:pPr indent="0" algn="l" defTabSz="914400">
              <a:lnSpc>
                <a:spcPct val="100000"/>
              </a:lnSpc>
              <a:buNone/>
              <a:tabLst>
                <a:tab pos="0" algn="l"/>
              </a:tabLst>
            </a:pPr>
            <a:r>
              <a:rPr lang="en-US" sz="2800" b="1" u="none" strike="noStrike">
                <a:solidFill>
                  <a:schemeClr val="dk2"/>
                </a:solidFill>
                <a:effectLst/>
                <a:uFillTx/>
                <a:latin typeface="Calibri"/>
              </a:rPr>
              <a:t>Brochage et paramètres de configuration</a:t>
            </a:r>
            <a:endParaRPr lang="fr-FR" sz="2800" b="0" u="none" strike="noStrike">
              <a:solidFill>
                <a:schemeClr val="dk1"/>
              </a:solidFill>
              <a:effectLst/>
              <a:uFillTx/>
              <a:latin typeface="Calibri"/>
            </a:endParaRPr>
          </a:p>
        </p:txBody>
      </p:sp>
      <p:graphicFrame>
        <p:nvGraphicFramePr>
          <p:cNvPr id="706" name="Table 0"/>
          <p:cNvGraphicFramePr/>
          <p:nvPr/>
        </p:nvGraphicFramePr>
        <p:xfrm>
          <a:off x="548640" y="1572840"/>
          <a:ext cx="5394600" cy="3456000"/>
        </p:xfrm>
        <a:graphic>
          <a:graphicData uri="http://schemas.openxmlformats.org/drawingml/2006/table">
            <a:tbl>
              <a:tblPr/>
              <a:tblGrid>
                <a:gridCol w="1691640"/>
                <a:gridCol w="2103120"/>
                <a:gridCol w="1600200"/>
              </a:tblGrid>
              <a:tr h="383760">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Fonction</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Broches</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Périphérique</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LED RGB (R, V, B)</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PA0 · PA1 · PA4</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GPIO</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Bouton rouge</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PC3</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EXTI3, pull-up</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Bouton vert (B1)</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PC13</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EXTI15_10</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DHT11</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PB0</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GPIO bidirectionnel</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BH1750</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PB8 (SCL) · PB9 (SDA)</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I2C1, 100 kHz</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Carte SD</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PA5 · PA6 · PA7 · CS PB6</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SPI1 + FatFS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GPS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PC10 (TX) · PC11 (RX)</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USART3, 9600 Bd</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Console</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PA2 · PA3 (ST-LINK)</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USART2, 115 200 Bd</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bl>
          </a:graphicData>
        </a:graphic>
      </p:graphicFrame>
      <p:graphicFrame>
        <p:nvGraphicFramePr>
          <p:cNvPr id="707" name="Table 1"/>
          <p:cNvGraphicFramePr/>
          <p:nvPr/>
        </p:nvGraphicFramePr>
        <p:xfrm>
          <a:off x="6245280" y="1572840"/>
          <a:ext cx="5394600" cy="3071880"/>
        </p:xfrm>
        <a:graphic>
          <a:graphicData uri="http://schemas.openxmlformats.org/drawingml/2006/table">
            <a:tbl>
              <a:tblPr/>
              <a:tblGrid>
                <a:gridCol w="2057400"/>
                <a:gridCol w="1417320"/>
                <a:gridCol w="1920240"/>
              </a:tblGrid>
              <a:tr h="383760">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Paramètre</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Défaut</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c>
                  <a:txBody>
                    <a:bodyPr lIns="73080" tIns="27360" rIns="73080" bIns="27360" anchor="ctr">
                      <a:noAutofit/>
                    </a:bodyPr>
                    <a:p>
                      <a:pPr defTabSz="914400">
                        <a:lnSpc>
                          <a:spcPct val="100000"/>
                        </a:lnSpc>
                        <a:tabLst>
                          <a:tab pos="0" algn="l"/>
                        </a:tabLst>
                      </a:pPr>
                      <a:r>
                        <a:rPr lang="en-US" sz="1300" b="1" u="none" strike="noStrike">
                          <a:solidFill>
                            <a:schemeClr val="lt1"/>
                          </a:solidFill>
                          <a:effectLst/>
                          <a:uFillTx/>
                          <a:latin typeface="Calibri"/>
                          <a:ea typeface="Calibri"/>
                        </a:rPr>
                        <a:t>Plage</a:t>
                      </a:r>
                      <a:endParaRPr lang="fr-FR" sz="1300" b="0" u="none" strike="noStrike">
                        <a:solidFill>
                          <a:srgbClr val="FFFFFF"/>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dk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LOG_INTERVAL</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10 min</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1–1440 min ou 5–86400S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FILE_MAX_SIZE</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2 Ko (2 048 o)</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256–4 194 304 o</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TIMEOUT</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30 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1–300 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LUMIN / _LOW / _HIGH</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 / 255 / 768</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0–1 / 0–1023</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TEMP_AIR / MIN / MAX</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 / −10 / 60 °C</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0–1 / −40–85</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HYGR / _MINT / _MAXT</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 / 0 / 50 °C</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0–1 / −40–85</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2"/>
                    </a:solidFill>
                  </a:tcPr>
                </a:tc>
              </a:tr>
              <a:tr h="383760">
                <a:tc>
                  <a:txBody>
                    <a:bodyPr lIns="73080" tIns="27360" rIns="73080" bIns="27360" anchor="ctr">
                      <a:noAutofit/>
                    </a:bodyPr>
                    <a:p>
                      <a:pPr defTabSz="914400">
                        <a:lnSpc>
                          <a:spcPct val="100000"/>
                        </a:lnSpc>
                        <a:tabLst>
                          <a:tab pos="0" algn="l"/>
                        </a:tabLst>
                      </a:pPr>
                      <a:r>
                        <a:rPr lang="en-US" sz="1300" b="1" u="none" strike="noStrike">
                          <a:solidFill>
                            <a:schemeClr val="dk2"/>
                          </a:solidFill>
                          <a:effectLst/>
                          <a:uFillTx/>
                          <a:latin typeface="Calibri"/>
                          <a:ea typeface="Calibri"/>
                        </a:rPr>
                        <a:t>GPS</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1 (marche)</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c>
                  <a:txBody>
                    <a:bodyPr lIns="73080" tIns="27360" rIns="73080" bIns="27360" anchor="ctr">
                      <a:noAutofit/>
                    </a:bodyPr>
                    <a:p>
                      <a:pPr defTabSz="914400">
                        <a:lnSpc>
                          <a:spcPct val="100000"/>
                        </a:lnSpc>
                        <a:tabLst>
                          <a:tab pos="0" algn="l"/>
                        </a:tabLst>
                      </a:pPr>
                      <a:r>
                        <a:rPr lang="en-US" sz="1300" b="0" u="none" strike="noStrike">
                          <a:solidFill>
                            <a:schemeClr val="dk1"/>
                          </a:solidFill>
                          <a:effectLst/>
                          <a:uFillTx/>
                          <a:latin typeface="Calibri"/>
                          <a:ea typeface="Calibri"/>
                        </a:rPr>
                        <a:t>0–1</a:t>
                      </a:r>
                      <a:endParaRPr lang="fr-FR" sz="1300" b="0" u="none" strike="noStrike">
                        <a:solidFill>
                          <a:srgbClr val="000000"/>
                        </a:solidFill>
                        <a:effectLst/>
                        <a:uFillTx/>
                        <a:latin typeface="Arial"/>
                      </a:endParaRPr>
                    </a:p>
                  </a:txBody>
                  <a:tcPr anchor="ctr" marL="73080" marR="73080" marT="27360" marB="27360">
                    <a:lnL w="6480">
                      <a:solidFill>
                        <a:srgbClr val="DDE4EB"/>
                      </a:solidFill>
                      <a:prstDash val="solid"/>
                    </a:lnL>
                    <a:lnR w="6480">
                      <a:solidFill>
                        <a:srgbClr val="DDE4EB"/>
                      </a:solidFill>
                      <a:prstDash val="solid"/>
                    </a:lnR>
                    <a:lnT w="6480">
                      <a:solidFill>
                        <a:srgbClr val="DDE4EB"/>
                      </a:solidFill>
                      <a:prstDash val="solid"/>
                    </a:lnT>
                    <a:lnB w="6480">
                      <a:solidFill>
                        <a:srgbClr val="DDE4EB"/>
                      </a:solidFill>
                      <a:prstDash val="solid"/>
                    </a:lnB>
                    <a:solidFill>
                      <a:schemeClr val="lt1"/>
                    </a:solidFill>
                  </a:tcPr>
                </a:tc>
              </a:tr>
            </a:tbl>
          </a:graphicData>
        </a:graphic>
      </p:graphicFrame>
      <p:sp>
        <p:nvSpPr>
          <p:cNvPr id="708" name="Shape 2"/>
          <p:cNvSpPr/>
          <p:nvPr/>
        </p:nvSpPr>
        <p:spPr>
          <a:xfrm>
            <a:off x="6245352" y="4891680"/>
            <a:ext cx="5394600" cy="868320"/>
          </a:xfrm>
          <a:prstGeom prst="roundRect">
            <a:avLst>
              <a:gd name="adj" fmla="val 6316"/>
            </a:avLst>
          </a:prstGeom>
          <a:solidFill>
            <a:schemeClr val="bg1"/>
          </a:solidFill>
          <a:ln w="9525">
            <a:solidFill>
              <a:srgbClr val="DDE4EB"/>
            </a:solidFill>
            <a:round/>
          </a:ln>
          <a:effectLst>
            <a:outerShdw algn="bl" blurRad="101520" dir="5400000" dist="25560" kx="0" ky="0" rotWithShape="0" sx="100000" sy="100000">
              <a:srgbClr val="0B1F3A">
                <a:alpha val="8000"/>
              </a:srgbClr>
            </a:outerShdw>
          </a:effectLst>
        </p:spPr>
        <p:style>
          <a:lnRef idx="0"/>
          <a:fillRef idx="0"/>
          <a:effectRef idx="0"/>
          <a:fontRef idx="minor"/>
        </p:style>
        <p:txBody>
          <a:bodyPr lIns="90000" tIns="45000" rIns="90000" bIns="45000" anchor="t">
            <a:noAutofit/>
          </a:bodyPr>
          <a:p>
            <a:pPr/>
            <a:endParaRPr lang="fr-FR" sz="1800" b="0" u="none" strike="noStrike">
              <a:solidFill>
                <a:srgbClr val="000000"/>
              </a:solidFill>
              <a:effectLst/>
              <a:uFillTx/>
              <a:latin typeface="Arial"/>
            </a:endParaRPr>
          </a:p>
        </p:txBody>
      </p:sp>
      <p:sp>
        <p:nvSpPr>
          <p:cNvPr id="709" name="Text 3"/>
          <p:cNvSpPr/>
          <p:nvPr/>
        </p:nvSpPr>
        <p:spPr>
          <a:xfrm>
            <a:off x="6428160" y="4846320"/>
            <a:ext cx="507456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2"/>
                </a:solidFill>
                <a:effectLst/>
                <a:uFillTx/>
                <a:latin typeface="Calibri"/>
              </a:rPr>
              <a:t>Autres commandes</a:t>
            </a:r>
            <a:endParaRPr lang="fr-FR" sz="1300" b="0" u="none" strike="noStrike">
              <a:solidFill>
                <a:srgbClr val="000000"/>
              </a:solidFill>
              <a:effectLst/>
              <a:uFillTx/>
              <a:latin typeface="Arial"/>
            </a:endParaRPr>
          </a:p>
          <a:p>
            <a:pPr defTabSz="914400">
              <a:lnSpc>
                <a:spcPct val="100000"/>
              </a:lnSpc>
              <a:tabLst>
                <a:tab pos="0" algn="l"/>
              </a:tabLst>
            </a:pPr>
            <a:r>
              <a:rPr lang="en-US" sz="1150" b="0" u="none" strike="noStrike">
                <a:solidFill>
                  <a:schemeClr val="dk1"/>
                </a:solidFill>
                <a:effectLst/>
                <a:uFillTx/>
                <a:latin typeface="Consolas"/>
                <a:ea typeface="Consolas"/>
              </a:rPr>
              <a:t>CLOCK=HH:MM:SS · DATE=MM,JJ,AAAA · DAY=MON…SUN · RESET · VERSION · PARAMS · EXIT</a:t>
            </a:r>
            <a:endParaRPr lang="fr-FR" sz="1150" b="0" u="none" strike="noStrike">
              <a:solidFill>
                <a:srgbClr val="000000"/>
              </a:solidFill>
              <a:effectLst/>
              <a:uFillTx/>
              <a:latin typeface="Arial"/>
            </a:endParaRPr>
          </a:p>
        </p:txBody>
      </p:sp>
      <p:sp>
        <p:nvSpPr>
          <p:cNvPr id="710" name="PlaceHolder 3"/>
          <p:cNvSpPr>
            <a:spLocks noGrp="1"/>
          </p:cNvSpPr>
          <p:nvPr>
            <p:ph type="sldNum" idx="20"/>
          </p:nvPr>
        </p:nvSpPr>
        <p:spPr>
          <a:xfrm>
            <a:off x="11091600" y="6437520"/>
            <a:ext cx="548280" cy="219240"/>
          </a:xfrm>
          <a:prstGeom prst="rect">
            <a:avLst/>
          </a:prstGeom>
          <a:noFill/>
          <a:ln w="0">
            <a:noFill/>
          </a:ln>
        </p:spPr>
        <p:txBody>
          <a:bodyPr lIns="0" tIns="0" rIns="0" bIns="0" anchor="ctr">
            <a:noAutofit/>
          </a:bodyPr>
          <a:lstStyle>
            <a:lvl1pPr indent="0" algn="ctr" defTabSz="914400">
              <a:lnSpc>
                <a:spcPct val="100000"/>
              </a:lnSpc>
              <a:buNone/>
              <a:defRPr lang="en-US" sz="950" b="0" u="none" strike="noStrike">
                <a:solidFill>
                  <a:schemeClr val="accent6"/>
                </a:solidFill>
                <a:effectLst/>
                <a:uFillTx/>
                <a:latin typeface="Calibri"/>
              </a:defRPr>
            </a:lvl1pPr>
          </a:lstStyle>
          <a:p>
            <a:pPr indent="0" algn="ctr" defTabSz="914400">
              <a:lnSpc>
                <a:spcPct val="100000"/>
              </a:lnSpc>
              <a:buNone/>
            </a:pPr>
            <a:fld id="{D112C4FB-2644-4344-A3CF-38B6548A695B}" type="slidenum">
              <a:rPr lang="en-US" sz="950" b="0" u="none" strike="noStrike">
                <a:solidFill>
                  <a:schemeClr val="accent6"/>
                </a:solidFill>
                <a:effectLst/>
                <a:uFillTx/>
                <a:latin typeface="Calibri"/>
              </a:rPr>
              <a:t>&lt;numéro&gt;</a:t>
            </a:fld>
            <a:endParaRPr lang="fr-FR" sz="950" b="0" u="none" strike="noStrike">
              <a:solidFill>
                <a:srgbClr val="000000"/>
              </a:solidFill>
              <a:effectLst/>
              <a:uFillTx/>
              <a:latin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Aura Marine Pro">
  <a:themeElements>
    <a:clrScheme name="Aura Marine Pro">
      <a:dk1>
        <a:srgbClr val="1A2433"/>
      </a:dk1>
      <a:lt1>
        <a:srgbClr val="FFFFFF"/>
      </a:lt1>
      <a:dk2>
        <a:srgbClr val="0B1F3A"/>
      </a:dk2>
      <a:lt2>
        <a:srgbClr val="F3F6F9"/>
      </a:lt2>
      <a:accent1>
        <a:srgbClr val="0B8A96"/>
      </a:accent1>
      <a:accent2>
        <a:srgbClr val="F2A33A"/>
      </a:accent2>
      <a:accent3>
        <a:srgbClr val="1B3A5C"/>
      </a:accent3>
      <a:accent4>
        <a:srgbClr val="2E9E5B"/>
      </a:accent4>
      <a:accent5>
        <a:srgbClr val="5CCAD3"/>
      </a:accent5>
      <a:accent6>
        <a:srgbClr val="5B6B7D"/>
      </a:accent6>
      <a:hlink>
        <a:srgbClr val="0B8A96"/>
      </a:hlink>
      <a:folHlink>
        <a:srgbClr val="1B3A5C"/>
      </a:folHlink>
    </a:clrScheme>
    <a:fontScheme name="Aura Marine Pro">
      <a:majorFont>
        <a:latin typeface="Calibri"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LibreOffice/26.8.1.1$Windows_X86_64 LibreOffice_project/bf6ef2662401c7d6dce671ab4deb26ee0af3a7c1</Application>
  <AppVersion>15.0000</AppVersion>
  <Words>0</Words>
  <Paragraphs>0</Paragraphs>
  <Company>CESI École d'ingénieurs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2026-10-23T17:17:37Z</dcterms:created>
  <dc:creator>Équipe AURA</dc:creator>
  <dc:description/>
  <dc:language>fr-FR</dc:language>
  <cp:lastModifiedBy/>
  <dcterms:modified xsi:type="dcterms:W3CDTF">2026-10-23T20:07:11Z</dcterms:modified>
  <cp:revision>2</cp:revision>
  <dc:subject>Soutenance du projet Système embarqué — Worldwide Weather Watcher</dc:subject>
  <dc:title>Station météorologique embarquée sur STM32</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On-screen Show (16:9)</vt:lpwstr>
  </property>
  <property fmtid="{D5CDD505-2E9C-101B-9397-08002B2CF9AE}" pid="4" name="Slides">
    <vt:i4>16</vt:i4>
  </property>
</Properties>
</file>